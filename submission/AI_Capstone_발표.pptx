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4" r:id="rId15"/>
    <p:sldId id="261" r:id="rId7"/>
    <p:sldId id="262" r:id="rId8"/>
    <p:sldId id="265" r:id="rId16"/>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6.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개선 전</c:v>
                </c:pt>
              </c:strCache>
            </c:strRef>
          </c:tx>
          <c:spPr>
            <a:solidFill>
              <a:srgbClr val="B8C5BE"/>
            </a:solidFill>
            <a:effectLst/>
          </c:spPr>
          <c:invertIfNegative val="0"/>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cat>
            <c:multiLvlStrRef>
              <c:f>Sheet1!$A$2:$A$2</c:f>
              <c:multiLvlStrCache>
                <c:ptCount val="1"/>
                <c:lvl>
                  <c:pt idx="0">
                    <c:v>사례 수</c:v>
                  </c:pt>
                </c:lvl>
              </c:multiLvlStrCache>
            </c:multiLvlStrRef>
          </c:cat>
          <c:val>
            <c:numRef>
              <c:f>Sheet1!$B$2:$B$2</c:f>
              <c:numCache>
                <c:formatCode>General</c:formatCode>
                <c:ptCount val="1"/>
                <c:pt idx="0">
                  <c:v>2</c:v>
                </c:pt>
              </c:numCache>
            </c:numRef>
          </c:val>
        </c:ser>
        <c:ser>
          <c:idx val="1"/>
          <c:order val="1"/>
          <c:tx>
            <c:strRef>
              <c:f>Sheet1!$C$1</c:f>
              <c:strCache>
                <c:ptCount val="1"/>
                <c:pt idx="0">
                  <c:v>개선 후</c:v>
                </c:pt>
              </c:strCache>
            </c:strRef>
          </c:tx>
          <c:spPr>
            <a:solidFill>
              <a:srgbClr val="16785C"/>
            </a:solidFill>
            <a:effectLst/>
          </c:spPr>
          <c:invertIfNegative val="0"/>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cat>
            <c:multiLvlStrRef>
              <c:f>Sheet1!$A$2:$A$2</c:f>
              <c:multiLvlStrCache>
                <c:ptCount val="1"/>
                <c:lvl>
                  <c:pt idx="0">
                    <c:v>사례 수</c:v>
                  </c:pt>
                </c:lvl>
              </c:multiLvlStrCache>
            </c:multiLvlStrRef>
          </c:cat>
          <c:val>
            <c:numRef>
              <c:f>Sheet1!$C$2:$C$2</c:f>
              <c:numCache>
                <c:formatCode>General</c:formatCode>
                <c:ptCount val="1"/>
                <c:pt idx="0">
                  <c:v>9</c:v>
                </c:pt>
              </c:numCache>
            </c:numRef>
          </c:val>
        </c:ser>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2746D"/>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b"/>
        <c:majorGridlines>
          <c:spPr>
            <a:ln w="12700" cap="flat">
              <a:solidFill>
                <a:srgbClr val="DDE7E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3"/>
      </c:valAx>
      <c:spPr>
        <a:noFill/>
        <a:ln>
          <a:noFill/>
        </a:ln>
        <a:effectLst/>
      </c:spPr>
    </c:plotArea>
    <c:legend>
      <c:legendPos val="b"/>
      <c:overlay val="0"/>
      <c:txPr>
        <a:bodyPr/>
        <a:lstStyle/>
        <a:p>
          <a:pPr>
            <a:defRPr sz="1100">
              <a:latin typeface="Apple SD Gothic Neo"/>
              <a:cs typeface="Apple SD Gothic Ne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개선 전</c:v>
                </c:pt>
              </c:strCache>
            </c:strRef>
          </c:tx>
          <c:spPr>
            <a:solidFill>
              <a:srgbClr val="B8C5BE"/>
            </a:solidFill>
            <a:effectLst/>
          </c:spPr>
          <c:invertIfNegative val="0"/>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cat>
            <c:multiLvlStrRef>
              <c:f>Sheet1!$A$2:$A$2</c:f>
              <c:multiLvlStrCache>
                <c:ptCount val="1"/>
                <c:lvl>
                  <c:pt idx="0">
                    <c:v>사례 수</c:v>
                  </c:pt>
                </c:lvl>
              </c:multiLvlStrCache>
            </c:multiLvlStrRef>
          </c:cat>
          <c:val>
            <c:numRef>
              <c:f>Sheet1!$B$2:$B$2</c:f>
              <c:numCache>
                <c:formatCode>General</c:formatCode>
                <c:ptCount val="1"/>
                <c:pt idx="0">
                  <c:v>6</c:v>
                </c:pt>
              </c:numCache>
            </c:numRef>
          </c:val>
        </c:ser>
        <c:ser>
          <c:idx val="1"/>
          <c:order val="1"/>
          <c:tx>
            <c:strRef>
              <c:f>Sheet1!$C$1</c:f>
              <c:strCache>
                <c:ptCount val="1"/>
                <c:pt idx="0">
                  <c:v>개선 후</c:v>
                </c:pt>
              </c:strCache>
            </c:strRef>
          </c:tx>
          <c:spPr>
            <a:solidFill>
              <a:srgbClr val="16785C"/>
            </a:solidFill>
            <a:effectLst/>
          </c:spPr>
          <c:invertIfNegative val="0"/>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cat>
            <c:multiLvlStrRef>
              <c:f>Sheet1!$A$2:$A$2</c:f>
              <c:multiLvlStrCache>
                <c:ptCount val="1"/>
                <c:lvl>
                  <c:pt idx="0">
                    <c:v>사례 수</c:v>
                  </c:pt>
                </c:lvl>
              </c:multiLvlStrCache>
            </c:multiLvlStrRef>
          </c:cat>
          <c:val>
            <c:numRef>
              <c:f>Sheet1!$C$2:$C$2</c:f>
              <c:numCache>
                <c:formatCode>General</c:formatCode>
                <c:ptCount val="1"/>
                <c:pt idx="0">
                  <c:v>12</c:v>
                </c:pt>
              </c:numCache>
            </c:numRef>
          </c:val>
        </c:ser>
        <c:dLbls>
          <c:numFmt formatCode="#,##0" sourceLinked="0"/>
          <c:txPr>
            <a:bodyPr/>
            <a:lstStyle/>
            <a:p>
              <a:pPr>
                <a:defRPr b="0" i="0" strike="noStrike" sz="1200" u="none">
                  <a:solidFill>
                    <a:srgbClr val="1938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2746D"/>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12700" cap="flat">
              <a:solidFill>
                <a:srgbClr val="DDE7E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7"/>
      </c:valAx>
      <c:spPr>
        <a:noFill/>
        <a:ln>
          <a:noFill/>
        </a:ln>
        <a:effectLst/>
      </c:spPr>
    </c:plotArea>
    <c:legend>
      <c:legendPos val="b"/>
      <c:overlay val="0"/>
      <c:txPr>
        <a:bodyPr/>
        <a:lstStyle/>
        <a:p>
          <a:pPr>
            <a:defRPr sz="1100">
              <a:latin typeface="Apple SD Gothic Neo"/>
              <a:cs typeface="Apple SD Gothic Ne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15초] 청중에게 인사하며 시작, 목차 4개를 짚으며 말하기</a:t>
            </a:r>
          </a:p>
          <a:p/>
          <a:p>
            <a:r>
              <a:t>안녕하세요. 운영 장애 진단 에이전트의 근거 기반 개선을 발표할 김하연입니다. 발표는 문제 정의, 개선 사항, 실행 결과와 평가, 한계 순서로 진행하겠습니다.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35초] 40% → 99% → 통과 순서로 가리키기</a:t>
            </a:r>
          </a:p>
          <a:p/>
          <a:p>
            <a:r>
              <a:t>먼저 문제 정의입니다. 기존 검증은 답변이 30자 이상이고 '1)'을 포함하는지만 확인했습니다. 예를 들어 수집한 CPU가 40퍼센트인데 답변이 99퍼센트여도 통과할 수 있었고, 세 번 실패하면 강제로 통과시켰습니다. 형식이 맞아도 내용이 맞는다는 보장은 없다는 점이 출발점입니다. 이 수치는 설명을 위한 예시입니다.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40초] 검증, 검색, 조사 세 줄을 위에서 아래로 짚기</a:t>
            </a:r>
          </a:p>
          <a:p/>
          <a:p>
            <a:r>
              <a:t>다음은 개선 사항입니다. 첫째, 답변의 시스템별 CPU와 메모리를 수집값과 대조하고, 불일치하면 사유를 알려 다시 작성하게 했습니다. 최초 작성을 포함해 세 번 실패하면 실패를 안내합니다. 둘째, 매뉴얼을 의미로 검색하고, 유사도가 낮거나 후보 차이가 작으면 선택하지 않습니다. 셋째, 조사 하나가 실패해도 성공한 자료는 유지하고, 근거가 없으면 작성 모델 호출을 생략합니다.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50초] 흐름도를 왼쪽에서 오른쪽으로 따라가기, 막히면 '근거 없으면 생략, 다르면 재작성'만 강조</a:t>
            </a:r>
          </a:p>
          <a:p/>
          <a:p>
            <a:r>
              <a:t>이어서 구조와 사용 기술입니다. 처리 흐름은 질문과 계획, 모니터링과 매뉴얼 조사, 근거 확인, 답변 작성, 수치 검증 순서입니다. 근거가 없으면 작성을 생략하고, 수치가 다르면 재작성하며, 세 번 실패하면 실패를 안내합니다. 조사는 서브그래프 두 개로 나눴고, 독립된 모델이 판단하는 구조는 아닙니다. MCP로 도구를 연결하고 검색한 매뉴얼을 답변 작성에 활용했습니다. 모듈 분리와 의존성 주입으로 테스트를 구성했고, LangSmith는 추적 확인까지만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15초] 화면만 보여주고 바로 다음 장으로 넘어가기</a:t>
            </a:r>
          </a:p>
          <a:p/>
          <a:p>
            <a:r>
              <a:t>최종 실행 화면입니다. 모의 작성 모델에 실제 MCP 도구와 로컬 임베딩을 연결했습니다. 구성은 다음 장에서 설명하겠습니다.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35초] GIF를 보며 왼쪽에서 오른쪽 순서로 설명하기</a:t>
            </a:r>
          </a:p>
          <a:p/>
          <a:p>
            <a:r>
              <a:t>개선 전후 비교입니다. 같은 질문에서 모의 모델이 CPU를 15퍼센트포인트 높게 쓰도록 오류를 넣었습니다. 왼쪽 개선 전에는 틀린 수치가 그대로 통과하고, 오른쪽 개선 후에는 세 번 작성해도 일치하지 않아 사유와 실제 수집값을 안내합니다. 두 실행의 수치는 서로 다르므로, 같은 숫자의 비교가 아니라 처리 방식의 차이를 재현한 것입니다.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35초] 숫자 두 개(2/9→9/9, 6/14→12/14)를 또박또박 말하기</a:t>
            </a:r>
          </a:p>
          <a:p/>
          <a:p>
            <a:r>
              <a:t>평가 결과입니다. 같은 17개 입력에서 오류 답변 차단은 9개 중 2개에서 9개로 늘었고, 정상 답변 8개는 모두 통과했습니다. 매뉴얼 선택은 14개 사례 중 기대와 일치한 수가 6개에서 12개로 늘었습니다. 다만 직접 만든 소규모 평가셋이라 일반적인 정확도는 아닙니다. 실모델 비교에서는 작성 시도와 응답 시간이 비슷해 속도 향상은 주장하지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[목표 35초] 천천히 읽고, 마지막 문장 뒤에 인사하며 마무리하기</a:t>
            </a:r>
          </a:p>
          <a:p/>
          <a:p>
            <a:r>
              <a:t>마지막으로 한계입니다. 검증은 시스템명과 CPU, 메모리 수치의 일치만 확인하며 원인 설명은 판단하지 못합니다. 규칙 기반이라 새로운 표현을 놓칠 수 있고, 초안을 숨기는 대신 답변을 기다려야 하며, 임베딩 검색에는 자원과 지연이 듭니다. 향후 독립 평가셋과 구조화된 수치 출력으로 보완하겠습니다.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30초] 화면 위 번호를 위에서 아래로 가리키기</a:t>
            </a:r>
          </a:p>
          <a:p/>
          <a:p>
            <a:r>
              <a:t>화면은 제공받은 Vue 화면을 근거 확인 중심으로 개선했습니다. 1번은 진행 단계, 2번은 수집값과 답변값의 비교표입니다. 3번은 매뉴얼 검색 후보와 유사도이며, 점수는 확률이 아닙니다. 4번은 정상, 검증 실패, 자료 부족을 구분해 안내하고, 5번은 반려될 초안을 먼저 보여주지 않는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45초] 왼쪽 숫자 세 개를 짚고, 오른쪽은 '이유와 한계' 한 줄씩만 읽기</a:t>
            </a:r>
          </a:p>
          <a:p/>
          <a:p>
            <a:r>
              <a:t>이어서 비용과 성능 측정, 그리고 기술 선택 이유입니다. 근거가 없을 때 작성 모델 호출을 생략해 응답 시간이 36.6초에서 1.2~2.7초로 줄었습니다. 조사를 병렬로 처리하면 직렬 1.07초가 0.36초가 되며, 제공받은 구조를 측정한 값입니다. 모델을 용도별로 나눈 비용은 글자 수 기반 추정으로 약 59퍼센트 절감됩니다. 오른쪽은 기술별 선택 이유와 한계입니다. 프롬프트 압축은 적용하지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image" Target="../media/image5.gif"/><Relationship Id="rId6"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27"/>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A4DAC2"/>
                </a:solidFill>
                <a:latin typeface="Apple SD Gothic Neo" pitchFamily="34" charset="0"/>
                <a:ea typeface="Apple SD Gothic Neo" pitchFamily="34" charset="-122"/>
                <a:cs typeface="Apple SD Gothic Neo" pitchFamily="34" charset="-120"/>
              </a:rPr>
              <a:t>BASE AI AGENT  /  개인과제</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FFFFFF"/>
                </a:solidFill>
                <a:latin typeface="Apple SD Gothic Neo" pitchFamily="34" charset="0"/>
                <a:ea typeface="Apple SD Gothic Neo" pitchFamily="34" charset="-122"/>
                <a:cs typeface="Apple SD Gothic Neo" pitchFamily="34" charset="-120"/>
              </a:rPr>
              <a:t>근거 기반</a:t>
            </a:r>
            <a:endParaRPr lang="en-US" sz="3200" dirty="0"/>
          </a:p>
          <a:p>
            <a:pPr indent="0" marL="0">
              <a:buNone/>
            </a:pPr>
            <a:r>
              <a:rPr lang="en-US" sz="3200" b="1" dirty="0">
                <a:solidFill>
                  <a:srgbClr val="FFFFFF"/>
                </a:solidFill>
                <a:latin typeface="Apple SD Gothic Neo" pitchFamily="34" charset="0"/>
                <a:ea typeface="Apple SD Gothic Neo" pitchFamily="34" charset="-122"/>
                <a:cs typeface="Apple SD Gothic Neo" pitchFamily="34" charset="-120"/>
              </a:rPr>
              <a:t>장애 진단 에이전트 개선</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A4DAC2"/>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A4DAC2"/>
                </a:solidFill>
                <a:latin typeface="Apple SD Gothic Neo" pitchFamily="34" charset="0"/>
                <a:ea typeface="Apple SD Gothic Neo" pitchFamily="34" charset="-122"/>
                <a:cs typeface="Apple SD Gothic Neo" pitchFamily="34" charset="-120"/>
              </a:rPr>
              <a:t>01 / 10</a:t>
            </a:r>
            <a:endParaRPr lang="en-US" sz="900" dirty="0"/>
          </a:p>
        </p:txBody>
      </p:sp>
      <p:sp>
        <p:nvSpPr>
          <p:cNvPr id="7" name="Text 4"/>
          <p:cNvSpPr txBox="1"/>
          <p:nvPr/>
        </p:nvSpPr>
        <p:spPr>
          <a:xfrm>
            <a:off x="640080" y="2377440"/>
            <a:ext cx="5943600" cy="1005840"/>
          </a:xfrm>
          <a:prstGeom prst="rect">
            <a:avLst/>
          </a:prstGeom>
          <a:noFill/>
          <a:ln/>
        </p:spPr>
        <p:txBody>
          <a:bodyPr wrap="square" lIns="0" tIns="0" rIns="0" bIns="0" rtlCol="0" anchor="ctr"/>
          <a:lstStyle/>
          <a:p>
            <a:pPr indent="0" marL="0">
              <a:buNone/>
            </a:pPr>
            <a:r>
              <a:rPr lang="en-US" sz="2600" dirty="0">
                <a:solidFill>
                  <a:srgbClr val="A4DAC2"/>
                </a:solidFill>
                <a:latin typeface="Apple SD Gothic Neo" pitchFamily="34" charset="0"/>
                <a:ea typeface="Apple SD Gothic Neo" pitchFamily="34" charset="-122"/>
                <a:cs typeface="Apple SD Gothic Neo" pitchFamily="34" charset="-120"/>
              </a:rPr>
              <a:t>수집한 자료와 다른 답변을</a:t>
            </a:r>
            <a:endParaRPr lang="en-US" sz="2600" dirty="0"/>
          </a:p>
          <a:p>
            <a:pPr indent="0" marL="0">
              <a:buNone/>
            </a:pPr>
            <a:r>
              <a:rPr lang="en-US" sz="2600" dirty="0">
                <a:solidFill>
                  <a:srgbClr val="A4DAC2"/>
                </a:solidFill>
                <a:latin typeface="Apple SD Gothic Neo" pitchFamily="34" charset="0"/>
                <a:ea typeface="Apple SD Gothic Neo" pitchFamily="34" charset="-122"/>
                <a:cs typeface="Apple SD Gothic Neo" pitchFamily="34" charset="-120"/>
              </a:rPr>
              <a:t>그대로 통과시키지 않도록</a:t>
            </a:r>
            <a:endParaRPr lang="en-US" sz="2600" dirty="0"/>
          </a:p>
        </p:txBody>
      </p:sp>
      <p:sp>
        <p:nvSpPr>
          <p:cNvPr id="8" name="Text 5"/>
          <p:cNvSpPr txBox="1"/>
          <p:nvPr/>
        </p:nvSpPr>
        <p:spPr>
          <a:xfrm>
            <a:off x="685800" y="3794760"/>
            <a:ext cx="5303520" cy="457200"/>
          </a:xfrm>
          <a:prstGeom prst="rect">
            <a:avLst/>
          </a:prstGeom>
          <a:noFill/>
          <a:ln/>
        </p:spPr>
        <p:txBody>
          <a:bodyPr wrap="square" lIns="0" tIns="0" rIns="0" bIns="0" rtlCol="0" anchor="ctr"/>
          <a:lstStyle/>
          <a:p>
            <a:pPr indent="0" marL="0">
              <a:buNone/>
            </a:pPr>
            <a:r>
              <a:rPr lang="en-US" sz="1900" dirty="0">
                <a:solidFill>
                  <a:srgbClr val="FFFFFF"/>
                </a:solidFill>
                <a:latin typeface="Apple SD Gothic Neo" pitchFamily="34" charset="0"/>
                <a:ea typeface="Apple SD Gothic Neo" pitchFamily="34" charset="-122"/>
                <a:cs typeface="Apple SD Gothic Neo" pitchFamily="34" charset="-120"/>
              </a:rPr>
              <a:t>검증  ·  검색  ·  조사 안정성</a:t>
            </a:r>
            <a:endParaRPr lang="en-US" sz="1900" dirty="0"/>
          </a:p>
        </p:txBody>
      </p:sp>
      <p:sp>
        <p:nvSpPr>
          <p:cNvPr id="9" name="Shape 6"/>
          <p:cNvSpPr/>
          <p:nvPr/>
        </p:nvSpPr>
        <p:spPr>
          <a:xfrm>
            <a:off x="685800" y="5303520"/>
            <a:ext cx="1005840" cy="365760"/>
          </a:xfrm>
          <a:prstGeom prst="roundRect">
            <a:avLst>
              <a:gd name="adj" fmla="val 40000"/>
            </a:avLst>
          </a:prstGeom>
          <a:solidFill>
            <a:srgbClr val="244A3D"/>
          </a:solidFill>
          <a:ln w="12700">
            <a:solidFill>
              <a:srgbClr val="244A3D"/>
            </a:solidFill>
            <a:prstDash val="solid"/>
          </a:ln>
        </p:spPr>
        <p:txBody>
          <a:bodyPr/>
          <a:p/>
        </p:txBody>
      </p:sp>
      <p:sp>
        <p:nvSpPr>
          <p:cNvPr id="10" name="Text 7"/>
          <p:cNvSpPr txBox="1"/>
          <p:nvPr/>
        </p:nvSpPr>
        <p:spPr>
          <a:xfrm>
            <a:off x="795528" y="5303520"/>
            <a:ext cx="786384" cy="365760"/>
          </a:xfrm>
          <a:prstGeom prst="rect">
            <a:avLst/>
          </a:prstGeom>
          <a:noFill/>
          <a:ln/>
        </p:spPr>
        <p:txBody>
          <a:bodyPr wrap="square" lIns="0" tIns="0" rIns="0" bIns="0" rtlCol="0" anchor="ct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김하연</a:t>
            </a:r>
            <a:endParaRPr lang="en-US" sz="1200" dirty="0"/>
          </a:p>
        </p:txBody>
      </p:sp>
      <p:sp>
        <p:nvSpPr>
          <p:cNvPr id="11" name="Text 8"/>
          <p:cNvSpPr txBox="1"/>
          <p:nvPr/>
        </p:nvSpPr>
        <p:spPr>
          <a:xfrm>
            <a:off x="1920240" y="5303520"/>
            <a:ext cx="3657600" cy="365760"/>
          </a:xfrm>
          <a:prstGeom prst="rect">
            <a:avLst/>
          </a:prstGeom>
          <a:noFill/>
          <a:ln/>
        </p:spPr>
        <p:txBody>
          <a:bodyPr wrap="square" lIns="0" tIns="0" rIns="0" bIns="0" rtlCol="0" anchor="ctr"/>
          <a:lstStyle/>
          <a:p>
            <a:pPr indent="0" marL="0">
              <a:buNone/>
            </a:pPr>
            <a:r>
              <a:rPr lang="en-US" sz="1300" dirty="0">
                <a:solidFill>
                  <a:srgbClr val="A4DAC2"/>
                </a:solidFill>
                <a:latin typeface="Apple SD Gothic Neo" pitchFamily="34" charset="0"/>
                <a:ea typeface="Apple SD Gothic Neo" pitchFamily="34" charset="-122"/>
                <a:cs typeface="Apple SD Gothic Neo" pitchFamily="34" charset="-120"/>
              </a:rPr>
              <a:t>AI Capstone  |  2026.10</a:t>
            </a:r>
            <a:endParaRPr lang="en-US" sz="1300" dirty="0"/>
          </a:p>
        </p:txBody>
      </p:sp>
      <p:sp>
        <p:nvSpPr>
          <p:cNvPr id="12" name="Shape 9"/>
          <p:cNvSpPr/>
          <p:nvPr/>
        </p:nvSpPr>
        <p:spPr>
          <a:xfrm>
            <a:off x="6858000" y="1874520"/>
            <a:ext cx="4663440" cy="4160520"/>
          </a:xfrm>
          <a:prstGeom prst="roundRect">
            <a:avLst>
              <a:gd name="adj" fmla="val 3516"/>
            </a:avLst>
          </a:prstGeom>
          <a:solidFill>
            <a:srgbClr val="1D4437"/>
          </a:solidFill>
          <a:ln w="12700">
            <a:solidFill>
              <a:srgbClr val="1D4437"/>
            </a:solidFill>
            <a:prstDash val="solid"/>
          </a:ln>
        </p:spPr>
        <p:txBody>
          <a:bodyPr/>
          <a:p/>
        </p:txBody>
      </p:sp>
      <p:sp>
        <p:nvSpPr>
          <p:cNvPr id="13" name="Text 10"/>
          <p:cNvSpPr txBox="1"/>
          <p:nvPr/>
        </p:nvSpPr>
        <p:spPr>
          <a:xfrm>
            <a:off x="7178040" y="2176272"/>
            <a:ext cx="3977640" cy="274320"/>
          </a:xfrm>
          <a:prstGeom prst="rect">
            <a:avLst/>
          </a:prstGeom>
          <a:noFill/>
          <a:ln/>
        </p:spPr>
        <p:txBody>
          <a:bodyPr wrap="square" lIns="0" tIns="0" rIns="0" bIns="0" rtlCol="0" anchor="ctr"/>
          <a:lstStyle/>
          <a:p>
            <a:pPr indent="0" marL="0">
              <a:buNone/>
            </a:pPr>
            <a:r>
              <a:rPr lang="en-US" sz="1200" b="1" dirty="0">
                <a:solidFill>
                  <a:srgbClr val="A4DAC2"/>
                </a:solidFill>
                <a:latin typeface="Apple SD Gothic Neo" pitchFamily="34" charset="0"/>
                <a:ea typeface="Apple SD Gothic Neo" pitchFamily="34" charset="-122"/>
                <a:cs typeface="Apple SD Gothic Neo" pitchFamily="34" charset="-120"/>
              </a:rPr>
              <a:t>질문</a:t>
            </a:r>
            <a:endParaRPr lang="en-US" sz="1200" dirty="0"/>
          </a:p>
        </p:txBody>
      </p:sp>
      <p:sp>
        <p:nvSpPr>
          <p:cNvPr id="14" name="Text 11"/>
          <p:cNvSpPr txBox="1"/>
          <p:nvPr/>
        </p:nvSpPr>
        <p:spPr>
          <a:xfrm>
            <a:off x="7178040" y="2724912"/>
            <a:ext cx="3931920" cy="914400"/>
          </a:xfrm>
          <a:prstGeom prst="rect">
            <a:avLst/>
          </a:prstGeom>
          <a:noFill/>
          <a:ln/>
        </p:spPr>
        <p:txBody>
          <a:bodyPr wrap="square" lIns="0" tIns="0" rIns="0" bIns="0" rtlCol="0" anchor="ctr"/>
          <a:lstStyle/>
          <a:p>
            <a:pPr indent="0" marL="0">
              <a:buNone/>
            </a:pPr>
            <a:r>
              <a:rPr lang="en-US" sz="2600" b="1" dirty="0">
                <a:solidFill>
                  <a:srgbClr val="FFFFFF"/>
                </a:solidFill>
                <a:latin typeface="Apple SD Gothic Neo" pitchFamily="34" charset="0"/>
                <a:ea typeface="Apple SD Gothic Neo" pitchFamily="34" charset="-122"/>
                <a:cs typeface="Apple SD Gothic Neo" pitchFamily="34" charset="-120"/>
              </a:rPr>
              <a:t>“로그인이 느려요.</a:t>
            </a:r>
            <a:endParaRPr lang="en-US" sz="2600" dirty="0"/>
          </a:p>
          <a:p>
            <a:pPr indent="0" marL="0">
              <a:buNone/>
            </a:pPr>
            <a:r>
              <a:rPr lang="en-US" sz="2600" b="1" dirty="0">
                <a:solidFill>
                  <a:srgbClr val="FFFFFF"/>
                </a:solidFill>
                <a:latin typeface="Apple SD Gothic Neo" pitchFamily="34" charset="0"/>
                <a:ea typeface="Apple SD Gothic Neo" pitchFamily="34" charset="-122"/>
                <a:cs typeface="Apple SD Gothic Neo" pitchFamily="34" charset="-120"/>
              </a:rPr>
              <a:t>원인을 진단해줘.”</a:t>
            </a:r>
            <a:endParaRPr lang="en-US" sz="2600" dirty="0"/>
          </a:p>
        </p:txBody>
      </p:sp>
      <p:sp>
        <p:nvSpPr>
          <p:cNvPr id="15" name="Shape 12"/>
          <p:cNvSpPr/>
          <p:nvPr/>
        </p:nvSpPr>
        <p:spPr>
          <a:xfrm>
            <a:off x="7223760" y="3931920"/>
            <a:ext cx="3794760" cy="0"/>
          </a:xfrm>
          <a:prstGeom prst="line">
            <a:avLst/>
          </a:prstGeom>
          <a:noFill/>
          <a:ln w="20320">
            <a:solidFill>
              <a:srgbClr val="507867"/>
            </a:solidFill>
            <a:prstDash val="solid"/>
          </a:ln>
        </p:spPr>
        <p:txBody>
          <a:bodyPr/>
          <a:p/>
        </p:txBody>
      </p:sp>
      <p:sp>
        <p:nvSpPr>
          <p:cNvPr id="16" name="Text 13"/>
          <p:cNvSpPr txBox="1"/>
          <p:nvPr/>
        </p:nvSpPr>
        <p:spPr>
          <a:xfrm>
            <a:off x="7223760" y="4297680"/>
            <a:ext cx="1554480" cy="365760"/>
          </a:xfrm>
          <a:prstGeom prst="rect">
            <a:avLst/>
          </a:prstGeom>
          <a:noFill/>
          <a:ln/>
        </p:spPr>
        <p:txBody>
          <a:bodyPr wrap="square" lIns="0" tIns="0" rIns="0" bIns="0" rtlCol="0" anchor="ctr"/>
          <a:lstStyle/>
          <a:p>
            <a:pPr indent="0" marL="0">
              <a:buNone/>
            </a:pPr>
            <a:r>
              <a:rPr lang="en-US" sz="1800" dirty="0">
                <a:solidFill>
                  <a:srgbClr val="FFFFFF"/>
                </a:solidFill>
                <a:latin typeface="Apple SD Gothic Neo" pitchFamily="34" charset="0"/>
                <a:ea typeface="Apple SD Gothic Neo" pitchFamily="34" charset="-122"/>
                <a:cs typeface="Apple SD Gothic Neo" pitchFamily="34" charset="-120"/>
              </a:rPr>
              <a:t>자료 수집</a:t>
            </a:r>
            <a:endParaRPr lang="en-US" sz="1800" dirty="0"/>
          </a:p>
        </p:txBody>
      </p:sp>
      <p:sp>
        <p:nvSpPr>
          <p:cNvPr id="17" name="Text 14"/>
          <p:cNvSpPr txBox="1"/>
          <p:nvPr/>
        </p:nvSpPr>
        <p:spPr>
          <a:xfrm>
            <a:off x="8823960" y="4297680"/>
            <a:ext cx="365760" cy="365760"/>
          </a:xfrm>
          <a:prstGeom prst="rect">
            <a:avLst/>
          </a:prstGeom>
          <a:noFill/>
          <a:ln/>
        </p:spPr>
        <p:txBody>
          <a:bodyPr wrap="square" lIns="0" tIns="0" rIns="0" bIns="0" rtlCol="0" anchor="ctr"/>
          <a:lstStyle/>
          <a:p>
            <a:pPr indent="0" marL="0">
              <a:buNone/>
            </a:pPr>
            <a:r>
              <a:rPr lang="en-US" sz="1800" dirty="0">
                <a:solidFill>
                  <a:srgbClr val="A4DAC2"/>
                </a:solidFill>
                <a:latin typeface="Apple SD Gothic Neo" pitchFamily="34" charset="0"/>
                <a:ea typeface="Apple SD Gothic Neo" pitchFamily="34" charset="-122"/>
                <a:cs typeface="Apple SD Gothic Neo" pitchFamily="34" charset="-120"/>
              </a:rPr>
              <a:t>→</a:t>
            </a:r>
            <a:endParaRPr lang="en-US" sz="1800" dirty="0"/>
          </a:p>
        </p:txBody>
      </p:sp>
      <p:sp>
        <p:nvSpPr>
          <p:cNvPr id="18" name="Text 15"/>
          <p:cNvSpPr txBox="1"/>
          <p:nvPr/>
        </p:nvSpPr>
        <p:spPr>
          <a:xfrm>
            <a:off x="9372600" y="4297680"/>
            <a:ext cx="1600200" cy="365760"/>
          </a:xfrm>
          <a:prstGeom prst="rect">
            <a:avLst/>
          </a:prstGeom>
          <a:noFill/>
          <a:ln/>
        </p:spPr>
        <p:txBody>
          <a:bodyPr wrap="square" lIns="0" tIns="0" rIns="0" bIns="0" rtlCol="0" anchor="ctr"/>
          <a:lstStyle/>
          <a:p>
            <a:pPr indent="0" marL="0">
              <a:buNone/>
            </a:pPr>
            <a:r>
              <a:rPr lang="en-US" sz="1800" dirty="0">
                <a:solidFill>
                  <a:srgbClr val="FFFFFF"/>
                </a:solidFill>
                <a:latin typeface="Apple SD Gothic Neo" pitchFamily="34" charset="0"/>
                <a:ea typeface="Apple SD Gothic Neo" pitchFamily="34" charset="-122"/>
                <a:cs typeface="Apple SD Gothic Neo" pitchFamily="34" charset="-120"/>
              </a:rPr>
              <a:t>근거 대조</a:t>
            </a:r>
            <a:endParaRPr lang="en-US" sz="1800" dirty="0"/>
          </a:p>
        </p:txBody>
      </p:sp>
      <p:sp>
        <p:nvSpPr>
          <p:cNvPr id="19" name="Shape 16"/>
          <p:cNvSpPr/>
          <p:nvPr/>
        </p:nvSpPr>
        <p:spPr>
          <a:xfrm>
            <a:off x="7178040" y="5074920"/>
            <a:ext cx="3931920" cy="365760"/>
          </a:xfrm>
          <a:prstGeom prst="roundRect">
            <a:avLst>
              <a:gd name="adj" fmla="val 40000"/>
            </a:avLst>
          </a:prstGeom>
          <a:solidFill>
            <a:srgbClr val="A4DAC2"/>
          </a:solidFill>
          <a:ln w="12700">
            <a:solidFill>
              <a:srgbClr val="A4DAC2"/>
            </a:solidFill>
            <a:prstDash val="solid"/>
          </a:ln>
        </p:spPr>
        <p:txBody>
          <a:bodyPr/>
          <a:p/>
        </p:txBody>
      </p:sp>
      <p:sp>
        <p:nvSpPr>
          <p:cNvPr id="20" name="Text 17"/>
          <p:cNvSpPr txBox="1"/>
          <p:nvPr/>
        </p:nvSpPr>
        <p:spPr>
          <a:xfrm>
            <a:off x="7287768" y="5074920"/>
            <a:ext cx="3712464" cy="365760"/>
          </a:xfrm>
          <a:prstGeom prst="rect">
            <a:avLst/>
          </a:prstGeom>
          <a:noFill/>
          <a:ln/>
        </p:spPr>
        <p:txBody>
          <a:bodyPr wrap="square" lIns="0" tIns="0" rIns="0" bIns="0" rtlCol="0" anchor="ctr"/>
          <a:lstStyle/>
          <a:p>
            <a:pPr indent="0" marL="0">
              <a:buNone/>
            </a:pPr>
            <a:r>
              <a:rPr lang="en-US" sz="1200" b="1" dirty="0">
                <a:solidFill>
                  <a:srgbClr val="102F27"/>
                </a:solidFill>
                <a:latin typeface="Apple SD Gothic Neo" pitchFamily="34" charset="0"/>
                <a:ea typeface="Apple SD Gothic Neo" pitchFamily="34" charset="-122"/>
                <a:cs typeface="Apple SD Gothic Neo" pitchFamily="34" charset="-120"/>
              </a:rPr>
              <a:t>일치하면 응답 · 부족하면 중단</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01  문제 정의</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형식 검증만으로는 수치 오류를 걸러내지 못함</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02 / 10</a:t>
            </a:r>
            <a:endParaRPr lang="en-US" sz="900" dirty="0"/>
          </a:p>
        </p:txBody>
      </p:sp>
      <p:sp>
        <p:nvSpPr>
          <p:cNvPr id="7" name="Text 4"/>
          <p:cNvSpPr txBox="1"/>
          <p:nvPr/>
        </p:nvSpPr>
        <p:spPr>
          <a:xfrm>
            <a:off x="640080" y="2011680"/>
            <a:ext cx="3200400" cy="365760"/>
          </a:xfrm>
          <a:prstGeom prst="rect">
            <a:avLst/>
          </a:prstGeom>
          <a:noFill/>
          <a:ln/>
        </p:spPr>
        <p:txBody>
          <a:bodyPr wrap="square" lIns="0" tIns="0" rIns="0" bIns="0" rtlCol="0" anchor="ctr"/>
          <a:lstStyle/>
          <a:p>
            <a:pPr indent="0" marL="0">
              <a:buNone/>
            </a:pPr>
            <a:r>
              <a:rPr lang="en-US" sz="1800" b="1" dirty="0">
                <a:solidFill>
                  <a:srgbClr val="62746D"/>
                </a:solidFill>
                <a:latin typeface="Apple SD Gothic Neo" pitchFamily="34" charset="0"/>
                <a:ea typeface="Apple SD Gothic Neo" pitchFamily="34" charset="-122"/>
                <a:cs typeface="Apple SD Gothic Neo" pitchFamily="34" charset="-120"/>
              </a:rPr>
              <a:t>수집한 자료</a:t>
            </a:r>
            <a:endParaRPr lang="en-US" sz="1800" dirty="0"/>
          </a:p>
        </p:txBody>
      </p:sp>
      <p:sp>
        <p:nvSpPr>
          <p:cNvPr id="8" name="Text 5"/>
          <p:cNvSpPr txBox="1"/>
          <p:nvPr/>
        </p:nvSpPr>
        <p:spPr>
          <a:xfrm>
            <a:off x="4480560" y="2011680"/>
            <a:ext cx="3200400" cy="365760"/>
          </a:xfrm>
          <a:prstGeom prst="rect">
            <a:avLst/>
          </a:prstGeom>
          <a:noFill/>
          <a:ln/>
        </p:spPr>
        <p:txBody>
          <a:bodyPr wrap="square" lIns="0" tIns="0" rIns="0" bIns="0" rtlCol="0" anchor="ctr"/>
          <a:lstStyle/>
          <a:p>
            <a:pPr indent="0" marL="0">
              <a:buNone/>
            </a:pPr>
            <a:r>
              <a:rPr lang="en-US" sz="1800" b="1" dirty="0">
                <a:solidFill>
                  <a:srgbClr val="62746D"/>
                </a:solidFill>
                <a:latin typeface="Apple SD Gothic Neo" pitchFamily="34" charset="0"/>
                <a:ea typeface="Apple SD Gothic Neo" pitchFamily="34" charset="-122"/>
                <a:cs typeface="Apple SD Gothic Neo" pitchFamily="34" charset="-120"/>
              </a:rPr>
              <a:t>모델이 쓴 답변</a:t>
            </a:r>
            <a:endParaRPr lang="en-US" sz="1800" dirty="0"/>
          </a:p>
        </p:txBody>
      </p:sp>
      <p:sp>
        <p:nvSpPr>
          <p:cNvPr id="9" name="Text 6"/>
          <p:cNvSpPr txBox="1"/>
          <p:nvPr/>
        </p:nvSpPr>
        <p:spPr>
          <a:xfrm>
            <a:off x="8321040" y="2011680"/>
            <a:ext cx="3200400" cy="365760"/>
          </a:xfrm>
          <a:prstGeom prst="rect">
            <a:avLst/>
          </a:prstGeom>
          <a:noFill/>
          <a:ln/>
        </p:spPr>
        <p:txBody>
          <a:bodyPr wrap="square" lIns="0" tIns="0" rIns="0" bIns="0" rtlCol="0" anchor="ctr"/>
          <a:lstStyle/>
          <a:p>
            <a:pPr indent="0" marL="0">
              <a:buNone/>
            </a:pPr>
            <a:r>
              <a:rPr lang="en-US" sz="1800" b="1" dirty="0">
                <a:solidFill>
                  <a:srgbClr val="62746D"/>
                </a:solidFill>
                <a:latin typeface="Apple SD Gothic Neo" pitchFamily="34" charset="0"/>
                <a:ea typeface="Apple SD Gothic Neo" pitchFamily="34" charset="-122"/>
                <a:cs typeface="Apple SD Gothic Neo" pitchFamily="34" charset="-120"/>
              </a:rPr>
              <a:t>기존 검증 결과</a:t>
            </a:r>
            <a:endParaRPr lang="en-US" sz="1800" dirty="0"/>
          </a:p>
        </p:txBody>
      </p:sp>
      <p:sp>
        <p:nvSpPr>
          <p:cNvPr id="10" name="Shape 7"/>
          <p:cNvSpPr/>
          <p:nvPr/>
        </p:nvSpPr>
        <p:spPr>
          <a:xfrm>
            <a:off x="640080" y="2651760"/>
            <a:ext cx="3200400" cy="1828800"/>
          </a:xfrm>
          <a:prstGeom prst="roundRect">
            <a:avLst>
              <a:gd name="adj" fmla="val 8000"/>
            </a:avLst>
          </a:prstGeom>
          <a:solidFill>
            <a:srgbClr val="EEF5F1"/>
          </a:solidFill>
          <a:ln w="12700">
            <a:solidFill>
              <a:srgbClr val="EEF5F1"/>
            </a:solidFill>
            <a:prstDash val="solid"/>
          </a:ln>
        </p:spPr>
        <p:txBody>
          <a:bodyPr/>
          <a:p/>
        </p:txBody>
      </p:sp>
      <p:sp>
        <p:nvSpPr>
          <p:cNvPr id="11" name="Text 8"/>
          <p:cNvSpPr txBox="1"/>
          <p:nvPr/>
        </p:nvSpPr>
        <p:spPr>
          <a:xfrm>
            <a:off x="868680" y="2834640"/>
            <a:ext cx="2743200" cy="365760"/>
          </a:xfrm>
          <a:prstGeom prst="rect">
            <a:avLst/>
          </a:prstGeom>
          <a:noFill/>
          <a:ln/>
        </p:spPr>
        <p:txBody>
          <a:bodyPr wrap="square" lIns="0" tIns="0" rIns="0" bIns="0" rtlCol="0" anchor="ctr"/>
          <a:lstStyle/>
          <a:p>
            <a:pPr indent="0" marL="0">
              <a:buNone/>
            </a:pPr>
            <a:r>
              <a:rPr lang="en-US" sz="1600" dirty="0">
                <a:solidFill>
                  <a:srgbClr val="62746D"/>
                </a:solidFill>
                <a:latin typeface="Apple SD Gothic Neo" pitchFamily="34" charset="0"/>
                <a:ea typeface="Apple SD Gothic Neo" pitchFamily="34" charset="-122"/>
                <a:cs typeface="Apple SD Gothic Neo" pitchFamily="34" charset="-120"/>
              </a:rPr>
              <a:t>auth-service · CPU</a:t>
            </a:r>
            <a:endParaRPr lang="en-US" sz="1600" dirty="0"/>
          </a:p>
        </p:txBody>
      </p:sp>
      <p:sp>
        <p:nvSpPr>
          <p:cNvPr id="12" name="Text 9"/>
          <p:cNvSpPr txBox="1"/>
          <p:nvPr/>
        </p:nvSpPr>
        <p:spPr>
          <a:xfrm>
            <a:off x="868680" y="3337560"/>
            <a:ext cx="2743200" cy="914400"/>
          </a:xfrm>
          <a:prstGeom prst="rect">
            <a:avLst/>
          </a:prstGeom>
          <a:noFill/>
          <a:ln/>
        </p:spPr>
        <p:txBody>
          <a:bodyPr wrap="square" lIns="0" tIns="0" rIns="0" bIns="0" rtlCol="0" anchor="ctr"/>
          <a:lstStyle/>
          <a:p>
            <a:pPr indent="0" marL="0">
              <a:buNone/>
            </a:pPr>
            <a:r>
              <a:rPr lang="en-US" sz="4800" b="1" dirty="0">
                <a:solidFill>
                  <a:srgbClr val="16785C"/>
                </a:solidFill>
                <a:latin typeface="Apple SD Gothic Neo" pitchFamily="34" charset="0"/>
                <a:ea typeface="Apple SD Gothic Neo" pitchFamily="34" charset="-122"/>
                <a:cs typeface="Apple SD Gothic Neo" pitchFamily="34" charset="-120"/>
              </a:rPr>
              <a:t>40%</a:t>
            </a:r>
            <a:endParaRPr lang="en-US" sz="4800" dirty="0"/>
          </a:p>
        </p:txBody>
      </p:sp>
      <p:sp>
        <p:nvSpPr>
          <p:cNvPr id="13" name="Shape 10"/>
          <p:cNvSpPr/>
          <p:nvPr/>
        </p:nvSpPr>
        <p:spPr>
          <a:xfrm>
            <a:off x="4480560" y="2651760"/>
            <a:ext cx="3200400" cy="1828800"/>
          </a:xfrm>
          <a:prstGeom prst="roundRect">
            <a:avLst>
              <a:gd name="adj" fmla="val 8000"/>
            </a:avLst>
          </a:prstGeom>
          <a:solidFill>
            <a:srgbClr val="FAEEEA"/>
          </a:solidFill>
          <a:ln w="12700">
            <a:solidFill>
              <a:srgbClr val="FAEEEA"/>
            </a:solidFill>
            <a:prstDash val="solid"/>
          </a:ln>
        </p:spPr>
        <p:txBody>
          <a:bodyPr/>
          <a:p/>
        </p:txBody>
      </p:sp>
      <p:sp>
        <p:nvSpPr>
          <p:cNvPr id="14" name="Text 11"/>
          <p:cNvSpPr txBox="1"/>
          <p:nvPr/>
        </p:nvSpPr>
        <p:spPr>
          <a:xfrm>
            <a:off x="4709160" y="2834640"/>
            <a:ext cx="2743200" cy="365760"/>
          </a:xfrm>
          <a:prstGeom prst="rect">
            <a:avLst/>
          </a:prstGeom>
          <a:noFill/>
          <a:ln/>
        </p:spPr>
        <p:txBody>
          <a:bodyPr wrap="square" lIns="0" tIns="0" rIns="0" bIns="0" rtlCol="0" anchor="ctr"/>
          <a:lstStyle/>
          <a:p>
            <a:pPr indent="0" marL="0">
              <a:buNone/>
            </a:pPr>
            <a:r>
              <a:rPr lang="en-US" sz="1600" dirty="0">
                <a:solidFill>
                  <a:srgbClr val="62746D"/>
                </a:solidFill>
                <a:latin typeface="Apple SD Gothic Neo" pitchFamily="34" charset="0"/>
                <a:ea typeface="Apple SD Gothic Neo" pitchFamily="34" charset="-122"/>
                <a:cs typeface="Apple SD Gothic Neo" pitchFamily="34" charset="-120"/>
              </a:rPr>
              <a:t>auth-service · CPU</a:t>
            </a:r>
            <a:endParaRPr lang="en-US" sz="1600" dirty="0"/>
          </a:p>
        </p:txBody>
      </p:sp>
      <p:sp>
        <p:nvSpPr>
          <p:cNvPr id="15" name="Text 12"/>
          <p:cNvSpPr txBox="1"/>
          <p:nvPr/>
        </p:nvSpPr>
        <p:spPr>
          <a:xfrm>
            <a:off x="4709160" y="3337560"/>
            <a:ext cx="2743200" cy="914400"/>
          </a:xfrm>
          <a:prstGeom prst="rect">
            <a:avLst/>
          </a:prstGeom>
          <a:noFill/>
          <a:ln/>
        </p:spPr>
        <p:txBody>
          <a:bodyPr wrap="square" lIns="0" tIns="0" rIns="0" bIns="0" rtlCol="0" anchor="ctr"/>
          <a:lstStyle/>
          <a:p>
            <a:pPr indent="0" marL="0">
              <a:buNone/>
            </a:pPr>
            <a:r>
              <a:rPr lang="en-US" sz="4800" b="1" dirty="0">
                <a:solidFill>
                  <a:srgbClr val="B6503E"/>
                </a:solidFill>
                <a:latin typeface="Apple SD Gothic Neo" pitchFamily="34" charset="0"/>
                <a:ea typeface="Apple SD Gothic Neo" pitchFamily="34" charset="-122"/>
                <a:cs typeface="Apple SD Gothic Neo" pitchFamily="34" charset="-120"/>
              </a:rPr>
              <a:t>99%</a:t>
            </a:r>
            <a:endParaRPr lang="en-US" sz="4800" dirty="0"/>
          </a:p>
        </p:txBody>
      </p:sp>
      <p:sp>
        <p:nvSpPr>
          <p:cNvPr id="16" name="Text 13"/>
          <p:cNvSpPr txBox="1"/>
          <p:nvPr/>
        </p:nvSpPr>
        <p:spPr>
          <a:xfrm>
            <a:off x="3977640" y="3291840"/>
            <a:ext cx="365760" cy="640080"/>
          </a:xfrm>
          <a:prstGeom prst="rect">
            <a:avLst/>
          </a:prstGeom>
          <a:noFill/>
          <a:ln/>
        </p:spPr>
        <p:txBody>
          <a:bodyPr wrap="square" lIns="0" tIns="0" rIns="0" bIns="0" rtlCol="0" anchor="ctr"/>
          <a:lstStyle/>
          <a:p>
            <a:pPr indent="0" marL="0">
              <a:buNone/>
            </a:pPr>
            <a:r>
              <a:rPr lang="en-US" sz="2800" dirty="0">
                <a:solidFill>
                  <a:srgbClr val="B8C5BE"/>
                </a:solidFill>
                <a:latin typeface="Apple SD Gothic Neo" pitchFamily="34" charset="0"/>
                <a:ea typeface="Apple SD Gothic Neo" pitchFamily="34" charset="-122"/>
                <a:cs typeface="Apple SD Gothic Neo" pitchFamily="34" charset="-120"/>
              </a:rPr>
              <a:t>→</a:t>
            </a:r>
            <a:endParaRPr lang="en-US" sz="2800" dirty="0"/>
          </a:p>
        </p:txBody>
      </p:sp>
      <p:sp>
        <p:nvSpPr>
          <p:cNvPr id="17" name="Text 14"/>
          <p:cNvSpPr txBox="1"/>
          <p:nvPr/>
        </p:nvSpPr>
        <p:spPr>
          <a:xfrm>
            <a:off x="7818120" y="3291840"/>
            <a:ext cx="365760" cy="640080"/>
          </a:xfrm>
          <a:prstGeom prst="rect">
            <a:avLst/>
          </a:prstGeom>
          <a:noFill/>
          <a:ln/>
        </p:spPr>
        <p:txBody>
          <a:bodyPr wrap="square" lIns="0" tIns="0" rIns="0" bIns="0" rtlCol="0" anchor="ctr"/>
          <a:lstStyle/>
          <a:p>
            <a:pPr indent="0" marL="0">
              <a:buNone/>
            </a:pPr>
            <a:r>
              <a:rPr lang="en-US" sz="2800" dirty="0">
                <a:solidFill>
                  <a:srgbClr val="B8C5BE"/>
                </a:solidFill>
                <a:latin typeface="Apple SD Gothic Neo" pitchFamily="34" charset="0"/>
                <a:ea typeface="Apple SD Gothic Neo" pitchFamily="34" charset="-122"/>
                <a:cs typeface="Apple SD Gothic Neo" pitchFamily="34" charset="-120"/>
              </a:rPr>
              <a:t>→</a:t>
            </a:r>
            <a:endParaRPr lang="en-US" sz="2800" dirty="0"/>
          </a:p>
        </p:txBody>
      </p:sp>
      <p:sp>
        <p:nvSpPr>
          <p:cNvPr id="18" name="Shape 15"/>
          <p:cNvSpPr/>
          <p:nvPr/>
        </p:nvSpPr>
        <p:spPr>
          <a:xfrm>
            <a:off x="8321040" y="2651760"/>
            <a:ext cx="3200400" cy="1828800"/>
          </a:xfrm>
          <a:prstGeom prst="roundRect">
            <a:avLst>
              <a:gd name="adj" fmla="val 8000"/>
            </a:avLst>
          </a:prstGeom>
          <a:solidFill>
            <a:srgbClr val="FAEEEA"/>
          </a:solidFill>
          <a:ln w="12700">
            <a:solidFill>
              <a:srgbClr val="FAEEEA"/>
            </a:solidFill>
            <a:prstDash val="solid"/>
          </a:ln>
        </p:spPr>
        <p:txBody>
          <a:bodyPr/>
          <a:p/>
        </p:txBody>
      </p:sp>
      <p:sp>
        <p:nvSpPr>
          <p:cNvPr id="19" name="Text 16"/>
          <p:cNvSpPr txBox="1"/>
          <p:nvPr/>
        </p:nvSpPr>
        <p:spPr>
          <a:xfrm>
            <a:off x="8595360" y="2971800"/>
            <a:ext cx="2651760" cy="822960"/>
          </a:xfrm>
          <a:prstGeom prst="rect">
            <a:avLst/>
          </a:prstGeom>
          <a:noFill/>
          <a:ln/>
        </p:spPr>
        <p:txBody>
          <a:bodyPr wrap="square" lIns="0" tIns="0" rIns="0" bIns="0" rtlCol="0" anchor="ctr"/>
          <a:lstStyle/>
          <a:p>
            <a:pPr indent="0" marL="0">
              <a:buNone/>
            </a:pPr>
            <a:r>
              <a:rPr lang="en-US" sz="4000" b="1" dirty="0">
                <a:solidFill>
                  <a:srgbClr val="B6503E"/>
                </a:solidFill>
                <a:latin typeface="Apple SD Gothic Neo" pitchFamily="34" charset="0"/>
                <a:ea typeface="Apple SD Gothic Neo" pitchFamily="34" charset="-122"/>
                <a:cs typeface="Apple SD Gothic Neo" pitchFamily="34" charset="-120"/>
              </a:rPr>
              <a:t>통과</a:t>
            </a:r>
            <a:endParaRPr lang="en-US" sz="4000" dirty="0"/>
          </a:p>
        </p:txBody>
      </p:sp>
      <p:sp>
        <p:nvSpPr>
          <p:cNvPr id="20" name="Text 17"/>
          <p:cNvSpPr txBox="1"/>
          <p:nvPr/>
        </p:nvSpPr>
        <p:spPr>
          <a:xfrm>
            <a:off x="8595360" y="3931920"/>
            <a:ext cx="2651760" cy="274320"/>
          </a:xfrm>
          <a:prstGeom prst="rect">
            <a:avLst/>
          </a:prstGeom>
          <a:noFill/>
          <a:ln/>
        </p:spPr>
        <p:txBody>
          <a:bodyPr wrap="square" lIns="0" tIns="0" rIns="0" bIns="0" rtlCol="0" anchor="ctr"/>
          <a:lstStyle/>
          <a:p>
            <a:pPr indent="0" marL="0">
              <a:buNone/>
            </a:pPr>
            <a:r>
              <a:rPr lang="en-US" sz="1600" dirty="0">
                <a:solidFill>
                  <a:srgbClr val="B6503E"/>
                </a:solidFill>
                <a:latin typeface="Apple SD Gothic Neo" pitchFamily="34" charset="0"/>
                <a:ea typeface="Apple SD Gothic Neo" pitchFamily="34" charset="-122"/>
                <a:cs typeface="Apple SD Gothic Neo" pitchFamily="34" charset="-120"/>
              </a:rPr>
              <a:t>길이 + 번호만 확인</a:t>
            </a:r>
            <a:endParaRPr lang="en-US" sz="1600" dirty="0"/>
          </a:p>
        </p:txBody>
      </p:sp>
      <p:sp>
        <p:nvSpPr>
          <p:cNvPr id="21" name="Text 18"/>
          <p:cNvSpPr txBox="1"/>
          <p:nvPr/>
        </p:nvSpPr>
        <p:spPr>
          <a:xfrm>
            <a:off x="685800" y="4681728"/>
            <a:ext cx="10881360" cy="274320"/>
          </a:xfrm>
          <a:prstGeom prst="rect">
            <a:avLst/>
          </a:prstGeom>
          <a:noFill/>
          <a:ln/>
        </p:spPr>
        <p:txBody>
          <a:bodyPr wrap="square" lIns="0" tIns="0" rIns="0" bIns="0" rtlCol="0" anchor="ctr"/>
          <a:lstStyle/>
          <a:p>
            <a:pPr indent="0" marL="0">
              <a:buNone/>
            </a:pPr>
            <a:r>
              <a:rPr lang="en-US" sz="1100" dirty="0">
                <a:solidFill>
                  <a:srgbClr val="62746D"/>
                </a:solidFill>
                <a:latin typeface="Apple SD Gothic Neo" pitchFamily="34" charset="0"/>
                <a:ea typeface="Apple SD Gothic Neo" pitchFamily="34" charset="-122"/>
                <a:cs typeface="Apple SD Gothic Neo" pitchFamily="34" charset="-120"/>
              </a:rPr>
              <a:t>설명용 예시 · 실제 평가 수치 아님</a:t>
            </a:r>
            <a:endParaRPr lang="en-US" sz="1100" dirty="0"/>
          </a:p>
        </p:txBody>
      </p:sp>
      <p:sp>
        <p:nvSpPr>
          <p:cNvPr id="22" name="Text 19"/>
          <p:cNvSpPr txBox="1"/>
          <p:nvPr/>
        </p:nvSpPr>
        <p:spPr>
          <a:xfrm>
            <a:off x="731520" y="5303520"/>
            <a:ext cx="2011680" cy="411480"/>
          </a:xfrm>
          <a:prstGeom prst="rect">
            <a:avLst/>
          </a:prstGeom>
          <a:noFill/>
          <a:ln/>
        </p:spPr>
        <p:txBody>
          <a:bodyPr wrap="square" lIns="0" tIns="0" rIns="0" bIns="0" rtlCol="0" anchor="ctr"/>
          <a:lstStyle/>
          <a:p>
            <a:pPr indent="0" marL="0">
              <a:buNone/>
            </a:pPr>
            <a:r>
              <a:rPr lang="en-US" sz="2000" b="1" dirty="0">
                <a:solidFill>
                  <a:srgbClr val="19382F"/>
                </a:solidFill>
                <a:latin typeface="Apple SD Gothic Neo" pitchFamily="34" charset="0"/>
                <a:ea typeface="Apple SD Gothic Neo" pitchFamily="34" charset="-122"/>
                <a:cs typeface="Apple SD Gothic Neo" pitchFamily="34" charset="-120"/>
              </a:rPr>
              <a:t>형식 검사</a:t>
            </a:r>
            <a:endParaRPr lang="en-US" sz="2000" dirty="0"/>
          </a:p>
        </p:txBody>
      </p:sp>
      <p:sp>
        <p:nvSpPr>
          <p:cNvPr id="23" name="Text 20"/>
          <p:cNvSpPr txBox="1"/>
          <p:nvPr/>
        </p:nvSpPr>
        <p:spPr>
          <a:xfrm>
            <a:off x="2743200" y="5303520"/>
            <a:ext cx="3657600" cy="411480"/>
          </a:xfrm>
          <a:prstGeom prst="rect">
            <a:avLst/>
          </a:prstGeom>
          <a:noFill/>
          <a:ln/>
        </p:spPr>
        <p:txBody>
          <a:bodyPr wrap="square" lIns="0" tIns="0" rIns="0" bIns="0" rtlCol="0" anchor="ctr"/>
          <a:lstStyle/>
          <a:p>
            <a:pPr indent="0" marL="0">
              <a:buNone/>
            </a:pPr>
            <a:r>
              <a:rPr lang="en-US" sz="2000" dirty="0">
                <a:solidFill>
                  <a:srgbClr val="19382F"/>
                </a:solidFill>
                <a:latin typeface="Apple SD Gothic Neo" pitchFamily="34" charset="0"/>
                <a:ea typeface="Apple SD Gothic Neo" pitchFamily="34" charset="-122"/>
                <a:cs typeface="Apple SD Gothic Neo" pitchFamily="34" charset="-120"/>
              </a:rPr>
              <a:t>30자 이상 + “1)” 포함</a:t>
            </a:r>
            <a:endParaRPr lang="en-US" sz="2000" dirty="0"/>
          </a:p>
        </p:txBody>
      </p:sp>
      <p:sp>
        <p:nvSpPr>
          <p:cNvPr id="24" name="Text 21"/>
          <p:cNvSpPr txBox="1"/>
          <p:nvPr/>
        </p:nvSpPr>
        <p:spPr>
          <a:xfrm>
            <a:off x="7040880" y="5303520"/>
            <a:ext cx="4206240" cy="411480"/>
          </a:xfrm>
          <a:prstGeom prst="rect">
            <a:avLst/>
          </a:prstGeom>
          <a:noFill/>
          <a:ln/>
        </p:spPr>
        <p:txBody>
          <a:bodyPr wrap="square" lIns="0" tIns="0" rIns="0" bIns="0" rtlCol="0" anchor="ctr"/>
          <a:lstStyle/>
          <a:p>
            <a:pPr indent="0" marL="0">
              <a:buNone/>
            </a:pPr>
            <a:r>
              <a:rPr lang="en-US" sz="2000" b="1" dirty="0">
                <a:solidFill>
                  <a:srgbClr val="B6503E"/>
                </a:solidFill>
                <a:latin typeface="Apple SD Gothic Neo" pitchFamily="34" charset="0"/>
                <a:ea typeface="Apple SD Gothic Neo" pitchFamily="34" charset="-122"/>
                <a:cs typeface="Apple SD Gothic Neo" pitchFamily="34" charset="-120"/>
              </a:rPr>
              <a:t>3회 실패해도 강제 합격</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02  개선 사항</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근거 수집부터 답변 출력까지 전 구간 개선</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03 / 10</a:t>
            </a:r>
            <a:endParaRPr lang="en-US" sz="900" dirty="0"/>
          </a:p>
        </p:txBody>
      </p:sp>
      <p:sp>
        <p:nvSpPr>
          <p:cNvPr id="7" name="Shape 4"/>
          <p:cNvSpPr/>
          <p:nvPr/>
        </p:nvSpPr>
        <p:spPr>
          <a:xfrm>
            <a:off x="640080" y="2176272"/>
            <a:ext cx="822960" cy="365760"/>
          </a:xfrm>
          <a:prstGeom prst="roundRect">
            <a:avLst>
              <a:gd name="adj" fmla="val 40000"/>
            </a:avLst>
          </a:prstGeom>
          <a:solidFill>
            <a:srgbClr val="EEF5F1"/>
          </a:solidFill>
          <a:ln w="12700">
            <a:solidFill>
              <a:srgbClr val="EEF5F1"/>
            </a:solidFill>
            <a:prstDash val="solid"/>
          </a:ln>
        </p:spPr>
        <p:txBody>
          <a:bodyPr/>
          <a:p/>
        </p:txBody>
      </p:sp>
      <p:sp>
        <p:nvSpPr>
          <p:cNvPr id="8" name="Text 5"/>
          <p:cNvSpPr txBox="1"/>
          <p:nvPr/>
        </p:nvSpPr>
        <p:spPr>
          <a:xfrm>
            <a:off x="749808" y="2176272"/>
            <a:ext cx="60350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검증</a:t>
            </a:r>
            <a:endParaRPr lang="en-US" sz="1200" dirty="0"/>
          </a:p>
        </p:txBody>
      </p:sp>
      <p:sp>
        <p:nvSpPr>
          <p:cNvPr id="9" name="Text 6"/>
          <p:cNvSpPr txBox="1"/>
          <p:nvPr/>
        </p:nvSpPr>
        <p:spPr>
          <a:xfrm>
            <a:off x="1783080" y="2011680"/>
            <a:ext cx="2834640" cy="548640"/>
          </a:xfrm>
          <a:prstGeom prst="rect">
            <a:avLst/>
          </a:prstGeom>
          <a:noFill/>
          <a:ln/>
        </p:spPr>
        <p:txBody>
          <a:bodyPr wrap="square" lIns="0" tIns="0" rIns="0" bIns="0" rtlCol="0" anchor="ctr"/>
          <a:lstStyle/>
          <a:p>
            <a:pPr indent="0" marL="0">
              <a:buNone/>
            </a:pPr>
            <a:r>
              <a:rPr lang="en-US" sz="2000" dirty="0">
                <a:solidFill>
                  <a:srgbClr val="62746D"/>
                </a:solidFill>
                <a:latin typeface="Apple SD Gothic Neo" pitchFamily="34" charset="0"/>
                <a:ea typeface="Apple SD Gothic Neo" pitchFamily="34" charset="-122"/>
                <a:cs typeface="Apple SD Gothic Neo" pitchFamily="34" charset="-120"/>
              </a:rPr>
              <a:t>길이·번호 확인</a:t>
            </a:r>
            <a:endParaRPr lang="en-US" sz="2000" dirty="0"/>
          </a:p>
        </p:txBody>
      </p:sp>
      <p:sp>
        <p:nvSpPr>
          <p:cNvPr id="10" name="Shape 7"/>
          <p:cNvSpPr/>
          <p:nvPr/>
        </p:nvSpPr>
        <p:spPr>
          <a:xfrm>
            <a:off x="4572000" y="2286000"/>
            <a:ext cx="594360" cy="0"/>
          </a:xfrm>
          <a:prstGeom prst="line">
            <a:avLst/>
          </a:prstGeom>
          <a:noFill/>
          <a:ln w="20320">
            <a:solidFill>
              <a:srgbClr val="16785C"/>
            </a:solidFill>
            <a:prstDash val="solid"/>
            <a:tailEnd type="triangle"/>
          </a:ln>
        </p:spPr>
        <p:txBody>
          <a:bodyPr/>
          <a:p/>
        </p:txBody>
      </p:sp>
      <p:sp>
        <p:nvSpPr>
          <p:cNvPr id="11" name="Text 8"/>
          <p:cNvSpPr txBox="1"/>
          <p:nvPr/>
        </p:nvSpPr>
        <p:spPr>
          <a:xfrm>
            <a:off x="5486400" y="2011680"/>
            <a:ext cx="5943600" cy="548640"/>
          </a:xfrm>
          <a:prstGeom prst="rect">
            <a:avLst/>
          </a:prstGeom>
          <a:noFill/>
          <a:ln/>
        </p:spPr>
        <p:txBody>
          <a:bodyPr wrap="square" lIns="0" tIns="0" rIns="0" bIns="0" rtlCol="0" anchor="ctr"/>
          <a:lstStyle/>
          <a:p>
            <a:pPr indent="0" marL="0">
              <a:buNone/>
            </a:pPr>
            <a:r>
              <a:rPr lang="en-US" sz="2500" b="1" dirty="0">
                <a:solidFill>
                  <a:srgbClr val="16785C"/>
                </a:solidFill>
                <a:latin typeface="Apple SD Gothic Neo" pitchFamily="34" charset="0"/>
                <a:ea typeface="Apple SD Gothic Neo" pitchFamily="34" charset="-122"/>
                <a:cs typeface="Apple SD Gothic Neo" pitchFamily="34" charset="-120"/>
              </a:rPr>
              <a:t>시스템별 수치 대조</a:t>
            </a:r>
            <a:endParaRPr lang="en-US" sz="2500" dirty="0"/>
          </a:p>
        </p:txBody>
      </p:sp>
      <p:sp>
        <p:nvSpPr>
          <p:cNvPr id="12" name="Text 9"/>
          <p:cNvSpPr txBox="1"/>
          <p:nvPr/>
        </p:nvSpPr>
        <p:spPr>
          <a:xfrm>
            <a:off x="5486400" y="2596896"/>
            <a:ext cx="5943600" cy="365760"/>
          </a:xfrm>
          <a:prstGeom prst="rect">
            <a:avLst/>
          </a:prstGeom>
          <a:noFill/>
          <a:ln/>
        </p:spPr>
        <p:txBody>
          <a:bodyPr wrap="square" lIns="0" tIns="0" rIns="0" bIns="0" rtlCol="0" anchor="ctr"/>
          <a:lstStyle/>
          <a:p>
            <a:pPr indent="0" marL="0">
              <a:buNone/>
            </a:pPr>
            <a:r>
              <a:rPr lang="en-US" sz="1500" dirty="0">
                <a:solidFill>
                  <a:srgbClr val="62746D"/>
                </a:solidFill>
                <a:latin typeface="Apple SD Gothic Neo" pitchFamily="34" charset="0"/>
                <a:ea typeface="Apple SD Gothic Neo" pitchFamily="34" charset="-122"/>
                <a:cs typeface="Apple SD Gothic Neo" pitchFamily="34" charset="-120"/>
              </a:rPr>
              <a:t>불일치 사유 → 재작성 / 총 3회 실패 → 중단</a:t>
            </a:r>
            <a:endParaRPr lang="en-US" sz="1500" dirty="0"/>
          </a:p>
        </p:txBody>
      </p:sp>
      <p:sp>
        <p:nvSpPr>
          <p:cNvPr id="13" name="Shape 10"/>
          <p:cNvSpPr/>
          <p:nvPr/>
        </p:nvSpPr>
        <p:spPr>
          <a:xfrm>
            <a:off x="685800" y="3035808"/>
            <a:ext cx="10789920" cy="0"/>
          </a:xfrm>
          <a:prstGeom prst="line">
            <a:avLst/>
          </a:prstGeom>
          <a:noFill/>
          <a:ln w="20320">
            <a:solidFill>
              <a:srgbClr val="DDE7E1"/>
            </a:solidFill>
            <a:prstDash val="solid"/>
          </a:ln>
        </p:spPr>
        <p:txBody>
          <a:bodyPr/>
          <a:p/>
        </p:txBody>
      </p:sp>
      <p:sp>
        <p:nvSpPr>
          <p:cNvPr id="14" name="Shape 11"/>
          <p:cNvSpPr/>
          <p:nvPr/>
        </p:nvSpPr>
        <p:spPr>
          <a:xfrm>
            <a:off x="640080" y="3364992"/>
            <a:ext cx="822960" cy="365760"/>
          </a:xfrm>
          <a:prstGeom prst="roundRect">
            <a:avLst>
              <a:gd name="adj" fmla="val 40000"/>
            </a:avLst>
          </a:prstGeom>
          <a:solidFill>
            <a:srgbClr val="EEF5F1"/>
          </a:solidFill>
          <a:ln w="12700">
            <a:solidFill>
              <a:srgbClr val="EEF5F1"/>
            </a:solidFill>
            <a:prstDash val="solid"/>
          </a:ln>
        </p:spPr>
        <p:txBody>
          <a:bodyPr/>
          <a:p/>
        </p:txBody>
      </p:sp>
      <p:sp>
        <p:nvSpPr>
          <p:cNvPr id="15" name="Text 12"/>
          <p:cNvSpPr txBox="1"/>
          <p:nvPr/>
        </p:nvSpPr>
        <p:spPr>
          <a:xfrm>
            <a:off x="749808" y="3364992"/>
            <a:ext cx="60350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검색</a:t>
            </a:r>
            <a:endParaRPr lang="en-US" sz="1200" dirty="0"/>
          </a:p>
        </p:txBody>
      </p:sp>
      <p:sp>
        <p:nvSpPr>
          <p:cNvPr id="16" name="Text 13"/>
          <p:cNvSpPr txBox="1"/>
          <p:nvPr/>
        </p:nvSpPr>
        <p:spPr>
          <a:xfrm>
            <a:off x="1783080" y="3200400"/>
            <a:ext cx="2834640" cy="548640"/>
          </a:xfrm>
          <a:prstGeom prst="rect">
            <a:avLst/>
          </a:prstGeom>
          <a:noFill/>
          <a:ln/>
        </p:spPr>
        <p:txBody>
          <a:bodyPr wrap="square" lIns="0" tIns="0" rIns="0" bIns="0" rtlCol="0" anchor="ctr"/>
          <a:lstStyle/>
          <a:p>
            <a:pPr indent="0" marL="0">
              <a:buNone/>
            </a:pPr>
            <a:r>
              <a:rPr lang="en-US" sz="2000" dirty="0">
                <a:solidFill>
                  <a:srgbClr val="62746D"/>
                </a:solidFill>
                <a:latin typeface="Apple SD Gothic Neo" pitchFamily="34" charset="0"/>
                <a:ea typeface="Apple SD Gothic Neo" pitchFamily="34" charset="-122"/>
                <a:cs typeface="Apple SD Gothic Neo" pitchFamily="34" charset="-120"/>
              </a:rPr>
              <a:t>키워드·기본값 선택</a:t>
            </a:r>
            <a:endParaRPr lang="en-US" sz="2000" dirty="0"/>
          </a:p>
        </p:txBody>
      </p:sp>
      <p:sp>
        <p:nvSpPr>
          <p:cNvPr id="17" name="Shape 14"/>
          <p:cNvSpPr/>
          <p:nvPr/>
        </p:nvSpPr>
        <p:spPr>
          <a:xfrm>
            <a:off x="4572000" y="3474720"/>
            <a:ext cx="594360" cy="0"/>
          </a:xfrm>
          <a:prstGeom prst="line">
            <a:avLst/>
          </a:prstGeom>
          <a:noFill/>
          <a:ln w="20320">
            <a:solidFill>
              <a:srgbClr val="16785C"/>
            </a:solidFill>
            <a:prstDash val="solid"/>
            <a:tailEnd type="triangle"/>
          </a:ln>
        </p:spPr>
        <p:txBody>
          <a:bodyPr/>
          <a:p/>
        </p:txBody>
      </p:sp>
      <p:sp>
        <p:nvSpPr>
          <p:cNvPr id="18" name="Text 15"/>
          <p:cNvSpPr txBox="1"/>
          <p:nvPr/>
        </p:nvSpPr>
        <p:spPr>
          <a:xfrm>
            <a:off x="5486400" y="3200400"/>
            <a:ext cx="5943600" cy="548640"/>
          </a:xfrm>
          <a:prstGeom prst="rect">
            <a:avLst/>
          </a:prstGeom>
          <a:noFill/>
          <a:ln/>
        </p:spPr>
        <p:txBody>
          <a:bodyPr wrap="square" lIns="0" tIns="0" rIns="0" bIns="0" rtlCol="0" anchor="ctr"/>
          <a:lstStyle/>
          <a:p>
            <a:pPr indent="0" marL="0">
              <a:buNone/>
            </a:pPr>
            <a:r>
              <a:rPr lang="en-US" sz="2500" b="1" dirty="0">
                <a:solidFill>
                  <a:srgbClr val="16785C"/>
                </a:solidFill>
                <a:latin typeface="Apple SD Gothic Neo" pitchFamily="34" charset="0"/>
                <a:ea typeface="Apple SD Gothic Neo" pitchFamily="34" charset="-122"/>
                <a:cs typeface="Apple SD Gothic Neo" pitchFamily="34" charset="-120"/>
              </a:rPr>
              <a:t>매뉴얼 의미 검색</a:t>
            </a:r>
            <a:endParaRPr lang="en-US" sz="2500" dirty="0"/>
          </a:p>
        </p:txBody>
      </p:sp>
      <p:sp>
        <p:nvSpPr>
          <p:cNvPr id="19" name="Text 16"/>
          <p:cNvSpPr txBox="1"/>
          <p:nvPr/>
        </p:nvSpPr>
        <p:spPr>
          <a:xfrm>
            <a:off x="5486400" y="3785616"/>
            <a:ext cx="5943600" cy="365760"/>
          </a:xfrm>
          <a:prstGeom prst="rect">
            <a:avLst/>
          </a:prstGeom>
          <a:noFill/>
          <a:ln/>
        </p:spPr>
        <p:txBody>
          <a:bodyPr wrap="square" lIns="0" tIns="0" rIns="0" bIns="0" rtlCol="0" anchor="ctr"/>
          <a:lstStyle/>
          <a:p>
            <a:pPr indent="0" marL="0">
              <a:buNone/>
            </a:pPr>
            <a:r>
              <a:rPr lang="en-US" sz="1500" dirty="0">
                <a:solidFill>
                  <a:srgbClr val="62746D"/>
                </a:solidFill>
                <a:latin typeface="Apple SD Gothic Neo" pitchFamily="34" charset="0"/>
                <a:ea typeface="Apple SD Gothic Neo" pitchFamily="34" charset="-122"/>
                <a:cs typeface="Apple SD Gothic Neo" pitchFamily="34" charset="-120"/>
              </a:rPr>
              <a:t>점수가 낮거나 후보 차이가 작으면 선택 보류</a:t>
            </a:r>
            <a:endParaRPr lang="en-US" sz="1500" dirty="0"/>
          </a:p>
        </p:txBody>
      </p:sp>
      <p:sp>
        <p:nvSpPr>
          <p:cNvPr id="20" name="Shape 17"/>
          <p:cNvSpPr/>
          <p:nvPr/>
        </p:nvSpPr>
        <p:spPr>
          <a:xfrm>
            <a:off x="685800" y="4224528"/>
            <a:ext cx="10789920" cy="0"/>
          </a:xfrm>
          <a:prstGeom prst="line">
            <a:avLst/>
          </a:prstGeom>
          <a:noFill/>
          <a:ln w="20320">
            <a:solidFill>
              <a:srgbClr val="DDE7E1"/>
            </a:solidFill>
            <a:prstDash val="solid"/>
          </a:ln>
        </p:spPr>
        <p:txBody>
          <a:bodyPr/>
          <a:p/>
        </p:txBody>
      </p:sp>
      <p:sp>
        <p:nvSpPr>
          <p:cNvPr id="21" name="Shape 18"/>
          <p:cNvSpPr/>
          <p:nvPr/>
        </p:nvSpPr>
        <p:spPr>
          <a:xfrm>
            <a:off x="640080" y="4553712"/>
            <a:ext cx="822960" cy="365760"/>
          </a:xfrm>
          <a:prstGeom prst="roundRect">
            <a:avLst>
              <a:gd name="adj" fmla="val 40000"/>
            </a:avLst>
          </a:prstGeom>
          <a:solidFill>
            <a:srgbClr val="EEF5F1"/>
          </a:solidFill>
          <a:ln w="12700">
            <a:solidFill>
              <a:srgbClr val="EEF5F1"/>
            </a:solidFill>
            <a:prstDash val="solid"/>
          </a:ln>
        </p:spPr>
        <p:txBody>
          <a:bodyPr/>
          <a:p/>
        </p:txBody>
      </p:sp>
      <p:sp>
        <p:nvSpPr>
          <p:cNvPr id="22" name="Text 19"/>
          <p:cNvSpPr txBox="1"/>
          <p:nvPr/>
        </p:nvSpPr>
        <p:spPr>
          <a:xfrm>
            <a:off x="749808" y="4553712"/>
            <a:ext cx="60350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조사</a:t>
            </a:r>
            <a:endParaRPr lang="en-US" sz="1200" dirty="0"/>
          </a:p>
        </p:txBody>
      </p:sp>
      <p:sp>
        <p:nvSpPr>
          <p:cNvPr id="23" name="Text 20"/>
          <p:cNvSpPr txBox="1"/>
          <p:nvPr/>
        </p:nvSpPr>
        <p:spPr>
          <a:xfrm>
            <a:off x="1783080" y="4389120"/>
            <a:ext cx="2834640" cy="548640"/>
          </a:xfrm>
          <a:prstGeom prst="rect">
            <a:avLst/>
          </a:prstGeom>
          <a:noFill/>
          <a:ln/>
        </p:spPr>
        <p:txBody>
          <a:bodyPr wrap="square" lIns="0" tIns="0" rIns="0" bIns="0" rtlCol="0" anchor="ctr"/>
          <a:lstStyle/>
          <a:p>
            <a:pPr indent="0" marL="0">
              <a:buNone/>
            </a:pPr>
            <a:r>
              <a:rPr lang="en-US" sz="2000" dirty="0">
                <a:solidFill>
                  <a:srgbClr val="62746D"/>
                </a:solidFill>
                <a:latin typeface="Apple SD Gothic Neo" pitchFamily="34" charset="0"/>
                <a:ea typeface="Apple SD Gothic Neo" pitchFamily="34" charset="-122"/>
                <a:cs typeface="Apple SD Gothic Neo" pitchFamily="34" charset="-120"/>
              </a:rPr>
              <a:t>한 작업 실패 시 중단</a:t>
            </a:r>
            <a:endParaRPr lang="en-US" sz="2000" dirty="0"/>
          </a:p>
        </p:txBody>
      </p:sp>
      <p:sp>
        <p:nvSpPr>
          <p:cNvPr id="24" name="Shape 21"/>
          <p:cNvSpPr/>
          <p:nvPr/>
        </p:nvSpPr>
        <p:spPr>
          <a:xfrm>
            <a:off x="4572000" y="4663440"/>
            <a:ext cx="594360" cy="0"/>
          </a:xfrm>
          <a:prstGeom prst="line">
            <a:avLst/>
          </a:prstGeom>
          <a:noFill/>
          <a:ln w="20320">
            <a:solidFill>
              <a:srgbClr val="16785C"/>
            </a:solidFill>
            <a:prstDash val="solid"/>
            <a:tailEnd type="triangle"/>
          </a:ln>
        </p:spPr>
        <p:txBody>
          <a:bodyPr/>
          <a:p/>
        </p:txBody>
      </p:sp>
      <p:sp>
        <p:nvSpPr>
          <p:cNvPr id="25" name="Text 22"/>
          <p:cNvSpPr txBox="1"/>
          <p:nvPr/>
        </p:nvSpPr>
        <p:spPr>
          <a:xfrm>
            <a:off x="5486400" y="4389120"/>
            <a:ext cx="5943600" cy="548640"/>
          </a:xfrm>
          <a:prstGeom prst="rect">
            <a:avLst/>
          </a:prstGeom>
          <a:noFill/>
          <a:ln/>
        </p:spPr>
        <p:txBody>
          <a:bodyPr wrap="square" lIns="0" tIns="0" rIns="0" bIns="0" rtlCol="0" anchor="ctr"/>
          <a:lstStyle/>
          <a:p>
            <a:pPr indent="0" marL="0">
              <a:buNone/>
            </a:pPr>
            <a:r>
              <a:rPr lang="en-US" sz="2500" b="1" dirty="0">
                <a:solidFill>
                  <a:srgbClr val="16785C"/>
                </a:solidFill>
                <a:latin typeface="Apple SD Gothic Neo" pitchFamily="34" charset="0"/>
                <a:ea typeface="Apple SD Gothic Neo" pitchFamily="34" charset="-122"/>
                <a:cs typeface="Apple SD Gothic Neo" pitchFamily="34" charset="-120"/>
              </a:rPr>
              <a:t>성공한 자료 유지</a:t>
            </a:r>
            <a:endParaRPr lang="en-US" sz="2500" dirty="0"/>
          </a:p>
        </p:txBody>
      </p:sp>
      <p:sp>
        <p:nvSpPr>
          <p:cNvPr id="26" name="Text 23"/>
          <p:cNvSpPr txBox="1"/>
          <p:nvPr/>
        </p:nvSpPr>
        <p:spPr>
          <a:xfrm>
            <a:off x="5486400" y="4974336"/>
            <a:ext cx="5943600" cy="365760"/>
          </a:xfrm>
          <a:prstGeom prst="rect">
            <a:avLst/>
          </a:prstGeom>
          <a:noFill/>
          <a:ln/>
        </p:spPr>
        <p:txBody>
          <a:bodyPr wrap="square" lIns="0" tIns="0" rIns="0" bIns="0" rtlCol="0" anchor="ctr"/>
          <a:lstStyle/>
          <a:p>
            <a:pPr indent="0" marL="0">
              <a:buNone/>
            </a:pPr>
            <a:r>
              <a:rPr lang="en-US" sz="1500" dirty="0">
                <a:solidFill>
                  <a:srgbClr val="62746D"/>
                </a:solidFill>
                <a:latin typeface="Apple SD Gothic Neo" pitchFamily="34" charset="0"/>
                <a:ea typeface="Apple SD Gothic Neo" pitchFamily="34" charset="-122"/>
                <a:cs typeface="Apple SD Gothic Neo" pitchFamily="34" charset="-120"/>
              </a:rPr>
              <a:t>실패 대상 안내 / 근거 0건이면 작성 생략</a:t>
            </a:r>
            <a:endParaRPr lang="en-US" sz="1500" dirty="0"/>
          </a:p>
        </p:txBody>
      </p:sp>
      <p:sp>
        <p:nvSpPr>
          <p:cNvPr id="27" name="Text 24"/>
          <p:cNvSpPr txBox="1"/>
          <p:nvPr/>
        </p:nvSpPr>
        <p:spPr>
          <a:xfrm>
            <a:off x="685800" y="5852160"/>
            <a:ext cx="1371600" cy="320040"/>
          </a:xfrm>
          <a:prstGeom prst="rect">
            <a:avLst/>
          </a:prstGeom>
          <a:noFill/>
          <a:ln/>
        </p:spPr>
        <p:txBody>
          <a:bodyPr wrap="square" lIns="0" tIns="0" rIns="0" bIns="0" rtlCol="0" anchor="ctr"/>
          <a:lstStyle/>
          <a:p>
            <a:pPr indent="0" marL="0">
              <a:buNone/>
            </a:pPr>
            <a:r>
              <a:rPr lang="en-US" sz="1500" b="1" dirty="0">
                <a:solidFill>
                  <a:srgbClr val="16785C"/>
                </a:solidFill>
                <a:latin typeface="Apple SD Gothic Neo" pitchFamily="34" charset="0"/>
                <a:ea typeface="Apple SD Gothic Neo" pitchFamily="34" charset="-122"/>
                <a:cs typeface="Apple SD Gothic Neo" pitchFamily="34" charset="-120"/>
              </a:rPr>
              <a:t>추가 보완</a:t>
            </a:r>
            <a:endParaRPr lang="en-US" sz="1500" dirty="0"/>
          </a:p>
        </p:txBody>
      </p:sp>
      <p:sp>
        <p:nvSpPr>
          <p:cNvPr id="28" name="Text 25"/>
          <p:cNvSpPr txBox="1"/>
          <p:nvPr/>
        </p:nvSpPr>
        <p:spPr>
          <a:xfrm>
            <a:off x="2286000" y="5852160"/>
            <a:ext cx="9144000" cy="320040"/>
          </a:xfrm>
          <a:prstGeom prst="rect">
            <a:avLst/>
          </a:prstGeom>
          <a:noFill/>
          <a:ln/>
        </p:spPr>
        <p:txBody>
          <a:bodyPr wrap="square" lIns="0" tIns="0" rIns="0" bIns="0" rtlCol="0" anchor="ctr"/>
          <a:lstStyle/>
          <a:p>
            <a:pPr indent="0" marL="0">
              <a:buNone/>
            </a:pPr>
            <a:r>
              <a:rPr lang="en-US" sz="1700" dirty="0">
                <a:solidFill>
                  <a:srgbClr val="19382F"/>
                </a:solidFill>
                <a:latin typeface="Apple SD Gothic Neo" pitchFamily="34" charset="0"/>
                <a:ea typeface="Apple SD Gothic Neo" pitchFamily="34" charset="-122"/>
                <a:cs typeface="Apple SD Gothic Neo" pitchFamily="34" charset="-120"/>
              </a:rPr>
              <a:t>대상 시스템명 구분  ·  역할별 모듈 분리  ·  단위·회귀 테스트</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03  구조와 사용 기술</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근거 확인 및 실패 분기를 반영한 처리 흐름</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04 / 10</a:t>
            </a:r>
            <a:endParaRPr lang="en-US" sz="900" dirty="0"/>
          </a:p>
        </p:txBody>
      </p:sp>
      <p:sp>
        <p:nvSpPr>
          <p:cNvPr id="7" name="Shape 4"/>
          <p:cNvSpPr/>
          <p:nvPr/>
        </p:nvSpPr>
        <p:spPr>
          <a:xfrm>
            <a:off x="640080" y="2103120"/>
            <a:ext cx="1508760" cy="640080"/>
          </a:xfrm>
          <a:prstGeom prst="roundRect">
            <a:avLst>
              <a:gd name="adj" fmla="val 22857"/>
            </a:avLst>
          </a:prstGeom>
          <a:solidFill>
            <a:srgbClr val="EEF5F1"/>
          </a:solidFill>
          <a:ln w="12700">
            <a:solidFill>
              <a:srgbClr val="EEF5F1"/>
            </a:solidFill>
            <a:prstDash val="solid"/>
          </a:ln>
        </p:spPr>
        <p:txBody>
          <a:bodyPr/>
          <a:p/>
        </p:txBody>
      </p:sp>
      <p:sp>
        <p:nvSpPr>
          <p:cNvPr id="8" name="Text 5"/>
          <p:cNvSpPr txBox="1"/>
          <p:nvPr/>
        </p:nvSpPr>
        <p:spPr>
          <a:xfrm>
            <a:off x="749808" y="2157984"/>
            <a:ext cx="12893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질문·계획</a:t>
            </a:r>
            <a:endParaRPr lang="en-US" sz="1800" dirty="0"/>
          </a:p>
        </p:txBody>
      </p:sp>
      <p:sp>
        <p:nvSpPr>
          <p:cNvPr id="9" name="Shape 6"/>
          <p:cNvSpPr/>
          <p:nvPr/>
        </p:nvSpPr>
        <p:spPr>
          <a:xfrm>
            <a:off x="2606040" y="1828800"/>
            <a:ext cx="1737360" cy="640080"/>
          </a:xfrm>
          <a:prstGeom prst="roundRect">
            <a:avLst>
              <a:gd name="adj" fmla="val 22857"/>
            </a:avLst>
          </a:prstGeom>
          <a:solidFill>
            <a:srgbClr val="EEF5F1"/>
          </a:solidFill>
          <a:ln w="12700">
            <a:solidFill>
              <a:srgbClr val="EEF5F1"/>
            </a:solidFill>
            <a:prstDash val="solid"/>
          </a:ln>
        </p:spPr>
        <p:txBody>
          <a:bodyPr/>
          <a:p/>
        </p:txBody>
      </p:sp>
      <p:sp>
        <p:nvSpPr>
          <p:cNvPr id="10" name="Text 7"/>
          <p:cNvSpPr txBox="1"/>
          <p:nvPr/>
        </p:nvSpPr>
        <p:spPr>
          <a:xfrm>
            <a:off x="2715768" y="1883664"/>
            <a:ext cx="15179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모니터링</a:t>
            </a:r>
            <a:endParaRPr lang="en-US" sz="1800" dirty="0"/>
          </a:p>
        </p:txBody>
      </p:sp>
      <p:sp>
        <p:nvSpPr>
          <p:cNvPr id="11" name="Shape 8"/>
          <p:cNvSpPr/>
          <p:nvPr/>
        </p:nvSpPr>
        <p:spPr>
          <a:xfrm>
            <a:off x="2606040" y="2788920"/>
            <a:ext cx="1737360" cy="640080"/>
          </a:xfrm>
          <a:prstGeom prst="roundRect">
            <a:avLst>
              <a:gd name="adj" fmla="val 22857"/>
            </a:avLst>
          </a:prstGeom>
          <a:solidFill>
            <a:srgbClr val="EEF5F1"/>
          </a:solidFill>
          <a:ln w="12700">
            <a:solidFill>
              <a:srgbClr val="EEF5F1"/>
            </a:solidFill>
            <a:prstDash val="solid"/>
          </a:ln>
        </p:spPr>
        <p:txBody>
          <a:bodyPr/>
          <a:p/>
        </p:txBody>
      </p:sp>
      <p:sp>
        <p:nvSpPr>
          <p:cNvPr id="12" name="Text 9"/>
          <p:cNvSpPr txBox="1"/>
          <p:nvPr/>
        </p:nvSpPr>
        <p:spPr>
          <a:xfrm>
            <a:off x="2715768" y="2843784"/>
            <a:ext cx="15179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매뉴얼 검색</a:t>
            </a:r>
            <a:endParaRPr lang="en-US" sz="1800" dirty="0"/>
          </a:p>
        </p:txBody>
      </p:sp>
      <p:sp>
        <p:nvSpPr>
          <p:cNvPr id="13" name="Shape 10"/>
          <p:cNvSpPr/>
          <p:nvPr/>
        </p:nvSpPr>
        <p:spPr>
          <a:xfrm>
            <a:off x="4846320" y="2286000"/>
            <a:ext cx="1508760" cy="640080"/>
          </a:xfrm>
          <a:prstGeom prst="roundRect">
            <a:avLst>
              <a:gd name="adj" fmla="val 22857"/>
            </a:avLst>
          </a:prstGeom>
          <a:solidFill>
            <a:srgbClr val="A4DAC2"/>
          </a:solidFill>
          <a:ln w="12700">
            <a:solidFill>
              <a:srgbClr val="A4DAC2"/>
            </a:solidFill>
            <a:prstDash val="solid"/>
          </a:ln>
        </p:spPr>
        <p:txBody>
          <a:bodyPr/>
          <a:p/>
        </p:txBody>
      </p:sp>
      <p:sp>
        <p:nvSpPr>
          <p:cNvPr id="14" name="Text 11"/>
          <p:cNvSpPr txBox="1"/>
          <p:nvPr/>
        </p:nvSpPr>
        <p:spPr>
          <a:xfrm>
            <a:off x="4956048" y="2340864"/>
            <a:ext cx="12893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근거 확인</a:t>
            </a:r>
            <a:endParaRPr lang="en-US" sz="1800" dirty="0"/>
          </a:p>
        </p:txBody>
      </p:sp>
      <p:sp>
        <p:nvSpPr>
          <p:cNvPr id="15" name="Shape 12"/>
          <p:cNvSpPr/>
          <p:nvPr/>
        </p:nvSpPr>
        <p:spPr>
          <a:xfrm>
            <a:off x="6858000" y="2286000"/>
            <a:ext cx="1508760" cy="640080"/>
          </a:xfrm>
          <a:prstGeom prst="roundRect">
            <a:avLst>
              <a:gd name="adj" fmla="val 22857"/>
            </a:avLst>
          </a:prstGeom>
          <a:solidFill>
            <a:srgbClr val="EEF5F1"/>
          </a:solidFill>
          <a:ln w="12700">
            <a:solidFill>
              <a:srgbClr val="EEF5F1"/>
            </a:solidFill>
            <a:prstDash val="solid"/>
          </a:ln>
        </p:spPr>
        <p:txBody>
          <a:bodyPr/>
          <a:p/>
        </p:txBody>
      </p:sp>
      <p:sp>
        <p:nvSpPr>
          <p:cNvPr id="16" name="Text 13"/>
          <p:cNvSpPr txBox="1"/>
          <p:nvPr/>
        </p:nvSpPr>
        <p:spPr>
          <a:xfrm>
            <a:off x="6967728" y="2340864"/>
            <a:ext cx="12893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답변 작성</a:t>
            </a:r>
            <a:endParaRPr lang="en-US" sz="1800" dirty="0"/>
          </a:p>
        </p:txBody>
      </p:sp>
      <p:sp>
        <p:nvSpPr>
          <p:cNvPr id="17" name="Shape 14"/>
          <p:cNvSpPr/>
          <p:nvPr/>
        </p:nvSpPr>
        <p:spPr>
          <a:xfrm>
            <a:off x="8869680" y="2286000"/>
            <a:ext cx="1508760" cy="640080"/>
          </a:xfrm>
          <a:prstGeom prst="roundRect">
            <a:avLst>
              <a:gd name="adj" fmla="val 22857"/>
            </a:avLst>
          </a:prstGeom>
          <a:solidFill>
            <a:srgbClr val="A4DAC2"/>
          </a:solidFill>
          <a:ln w="12700">
            <a:solidFill>
              <a:srgbClr val="A4DAC2"/>
            </a:solidFill>
            <a:prstDash val="solid"/>
          </a:ln>
        </p:spPr>
        <p:txBody>
          <a:bodyPr/>
          <a:p/>
        </p:txBody>
      </p:sp>
      <p:sp>
        <p:nvSpPr>
          <p:cNvPr id="18" name="Text 15"/>
          <p:cNvSpPr txBox="1"/>
          <p:nvPr/>
        </p:nvSpPr>
        <p:spPr>
          <a:xfrm>
            <a:off x="8979408" y="2340864"/>
            <a:ext cx="128930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수치 검증</a:t>
            </a:r>
            <a:endParaRPr lang="en-US" sz="1800" dirty="0"/>
          </a:p>
        </p:txBody>
      </p:sp>
      <p:sp>
        <p:nvSpPr>
          <p:cNvPr id="19" name="Shape 16"/>
          <p:cNvSpPr/>
          <p:nvPr/>
        </p:nvSpPr>
        <p:spPr>
          <a:xfrm>
            <a:off x="10835640" y="2286000"/>
            <a:ext cx="777240" cy="640080"/>
          </a:xfrm>
          <a:prstGeom prst="roundRect">
            <a:avLst>
              <a:gd name="adj" fmla="val 22857"/>
            </a:avLst>
          </a:prstGeom>
          <a:solidFill>
            <a:srgbClr val="EEF5F1"/>
          </a:solidFill>
          <a:ln w="12700">
            <a:solidFill>
              <a:srgbClr val="EEF5F1"/>
            </a:solidFill>
            <a:prstDash val="solid"/>
          </a:ln>
        </p:spPr>
        <p:txBody>
          <a:bodyPr/>
          <a:p/>
        </p:txBody>
      </p:sp>
      <p:sp>
        <p:nvSpPr>
          <p:cNvPr id="20" name="Text 17"/>
          <p:cNvSpPr txBox="1"/>
          <p:nvPr/>
        </p:nvSpPr>
        <p:spPr>
          <a:xfrm>
            <a:off x="10945368" y="2340864"/>
            <a:ext cx="557784" cy="530352"/>
          </a:xfrm>
          <a:prstGeom prst="rect">
            <a:avLst/>
          </a:prstGeom>
          <a:noFill/>
          <a:ln/>
        </p:spPr>
        <p:txBody>
          <a:bodyPr wrap="square" lIns="0" tIns="0" rIns="0" bIns="0" rtlCol="0" anchor="ctr"/>
          <a:lstStyle/>
          <a:p>
            <a:pPr indent="0" marL="0">
              <a:buNone/>
            </a:pPr>
            <a:r>
              <a:rPr lang="en-US" sz="1800" b="1" dirty="0">
                <a:solidFill>
                  <a:srgbClr val="19382F"/>
                </a:solidFill>
                <a:latin typeface="Apple SD Gothic Neo" pitchFamily="34" charset="0"/>
                <a:ea typeface="Apple SD Gothic Neo" pitchFamily="34" charset="-122"/>
                <a:cs typeface="Apple SD Gothic Neo" pitchFamily="34" charset="-120"/>
              </a:rPr>
              <a:t>응답</a:t>
            </a:r>
            <a:endParaRPr lang="en-US" sz="1800" dirty="0"/>
          </a:p>
        </p:txBody>
      </p:sp>
      <p:sp>
        <p:nvSpPr>
          <p:cNvPr id="21" name="Shape 18"/>
          <p:cNvSpPr/>
          <p:nvPr/>
        </p:nvSpPr>
        <p:spPr>
          <a:xfrm>
            <a:off x="2194560" y="2423160"/>
            <a:ext cx="182880" cy="0"/>
          </a:xfrm>
          <a:prstGeom prst="line">
            <a:avLst/>
          </a:prstGeom>
          <a:noFill/>
          <a:ln w="20320">
            <a:solidFill>
              <a:srgbClr val="B8C5BE"/>
            </a:solidFill>
            <a:prstDash val="solid"/>
          </a:ln>
        </p:spPr>
        <p:txBody>
          <a:bodyPr/>
          <a:p/>
        </p:txBody>
      </p:sp>
      <p:sp>
        <p:nvSpPr>
          <p:cNvPr id="22" name="Shape 19"/>
          <p:cNvSpPr/>
          <p:nvPr/>
        </p:nvSpPr>
        <p:spPr>
          <a:xfrm>
            <a:off x="2377440" y="2148840"/>
            <a:ext cx="0" cy="960120"/>
          </a:xfrm>
          <a:prstGeom prst="line">
            <a:avLst/>
          </a:prstGeom>
          <a:noFill/>
          <a:ln w="20320">
            <a:solidFill>
              <a:srgbClr val="B8C5BE"/>
            </a:solidFill>
            <a:prstDash val="solid"/>
          </a:ln>
        </p:spPr>
        <p:txBody>
          <a:bodyPr/>
          <a:p/>
        </p:txBody>
      </p:sp>
      <p:sp>
        <p:nvSpPr>
          <p:cNvPr id="23" name="Shape 20"/>
          <p:cNvSpPr/>
          <p:nvPr/>
        </p:nvSpPr>
        <p:spPr>
          <a:xfrm>
            <a:off x="2377440" y="2148840"/>
            <a:ext cx="182880" cy="0"/>
          </a:xfrm>
          <a:prstGeom prst="line">
            <a:avLst/>
          </a:prstGeom>
          <a:noFill/>
          <a:ln w="20320">
            <a:solidFill>
              <a:srgbClr val="B8C5BE"/>
            </a:solidFill>
            <a:prstDash val="solid"/>
            <a:tailEnd type="triangle"/>
          </a:ln>
        </p:spPr>
        <p:txBody>
          <a:bodyPr/>
          <a:p/>
        </p:txBody>
      </p:sp>
      <p:sp>
        <p:nvSpPr>
          <p:cNvPr id="24" name="Shape 21"/>
          <p:cNvSpPr/>
          <p:nvPr/>
        </p:nvSpPr>
        <p:spPr>
          <a:xfrm>
            <a:off x="2377440" y="3108960"/>
            <a:ext cx="182880" cy="0"/>
          </a:xfrm>
          <a:prstGeom prst="line">
            <a:avLst/>
          </a:prstGeom>
          <a:noFill/>
          <a:ln w="20320">
            <a:solidFill>
              <a:srgbClr val="B8C5BE"/>
            </a:solidFill>
            <a:prstDash val="solid"/>
            <a:tailEnd type="triangle"/>
          </a:ln>
        </p:spPr>
        <p:txBody>
          <a:bodyPr/>
          <a:p/>
        </p:txBody>
      </p:sp>
      <p:sp>
        <p:nvSpPr>
          <p:cNvPr id="25" name="Shape 22"/>
          <p:cNvSpPr/>
          <p:nvPr/>
        </p:nvSpPr>
        <p:spPr>
          <a:xfrm>
            <a:off x="4389120" y="2194560"/>
            <a:ext cx="365760" cy="274320"/>
          </a:xfrm>
          <a:prstGeom prst="line">
            <a:avLst/>
          </a:prstGeom>
          <a:noFill/>
          <a:ln w="20320">
            <a:solidFill>
              <a:srgbClr val="B8C5BE"/>
            </a:solidFill>
            <a:prstDash val="solid"/>
            <a:tailEnd type="triangle"/>
          </a:ln>
        </p:spPr>
        <p:txBody>
          <a:bodyPr/>
          <a:p/>
        </p:txBody>
      </p:sp>
      <p:sp>
        <p:nvSpPr>
          <p:cNvPr id="26" name="Shape 23"/>
          <p:cNvSpPr/>
          <p:nvPr/>
        </p:nvSpPr>
        <p:spPr>
          <a:xfrm>
            <a:off x="4389120" y="3063240"/>
            <a:ext cx="365760" cy="-274320"/>
          </a:xfrm>
          <a:prstGeom prst="line">
            <a:avLst/>
          </a:prstGeom>
          <a:noFill/>
          <a:ln w="20320">
            <a:solidFill>
              <a:srgbClr val="B8C5BE"/>
            </a:solidFill>
            <a:prstDash val="solid"/>
            <a:tailEnd type="triangle"/>
          </a:ln>
        </p:spPr>
        <p:txBody>
          <a:bodyPr/>
          <a:p/>
        </p:txBody>
      </p:sp>
      <p:sp>
        <p:nvSpPr>
          <p:cNvPr id="27" name="Shape 24"/>
          <p:cNvSpPr/>
          <p:nvPr/>
        </p:nvSpPr>
        <p:spPr>
          <a:xfrm>
            <a:off x="6400800" y="2606040"/>
            <a:ext cx="365760" cy="0"/>
          </a:xfrm>
          <a:prstGeom prst="line">
            <a:avLst/>
          </a:prstGeom>
          <a:noFill/>
          <a:ln w="20320">
            <a:solidFill>
              <a:srgbClr val="B8C5BE"/>
            </a:solidFill>
            <a:prstDash val="solid"/>
            <a:tailEnd type="triangle"/>
          </a:ln>
        </p:spPr>
        <p:txBody>
          <a:bodyPr/>
          <a:p/>
        </p:txBody>
      </p:sp>
      <p:sp>
        <p:nvSpPr>
          <p:cNvPr id="28" name="Shape 25"/>
          <p:cNvSpPr/>
          <p:nvPr/>
        </p:nvSpPr>
        <p:spPr>
          <a:xfrm>
            <a:off x="8412480" y="2606040"/>
            <a:ext cx="365760" cy="0"/>
          </a:xfrm>
          <a:prstGeom prst="line">
            <a:avLst/>
          </a:prstGeom>
          <a:noFill/>
          <a:ln w="20320">
            <a:solidFill>
              <a:srgbClr val="B8C5BE"/>
            </a:solidFill>
            <a:prstDash val="solid"/>
            <a:tailEnd type="triangle"/>
          </a:ln>
        </p:spPr>
        <p:txBody>
          <a:bodyPr/>
          <a:p/>
        </p:txBody>
      </p:sp>
      <p:sp>
        <p:nvSpPr>
          <p:cNvPr id="29" name="Shape 26"/>
          <p:cNvSpPr/>
          <p:nvPr/>
        </p:nvSpPr>
        <p:spPr>
          <a:xfrm>
            <a:off x="10424160" y="2606040"/>
            <a:ext cx="320040" cy="0"/>
          </a:xfrm>
          <a:prstGeom prst="line">
            <a:avLst/>
          </a:prstGeom>
          <a:noFill/>
          <a:ln w="20320">
            <a:solidFill>
              <a:srgbClr val="B8C5BE"/>
            </a:solidFill>
            <a:prstDash val="solid"/>
            <a:tailEnd type="triangle"/>
          </a:ln>
        </p:spPr>
        <p:txBody>
          <a:bodyPr/>
          <a:p/>
        </p:txBody>
      </p:sp>
      <p:sp>
        <p:nvSpPr>
          <p:cNvPr id="30" name="Text 27"/>
          <p:cNvSpPr txBox="1"/>
          <p:nvPr/>
        </p:nvSpPr>
        <p:spPr>
          <a:xfrm>
            <a:off x="10424160" y="1938528"/>
            <a:ext cx="411480" cy="228600"/>
          </a:xfrm>
          <a:prstGeom prst="rect">
            <a:avLst/>
          </a:prstGeom>
          <a:noFill/>
          <a:ln/>
        </p:spPr>
        <p:txBody>
          <a:bodyPr wrap="square" lIns="0" tIns="0" rIns="0" bIns="0" rtlCol="0" anchor="ctr"/>
          <a:lstStyle/>
          <a:p>
            <a:pPr indent="0" marL="0">
              <a:buNone/>
            </a:pPr>
            <a:r>
              <a:rPr lang="en-US" sz="1000" dirty="0">
                <a:solidFill>
                  <a:srgbClr val="16785C"/>
                </a:solidFill>
                <a:latin typeface="Apple SD Gothic Neo" pitchFamily="34" charset="0"/>
                <a:ea typeface="Apple SD Gothic Neo" pitchFamily="34" charset="-122"/>
                <a:cs typeface="Apple SD Gothic Neo" pitchFamily="34" charset="-120"/>
              </a:rPr>
              <a:t>통과</a:t>
            </a:r>
            <a:endParaRPr lang="en-US" sz="1000" dirty="0"/>
          </a:p>
        </p:txBody>
      </p:sp>
      <p:sp>
        <p:nvSpPr>
          <p:cNvPr id="31" name="Shape 28"/>
          <p:cNvSpPr/>
          <p:nvPr/>
        </p:nvSpPr>
        <p:spPr>
          <a:xfrm>
            <a:off x="5596128" y="2971800"/>
            <a:ext cx="0" cy="594360"/>
          </a:xfrm>
          <a:prstGeom prst="line">
            <a:avLst/>
          </a:prstGeom>
          <a:noFill/>
          <a:ln w="20320">
            <a:solidFill>
              <a:srgbClr val="B6503E"/>
            </a:solidFill>
            <a:prstDash val="solid"/>
            <a:tailEnd type="triangle"/>
          </a:ln>
        </p:spPr>
        <p:txBody>
          <a:bodyPr/>
          <a:p/>
        </p:txBody>
      </p:sp>
      <p:sp>
        <p:nvSpPr>
          <p:cNvPr id="32" name="Shape 29"/>
          <p:cNvSpPr/>
          <p:nvPr/>
        </p:nvSpPr>
        <p:spPr>
          <a:xfrm>
            <a:off x="4572000" y="3657600"/>
            <a:ext cx="2834640" cy="365760"/>
          </a:xfrm>
          <a:prstGeom prst="roundRect">
            <a:avLst>
              <a:gd name="adj" fmla="val 40000"/>
            </a:avLst>
          </a:prstGeom>
          <a:solidFill>
            <a:srgbClr val="FAEEEA"/>
          </a:solidFill>
          <a:ln w="12700">
            <a:solidFill>
              <a:srgbClr val="FAEEEA"/>
            </a:solidFill>
            <a:prstDash val="solid"/>
          </a:ln>
        </p:spPr>
        <p:txBody>
          <a:bodyPr/>
          <a:p/>
        </p:txBody>
      </p:sp>
      <p:sp>
        <p:nvSpPr>
          <p:cNvPr id="33" name="Text 30"/>
          <p:cNvSpPr txBox="1"/>
          <p:nvPr/>
        </p:nvSpPr>
        <p:spPr>
          <a:xfrm>
            <a:off x="4681728" y="3657600"/>
            <a:ext cx="2615184" cy="365760"/>
          </a:xfrm>
          <a:prstGeom prst="rect">
            <a:avLst/>
          </a:prstGeom>
          <a:noFill/>
          <a:ln/>
        </p:spPr>
        <p:txBody>
          <a:bodyPr wrap="square" lIns="0" tIns="0" rIns="0" bIns="0" rtlCol="0" anchor="ctr"/>
          <a:lstStyle/>
          <a:p>
            <a:pPr indent="0" marL="0">
              <a:buNone/>
            </a:pPr>
            <a:r>
              <a:rPr lang="en-US" sz="1200" b="1" dirty="0">
                <a:solidFill>
                  <a:srgbClr val="B6503E"/>
                </a:solidFill>
                <a:latin typeface="Apple SD Gothic Neo" pitchFamily="34" charset="0"/>
                <a:ea typeface="Apple SD Gothic Neo" pitchFamily="34" charset="-122"/>
                <a:cs typeface="Apple SD Gothic Neo" pitchFamily="34" charset="-120"/>
              </a:rPr>
              <a:t>근거 0건 → 작성 생략</a:t>
            </a:r>
            <a:endParaRPr lang="en-US" sz="1200" dirty="0"/>
          </a:p>
        </p:txBody>
      </p:sp>
      <p:sp>
        <p:nvSpPr>
          <p:cNvPr id="34" name="Shape 31"/>
          <p:cNvSpPr/>
          <p:nvPr/>
        </p:nvSpPr>
        <p:spPr>
          <a:xfrm>
            <a:off x="9646920" y="2971800"/>
            <a:ext cx="0" cy="411480"/>
          </a:xfrm>
          <a:prstGeom prst="line">
            <a:avLst/>
          </a:prstGeom>
          <a:noFill/>
          <a:ln w="20320">
            <a:solidFill>
              <a:srgbClr val="16785C"/>
            </a:solidFill>
            <a:prstDash val="solid"/>
          </a:ln>
        </p:spPr>
        <p:txBody>
          <a:bodyPr/>
          <a:p/>
        </p:txBody>
      </p:sp>
      <p:sp>
        <p:nvSpPr>
          <p:cNvPr id="35" name="Shape 32"/>
          <p:cNvSpPr/>
          <p:nvPr/>
        </p:nvSpPr>
        <p:spPr>
          <a:xfrm>
            <a:off x="7589520" y="3383280"/>
            <a:ext cx="2057400" cy="0"/>
          </a:xfrm>
          <a:prstGeom prst="line">
            <a:avLst/>
          </a:prstGeom>
          <a:noFill/>
          <a:ln w="20320">
            <a:solidFill>
              <a:srgbClr val="16785C"/>
            </a:solidFill>
            <a:prstDash val="solid"/>
          </a:ln>
        </p:spPr>
        <p:txBody>
          <a:bodyPr/>
          <a:p/>
        </p:txBody>
      </p:sp>
      <p:sp>
        <p:nvSpPr>
          <p:cNvPr id="36" name="Shape 33"/>
          <p:cNvSpPr/>
          <p:nvPr/>
        </p:nvSpPr>
        <p:spPr>
          <a:xfrm>
            <a:off x="7589520" y="3383280"/>
            <a:ext cx="0" cy="-365760"/>
          </a:xfrm>
          <a:prstGeom prst="line">
            <a:avLst/>
          </a:prstGeom>
          <a:noFill/>
          <a:ln w="20320">
            <a:solidFill>
              <a:srgbClr val="16785C"/>
            </a:solidFill>
            <a:prstDash val="solid"/>
            <a:tailEnd type="triangle"/>
          </a:ln>
        </p:spPr>
        <p:txBody>
          <a:bodyPr/>
          <a:p/>
        </p:txBody>
      </p:sp>
      <p:sp>
        <p:nvSpPr>
          <p:cNvPr id="37" name="Text 34"/>
          <p:cNvSpPr txBox="1"/>
          <p:nvPr/>
        </p:nvSpPr>
        <p:spPr>
          <a:xfrm>
            <a:off x="7680960" y="3584448"/>
            <a:ext cx="2743200" cy="320040"/>
          </a:xfrm>
          <a:prstGeom prst="rect">
            <a:avLst/>
          </a:prstGeom>
          <a:noFill/>
          <a:ln/>
        </p:spPr>
        <p:txBody>
          <a:bodyPr wrap="square" lIns="0" tIns="0" rIns="0" bIns="0" rtlCol="0" anchor="ctr"/>
          <a:lstStyle/>
          <a:p>
            <a:pPr indent="0" marL="0">
              <a:buNone/>
            </a:pPr>
            <a:r>
              <a:rPr lang="en-US" sz="1300" b="1" dirty="0">
                <a:solidFill>
                  <a:srgbClr val="16785C"/>
                </a:solidFill>
                <a:latin typeface="Apple SD Gothic Neo" pitchFamily="34" charset="0"/>
                <a:ea typeface="Apple SD Gothic Neo" pitchFamily="34" charset="-122"/>
                <a:cs typeface="Apple SD Gothic Neo" pitchFamily="34" charset="-120"/>
              </a:rPr>
              <a:t>반려 → 재작성</a:t>
            </a:r>
            <a:endParaRPr lang="en-US" sz="1300" dirty="0"/>
          </a:p>
        </p:txBody>
      </p:sp>
      <p:sp>
        <p:nvSpPr>
          <p:cNvPr id="38" name="Text 35"/>
          <p:cNvSpPr txBox="1"/>
          <p:nvPr/>
        </p:nvSpPr>
        <p:spPr>
          <a:xfrm>
            <a:off x="8503920" y="4069080"/>
            <a:ext cx="3108960" cy="320040"/>
          </a:xfrm>
          <a:prstGeom prst="rect">
            <a:avLst/>
          </a:prstGeom>
          <a:noFill/>
          <a:ln/>
        </p:spPr>
        <p:txBody>
          <a:bodyPr wrap="square" lIns="0" tIns="0" rIns="0" bIns="0" rtlCol="0" anchor="ctr"/>
          <a:lstStyle/>
          <a:p>
            <a:pPr indent="0" marL="0">
              <a:buNone/>
            </a:pPr>
            <a:r>
              <a:rPr lang="en-US" sz="1300" b="1" dirty="0">
                <a:solidFill>
                  <a:srgbClr val="B6503E"/>
                </a:solidFill>
                <a:latin typeface="Apple SD Gothic Neo" pitchFamily="34" charset="0"/>
                <a:ea typeface="Apple SD Gothic Neo" pitchFamily="34" charset="-122"/>
                <a:cs typeface="Apple SD Gothic Neo" pitchFamily="34" charset="-120"/>
              </a:rPr>
              <a:t>총 3회 실패 → 실패 안내</a:t>
            </a:r>
            <a:endParaRPr lang="en-US" sz="1300" dirty="0"/>
          </a:p>
        </p:txBody>
      </p:sp>
      <p:sp>
        <p:nvSpPr>
          <p:cNvPr id="39" name="Text 36"/>
          <p:cNvSpPr txBox="1"/>
          <p:nvPr/>
        </p:nvSpPr>
        <p:spPr>
          <a:xfrm>
            <a:off x="685800" y="4617720"/>
            <a:ext cx="3200400" cy="365760"/>
          </a:xfrm>
          <a:prstGeom prst="rect">
            <a:avLst/>
          </a:prstGeom>
          <a:noFill/>
          <a:ln/>
        </p:spPr>
        <p:txBody>
          <a:bodyPr wrap="square" lIns="0" tIns="0" rIns="0" bIns="0" rtlCol="0" anchor="ctr"/>
          <a:lstStyle/>
          <a:p>
            <a:pPr indent="0" marL="0">
              <a:buNone/>
            </a:pPr>
            <a:r>
              <a:rPr lang="en-US" sz="1800" b="1" dirty="0">
                <a:solidFill>
                  <a:srgbClr val="16785C"/>
                </a:solidFill>
                <a:latin typeface="Apple SD Gothic Neo" pitchFamily="34" charset="0"/>
                <a:ea typeface="Apple SD Gothic Neo" pitchFamily="34" charset="-122"/>
                <a:cs typeface="Apple SD Gothic Neo" pitchFamily="34" charset="-120"/>
              </a:rPr>
              <a:t>Multi-Agent</a:t>
            </a:r>
            <a:endParaRPr lang="en-US" sz="1800" dirty="0"/>
          </a:p>
        </p:txBody>
      </p:sp>
      <p:sp>
        <p:nvSpPr>
          <p:cNvPr id="40" name="Text 37"/>
          <p:cNvSpPr txBox="1"/>
          <p:nvPr/>
        </p:nvSpPr>
        <p:spPr>
          <a:xfrm>
            <a:off x="685800" y="5120640"/>
            <a:ext cx="3383280" cy="594360"/>
          </a:xfrm>
          <a:prstGeom prst="rect">
            <a:avLst/>
          </a:prstGeom>
          <a:noFill/>
          <a:ln/>
        </p:spPr>
        <p:txBody>
          <a:bodyPr wrap="square" lIns="0" tIns="0" rIns="0" bIns="0" rtlCol="0" anchor="ctr"/>
          <a:lstStyle/>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조사 서브그래프 2개</a:t>
            </a:r>
            <a:endParaRPr lang="en-US" sz="1500" dirty="0"/>
          </a:p>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독립 LLM 추론·협상은 아님</a:t>
            </a:r>
            <a:endParaRPr lang="en-US" sz="1500" dirty="0"/>
          </a:p>
        </p:txBody>
      </p:sp>
      <p:sp>
        <p:nvSpPr>
          <p:cNvPr id="41" name="Text 38"/>
          <p:cNvSpPr txBox="1"/>
          <p:nvPr/>
        </p:nvSpPr>
        <p:spPr>
          <a:xfrm>
            <a:off x="4389120" y="4617720"/>
            <a:ext cx="3291840" cy="365760"/>
          </a:xfrm>
          <a:prstGeom prst="rect">
            <a:avLst/>
          </a:prstGeom>
          <a:noFill/>
          <a:ln/>
        </p:spPr>
        <p:txBody>
          <a:bodyPr wrap="square" lIns="0" tIns="0" rIns="0" bIns="0" rtlCol="0" anchor="ctr"/>
          <a:lstStyle/>
          <a:p>
            <a:pPr indent="0" marL="0">
              <a:buNone/>
            </a:pPr>
            <a:r>
              <a:rPr lang="en-US" sz="1800" b="1" dirty="0">
                <a:solidFill>
                  <a:srgbClr val="16785C"/>
                </a:solidFill>
                <a:latin typeface="Apple SD Gothic Neo" pitchFamily="34" charset="0"/>
                <a:ea typeface="Apple SD Gothic Neo" pitchFamily="34" charset="-122"/>
                <a:cs typeface="Apple SD Gothic Neo" pitchFamily="34" charset="-120"/>
              </a:rPr>
              <a:t>MCP · RAG</a:t>
            </a:r>
            <a:endParaRPr lang="en-US" sz="1800" dirty="0"/>
          </a:p>
        </p:txBody>
      </p:sp>
      <p:sp>
        <p:nvSpPr>
          <p:cNvPr id="42" name="Text 39"/>
          <p:cNvSpPr txBox="1"/>
          <p:nvPr/>
        </p:nvSpPr>
        <p:spPr>
          <a:xfrm>
            <a:off x="4389120" y="5120640"/>
            <a:ext cx="3383280" cy="594360"/>
          </a:xfrm>
          <a:prstGeom prst="rect">
            <a:avLst/>
          </a:prstGeom>
          <a:noFill/>
          <a:ln/>
        </p:spPr>
        <p:txBody>
          <a:bodyPr wrap="square" lIns="0" tIns="0" rIns="0" bIns="0" rtlCol="0" anchor="ctr"/>
          <a:lstStyle/>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도구 연결 → 의미 검색</a:t>
            </a:r>
            <a:endParaRPr lang="en-US" sz="1500" dirty="0"/>
          </a:p>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선택한 본문으로 답변 작성</a:t>
            </a:r>
            <a:endParaRPr lang="en-US" sz="1500" dirty="0"/>
          </a:p>
        </p:txBody>
      </p:sp>
      <p:sp>
        <p:nvSpPr>
          <p:cNvPr id="43" name="Text 40"/>
          <p:cNvSpPr txBox="1"/>
          <p:nvPr/>
        </p:nvSpPr>
        <p:spPr>
          <a:xfrm>
            <a:off x="8092440" y="4617720"/>
            <a:ext cx="3474720" cy="365760"/>
          </a:xfrm>
          <a:prstGeom prst="rect">
            <a:avLst/>
          </a:prstGeom>
          <a:noFill/>
          <a:ln/>
        </p:spPr>
        <p:txBody>
          <a:bodyPr wrap="square" lIns="0" tIns="0" rIns="0" bIns="0" rtlCol="0" anchor="ctr"/>
          <a:lstStyle/>
          <a:p>
            <a:pPr indent="0" marL="0">
              <a:buNone/>
            </a:pPr>
            <a:r>
              <a:rPr lang="en-US" sz="1800" b="1" dirty="0">
                <a:solidFill>
                  <a:srgbClr val="16785C"/>
                </a:solidFill>
                <a:latin typeface="Apple SD Gothic Neo" pitchFamily="34" charset="0"/>
                <a:ea typeface="Apple SD Gothic Neo" pitchFamily="34" charset="-122"/>
                <a:cs typeface="Apple SD Gothic Neo" pitchFamily="34" charset="-120"/>
              </a:rPr>
              <a:t>모듈화 · 의존성 주입</a:t>
            </a:r>
            <a:endParaRPr lang="en-US" sz="1800" dirty="0"/>
          </a:p>
        </p:txBody>
      </p:sp>
      <p:sp>
        <p:nvSpPr>
          <p:cNvPr id="44" name="Text 41"/>
          <p:cNvSpPr txBox="1"/>
          <p:nvPr/>
        </p:nvSpPr>
        <p:spPr>
          <a:xfrm>
            <a:off x="8092440" y="5120640"/>
            <a:ext cx="3474720" cy="594360"/>
          </a:xfrm>
          <a:prstGeom prst="rect">
            <a:avLst/>
          </a:prstGeom>
          <a:noFill/>
          <a:ln/>
        </p:spPr>
        <p:txBody>
          <a:bodyPr wrap="square" lIns="0" tIns="0" rIns="0" bIns="0" rtlCol="0" anchor="ctr"/>
          <a:lstStyle/>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역할 분리 · 테스트 도구 교체</a:t>
            </a:r>
            <a:endParaRPr lang="en-US" sz="1500" dirty="0"/>
          </a:p>
          <a:p>
            <a:pPr indent="0" marL="0">
              <a:buNone/>
            </a:pPr>
            <a:r>
              <a:rPr lang="en-US" sz="1500" dirty="0">
                <a:solidFill>
                  <a:srgbClr val="19382F"/>
                </a:solidFill>
                <a:latin typeface="Apple SD Gothic Neo" pitchFamily="34" charset="0"/>
                <a:ea typeface="Apple SD Gothic Neo" pitchFamily="34" charset="-122"/>
                <a:cs typeface="Apple SD Gothic Neo" pitchFamily="34" charset="-120"/>
              </a:rPr>
              <a:t>단위·회귀 테스트 포함 6종</a:t>
            </a:r>
            <a:endParaRPr lang="en-US" sz="1500" dirty="0"/>
          </a:p>
        </p:txBody>
      </p:sp>
      <p:sp>
        <p:nvSpPr>
          <p:cNvPr id="45" name="Text 42"/>
          <p:cNvSpPr txBox="1"/>
          <p:nvPr/>
        </p:nvSpPr>
        <p:spPr>
          <a:xfrm>
            <a:off x="685800" y="6080760"/>
            <a:ext cx="10881360" cy="228600"/>
          </a:xfrm>
          <a:prstGeom prst="rect">
            <a:avLst/>
          </a:prstGeom>
          <a:noFill/>
          <a:ln/>
        </p:spPr>
        <p:txBody>
          <a:bodyPr wrap="square" lIns="0" tIns="0" rIns="0" bIns="0" rtlCol="0" anchor="ctr"/>
          <a:lstStyle/>
          <a:p>
            <a:pPr indent="0" marL="0">
              <a:buNone/>
            </a:pPr>
            <a:r>
              <a:rPr lang="en-US" sz="1000" dirty="0">
                <a:solidFill>
                  <a:srgbClr val="62746D"/>
                </a:solidFill>
                <a:latin typeface="Apple SD Gothic Neo" pitchFamily="34" charset="0"/>
                <a:ea typeface="Apple SD Gothic Neo" pitchFamily="34" charset="-122"/>
                <a:cs typeface="Apple SD Gothic Neo" pitchFamily="34" charset="-120"/>
              </a:rPr>
              <a:t>제공 기반: LangGraph·서버·세션  |  직접 개선: 조사 분리·검색·검증·실패 분기  |  LangSmith: 실행 추적만 확인</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04  최종 실행 화면</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최종 답변과 확인 근거를 함께 제공</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05 / 10</a:t>
            </a:r>
            <a:endParaRPr lang="en-US" sz="900" dirty="0"/>
          </a:p>
        </p:txBody>
      </p:sp>
      <p:sp>
        <p:nvSpPr>
          <p:cNvPr id="8" name="Shape 4"/>
          <p:cNvSpPr/>
          <p:nvPr/>
        </p:nvSpPr>
        <p:spPr>
          <a:xfrm>
            <a:off x="7818120" y="2011680"/>
            <a:ext cx="548640" cy="365760"/>
          </a:xfrm>
          <a:prstGeom prst="roundRect">
            <a:avLst>
              <a:gd name="adj" fmla="val 40000"/>
            </a:avLst>
          </a:prstGeom>
          <a:solidFill>
            <a:srgbClr val="EEF5F1"/>
          </a:solidFill>
          <a:ln w="12700">
            <a:solidFill>
              <a:srgbClr val="EEF5F1"/>
            </a:solidFill>
            <a:prstDash val="solid"/>
          </a:ln>
        </p:spPr>
        <p:txBody>
          <a:bodyPr/>
          <a:p/>
        </p:txBody>
      </p:sp>
      <p:sp>
        <p:nvSpPr>
          <p:cNvPr id="9" name="Text 5"/>
          <p:cNvSpPr txBox="1"/>
          <p:nvPr/>
        </p:nvSpPr>
        <p:spPr>
          <a:xfrm>
            <a:off x="7927848" y="2011680"/>
            <a:ext cx="32918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01</a:t>
            </a:r>
            <a:endParaRPr lang="en-US" sz="1200" dirty="0"/>
          </a:p>
        </p:txBody>
      </p:sp>
      <p:sp>
        <p:nvSpPr>
          <p:cNvPr id="10" name="Text 6"/>
          <p:cNvSpPr txBox="1"/>
          <p:nvPr/>
        </p:nvSpPr>
        <p:spPr>
          <a:xfrm>
            <a:off x="8595360" y="1975104"/>
            <a:ext cx="2926080" cy="457200"/>
          </a:xfrm>
          <a:prstGeom prst="rect">
            <a:avLst/>
          </a:prstGeom>
          <a:noFill/>
          <a:ln/>
        </p:spPr>
        <p:txBody>
          <a:bodyPr wrap="square" lIns="0" tIns="0" rIns="0" bIns="0" rtlCol="0" anchor="ctr"/>
          <a:lstStyle/>
          <a:p>
            <a:pPr indent="0" marL="0">
              <a:buNone/>
            </a:pPr>
            <a:r>
              <a:rPr lang="en-US" sz="2300" b="1" dirty="0">
                <a:solidFill>
                  <a:srgbClr val="16785C"/>
                </a:solidFill>
                <a:latin typeface="Apple SD Gothic Neo" pitchFamily="34" charset="0"/>
                <a:ea typeface="Apple SD Gothic Neo" pitchFamily="34" charset="-122"/>
                <a:cs typeface="Apple SD Gothic Neo" pitchFamily="34" charset="-120"/>
              </a:rPr>
              <a:t>최종 답변</a:t>
            </a:r>
            <a:endParaRPr lang="en-US" sz="2300" dirty="0"/>
          </a:p>
        </p:txBody>
      </p:sp>
      <p:sp>
        <p:nvSpPr>
          <p:cNvPr id="11" name="Text 7"/>
          <p:cNvSpPr txBox="1"/>
          <p:nvPr/>
        </p:nvSpPr>
        <p:spPr>
          <a:xfrm>
            <a:off x="7863840" y="2532888"/>
            <a:ext cx="3657600" cy="365760"/>
          </a:xfrm>
          <a:prstGeom prst="rect">
            <a:avLst/>
          </a:prstGeom>
          <a:noFill/>
          <a:ln/>
        </p:spPr>
        <p:txBody>
          <a:bodyPr wrap="square" lIns="0" tIns="0" rIns="0" bIns="0" rtlCol="0" anchor="ctr"/>
          <a:lstStyle/>
          <a:p>
            <a:pPr indent="0" marL="0">
              <a:buNone/>
            </a:pPr>
            <a:r>
              <a:rPr lang="en-US" sz="1600" dirty="0">
                <a:solidFill>
                  <a:srgbClr val="62746D"/>
                </a:solidFill>
                <a:latin typeface="Apple SD Gothic Neo" pitchFamily="34" charset="0"/>
                <a:ea typeface="Apple SD Gothic Neo" pitchFamily="34" charset="-122"/>
                <a:cs typeface="Apple SD Gothic Neo" pitchFamily="34" charset="-120"/>
              </a:rPr>
              <a:t>초안 비공개, 검증 후 제공</a:t>
            </a:r>
            <a:endParaRPr lang="en-US" sz="1600" dirty="0"/>
          </a:p>
        </p:txBody>
      </p:sp>
      <p:sp>
        <p:nvSpPr>
          <p:cNvPr id="12" name="Shape 8"/>
          <p:cNvSpPr/>
          <p:nvPr/>
        </p:nvSpPr>
        <p:spPr>
          <a:xfrm>
            <a:off x="7818120" y="3154680"/>
            <a:ext cx="548640" cy="365760"/>
          </a:xfrm>
          <a:prstGeom prst="roundRect">
            <a:avLst>
              <a:gd name="adj" fmla="val 40000"/>
            </a:avLst>
          </a:prstGeom>
          <a:solidFill>
            <a:srgbClr val="EEF5F1"/>
          </a:solidFill>
          <a:ln w="12700">
            <a:solidFill>
              <a:srgbClr val="EEF5F1"/>
            </a:solidFill>
            <a:prstDash val="solid"/>
          </a:ln>
        </p:spPr>
        <p:txBody>
          <a:bodyPr/>
          <a:p/>
        </p:txBody>
      </p:sp>
      <p:sp>
        <p:nvSpPr>
          <p:cNvPr id="13" name="Text 9"/>
          <p:cNvSpPr txBox="1"/>
          <p:nvPr/>
        </p:nvSpPr>
        <p:spPr>
          <a:xfrm>
            <a:off x="7927848" y="3154680"/>
            <a:ext cx="32918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02</a:t>
            </a:r>
            <a:endParaRPr lang="en-US" sz="1200" dirty="0"/>
          </a:p>
        </p:txBody>
      </p:sp>
      <p:sp>
        <p:nvSpPr>
          <p:cNvPr id="14" name="Text 10"/>
          <p:cNvSpPr txBox="1"/>
          <p:nvPr/>
        </p:nvSpPr>
        <p:spPr>
          <a:xfrm>
            <a:off x="8595360" y="3118104"/>
            <a:ext cx="2926080" cy="457200"/>
          </a:xfrm>
          <a:prstGeom prst="rect">
            <a:avLst/>
          </a:prstGeom>
          <a:noFill/>
          <a:ln/>
        </p:spPr>
        <p:txBody>
          <a:bodyPr wrap="square" lIns="0" tIns="0" rIns="0" bIns="0" rtlCol="0" anchor="ctr"/>
          <a:lstStyle/>
          <a:p>
            <a:pPr indent="0" marL="0">
              <a:buNone/>
            </a:pPr>
            <a:r>
              <a:rPr lang="en-US" sz="2300" b="1" dirty="0">
                <a:solidFill>
                  <a:srgbClr val="16785C"/>
                </a:solidFill>
                <a:latin typeface="Apple SD Gothic Neo" pitchFamily="34" charset="0"/>
                <a:ea typeface="Apple SD Gothic Neo" pitchFamily="34" charset="-122"/>
                <a:cs typeface="Apple SD Gothic Neo" pitchFamily="34" charset="-120"/>
              </a:rPr>
              <a:t>수집값 ↔ 답변값</a:t>
            </a:r>
            <a:endParaRPr lang="en-US" sz="2300" dirty="0"/>
          </a:p>
        </p:txBody>
      </p:sp>
      <p:sp>
        <p:nvSpPr>
          <p:cNvPr id="15" name="Text 11"/>
          <p:cNvSpPr txBox="1"/>
          <p:nvPr/>
        </p:nvSpPr>
        <p:spPr>
          <a:xfrm>
            <a:off x="7863840" y="3675888"/>
            <a:ext cx="3657600" cy="365760"/>
          </a:xfrm>
          <a:prstGeom prst="rect">
            <a:avLst/>
          </a:prstGeom>
          <a:noFill/>
          <a:ln/>
        </p:spPr>
        <p:txBody>
          <a:bodyPr wrap="square" lIns="0" tIns="0" rIns="0" bIns="0" rtlCol="0" anchor="ctr"/>
          <a:lstStyle/>
          <a:p>
            <a:pPr indent="0" marL="0">
              <a:buNone/>
            </a:pPr>
            <a:r>
              <a:rPr lang="en-US" sz="1600" dirty="0">
                <a:solidFill>
                  <a:srgbClr val="62746D"/>
                </a:solidFill>
                <a:latin typeface="Apple SD Gothic Neo" pitchFamily="34" charset="0"/>
                <a:ea typeface="Apple SD Gothic Neo" pitchFamily="34" charset="-122"/>
                <a:cs typeface="Apple SD Gothic Neo" pitchFamily="34" charset="-120"/>
              </a:rPr>
              <a:t>시스템별 수치를 나란히 대조</a:t>
            </a:r>
            <a:endParaRPr lang="en-US" sz="1600" dirty="0"/>
          </a:p>
        </p:txBody>
      </p:sp>
      <p:sp>
        <p:nvSpPr>
          <p:cNvPr id="16" name="Shape 12"/>
          <p:cNvSpPr/>
          <p:nvPr/>
        </p:nvSpPr>
        <p:spPr>
          <a:xfrm>
            <a:off x="7818120" y="4297680"/>
            <a:ext cx="548640" cy="365760"/>
          </a:xfrm>
          <a:prstGeom prst="roundRect">
            <a:avLst>
              <a:gd name="adj" fmla="val 40000"/>
            </a:avLst>
          </a:prstGeom>
          <a:solidFill>
            <a:srgbClr val="EEF5F1"/>
          </a:solidFill>
          <a:ln w="12700">
            <a:solidFill>
              <a:srgbClr val="EEF5F1"/>
            </a:solidFill>
            <a:prstDash val="solid"/>
          </a:ln>
        </p:spPr>
        <p:txBody>
          <a:bodyPr/>
          <a:p/>
        </p:txBody>
      </p:sp>
      <p:sp>
        <p:nvSpPr>
          <p:cNvPr id="17" name="Text 13"/>
          <p:cNvSpPr txBox="1"/>
          <p:nvPr/>
        </p:nvSpPr>
        <p:spPr>
          <a:xfrm>
            <a:off x="7927848" y="4297680"/>
            <a:ext cx="32918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03</a:t>
            </a:r>
            <a:endParaRPr lang="en-US" sz="1200" dirty="0"/>
          </a:p>
        </p:txBody>
      </p:sp>
      <p:sp>
        <p:nvSpPr>
          <p:cNvPr id="18" name="Text 14"/>
          <p:cNvSpPr txBox="1"/>
          <p:nvPr/>
        </p:nvSpPr>
        <p:spPr>
          <a:xfrm>
            <a:off x="8595360" y="4261104"/>
            <a:ext cx="2926080" cy="457200"/>
          </a:xfrm>
          <a:prstGeom prst="rect">
            <a:avLst/>
          </a:prstGeom>
          <a:noFill/>
          <a:ln/>
        </p:spPr>
        <p:txBody>
          <a:bodyPr wrap="square" lIns="0" tIns="0" rIns="0" bIns="0" rtlCol="0" anchor="ctr"/>
          <a:lstStyle/>
          <a:p>
            <a:pPr indent="0" marL="0">
              <a:buNone/>
            </a:pPr>
            <a:r>
              <a:rPr lang="en-US" sz="2300" b="1" dirty="0">
                <a:solidFill>
                  <a:srgbClr val="16785C"/>
                </a:solidFill>
                <a:latin typeface="Apple SD Gothic Neo" pitchFamily="34" charset="0"/>
                <a:ea typeface="Apple SD Gothic Neo" pitchFamily="34" charset="-122"/>
                <a:cs typeface="Apple SD Gothic Neo" pitchFamily="34" charset="-120"/>
              </a:rPr>
              <a:t>검증 범위</a:t>
            </a:r>
            <a:endParaRPr lang="en-US" sz="2300" dirty="0"/>
          </a:p>
        </p:txBody>
      </p:sp>
      <p:sp>
        <p:nvSpPr>
          <p:cNvPr id="19" name="Text 15"/>
          <p:cNvSpPr txBox="1"/>
          <p:nvPr/>
        </p:nvSpPr>
        <p:spPr>
          <a:xfrm>
            <a:off x="7863840" y="4818888"/>
            <a:ext cx="3657600" cy="365760"/>
          </a:xfrm>
          <a:prstGeom prst="rect">
            <a:avLst/>
          </a:prstGeom>
          <a:noFill/>
          <a:ln/>
        </p:spPr>
        <p:txBody>
          <a:bodyPr wrap="square" lIns="0" tIns="0" rIns="0" bIns="0" rtlCol="0" anchor="ctr"/>
          <a:lstStyle/>
          <a:p>
            <a:pPr indent="0" marL="0">
              <a:buNone/>
            </a:pPr>
            <a:r>
              <a:rPr lang="en-US" sz="1600" dirty="0">
                <a:solidFill>
                  <a:srgbClr val="62746D"/>
                </a:solidFill>
                <a:latin typeface="Apple SD Gothic Neo" pitchFamily="34" charset="0"/>
                <a:ea typeface="Apple SD Gothic Neo" pitchFamily="34" charset="-122"/>
                <a:cs typeface="Apple SD Gothic Neo" pitchFamily="34" charset="-120"/>
              </a:rPr>
              <a:t>확인한 항목과 한계를 명시</a:t>
            </a:r>
            <a:endParaRPr lang="en-US" sz="1600" dirty="0"/>
          </a:p>
        </p:txBody>
      </p:sp>
      <p:sp>
        <p:nvSpPr>
          <p:cNvPr id="20" name="Text 16"/>
          <p:cNvSpPr txBox="1"/>
          <p:nvPr/>
        </p:nvSpPr>
        <p:spPr>
          <a:xfrm>
            <a:off x="7863840" y="5760720"/>
            <a:ext cx="3657600" cy="457200"/>
          </a:xfrm>
          <a:prstGeom prst="rect">
            <a:avLst/>
          </a:prstGeom>
          <a:noFill/>
          <a:ln/>
        </p:spPr>
        <p:txBody>
          <a:bodyPr wrap="square" lIns="0" tIns="0" rIns="0" bIns="0" rtlCol="0" anchor="ctr"/>
          <a:lstStyle/>
          <a:p>
            <a:pPr indent="0" marL="0">
              <a:buNone/>
            </a:pPr>
            <a:r>
              <a:rPr lang="en-US" sz="1100" dirty="0">
                <a:solidFill>
                  <a:srgbClr val="62746D"/>
                </a:solidFill>
                <a:latin typeface="Apple SD Gothic Neo" pitchFamily="34" charset="0"/>
                <a:ea typeface="Apple SD Gothic Neo" pitchFamily="34" charset="-122"/>
                <a:cs typeface="Apple SD Gothic Neo" pitchFamily="34" charset="-120"/>
              </a:rPr>
              <a:t>모의 작성 모델 · 교육용 모니터링 샘플</a:t>
            </a:r>
            <a:endParaRPr lang="en-US" sz="1100" dirty="0"/>
          </a:p>
          <a:p>
            <a:pPr indent="0" marL="0">
              <a:buNone/>
            </a:pPr>
            <a:r>
              <a:rPr lang="en-US" sz="1100" dirty="0">
                <a:solidFill>
                  <a:srgbClr val="62746D"/>
                </a:solidFill>
                <a:latin typeface="Apple SD Gothic Neo" pitchFamily="34" charset="0"/>
                <a:ea typeface="Apple SD Gothic Neo" pitchFamily="34" charset="-122"/>
                <a:cs typeface="Apple SD Gothic Neo" pitchFamily="34" charset="-120"/>
              </a:rPr>
              <a:t>실제 MCP·로컬 임베딩 연결 · 2026-10-21</a:t>
            </a:r>
            <a:endParaRPr lang="en-US" sz="1100" dirty="0"/>
          </a:p>
        </p:txBody>
      </p:sp>
      <p:pic>
        <p:nvPicPr>
          <p:cNvPr id="21" name="Picture 20" descr="ppt_정상진단.gif"/>
          <p:cNvPicPr>
            <a:picLocks noChangeAspect="1"/>
          </p:cNvPicPr>
          <p:nvPr/>
        </p:nvPicPr>
        <p:blipFill>
          <a:blip r:embed="rId4"/>
          <a:stretch>
            <a:fillRect/>
          </a:stretch>
        </p:blipFill>
        <p:spPr>
          <a:xfrm>
            <a:off x="1280160" y="1783080"/>
            <a:ext cx="5376672" cy="46085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nchor="t">
            <a:spAutoFit/>
          </a:bodyPr>
          <a:lstStyle/>
          <a:p>
            <a:r>
              <a:rPr sz="1100" b="1">
                <a:solidFill>
                  <a:srgbClr val="16785C"/>
                </a:solidFill>
                <a:latin typeface="Apple SD Gothic Neo"/>
              </a:rPr>
              <a:t>05  화면 개선</a:t>
            </a:r>
          </a:p>
        </p:txBody>
      </p:sp>
      <p:sp>
        <p:nvSpPr>
          <p:cNvPr id="3" name="TextBox 2"/>
          <p:cNvSpPr txBox="1"/>
          <p:nvPr/>
        </p:nvSpPr>
        <p:spPr>
          <a:xfrm>
            <a:off x="594360" y="868680"/>
            <a:ext cx="10972800" cy="914400"/>
          </a:xfrm>
          <a:prstGeom prst="rect">
            <a:avLst/>
          </a:prstGeom>
          <a:noFill/>
        </p:spPr>
        <p:txBody>
          <a:bodyPr wrap="square" lIns="0" rIns="0" tIns="0" bIns="0" anchor="t">
            <a:spAutoFit/>
          </a:bodyPr>
          <a:lstStyle/>
          <a:p>
            <a:r>
              <a:rPr sz="3200" b="1">
                <a:solidFill>
                  <a:srgbClr val="19382F"/>
                </a:solidFill>
                <a:latin typeface="Apple SD Gothic Neo"/>
              </a:rPr>
              <a:t>근거 확인 중심의 화면 개선</a:t>
            </a:r>
          </a:p>
        </p:txBody>
      </p:sp>
      <p:sp>
        <p:nvSpPr>
          <p:cNvPr id="4" name="TextBox 3"/>
          <p:cNvSpPr txBox="1"/>
          <p:nvPr/>
        </p:nvSpPr>
        <p:spPr>
          <a:xfrm>
            <a:off x="594360" y="6473952"/>
            <a:ext cx="7315200" cy="164592"/>
          </a:xfrm>
          <a:prstGeom prst="rect">
            <a:avLst/>
          </a:prstGeom>
          <a:noFill/>
        </p:spPr>
        <p:txBody>
          <a:bodyPr wrap="square" lIns="0" rIns="0" tIns="0" bIns="0" anchor="t">
            <a:spAutoFit/>
          </a:bodyPr>
          <a:lstStyle/>
          <a:p>
            <a:r>
              <a:rPr sz="900" b="0">
                <a:solidFill>
                  <a:srgbClr val="62746D"/>
                </a:solidFill>
                <a:latin typeface="Apple SD Gothic Neo"/>
              </a:rPr>
              <a:t>AI CAPSTONE  ·  김하연</a:t>
            </a:r>
          </a:p>
        </p:txBody>
      </p:sp>
      <p:pic>
        <p:nvPicPr>
          <p:cNvPr id="5" name="Picture 4" descr="화면설명_주석.png"/>
          <p:cNvPicPr>
            <a:picLocks noChangeAspect="1"/>
          </p:cNvPicPr>
          <p:nvPr/>
        </p:nvPicPr>
        <p:blipFill>
          <a:blip r:embed="rId2"/>
          <a:stretch>
            <a:fillRect/>
          </a:stretch>
        </p:blipFill>
        <p:spPr>
          <a:xfrm>
            <a:off x="640080" y="1783080"/>
            <a:ext cx="4379976" cy="4608576"/>
          </a:xfrm>
          <a:prstGeom prst="rect">
            <a:avLst/>
          </a:prstGeom>
        </p:spPr>
      </p:pic>
      <p:sp>
        <p:nvSpPr>
          <p:cNvPr id="6" name="Rounded Rectangle 5"/>
          <p:cNvSpPr/>
          <p:nvPr/>
        </p:nvSpPr>
        <p:spPr>
          <a:xfrm>
            <a:off x="5349240" y="1874519"/>
            <a:ext cx="548640" cy="365760"/>
          </a:xfrm>
          <a:prstGeom prst="roundRect">
            <a:avLst>
              <a:gd name="adj" fmla="val 50000"/>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9240" y="1874519"/>
            <a:ext cx="548640" cy="365760"/>
          </a:xfrm>
          <a:prstGeom prst="rect">
            <a:avLst/>
          </a:prstGeom>
          <a:noFill/>
        </p:spPr>
        <p:txBody>
          <a:bodyPr wrap="square" lIns="0" rIns="0" tIns="0" bIns="0" anchor="ctr">
            <a:spAutoFit/>
          </a:bodyPr>
          <a:lstStyle/>
          <a:p>
            <a:pPr algn="ctr"/>
            <a:r>
              <a:rPr sz="1200" b="1">
                <a:solidFill>
                  <a:srgbClr val="16785C"/>
                </a:solidFill>
                <a:latin typeface="Apple SD Gothic Neo"/>
              </a:rPr>
              <a:t>01</a:t>
            </a:r>
          </a:p>
        </p:txBody>
      </p:sp>
      <p:sp>
        <p:nvSpPr>
          <p:cNvPr id="8" name="TextBox 7"/>
          <p:cNvSpPr txBox="1"/>
          <p:nvPr/>
        </p:nvSpPr>
        <p:spPr>
          <a:xfrm>
            <a:off x="6080760" y="1847088"/>
            <a:ext cx="3200400" cy="320040"/>
          </a:xfrm>
          <a:prstGeom prst="rect">
            <a:avLst/>
          </a:prstGeom>
          <a:noFill/>
        </p:spPr>
        <p:txBody>
          <a:bodyPr wrap="square" lIns="0" rIns="0" tIns="0" bIns="0" anchor="t">
            <a:spAutoFit/>
          </a:bodyPr>
          <a:lstStyle/>
          <a:p>
            <a:r>
              <a:rPr sz="1800" b="1">
                <a:solidFill>
                  <a:srgbClr val="16785C"/>
                </a:solidFill>
                <a:latin typeface="Apple SD Gothic Neo"/>
              </a:rPr>
              <a:t>진행 단계</a:t>
            </a:r>
          </a:p>
        </p:txBody>
      </p:sp>
      <p:sp>
        <p:nvSpPr>
          <p:cNvPr id="9" name="TextBox 8"/>
          <p:cNvSpPr txBox="1"/>
          <p:nvPr/>
        </p:nvSpPr>
        <p:spPr>
          <a:xfrm>
            <a:off x="6080760" y="2185415"/>
            <a:ext cx="3246120" cy="411480"/>
          </a:xfrm>
          <a:prstGeom prst="rect">
            <a:avLst/>
          </a:prstGeom>
          <a:noFill/>
        </p:spPr>
        <p:txBody>
          <a:bodyPr wrap="square" lIns="0" rIns="0" tIns="0" bIns="0" anchor="t">
            <a:spAutoFit/>
          </a:bodyPr>
          <a:lstStyle/>
          <a:p>
            <a:r>
              <a:rPr sz="1250" b="0">
                <a:solidFill>
                  <a:srgbClr val="62746D"/>
                </a:solidFill>
                <a:latin typeface="Apple SD Gothic Neo"/>
              </a:rPr>
              <a:t>처리 중인 작업을 단계별로 표시</a:t>
            </a:r>
          </a:p>
        </p:txBody>
      </p:sp>
      <p:sp>
        <p:nvSpPr>
          <p:cNvPr id="10" name="Rounded Rectangle 9"/>
          <p:cNvSpPr/>
          <p:nvPr/>
        </p:nvSpPr>
        <p:spPr>
          <a:xfrm>
            <a:off x="5349240" y="2679191"/>
            <a:ext cx="548640" cy="365760"/>
          </a:xfrm>
          <a:prstGeom prst="roundRect">
            <a:avLst>
              <a:gd name="adj" fmla="val 50000"/>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2679191"/>
            <a:ext cx="548640" cy="365760"/>
          </a:xfrm>
          <a:prstGeom prst="rect">
            <a:avLst/>
          </a:prstGeom>
          <a:noFill/>
        </p:spPr>
        <p:txBody>
          <a:bodyPr wrap="square" lIns="0" rIns="0" tIns="0" bIns="0" anchor="ctr">
            <a:spAutoFit/>
          </a:bodyPr>
          <a:lstStyle/>
          <a:p>
            <a:pPr algn="ctr"/>
            <a:r>
              <a:rPr sz="1200" b="1">
                <a:solidFill>
                  <a:srgbClr val="16785C"/>
                </a:solidFill>
                <a:latin typeface="Apple SD Gothic Neo"/>
              </a:rPr>
              <a:t>02</a:t>
            </a:r>
          </a:p>
        </p:txBody>
      </p:sp>
      <p:sp>
        <p:nvSpPr>
          <p:cNvPr id="12" name="TextBox 11"/>
          <p:cNvSpPr txBox="1"/>
          <p:nvPr/>
        </p:nvSpPr>
        <p:spPr>
          <a:xfrm>
            <a:off x="6080760" y="2651760"/>
            <a:ext cx="3200400" cy="320040"/>
          </a:xfrm>
          <a:prstGeom prst="rect">
            <a:avLst/>
          </a:prstGeom>
          <a:noFill/>
        </p:spPr>
        <p:txBody>
          <a:bodyPr wrap="square" lIns="0" rIns="0" tIns="0" bIns="0" anchor="t">
            <a:spAutoFit/>
          </a:bodyPr>
          <a:lstStyle/>
          <a:p>
            <a:r>
              <a:rPr sz="1800" b="1">
                <a:solidFill>
                  <a:srgbClr val="16785C"/>
                </a:solidFill>
                <a:latin typeface="Apple SD Gothic Neo"/>
              </a:rPr>
              <a:t>수집값 ↔ 답변값</a:t>
            </a:r>
          </a:p>
        </p:txBody>
      </p:sp>
      <p:sp>
        <p:nvSpPr>
          <p:cNvPr id="13" name="TextBox 12"/>
          <p:cNvSpPr txBox="1"/>
          <p:nvPr/>
        </p:nvSpPr>
        <p:spPr>
          <a:xfrm>
            <a:off x="6080760" y="2990087"/>
            <a:ext cx="3246120" cy="411480"/>
          </a:xfrm>
          <a:prstGeom prst="rect">
            <a:avLst/>
          </a:prstGeom>
          <a:noFill/>
        </p:spPr>
        <p:txBody>
          <a:bodyPr wrap="square" lIns="0" rIns="0" tIns="0" bIns="0" anchor="t">
            <a:spAutoFit/>
          </a:bodyPr>
          <a:lstStyle/>
          <a:p>
            <a:r>
              <a:rPr sz="1250" b="0">
                <a:solidFill>
                  <a:srgbClr val="62746D"/>
                </a:solidFill>
                <a:latin typeface="Apple SD Gothic Neo"/>
              </a:rPr>
              <a:t>수집값과 답변값을 직접 비교</a:t>
            </a:r>
          </a:p>
        </p:txBody>
      </p:sp>
      <p:sp>
        <p:nvSpPr>
          <p:cNvPr id="14" name="Rounded Rectangle 13"/>
          <p:cNvSpPr/>
          <p:nvPr/>
        </p:nvSpPr>
        <p:spPr>
          <a:xfrm>
            <a:off x="5349240" y="3483863"/>
            <a:ext cx="548640" cy="365760"/>
          </a:xfrm>
          <a:prstGeom prst="roundRect">
            <a:avLst>
              <a:gd name="adj" fmla="val 50000"/>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3483863"/>
            <a:ext cx="548640" cy="365760"/>
          </a:xfrm>
          <a:prstGeom prst="rect">
            <a:avLst/>
          </a:prstGeom>
          <a:noFill/>
        </p:spPr>
        <p:txBody>
          <a:bodyPr wrap="square" lIns="0" rIns="0" tIns="0" bIns="0" anchor="ctr">
            <a:spAutoFit/>
          </a:bodyPr>
          <a:lstStyle/>
          <a:p>
            <a:pPr algn="ctr"/>
            <a:r>
              <a:rPr sz="1200" b="1">
                <a:solidFill>
                  <a:srgbClr val="16785C"/>
                </a:solidFill>
                <a:latin typeface="Apple SD Gothic Neo"/>
              </a:rPr>
              <a:t>03</a:t>
            </a:r>
          </a:p>
        </p:txBody>
      </p:sp>
      <p:sp>
        <p:nvSpPr>
          <p:cNvPr id="16" name="TextBox 15"/>
          <p:cNvSpPr txBox="1"/>
          <p:nvPr/>
        </p:nvSpPr>
        <p:spPr>
          <a:xfrm>
            <a:off x="6080760" y="3456432"/>
            <a:ext cx="3200400" cy="320040"/>
          </a:xfrm>
          <a:prstGeom prst="rect">
            <a:avLst/>
          </a:prstGeom>
          <a:noFill/>
        </p:spPr>
        <p:txBody>
          <a:bodyPr wrap="square" lIns="0" rIns="0" tIns="0" bIns="0" anchor="t">
            <a:spAutoFit/>
          </a:bodyPr>
          <a:lstStyle/>
          <a:p>
            <a:r>
              <a:rPr sz="1800" b="1">
                <a:solidFill>
                  <a:srgbClr val="16785C"/>
                </a:solidFill>
                <a:latin typeface="Apple SD Gothic Neo"/>
              </a:rPr>
              <a:t>검색 후보 · 유사도</a:t>
            </a:r>
          </a:p>
        </p:txBody>
      </p:sp>
      <p:sp>
        <p:nvSpPr>
          <p:cNvPr id="17" name="TextBox 16"/>
          <p:cNvSpPr txBox="1"/>
          <p:nvPr/>
        </p:nvSpPr>
        <p:spPr>
          <a:xfrm>
            <a:off x="6080760" y="3794759"/>
            <a:ext cx="3246120" cy="411480"/>
          </a:xfrm>
          <a:prstGeom prst="rect">
            <a:avLst/>
          </a:prstGeom>
          <a:noFill/>
        </p:spPr>
        <p:txBody>
          <a:bodyPr wrap="square" lIns="0" rIns="0" tIns="0" bIns="0" anchor="t">
            <a:spAutoFit/>
          </a:bodyPr>
          <a:lstStyle/>
          <a:p>
            <a:r>
              <a:rPr sz="1250" b="0">
                <a:solidFill>
                  <a:srgbClr val="62746D"/>
                </a:solidFill>
                <a:latin typeface="Apple SD Gothic Neo"/>
              </a:rPr>
              <a:t>선택된 매뉴얼과 유사도 점수 확인</a:t>
            </a:r>
          </a:p>
        </p:txBody>
      </p:sp>
      <p:sp>
        <p:nvSpPr>
          <p:cNvPr id="18" name="Rounded Rectangle 17"/>
          <p:cNvSpPr/>
          <p:nvPr/>
        </p:nvSpPr>
        <p:spPr>
          <a:xfrm>
            <a:off x="5349240" y="4288536"/>
            <a:ext cx="548640" cy="365760"/>
          </a:xfrm>
          <a:prstGeom prst="roundRect">
            <a:avLst>
              <a:gd name="adj" fmla="val 50000"/>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4288536"/>
            <a:ext cx="548640" cy="365760"/>
          </a:xfrm>
          <a:prstGeom prst="rect">
            <a:avLst/>
          </a:prstGeom>
          <a:noFill/>
        </p:spPr>
        <p:txBody>
          <a:bodyPr wrap="square" lIns="0" rIns="0" tIns="0" bIns="0" anchor="ctr">
            <a:spAutoFit/>
          </a:bodyPr>
          <a:lstStyle/>
          <a:p>
            <a:pPr algn="ctr"/>
            <a:r>
              <a:rPr sz="1200" b="1">
                <a:solidFill>
                  <a:srgbClr val="16785C"/>
                </a:solidFill>
                <a:latin typeface="Apple SD Gothic Neo"/>
              </a:rPr>
              <a:t>04</a:t>
            </a:r>
          </a:p>
        </p:txBody>
      </p:sp>
      <p:sp>
        <p:nvSpPr>
          <p:cNvPr id="20" name="TextBox 19"/>
          <p:cNvSpPr txBox="1"/>
          <p:nvPr/>
        </p:nvSpPr>
        <p:spPr>
          <a:xfrm>
            <a:off x="6080760" y="4261103"/>
            <a:ext cx="3200400" cy="320040"/>
          </a:xfrm>
          <a:prstGeom prst="rect">
            <a:avLst/>
          </a:prstGeom>
          <a:noFill/>
        </p:spPr>
        <p:txBody>
          <a:bodyPr wrap="square" lIns="0" rIns="0" tIns="0" bIns="0" anchor="t">
            <a:spAutoFit/>
          </a:bodyPr>
          <a:lstStyle/>
          <a:p>
            <a:r>
              <a:rPr sz="1800" b="1">
                <a:solidFill>
                  <a:srgbClr val="16785C"/>
                </a:solidFill>
                <a:latin typeface="Apple SD Gothic Neo"/>
              </a:rPr>
              <a:t>상태 구분</a:t>
            </a:r>
          </a:p>
        </p:txBody>
      </p:sp>
      <p:sp>
        <p:nvSpPr>
          <p:cNvPr id="21" name="TextBox 20"/>
          <p:cNvSpPr txBox="1"/>
          <p:nvPr/>
        </p:nvSpPr>
        <p:spPr>
          <a:xfrm>
            <a:off x="6080760" y="4599431"/>
            <a:ext cx="3246120" cy="411480"/>
          </a:xfrm>
          <a:prstGeom prst="rect">
            <a:avLst/>
          </a:prstGeom>
          <a:noFill/>
        </p:spPr>
        <p:txBody>
          <a:bodyPr wrap="square" lIns="0" rIns="0" tIns="0" bIns="0" anchor="t">
            <a:spAutoFit/>
          </a:bodyPr>
          <a:lstStyle/>
          <a:p>
            <a:r>
              <a:rPr sz="1250" b="0">
                <a:solidFill>
                  <a:srgbClr val="62746D"/>
                </a:solidFill>
                <a:latin typeface="Apple SD Gothic Neo"/>
              </a:rPr>
              <a:t>정상 · 검증 실패 · 자료 부족 상태를 구분하여 안내</a:t>
            </a:r>
          </a:p>
        </p:txBody>
      </p:sp>
      <p:sp>
        <p:nvSpPr>
          <p:cNvPr id="22" name="Rounded Rectangle 21"/>
          <p:cNvSpPr/>
          <p:nvPr/>
        </p:nvSpPr>
        <p:spPr>
          <a:xfrm>
            <a:off x="5349240" y="5093208"/>
            <a:ext cx="548640" cy="365760"/>
          </a:xfrm>
          <a:prstGeom prst="roundRect">
            <a:avLst>
              <a:gd name="adj" fmla="val 50000"/>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5093208"/>
            <a:ext cx="548640" cy="365760"/>
          </a:xfrm>
          <a:prstGeom prst="rect">
            <a:avLst/>
          </a:prstGeom>
          <a:noFill/>
        </p:spPr>
        <p:txBody>
          <a:bodyPr wrap="square" lIns="0" rIns="0" tIns="0" bIns="0" anchor="ctr">
            <a:spAutoFit/>
          </a:bodyPr>
          <a:lstStyle/>
          <a:p>
            <a:pPr algn="ctr"/>
            <a:r>
              <a:rPr sz="1200" b="1">
                <a:solidFill>
                  <a:srgbClr val="16785C"/>
                </a:solidFill>
                <a:latin typeface="Apple SD Gothic Neo"/>
              </a:rPr>
              <a:t>05</a:t>
            </a:r>
          </a:p>
        </p:txBody>
      </p:sp>
      <p:sp>
        <p:nvSpPr>
          <p:cNvPr id="24" name="TextBox 23"/>
          <p:cNvSpPr txBox="1"/>
          <p:nvPr/>
        </p:nvSpPr>
        <p:spPr>
          <a:xfrm>
            <a:off x="6080760" y="5065776"/>
            <a:ext cx="3200400" cy="320040"/>
          </a:xfrm>
          <a:prstGeom prst="rect">
            <a:avLst/>
          </a:prstGeom>
          <a:noFill/>
        </p:spPr>
        <p:txBody>
          <a:bodyPr wrap="square" lIns="0" rIns="0" tIns="0" bIns="0" anchor="t">
            <a:spAutoFit/>
          </a:bodyPr>
          <a:lstStyle/>
          <a:p>
            <a:r>
              <a:rPr sz="1800" b="1">
                <a:solidFill>
                  <a:srgbClr val="16785C"/>
                </a:solidFill>
                <a:latin typeface="Apple SD Gothic Neo"/>
              </a:rPr>
              <a:t>초안 비공개</a:t>
            </a:r>
          </a:p>
        </p:txBody>
      </p:sp>
      <p:sp>
        <p:nvSpPr>
          <p:cNvPr id="25" name="TextBox 24"/>
          <p:cNvSpPr txBox="1"/>
          <p:nvPr/>
        </p:nvSpPr>
        <p:spPr>
          <a:xfrm>
            <a:off x="6080760" y="5404104"/>
            <a:ext cx="3246120" cy="411480"/>
          </a:xfrm>
          <a:prstGeom prst="rect">
            <a:avLst/>
          </a:prstGeom>
          <a:noFill/>
        </p:spPr>
        <p:txBody>
          <a:bodyPr wrap="square" lIns="0" rIns="0" tIns="0" bIns="0" anchor="t">
            <a:spAutoFit/>
          </a:bodyPr>
          <a:lstStyle/>
          <a:p>
            <a:r>
              <a:rPr sz="1250" b="0">
                <a:solidFill>
                  <a:srgbClr val="62746D"/>
                </a:solidFill>
                <a:latin typeface="Apple SD Gothic Neo"/>
              </a:rPr>
              <a:t>검증 전 초안 비공개</a:t>
            </a:r>
          </a:p>
        </p:txBody>
      </p:sp>
      <p:sp>
        <p:nvSpPr>
          <p:cNvPr id="26" name="TextBox 25"/>
          <p:cNvSpPr txBox="1"/>
          <p:nvPr/>
        </p:nvSpPr>
        <p:spPr>
          <a:xfrm>
            <a:off x="5349240" y="5943600"/>
            <a:ext cx="4023360" cy="274320"/>
          </a:xfrm>
          <a:prstGeom prst="rect">
            <a:avLst/>
          </a:prstGeom>
          <a:noFill/>
        </p:spPr>
        <p:txBody>
          <a:bodyPr wrap="square" lIns="0" rIns="0" tIns="0" bIns="0" anchor="t">
            <a:spAutoFit/>
          </a:bodyPr>
          <a:lstStyle/>
          <a:p>
            <a:r>
              <a:rPr sz="1050" b="0">
                <a:solidFill>
                  <a:srgbClr val="62746D"/>
                </a:solidFill>
                <a:latin typeface="Apple SD Gothic Neo"/>
              </a:rPr>
              <a:t>제공받은 Vue 화면을 근거 확인 중심으로 개선 · 모의 작성 모델</a:t>
            </a:r>
          </a:p>
        </p:txBody>
      </p:sp>
      <p:sp>
        <p:nvSpPr>
          <p:cNvPr id="27" name="TextBox 26"/>
          <p:cNvSpPr txBox="1"/>
          <p:nvPr/>
        </p:nvSpPr>
        <p:spPr>
          <a:xfrm>
            <a:off x="9418320" y="1874519"/>
            <a:ext cx="2194560" cy="228600"/>
          </a:xfrm>
          <a:prstGeom prst="rect">
            <a:avLst/>
          </a:prstGeom>
          <a:noFill/>
        </p:spPr>
        <p:txBody>
          <a:bodyPr wrap="square" lIns="0" rIns="0" tIns="0" bIns="0" anchor="t">
            <a:spAutoFit/>
          </a:bodyPr>
          <a:lstStyle/>
          <a:p>
            <a:r>
              <a:rPr sz="1100" b="1">
                <a:solidFill>
                  <a:srgbClr val="B04A3A"/>
                </a:solidFill>
                <a:latin typeface="Apple SD Gothic Neo"/>
              </a:rPr>
              <a:t>검증 실패</a:t>
            </a:r>
          </a:p>
        </p:txBody>
      </p:sp>
      <p:pic>
        <p:nvPicPr>
          <p:cNvPr id="28" name="Picture 27" descr="최종점검_검증실패.png"/>
          <p:cNvPicPr>
            <a:picLocks noChangeAspect="1"/>
          </p:cNvPicPr>
          <p:nvPr/>
        </p:nvPicPr>
        <p:blipFill>
          <a:blip r:embed="rId3"/>
          <a:stretch>
            <a:fillRect/>
          </a:stretch>
        </p:blipFill>
        <p:spPr>
          <a:xfrm>
            <a:off x="9418320" y="2148840"/>
            <a:ext cx="2240280" cy="1261872"/>
          </a:xfrm>
          <a:prstGeom prst="rect">
            <a:avLst/>
          </a:prstGeom>
        </p:spPr>
      </p:pic>
      <p:sp>
        <p:nvSpPr>
          <p:cNvPr id="29" name="TextBox 28"/>
          <p:cNvSpPr txBox="1"/>
          <p:nvPr/>
        </p:nvSpPr>
        <p:spPr>
          <a:xfrm>
            <a:off x="9418320" y="3703320"/>
            <a:ext cx="2194560" cy="228600"/>
          </a:xfrm>
          <a:prstGeom prst="rect">
            <a:avLst/>
          </a:prstGeom>
          <a:noFill/>
        </p:spPr>
        <p:txBody>
          <a:bodyPr wrap="square" lIns="0" rIns="0" tIns="0" bIns="0" anchor="t">
            <a:spAutoFit/>
          </a:bodyPr>
          <a:lstStyle/>
          <a:p>
            <a:r>
              <a:rPr sz="1100" b="1">
                <a:solidFill>
                  <a:srgbClr val="B04A3A"/>
                </a:solidFill>
                <a:latin typeface="Apple SD Gothic Neo"/>
              </a:rPr>
              <a:t>자료 부족 · 검증 불가</a:t>
            </a:r>
          </a:p>
        </p:txBody>
      </p:sp>
      <p:pic>
        <p:nvPicPr>
          <p:cNvPr id="30" name="Picture 29" descr="최종점검_자료부족.png"/>
          <p:cNvPicPr>
            <a:picLocks noChangeAspect="1"/>
          </p:cNvPicPr>
          <p:nvPr/>
        </p:nvPicPr>
        <p:blipFill>
          <a:blip r:embed="rId4"/>
          <a:stretch>
            <a:fillRect/>
          </a:stretch>
        </p:blipFill>
        <p:spPr>
          <a:xfrm>
            <a:off x="9418320" y="3977639"/>
            <a:ext cx="2240280" cy="1261872"/>
          </a:xfrm>
          <a:prstGeom prst="rect">
            <a:avLst/>
          </a:prstGeom>
        </p:spPr>
      </p:pic>
      <p:sp>
        <p:nvSpPr>
          <p:cNvPr id="31" name="TextBox 30"/>
          <p:cNvSpPr txBox="1"/>
          <p:nvPr/>
        </p:nvSpPr>
        <p:spPr>
          <a:xfrm>
            <a:off x="10835640" y="6473952"/>
            <a:ext cx="777240" cy="164592"/>
          </a:xfrm>
          <a:prstGeom prst="rect">
            <a:avLst/>
          </a:prstGeom>
          <a:noFill/>
        </p:spPr>
        <p:txBody>
          <a:bodyPr wrap="none" lIns="0" rIns="0" tIns="0" bIns="0">
            <a:spAutoFit/>
          </a:bodyPr>
          <a:lstStyle/>
          <a:p>
            <a:r>
              <a:rPr sz="900">
                <a:solidFill>
                  <a:srgbClr val="62746D"/>
                </a:solidFill>
                <a:latin typeface="Apple SD Gothic Neo"/>
              </a:rPr>
              <a:t>06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06  개선 전후 실행 화면</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동일 오류 조건에서 오답 통과 대신 실패 안내</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07 / 10</a:t>
            </a:r>
            <a:endParaRPr lang="en-US" sz="900" dirty="0"/>
          </a:p>
        </p:txBody>
      </p:sp>
      <p:sp>
        <p:nvSpPr>
          <p:cNvPr id="7" name="Shape 4"/>
          <p:cNvSpPr/>
          <p:nvPr/>
        </p:nvSpPr>
        <p:spPr>
          <a:xfrm>
            <a:off x="640080" y="1965960"/>
            <a:ext cx="1051560" cy="365760"/>
          </a:xfrm>
          <a:prstGeom prst="roundRect">
            <a:avLst>
              <a:gd name="adj" fmla="val 40000"/>
            </a:avLst>
          </a:prstGeom>
          <a:solidFill>
            <a:srgbClr val="FAEEEA"/>
          </a:solidFill>
          <a:ln w="12700">
            <a:solidFill>
              <a:srgbClr val="FAEEEA"/>
            </a:solidFill>
            <a:prstDash val="solid"/>
          </a:ln>
        </p:spPr>
        <p:txBody>
          <a:bodyPr/>
          <a:p/>
        </p:txBody>
      </p:sp>
      <p:sp>
        <p:nvSpPr>
          <p:cNvPr id="8" name="Text 5"/>
          <p:cNvSpPr txBox="1"/>
          <p:nvPr/>
        </p:nvSpPr>
        <p:spPr>
          <a:xfrm>
            <a:off x="749808" y="1965960"/>
            <a:ext cx="832104" cy="365760"/>
          </a:xfrm>
          <a:prstGeom prst="rect">
            <a:avLst/>
          </a:prstGeom>
          <a:noFill/>
          <a:ln/>
        </p:spPr>
        <p:txBody>
          <a:bodyPr wrap="square" lIns="0" tIns="0" rIns="0" bIns="0" rtlCol="0" anchor="ctr"/>
          <a:lstStyle/>
          <a:p>
            <a:pPr indent="0" marL="0">
              <a:buNone/>
            </a:pPr>
            <a:r>
              <a:rPr lang="en-US" sz="1200" b="1" dirty="0">
                <a:solidFill>
                  <a:srgbClr val="B6503E"/>
                </a:solidFill>
                <a:latin typeface="Apple SD Gothic Neo" pitchFamily="34" charset="0"/>
                <a:ea typeface="Apple SD Gothic Neo" pitchFamily="34" charset="-122"/>
                <a:cs typeface="Apple SD Gothic Neo" pitchFamily="34" charset="-120"/>
              </a:rPr>
              <a:t>BEFORE</a:t>
            </a:r>
            <a:endParaRPr lang="en-US" sz="1200" dirty="0"/>
          </a:p>
        </p:txBody>
      </p:sp>
      <p:sp>
        <p:nvSpPr>
          <p:cNvPr id="9" name="Text 6"/>
          <p:cNvSpPr txBox="1"/>
          <p:nvPr/>
        </p:nvSpPr>
        <p:spPr>
          <a:xfrm>
            <a:off x="1920240" y="1920240"/>
            <a:ext cx="3749040" cy="457200"/>
          </a:xfrm>
          <a:prstGeom prst="rect">
            <a:avLst/>
          </a:prstGeom>
          <a:noFill/>
          <a:ln/>
        </p:spPr>
        <p:txBody>
          <a:bodyPr wrap="square" lIns="0" tIns="0" rIns="0" bIns="0" rtlCol="0" anchor="ctr"/>
          <a:lstStyle/>
          <a:p>
            <a:pPr indent="0" marL="0">
              <a:buNone/>
            </a:pPr>
            <a:r>
              <a:rPr lang="en-US" sz="2500" b="1" dirty="0">
                <a:solidFill>
                  <a:srgbClr val="B6503E"/>
                </a:solidFill>
                <a:latin typeface="Apple SD Gothic Neo" pitchFamily="34" charset="0"/>
                <a:ea typeface="Apple SD Gothic Neo" pitchFamily="34" charset="-122"/>
                <a:cs typeface="Apple SD Gothic Neo" pitchFamily="34" charset="-120"/>
              </a:rPr>
              <a:t>틀린 수치도 통과</a:t>
            </a:r>
            <a:endParaRPr lang="en-US" sz="2500" dirty="0"/>
          </a:p>
        </p:txBody>
      </p:sp>
      <p:sp>
        <p:nvSpPr>
          <p:cNvPr id="10" name="Shape 7"/>
          <p:cNvSpPr/>
          <p:nvPr/>
        </p:nvSpPr>
        <p:spPr>
          <a:xfrm>
            <a:off x="6355080" y="1965960"/>
            <a:ext cx="960120" cy="365760"/>
          </a:xfrm>
          <a:prstGeom prst="roundRect">
            <a:avLst>
              <a:gd name="adj" fmla="val 40000"/>
            </a:avLst>
          </a:prstGeom>
          <a:solidFill>
            <a:srgbClr val="EEF5F1"/>
          </a:solidFill>
          <a:ln w="12700">
            <a:solidFill>
              <a:srgbClr val="EEF5F1"/>
            </a:solidFill>
            <a:prstDash val="solid"/>
          </a:ln>
        </p:spPr>
        <p:txBody>
          <a:bodyPr/>
          <a:p/>
        </p:txBody>
      </p:sp>
      <p:sp>
        <p:nvSpPr>
          <p:cNvPr id="11" name="Text 8"/>
          <p:cNvSpPr txBox="1"/>
          <p:nvPr/>
        </p:nvSpPr>
        <p:spPr>
          <a:xfrm>
            <a:off x="6464808" y="1965960"/>
            <a:ext cx="740664" cy="365760"/>
          </a:xfrm>
          <a:prstGeom prst="rect">
            <a:avLst/>
          </a:prstGeom>
          <a:noFill/>
          <a:ln/>
        </p:spPr>
        <p:txBody>
          <a:bodyPr wrap="square" lIns="0" tIns="0" rIns="0" bIns="0" rtlCol="0" anchor="ctr"/>
          <a:lstStyle/>
          <a:p>
            <a:pPr indent="0" marL="0">
              <a:buNone/>
            </a:pPr>
            <a:r>
              <a:rPr lang="en-US" sz="1200" b="1" dirty="0">
                <a:solidFill>
                  <a:srgbClr val="16785C"/>
                </a:solidFill>
                <a:latin typeface="Apple SD Gothic Neo" pitchFamily="34" charset="0"/>
                <a:ea typeface="Apple SD Gothic Neo" pitchFamily="34" charset="-122"/>
                <a:cs typeface="Apple SD Gothic Neo" pitchFamily="34" charset="-120"/>
              </a:rPr>
              <a:t>AFTER</a:t>
            </a:r>
            <a:endParaRPr lang="en-US" sz="1200" dirty="0"/>
          </a:p>
        </p:txBody>
      </p:sp>
      <p:sp>
        <p:nvSpPr>
          <p:cNvPr id="12" name="Text 9"/>
          <p:cNvSpPr txBox="1"/>
          <p:nvPr/>
        </p:nvSpPr>
        <p:spPr>
          <a:xfrm>
            <a:off x="7543800" y="1920240"/>
            <a:ext cx="3977640" cy="457200"/>
          </a:xfrm>
          <a:prstGeom prst="rect">
            <a:avLst/>
          </a:prstGeom>
          <a:noFill/>
          <a:ln/>
        </p:spPr>
        <p:txBody>
          <a:bodyPr wrap="square" lIns="0" tIns="0" rIns="0" bIns="0" rtlCol="0" anchor="ctr"/>
          <a:lstStyle/>
          <a:p>
            <a:pPr indent="0" marL="0">
              <a:buNone/>
            </a:pPr>
            <a:r>
              <a:rPr lang="en-US" sz="2500" b="1" dirty="0">
                <a:solidFill>
                  <a:srgbClr val="16785C"/>
                </a:solidFill>
                <a:latin typeface="Apple SD Gothic Neo" pitchFamily="34" charset="0"/>
                <a:ea typeface="Apple SD Gothic Neo" pitchFamily="34" charset="-122"/>
                <a:cs typeface="Apple SD Gothic Neo" pitchFamily="34" charset="-120"/>
              </a:rPr>
              <a:t>수집값과 다르면 차단</a:t>
            </a:r>
            <a:endParaRPr lang="en-US" sz="2500" dirty="0"/>
          </a:p>
        </p:txBody>
      </p:sp>
      <p:sp>
        <p:nvSpPr>
          <p:cNvPr id="15" name="Text 10"/>
          <p:cNvSpPr txBox="1"/>
          <p:nvPr/>
        </p:nvSpPr>
        <p:spPr>
          <a:xfrm>
            <a:off x="731520" y="5166360"/>
            <a:ext cx="5029200" cy="457200"/>
          </a:xfrm>
          <a:prstGeom prst="rect">
            <a:avLst/>
          </a:prstGeom>
          <a:noFill/>
          <a:ln/>
        </p:spPr>
        <p:txBody>
          <a:bodyPr wrap="square" lIns="0" tIns="0" rIns="0" bIns="0" rtlCol="0" anchor="ctr"/>
          <a:lstStyle/>
          <a:p>
            <a:pPr indent="0" marL="0">
              <a:buNone/>
            </a:pPr>
            <a:r>
              <a:rPr lang="en-US" sz="1900" dirty="0">
                <a:solidFill>
                  <a:srgbClr val="62746D"/>
                </a:solidFill>
                <a:latin typeface="Apple SD Gothic Neo" pitchFamily="34" charset="0"/>
                <a:ea typeface="Apple SD Gothic Neo" pitchFamily="34" charset="-122"/>
                <a:cs typeface="Apple SD Gothic Neo" pitchFamily="34" charset="-120"/>
              </a:rPr>
              <a:t>검사 기준: 길이·번호</a:t>
            </a:r>
            <a:endParaRPr lang="en-US" sz="1900" dirty="0"/>
          </a:p>
        </p:txBody>
      </p:sp>
      <p:sp>
        <p:nvSpPr>
          <p:cNvPr id="16" name="Text 11"/>
          <p:cNvSpPr txBox="1"/>
          <p:nvPr/>
        </p:nvSpPr>
        <p:spPr>
          <a:xfrm>
            <a:off x="6400800" y="5166360"/>
            <a:ext cx="5120640" cy="457200"/>
          </a:xfrm>
          <a:prstGeom prst="rect">
            <a:avLst/>
          </a:prstGeom>
          <a:noFill/>
          <a:ln/>
        </p:spPr>
        <p:txBody>
          <a:bodyPr wrap="square" lIns="0" tIns="0" rIns="0" bIns="0" rtlCol="0" anchor="ctr"/>
          <a:lstStyle/>
          <a:p>
            <a:pPr indent="0" marL="0">
              <a:buNone/>
            </a:pPr>
            <a:r>
              <a:rPr lang="en-US" sz="1900" b="1" dirty="0">
                <a:solidFill>
                  <a:srgbClr val="16785C"/>
                </a:solidFill>
                <a:latin typeface="Apple SD Gothic Neo" pitchFamily="34" charset="0"/>
                <a:ea typeface="Apple SD Gothic Neo" pitchFamily="34" charset="-122"/>
                <a:cs typeface="Apple SD Gothic Neo" pitchFamily="34" charset="-120"/>
              </a:rPr>
              <a:t>총 3회 실패 → 사유와 실제 수집값 제공</a:t>
            </a:r>
            <a:endParaRPr lang="en-US" sz="1900" dirty="0"/>
          </a:p>
        </p:txBody>
      </p:sp>
      <p:sp>
        <p:nvSpPr>
          <p:cNvPr id="17" name="Text 12"/>
          <p:cNvSpPr txBox="1"/>
          <p:nvPr/>
        </p:nvSpPr>
        <p:spPr>
          <a:xfrm>
            <a:off x="685800" y="5989320"/>
            <a:ext cx="10881360" cy="320040"/>
          </a:xfrm>
          <a:prstGeom prst="rect">
            <a:avLst/>
          </a:prstGeom>
          <a:noFill/>
          <a:ln/>
        </p:spPr>
        <p:txBody>
          <a:bodyPr wrap="square" lIns="0" tIns="0" rIns="0" bIns="0" rtlCol="0" anchor="ctr"/>
          <a:lstStyle/>
          <a:p>
            <a:pPr indent="0" marL="0">
              <a:buNone/>
            </a:pPr>
            <a:r>
              <a:rPr lang="en-US" sz="1200" dirty="0">
                <a:solidFill>
                  <a:srgbClr val="62746D"/>
                </a:solidFill>
                <a:latin typeface="Apple SD Gothic Neo" pitchFamily="34" charset="0"/>
                <a:ea typeface="Apple SD Gothic Neo" pitchFamily="34" charset="-122"/>
                <a:cs typeface="Apple SD Gothic Neo" pitchFamily="34" charset="-120"/>
              </a:rPr>
              <a:t>같은 질문 + CPU 수치에 15%p 오류 주입 · 모의 모델 재현 · 실행별 모니터링 수치에는 변동이 있음</a:t>
            </a:r>
            <a:endParaRPr lang="en-US" sz="1200" dirty="0"/>
          </a:p>
        </p:txBody>
      </p:sp>
      <p:pic>
        <p:nvPicPr>
          <p:cNvPr id="18" name="Picture 17" descr="ppt_개선전.gif"/>
          <p:cNvPicPr>
            <a:picLocks noChangeAspect="1"/>
          </p:cNvPicPr>
          <p:nvPr/>
        </p:nvPicPr>
        <p:blipFill>
          <a:blip r:embed="rId5"/>
          <a:stretch>
            <a:fillRect/>
          </a:stretch>
        </p:blipFill>
        <p:spPr>
          <a:xfrm>
            <a:off x="640080" y="2743200"/>
            <a:ext cx="5166360" cy="2309362"/>
          </a:xfrm>
          <a:prstGeom prst="rect">
            <a:avLst/>
          </a:prstGeom>
        </p:spPr>
      </p:pic>
      <p:pic>
        <p:nvPicPr>
          <p:cNvPr id="19" name="Picture 18" descr="ppt_개선후.gif"/>
          <p:cNvPicPr>
            <a:picLocks noChangeAspect="1"/>
          </p:cNvPicPr>
          <p:nvPr/>
        </p:nvPicPr>
        <p:blipFill>
          <a:blip r:embed="rId6"/>
          <a:stretch>
            <a:fillRect/>
          </a:stretch>
        </p:blipFill>
        <p:spPr>
          <a:xfrm>
            <a:off x="6355080" y="2743200"/>
            <a:ext cx="5166360" cy="23093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16785C"/>
                </a:solidFill>
                <a:latin typeface="Apple SD Gothic Neo" pitchFamily="34" charset="0"/>
                <a:ea typeface="Apple SD Gothic Neo" pitchFamily="34" charset="-122"/>
                <a:cs typeface="Apple SD Gothic Neo" pitchFamily="34" charset="-120"/>
              </a:rPr>
              <a:t>07  평가 결과</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19382F"/>
                </a:solidFill>
                <a:latin typeface="Apple SD Gothic Neo" pitchFamily="34" charset="0"/>
                <a:ea typeface="Apple SD Gothic Neo" pitchFamily="34" charset="-122"/>
                <a:cs typeface="Apple SD Gothic Neo" pitchFamily="34" charset="-120"/>
              </a:rPr>
              <a:t>자체 평가 기준 오류 차단 및 매뉴얼 선택 개선</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62746D"/>
                </a:solidFill>
                <a:latin typeface="Apple SD Gothic Neo" pitchFamily="34" charset="0"/>
                <a:ea typeface="Apple SD Gothic Neo" pitchFamily="34" charset="-122"/>
                <a:cs typeface="Apple SD Gothic Neo" pitchFamily="34" charset="-120"/>
              </a:rPr>
              <a:t>08 / 10</a:t>
            </a:r>
            <a:endParaRPr lang="en-US" sz="900" dirty="0"/>
          </a:p>
        </p:txBody>
      </p:sp>
      <p:sp>
        <p:nvSpPr>
          <p:cNvPr id="7" name="Text 4"/>
          <p:cNvSpPr txBox="1"/>
          <p:nvPr/>
        </p:nvSpPr>
        <p:spPr>
          <a:xfrm>
            <a:off x="640080" y="1965960"/>
            <a:ext cx="5212080" cy="411480"/>
          </a:xfrm>
          <a:prstGeom prst="rect">
            <a:avLst/>
          </a:prstGeom>
          <a:noFill/>
          <a:ln/>
        </p:spPr>
        <p:txBody>
          <a:bodyPr wrap="square" lIns="0" tIns="0" rIns="0" bIns="0" rtlCol="0" anchor="ctr"/>
          <a:lstStyle/>
          <a:p>
            <a:pPr indent="0" marL="0">
              <a:buNone/>
            </a:pPr>
            <a:r>
              <a:rPr lang="en-US" sz="2300" b="1" dirty="0">
                <a:solidFill>
                  <a:srgbClr val="16785C"/>
                </a:solidFill>
                <a:latin typeface="Apple SD Gothic Neo" pitchFamily="34" charset="0"/>
                <a:ea typeface="Apple SD Gothic Neo" pitchFamily="34" charset="-122"/>
                <a:cs typeface="Apple SD Gothic Neo" pitchFamily="34" charset="-120"/>
              </a:rPr>
              <a:t>오류 답변 차단</a:t>
            </a:r>
            <a:endParaRPr lang="en-US" sz="2300" dirty="0"/>
          </a:p>
        </p:txBody>
      </p:sp>
      <p:sp>
        <p:nvSpPr>
          <p:cNvPr id="8" name="Text 5"/>
          <p:cNvSpPr txBox="1"/>
          <p:nvPr/>
        </p:nvSpPr>
        <p:spPr>
          <a:xfrm>
            <a:off x="640080" y="2606040"/>
            <a:ext cx="5212080" cy="731520"/>
          </a:xfrm>
          <a:prstGeom prst="rect">
            <a:avLst/>
          </a:prstGeom>
          <a:noFill/>
          <a:ln/>
        </p:spPr>
        <p:txBody>
          <a:bodyPr wrap="square" lIns="0" tIns="0" rIns="0" bIns="0" rtlCol="0" anchor="ctr"/>
          <a:lstStyle/>
          <a:p>
            <a:pPr indent="0" marL="0">
              <a:buNone/>
            </a:pPr>
            <a:r>
              <a:rPr lang="en-US" sz="4000" b="1" dirty="0">
                <a:solidFill>
                  <a:srgbClr val="19382F"/>
                </a:solidFill>
                <a:latin typeface="Apple SD Gothic Neo" pitchFamily="34" charset="0"/>
                <a:ea typeface="Apple SD Gothic Neo" pitchFamily="34" charset="-122"/>
                <a:cs typeface="Apple SD Gothic Neo" pitchFamily="34" charset="-120"/>
              </a:rPr>
              <a:t>2/9 → 9/9</a:t>
            </a:r>
            <a:endParaRPr lang="en-US" sz="4000" dirty="0"/>
          </a:p>
        </p:txBody>
      </p:sp>
      <p:graphicFrame>
        <p:nvGraphicFramePr>
          <p:cNvPr id="9" name="Chart 0" descr=""/>
          <p:cNvGraphicFramePr/>
          <p:nvPr/>
        </p:nvGraphicFramePr>
        <p:xfrm>
          <a:off x="566928" y="3520440"/>
          <a:ext cx="5303520" cy="160020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640080" y="5212080"/>
            <a:ext cx="5303520" cy="365760"/>
          </a:xfrm>
          <a:prstGeom prst="rect">
            <a:avLst/>
          </a:prstGeom>
          <a:noFill/>
          <a:ln/>
        </p:spPr>
        <p:txBody>
          <a:bodyPr wrap="square" lIns="0" tIns="0" rIns="0" bIns="0" rtlCol="0" anchor="ctr"/>
          <a:lstStyle/>
          <a:p>
            <a:pPr indent="0" marL="0">
              <a:buNone/>
            </a:pPr>
            <a:r>
              <a:rPr lang="en-US" sz="1400" dirty="0">
                <a:solidFill>
                  <a:srgbClr val="62746D"/>
                </a:solidFill>
                <a:latin typeface="Apple SD Gothic Neo" pitchFamily="34" charset="0"/>
                <a:ea typeface="Apple SD Gothic Neo" pitchFamily="34" charset="-122"/>
                <a:cs typeface="Apple SD Gothic Neo" pitchFamily="34" charset="-120"/>
              </a:rPr>
              <a:t>정상 답변 8/8 유지 · 동일 17개 입력</a:t>
            </a:r>
            <a:endParaRPr lang="en-US" sz="1400" dirty="0"/>
          </a:p>
        </p:txBody>
      </p:sp>
      <p:sp>
        <p:nvSpPr>
          <p:cNvPr id="11" name="Text 7"/>
          <p:cNvSpPr txBox="1"/>
          <p:nvPr/>
        </p:nvSpPr>
        <p:spPr>
          <a:xfrm>
            <a:off x="6309360" y="1965960"/>
            <a:ext cx="5212080" cy="411480"/>
          </a:xfrm>
          <a:prstGeom prst="rect">
            <a:avLst/>
          </a:prstGeom>
          <a:noFill/>
          <a:ln/>
        </p:spPr>
        <p:txBody>
          <a:bodyPr wrap="square" lIns="0" tIns="0" rIns="0" bIns="0" rtlCol="0" anchor="ctr"/>
          <a:lstStyle/>
          <a:p>
            <a:pPr indent="0" marL="0">
              <a:buNone/>
            </a:pPr>
            <a:r>
              <a:rPr lang="en-US" sz="2300" b="1" dirty="0">
                <a:solidFill>
                  <a:srgbClr val="16785C"/>
                </a:solidFill>
                <a:latin typeface="Apple SD Gothic Neo" pitchFamily="34" charset="0"/>
                <a:ea typeface="Apple SD Gothic Neo" pitchFamily="34" charset="-122"/>
                <a:cs typeface="Apple SD Gothic Neo" pitchFamily="34" charset="-120"/>
              </a:rPr>
              <a:t>매뉴얼 선택 기대 일치</a:t>
            </a:r>
            <a:endParaRPr lang="en-US" sz="2300" dirty="0"/>
          </a:p>
        </p:txBody>
      </p:sp>
      <p:sp>
        <p:nvSpPr>
          <p:cNvPr id="12" name="Text 8"/>
          <p:cNvSpPr txBox="1"/>
          <p:nvPr/>
        </p:nvSpPr>
        <p:spPr>
          <a:xfrm>
            <a:off x="6309360" y="2606040"/>
            <a:ext cx="5212080" cy="731520"/>
          </a:xfrm>
          <a:prstGeom prst="rect">
            <a:avLst/>
          </a:prstGeom>
          <a:noFill/>
          <a:ln/>
        </p:spPr>
        <p:txBody>
          <a:bodyPr wrap="square" lIns="0" tIns="0" rIns="0" bIns="0" rtlCol="0" anchor="ctr"/>
          <a:lstStyle/>
          <a:p>
            <a:pPr indent="0" marL="0">
              <a:buNone/>
            </a:pPr>
            <a:r>
              <a:rPr lang="en-US" sz="4000" b="1" dirty="0">
                <a:solidFill>
                  <a:srgbClr val="19382F"/>
                </a:solidFill>
                <a:latin typeface="Apple SD Gothic Neo" pitchFamily="34" charset="0"/>
                <a:ea typeface="Apple SD Gothic Neo" pitchFamily="34" charset="-122"/>
                <a:cs typeface="Apple SD Gothic Neo" pitchFamily="34" charset="-120"/>
              </a:rPr>
              <a:t>6/14 → 12/14</a:t>
            </a:r>
            <a:endParaRPr lang="en-US" sz="4000" dirty="0"/>
          </a:p>
        </p:txBody>
      </p:sp>
      <p:graphicFrame>
        <p:nvGraphicFramePr>
          <p:cNvPr id="13" name="Chart 1" descr=""/>
          <p:cNvGraphicFramePr/>
          <p:nvPr/>
        </p:nvGraphicFramePr>
        <p:xfrm>
          <a:off x="6236208" y="3520440"/>
          <a:ext cx="5303520" cy="160020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6309360" y="5212080"/>
            <a:ext cx="5303520" cy="365760"/>
          </a:xfrm>
          <a:prstGeom prst="rect">
            <a:avLst/>
          </a:prstGeom>
          <a:noFill/>
          <a:ln/>
        </p:spPr>
        <p:txBody>
          <a:bodyPr wrap="square" lIns="0" tIns="0" rIns="0" bIns="0" rtlCol="0" anchor="ctr"/>
          <a:lstStyle/>
          <a:p>
            <a:pPr indent="0" marL="0">
              <a:buNone/>
            </a:pPr>
            <a:r>
              <a:rPr lang="en-US" sz="1400" dirty="0">
                <a:solidFill>
                  <a:srgbClr val="62746D"/>
                </a:solidFill>
                <a:latin typeface="Apple SD Gothic Neo" pitchFamily="34" charset="0"/>
                <a:ea typeface="Apple SD Gothic Neo" pitchFamily="34" charset="-122"/>
                <a:cs typeface="Apple SD Gothic Neo" pitchFamily="34" charset="-120"/>
              </a:rPr>
              <a:t>장애 12개 + 무관 질문 2개</a:t>
            </a:r>
            <a:endParaRPr lang="en-US" sz="1400" dirty="0"/>
          </a:p>
        </p:txBody>
      </p:sp>
      <p:sp>
        <p:nvSpPr>
          <p:cNvPr id="15" name="Shape 10"/>
          <p:cNvSpPr/>
          <p:nvPr/>
        </p:nvSpPr>
        <p:spPr>
          <a:xfrm>
            <a:off x="640080" y="5806440"/>
            <a:ext cx="10881360" cy="457200"/>
          </a:xfrm>
          <a:prstGeom prst="roundRect">
            <a:avLst>
              <a:gd name="adj" fmla="val 32000"/>
            </a:avLst>
          </a:prstGeom>
          <a:solidFill>
            <a:srgbClr val="EEF5F1"/>
          </a:solidFill>
          <a:ln w="12700">
            <a:solidFill>
              <a:srgbClr val="EEF5F1"/>
            </a:solidFill>
            <a:prstDash val="solid"/>
          </a:ln>
        </p:spPr>
        <p:txBody>
          <a:bodyPr/>
          <a:p/>
        </p:txBody>
      </p:sp>
      <p:sp>
        <p:nvSpPr>
          <p:cNvPr id="16" name="Text 11"/>
          <p:cNvSpPr txBox="1"/>
          <p:nvPr/>
        </p:nvSpPr>
        <p:spPr>
          <a:xfrm>
            <a:off x="822960" y="5852160"/>
            <a:ext cx="10515600" cy="320040"/>
          </a:xfrm>
          <a:prstGeom prst="rect">
            <a:avLst/>
          </a:prstGeom>
          <a:noFill/>
          <a:ln/>
        </p:spPr>
        <p:txBody>
          <a:bodyPr wrap="square" lIns="0" tIns="0" rIns="0" bIns="0" rtlCol="0" anchor="ctr"/>
          <a:lstStyle/>
          <a:p>
            <a:pPr indent="0" marL="0">
              <a:buNone/>
            </a:pPr>
            <a:r>
              <a:rPr lang="en-US" sz="1200" dirty="0">
                <a:solidFill>
                  <a:srgbClr val="62746D"/>
                </a:solidFill>
                <a:latin typeface="Apple SD Gothic Neo" pitchFamily="34" charset="0"/>
                <a:ea typeface="Apple SD Gothic Neo" pitchFamily="34" charset="-122"/>
                <a:cs typeface="Apple SD Gothic Neo" pitchFamily="34" charset="-120"/>
              </a:rPr>
              <a:t>소규모 자체 평가  |  Ollama 최신 비교: 작성 시도 1.0 → 1.0회, 42.6 → 43.3초 — 속도 향상 주장 안 함</a:t>
            </a:r>
            <a:endParaRPr lang="en-US" sz="1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9144000" cy="274320"/>
          </a:xfrm>
          <a:prstGeom prst="rect">
            <a:avLst/>
          </a:prstGeom>
          <a:noFill/>
        </p:spPr>
        <p:txBody>
          <a:bodyPr wrap="square" lIns="0" rIns="0" tIns="0" bIns="0">
            <a:spAutoFit/>
          </a:bodyPr>
          <a:lstStyle/>
          <a:p>
            <a:r>
              <a:rPr sz="1100" b="1">
                <a:solidFill>
                  <a:srgbClr val="16785C"/>
                </a:solidFill>
                <a:latin typeface="Apple SD Gothic Neo"/>
              </a:rPr>
              <a:t>08  비용·성능 측정과 기술 선택</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r>
              <a:rPr sz="3200" b="1">
                <a:solidFill>
                  <a:srgbClr val="19382F"/>
                </a:solidFill>
                <a:latin typeface="Apple SD Gothic Neo"/>
              </a:rPr>
              <a:t>측정 결과 및 기술 선택 근거</a:t>
            </a:r>
          </a:p>
        </p:txBody>
      </p:sp>
      <p:sp>
        <p:nvSpPr>
          <p:cNvPr id="4" name="TextBox 3"/>
          <p:cNvSpPr txBox="1"/>
          <p:nvPr/>
        </p:nvSpPr>
        <p:spPr>
          <a:xfrm>
            <a:off x="640080" y="1645920"/>
            <a:ext cx="5212080" cy="274320"/>
          </a:xfrm>
          <a:prstGeom prst="rect">
            <a:avLst/>
          </a:prstGeom>
          <a:noFill/>
        </p:spPr>
        <p:txBody>
          <a:bodyPr wrap="square" lIns="0" rIns="0" tIns="0" bIns="0">
            <a:spAutoFit/>
          </a:bodyPr>
          <a:lstStyle/>
          <a:p>
            <a:r>
              <a:rPr sz="1400" b="1">
                <a:solidFill>
                  <a:srgbClr val="62746D"/>
                </a:solidFill>
                <a:latin typeface="Apple SD Gothic Neo"/>
              </a:rPr>
              <a:t>측정 결과 (전 → 후)</a:t>
            </a:r>
          </a:p>
        </p:txBody>
      </p:sp>
      <p:sp>
        <p:nvSpPr>
          <p:cNvPr id="5" name="TextBox 4"/>
          <p:cNvSpPr txBox="1"/>
          <p:nvPr/>
        </p:nvSpPr>
        <p:spPr>
          <a:xfrm>
            <a:off x="6309360" y="1645920"/>
            <a:ext cx="5212080" cy="274320"/>
          </a:xfrm>
          <a:prstGeom prst="rect">
            <a:avLst/>
          </a:prstGeom>
          <a:noFill/>
        </p:spPr>
        <p:txBody>
          <a:bodyPr wrap="square" lIns="0" rIns="0" tIns="0" bIns="0">
            <a:spAutoFit/>
          </a:bodyPr>
          <a:lstStyle/>
          <a:p>
            <a:r>
              <a:rPr sz="1400" b="1">
                <a:solidFill>
                  <a:srgbClr val="62746D"/>
                </a:solidFill>
                <a:latin typeface="Apple SD Gothic Neo"/>
              </a:rPr>
              <a:t>기술 선택 이유와 한계</a:t>
            </a:r>
          </a:p>
        </p:txBody>
      </p:sp>
      <p:sp>
        <p:nvSpPr>
          <p:cNvPr id="8" name="TextBox 7"/>
          <p:cNvSpPr txBox="1"/>
          <p:nvPr/>
        </p:nvSpPr>
        <p:spPr>
          <a:xfrm>
            <a:off x="640080" y="1645920"/>
            <a:ext cx="5212080" cy="274320"/>
          </a:xfrm>
          <a:prstGeom prst="rect">
            <a:avLst/>
          </a:prstGeom>
          <a:noFill/>
        </p:spPr>
        <p:txBody>
          <a:bodyPr wrap="square" lIns="0" rIns="0" tIns="0" bIns="0">
            <a:spAutoFit/>
          </a:bodyPr>
          <a:lstStyle/>
          <a:p>
            <a:r>
              <a:rPr sz="1400" b="1">
                <a:solidFill>
                  <a:srgbClr val="62746D"/>
                </a:solidFill>
                <a:latin typeface="Apple SD Gothic Neo"/>
              </a:rPr>
              <a:t>측정 결과 (전 → 후)</a:t>
            </a:r>
          </a:p>
        </p:txBody>
      </p:sp>
      <p:sp>
        <p:nvSpPr>
          <p:cNvPr id="9" name="TextBox 8"/>
          <p:cNvSpPr txBox="1"/>
          <p:nvPr/>
        </p:nvSpPr>
        <p:spPr>
          <a:xfrm>
            <a:off x="6309360" y="1645920"/>
            <a:ext cx="5212080" cy="274320"/>
          </a:xfrm>
          <a:prstGeom prst="rect">
            <a:avLst/>
          </a:prstGeom>
          <a:noFill/>
        </p:spPr>
        <p:txBody>
          <a:bodyPr wrap="square" lIns="0" rIns="0" tIns="0" bIns="0">
            <a:spAutoFit/>
          </a:bodyPr>
          <a:lstStyle/>
          <a:p>
            <a:r>
              <a:rPr sz="1400" b="1">
                <a:solidFill>
                  <a:srgbClr val="62746D"/>
                </a:solidFill>
                <a:latin typeface="Apple SD Gothic Neo"/>
              </a:rPr>
              <a:t>기술 선택 이유와 한계</a:t>
            </a:r>
          </a:p>
        </p:txBody>
      </p:sp>
      <p:sp>
        <p:nvSpPr>
          <p:cNvPr id="10" name="TextBox 9"/>
          <p:cNvSpPr txBox="1"/>
          <p:nvPr/>
        </p:nvSpPr>
        <p:spPr>
          <a:xfrm>
            <a:off x="594360" y="6473952"/>
            <a:ext cx="7315200" cy="164592"/>
          </a:xfrm>
          <a:prstGeom prst="rect">
            <a:avLst/>
          </a:prstGeom>
          <a:noFill/>
        </p:spPr>
        <p:txBody>
          <a:bodyPr wrap="square" lIns="0" rIns="0" tIns="0" bIns="0">
            <a:spAutoFit/>
          </a:bodyPr>
          <a:lstStyle/>
          <a:p>
            <a:r>
              <a:rPr sz="900" b="0">
                <a:solidFill>
                  <a:srgbClr val="62746D"/>
                </a:solidFill>
                <a:latin typeface="Apple SD Gothic Neo"/>
              </a:rPr>
              <a:t>AI CAPSTONE  ·  김하연</a:t>
            </a:r>
          </a:p>
        </p:txBody>
      </p:sp>
      <p:sp>
        <p:nvSpPr>
          <p:cNvPr id="11" name="TextBox 10"/>
          <p:cNvSpPr txBox="1"/>
          <p:nvPr/>
        </p:nvSpPr>
        <p:spPr>
          <a:xfrm>
            <a:off x="10835640" y="6473952"/>
            <a:ext cx="777240" cy="164592"/>
          </a:xfrm>
          <a:prstGeom prst="rect">
            <a:avLst/>
          </a:prstGeom>
          <a:noFill/>
        </p:spPr>
        <p:txBody>
          <a:bodyPr wrap="square" lIns="0" rIns="0" tIns="0" bIns="0">
            <a:spAutoFit/>
          </a:bodyPr>
          <a:lstStyle/>
          <a:p>
            <a:r>
              <a:rPr sz="900" b="0">
                <a:solidFill>
                  <a:srgbClr val="62746D"/>
                </a:solidFill>
                <a:latin typeface="Apple SD Gothic Neo"/>
              </a:rPr>
              <a:t>09 / 10</a:t>
            </a:r>
          </a:p>
        </p:txBody>
      </p:sp>
      <p:sp>
        <p:nvSpPr>
          <p:cNvPr id="12" name="TextBox 11"/>
          <p:cNvSpPr txBox="1"/>
          <p:nvPr/>
        </p:nvSpPr>
        <p:spPr>
          <a:xfrm>
            <a:off x="640080" y="1645920"/>
            <a:ext cx="5212080" cy="274320"/>
          </a:xfrm>
          <a:prstGeom prst="rect">
            <a:avLst/>
          </a:prstGeom>
          <a:noFill/>
        </p:spPr>
        <p:txBody>
          <a:bodyPr wrap="square" lIns="0" rIns="0" tIns="0" bIns="0">
            <a:spAutoFit/>
          </a:bodyPr>
          <a:lstStyle/>
          <a:p>
            <a:r>
              <a:rPr sz="1400" b="1">
                <a:solidFill>
                  <a:srgbClr val="62746D"/>
                </a:solidFill>
                <a:latin typeface="Apple SD Gothic Neo"/>
              </a:rPr>
              <a:t>측정 결과 (전 → 후)</a:t>
            </a:r>
          </a:p>
        </p:txBody>
      </p:sp>
      <p:sp>
        <p:nvSpPr>
          <p:cNvPr id="13" name="TextBox 12"/>
          <p:cNvSpPr txBox="1"/>
          <p:nvPr/>
        </p:nvSpPr>
        <p:spPr>
          <a:xfrm>
            <a:off x="6309360" y="1645920"/>
            <a:ext cx="5212080" cy="274320"/>
          </a:xfrm>
          <a:prstGeom prst="rect">
            <a:avLst/>
          </a:prstGeom>
          <a:noFill/>
        </p:spPr>
        <p:txBody>
          <a:bodyPr wrap="square" lIns="0" rIns="0" tIns="0" bIns="0">
            <a:spAutoFit/>
          </a:bodyPr>
          <a:lstStyle/>
          <a:p>
            <a:r>
              <a:rPr sz="1400" b="1">
                <a:solidFill>
                  <a:srgbClr val="62746D"/>
                </a:solidFill>
                <a:latin typeface="Apple SD Gothic Neo"/>
              </a:rPr>
              <a:t>기술 선택 이유와 한계</a:t>
            </a:r>
          </a:p>
        </p:txBody>
      </p:sp>
      <p:sp>
        <p:nvSpPr>
          <p:cNvPr id="14" name="TextBox 13"/>
          <p:cNvSpPr txBox="1"/>
          <p:nvPr/>
        </p:nvSpPr>
        <p:spPr>
          <a:xfrm>
            <a:off x="640080" y="1965960"/>
            <a:ext cx="3657600" cy="274320"/>
          </a:xfrm>
          <a:prstGeom prst="rect">
            <a:avLst/>
          </a:prstGeom>
          <a:noFill/>
        </p:spPr>
        <p:txBody>
          <a:bodyPr wrap="square" lIns="0" rIns="0" tIns="0" bIns="0">
            <a:spAutoFit/>
          </a:bodyPr>
          <a:lstStyle/>
          <a:p>
            <a:r>
              <a:rPr sz="1400" b="1">
                <a:solidFill>
                  <a:srgbClr val="16785C"/>
                </a:solidFill>
                <a:latin typeface="Apple SD Gothic Neo"/>
              </a:rPr>
              <a:t>작성 모델 호출 생략 (근거 0건)</a:t>
            </a:r>
          </a:p>
        </p:txBody>
      </p:sp>
      <p:sp>
        <p:nvSpPr>
          <p:cNvPr id="15" name="Rounded Rectangle 14"/>
          <p:cNvSpPr/>
          <p:nvPr/>
        </p:nvSpPr>
        <p:spPr>
          <a:xfrm>
            <a:off x="4343400" y="1938528"/>
            <a:ext cx="1508760" cy="292608"/>
          </a:xfrm>
          <a:prstGeom prst="roundRect">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16785C"/>
                </a:solidFill>
                <a:latin typeface="Apple SD Gothic Neo"/>
              </a:rPr>
              <a:t>13배 이상 단축</a:t>
            </a:r>
          </a:p>
        </p:txBody>
      </p:sp>
      <p:sp>
        <p:nvSpPr>
          <p:cNvPr id="16" name="TextBox 15"/>
          <p:cNvSpPr txBox="1"/>
          <p:nvPr/>
        </p:nvSpPr>
        <p:spPr>
          <a:xfrm>
            <a:off x="640080" y="2313432"/>
            <a:ext cx="320040" cy="274320"/>
          </a:xfrm>
          <a:prstGeom prst="rect">
            <a:avLst/>
          </a:prstGeom>
          <a:noFill/>
        </p:spPr>
        <p:txBody>
          <a:bodyPr wrap="square" lIns="0" rIns="0" tIns="0" bIns="0" anchor="ctr">
            <a:spAutoFit/>
          </a:bodyPr>
          <a:lstStyle/>
          <a:p>
            <a:r>
              <a:rPr sz="1200" b="1">
                <a:solidFill>
                  <a:srgbClr val="62746D"/>
                </a:solidFill>
                <a:latin typeface="Apple SD Gothic Neo"/>
              </a:rPr>
              <a:t>전</a:t>
            </a:r>
          </a:p>
        </p:txBody>
      </p:sp>
      <p:sp>
        <p:nvSpPr>
          <p:cNvPr id="17" name="Rectangle 16"/>
          <p:cNvSpPr/>
          <p:nvPr/>
        </p:nvSpPr>
        <p:spPr>
          <a:xfrm>
            <a:off x="1005840" y="2313432"/>
            <a:ext cx="2743200" cy="274320"/>
          </a:xfrm>
          <a:prstGeom prst="rect">
            <a:avLst/>
          </a:prstGeom>
          <a:solidFill>
            <a:srgbClr val="B7C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58768" y="2313432"/>
            <a:ext cx="1737360" cy="274320"/>
          </a:xfrm>
          <a:prstGeom prst="rect">
            <a:avLst/>
          </a:prstGeom>
          <a:noFill/>
        </p:spPr>
        <p:txBody>
          <a:bodyPr wrap="square" lIns="0" rIns="0" tIns="0" bIns="0" anchor="ctr">
            <a:spAutoFit/>
          </a:bodyPr>
          <a:lstStyle/>
          <a:p>
            <a:r>
              <a:rPr sz="1500" b="1">
                <a:solidFill>
                  <a:srgbClr val="19382F"/>
                </a:solidFill>
                <a:latin typeface="Apple SD Gothic Neo"/>
              </a:rPr>
              <a:t>36.6초</a:t>
            </a:r>
          </a:p>
        </p:txBody>
      </p:sp>
      <p:sp>
        <p:nvSpPr>
          <p:cNvPr id="19" name="TextBox 18"/>
          <p:cNvSpPr txBox="1"/>
          <p:nvPr/>
        </p:nvSpPr>
        <p:spPr>
          <a:xfrm>
            <a:off x="640080" y="2660903"/>
            <a:ext cx="320040" cy="274320"/>
          </a:xfrm>
          <a:prstGeom prst="rect">
            <a:avLst/>
          </a:prstGeom>
          <a:noFill/>
        </p:spPr>
        <p:txBody>
          <a:bodyPr wrap="square" lIns="0" rIns="0" tIns="0" bIns="0" anchor="ctr">
            <a:spAutoFit/>
          </a:bodyPr>
          <a:lstStyle/>
          <a:p>
            <a:r>
              <a:rPr sz="1200" b="1">
                <a:solidFill>
                  <a:srgbClr val="62746D"/>
                </a:solidFill>
                <a:latin typeface="Apple SD Gothic Neo"/>
              </a:rPr>
              <a:t>후</a:t>
            </a:r>
          </a:p>
        </p:txBody>
      </p:sp>
      <p:sp>
        <p:nvSpPr>
          <p:cNvPr id="20" name="Rectangle 19"/>
          <p:cNvSpPr/>
          <p:nvPr/>
        </p:nvSpPr>
        <p:spPr>
          <a:xfrm>
            <a:off x="1005840" y="2660903"/>
            <a:ext cx="202367" cy="274320"/>
          </a:xfrm>
          <a:prstGeom prst="rect">
            <a:avLst/>
          </a:prstGeom>
          <a:solidFill>
            <a:srgbClr val="2E9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17935" y="2660903"/>
            <a:ext cx="1737360" cy="274320"/>
          </a:xfrm>
          <a:prstGeom prst="rect">
            <a:avLst/>
          </a:prstGeom>
          <a:noFill/>
        </p:spPr>
        <p:txBody>
          <a:bodyPr wrap="square" lIns="0" rIns="0" tIns="0" bIns="0" anchor="ctr">
            <a:spAutoFit/>
          </a:bodyPr>
          <a:lstStyle/>
          <a:p>
            <a:r>
              <a:rPr sz="1500" b="1">
                <a:solidFill>
                  <a:srgbClr val="19382F"/>
                </a:solidFill>
                <a:latin typeface="Apple SD Gothic Neo"/>
              </a:rPr>
              <a:t>1.2~2.7초</a:t>
            </a:r>
          </a:p>
        </p:txBody>
      </p:sp>
      <p:sp>
        <p:nvSpPr>
          <p:cNvPr id="22" name="TextBox 21"/>
          <p:cNvSpPr txBox="1"/>
          <p:nvPr/>
        </p:nvSpPr>
        <p:spPr>
          <a:xfrm>
            <a:off x="640080" y="2990088"/>
            <a:ext cx="5212080" cy="182880"/>
          </a:xfrm>
          <a:prstGeom prst="rect">
            <a:avLst/>
          </a:prstGeom>
          <a:noFill/>
        </p:spPr>
        <p:txBody>
          <a:bodyPr wrap="square" lIns="0" rIns="0" tIns="0" bIns="0">
            <a:spAutoFit/>
          </a:bodyPr>
          <a:lstStyle/>
          <a:p>
            <a:r>
              <a:rPr sz="1100" b="0">
                <a:solidFill>
                  <a:srgbClr val="62746D"/>
                </a:solidFill>
                <a:latin typeface="Apple SD Gothic Neo"/>
              </a:rPr>
              <a:t>단일 질문 실측 · 작성 호출 1회 → 0회</a:t>
            </a:r>
          </a:p>
        </p:txBody>
      </p:sp>
      <p:sp>
        <p:nvSpPr>
          <p:cNvPr id="23" name="TextBox 22"/>
          <p:cNvSpPr txBox="1"/>
          <p:nvPr/>
        </p:nvSpPr>
        <p:spPr>
          <a:xfrm>
            <a:off x="640080" y="3246120"/>
            <a:ext cx="3657600" cy="274320"/>
          </a:xfrm>
          <a:prstGeom prst="rect">
            <a:avLst/>
          </a:prstGeom>
          <a:noFill/>
        </p:spPr>
        <p:txBody>
          <a:bodyPr wrap="square" lIns="0" rIns="0" tIns="0" bIns="0">
            <a:spAutoFit/>
          </a:bodyPr>
          <a:lstStyle/>
          <a:p>
            <a:r>
              <a:rPr sz="1400" b="1">
                <a:solidFill>
                  <a:srgbClr val="16785C"/>
                </a:solidFill>
                <a:latin typeface="Apple SD Gothic Neo"/>
              </a:rPr>
              <a:t>병렬 조사 (모니터링 3건)</a:t>
            </a:r>
          </a:p>
        </p:txBody>
      </p:sp>
      <p:sp>
        <p:nvSpPr>
          <p:cNvPr id="24" name="Rounded Rectangle 23"/>
          <p:cNvSpPr/>
          <p:nvPr/>
        </p:nvSpPr>
        <p:spPr>
          <a:xfrm>
            <a:off x="4343400" y="3218688"/>
            <a:ext cx="1508760" cy="292608"/>
          </a:xfrm>
          <a:prstGeom prst="roundRect">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16785C"/>
                </a:solidFill>
                <a:latin typeface="Apple SD Gothic Neo"/>
              </a:rPr>
              <a:t>약 2.9배 단축</a:t>
            </a:r>
          </a:p>
        </p:txBody>
      </p:sp>
      <p:sp>
        <p:nvSpPr>
          <p:cNvPr id="25" name="TextBox 24"/>
          <p:cNvSpPr txBox="1"/>
          <p:nvPr/>
        </p:nvSpPr>
        <p:spPr>
          <a:xfrm>
            <a:off x="640080" y="3593591"/>
            <a:ext cx="320040" cy="274320"/>
          </a:xfrm>
          <a:prstGeom prst="rect">
            <a:avLst/>
          </a:prstGeom>
          <a:noFill/>
        </p:spPr>
        <p:txBody>
          <a:bodyPr wrap="square" lIns="0" rIns="0" tIns="0" bIns="0" anchor="ctr">
            <a:spAutoFit/>
          </a:bodyPr>
          <a:lstStyle/>
          <a:p>
            <a:r>
              <a:rPr sz="1200" b="1">
                <a:solidFill>
                  <a:srgbClr val="62746D"/>
                </a:solidFill>
                <a:latin typeface="Apple SD Gothic Neo"/>
              </a:rPr>
              <a:t>전</a:t>
            </a:r>
          </a:p>
        </p:txBody>
      </p:sp>
      <p:sp>
        <p:nvSpPr>
          <p:cNvPr id="26" name="Rectangle 25"/>
          <p:cNvSpPr/>
          <p:nvPr/>
        </p:nvSpPr>
        <p:spPr>
          <a:xfrm>
            <a:off x="1005840" y="3593591"/>
            <a:ext cx="2743200" cy="274320"/>
          </a:xfrm>
          <a:prstGeom prst="rect">
            <a:avLst/>
          </a:prstGeom>
          <a:solidFill>
            <a:srgbClr val="B7C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58768" y="3593591"/>
            <a:ext cx="1737360" cy="274320"/>
          </a:xfrm>
          <a:prstGeom prst="rect">
            <a:avLst/>
          </a:prstGeom>
          <a:noFill/>
        </p:spPr>
        <p:txBody>
          <a:bodyPr wrap="square" lIns="0" rIns="0" tIns="0" bIns="0" anchor="ctr">
            <a:spAutoFit/>
          </a:bodyPr>
          <a:lstStyle/>
          <a:p>
            <a:r>
              <a:rPr sz="1500" b="1">
                <a:solidFill>
                  <a:srgbClr val="19382F"/>
                </a:solidFill>
                <a:latin typeface="Apple SD Gothic Neo"/>
              </a:rPr>
              <a:t>1.07초</a:t>
            </a:r>
          </a:p>
        </p:txBody>
      </p:sp>
      <p:sp>
        <p:nvSpPr>
          <p:cNvPr id="28" name="TextBox 27"/>
          <p:cNvSpPr txBox="1"/>
          <p:nvPr/>
        </p:nvSpPr>
        <p:spPr>
          <a:xfrm>
            <a:off x="640080" y="3941063"/>
            <a:ext cx="320040" cy="274320"/>
          </a:xfrm>
          <a:prstGeom prst="rect">
            <a:avLst/>
          </a:prstGeom>
          <a:noFill/>
        </p:spPr>
        <p:txBody>
          <a:bodyPr wrap="square" lIns="0" rIns="0" tIns="0" bIns="0" anchor="ctr">
            <a:spAutoFit/>
          </a:bodyPr>
          <a:lstStyle/>
          <a:p>
            <a:r>
              <a:rPr sz="1200" b="1">
                <a:solidFill>
                  <a:srgbClr val="62746D"/>
                </a:solidFill>
                <a:latin typeface="Apple SD Gothic Neo"/>
              </a:rPr>
              <a:t>후</a:t>
            </a:r>
          </a:p>
        </p:txBody>
      </p:sp>
      <p:sp>
        <p:nvSpPr>
          <p:cNvPr id="29" name="Rectangle 28"/>
          <p:cNvSpPr/>
          <p:nvPr/>
        </p:nvSpPr>
        <p:spPr>
          <a:xfrm>
            <a:off x="1005840" y="3941063"/>
            <a:ext cx="922945" cy="274320"/>
          </a:xfrm>
          <a:prstGeom prst="rect">
            <a:avLst/>
          </a:prstGeom>
          <a:solidFill>
            <a:srgbClr val="2E9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8513" y="3941063"/>
            <a:ext cx="1737360" cy="274320"/>
          </a:xfrm>
          <a:prstGeom prst="rect">
            <a:avLst/>
          </a:prstGeom>
          <a:noFill/>
        </p:spPr>
        <p:txBody>
          <a:bodyPr wrap="square" lIns="0" rIns="0" tIns="0" bIns="0" anchor="ctr">
            <a:spAutoFit/>
          </a:bodyPr>
          <a:lstStyle/>
          <a:p>
            <a:r>
              <a:rPr sz="1500" b="1">
                <a:solidFill>
                  <a:srgbClr val="19382F"/>
                </a:solidFill>
                <a:latin typeface="Apple SD Gothic Neo"/>
              </a:rPr>
              <a:t>0.36초</a:t>
            </a:r>
          </a:p>
        </p:txBody>
      </p:sp>
      <p:sp>
        <p:nvSpPr>
          <p:cNvPr id="31" name="TextBox 30"/>
          <p:cNvSpPr txBox="1"/>
          <p:nvPr/>
        </p:nvSpPr>
        <p:spPr>
          <a:xfrm>
            <a:off x="640080" y="4270248"/>
            <a:ext cx="5212080" cy="182880"/>
          </a:xfrm>
          <a:prstGeom prst="rect">
            <a:avLst/>
          </a:prstGeom>
          <a:noFill/>
        </p:spPr>
        <p:txBody>
          <a:bodyPr wrap="square" lIns="0" rIns="0" tIns="0" bIns="0">
            <a:spAutoFit/>
          </a:bodyPr>
          <a:lstStyle/>
          <a:p>
            <a:r>
              <a:rPr sz="1100" b="0">
                <a:solidFill>
                  <a:srgbClr val="62746D"/>
                </a:solidFill>
                <a:latin typeface="Apple SD Gothic Neo"/>
              </a:rPr>
              <a:t>제공 구조 측정 · 작업당 0.35초는 모의 지연</a:t>
            </a:r>
          </a:p>
        </p:txBody>
      </p:sp>
      <p:sp>
        <p:nvSpPr>
          <p:cNvPr id="32" name="TextBox 31"/>
          <p:cNvSpPr txBox="1"/>
          <p:nvPr/>
        </p:nvSpPr>
        <p:spPr>
          <a:xfrm>
            <a:off x="640080" y="4526279"/>
            <a:ext cx="3657600" cy="274320"/>
          </a:xfrm>
          <a:prstGeom prst="rect">
            <a:avLst/>
          </a:prstGeom>
          <a:noFill/>
        </p:spPr>
        <p:txBody>
          <a:bodyPr wrap="square" lIns="0" rIns="0" tIns="0" bIns="0">
            <a:spAutoFit/>
          </a:bodyPr>
          <a:lstStyle/>
          <a:p>
            <a:r>
              <a:rPr sz="1400" b="1">
                <a:solidFill>
                  <a:srgbClr val="16785C"/>
                </a:solidFill>
                <a:latin typeface="Apple SD Gothic Neo"/>
              </a:rPr>
              <a:t>모델 분리 비용 (fast/quality)</a:t>
            </a:r>
          </a:p>
        </p:txBody>
      </p:sp>
      <p:sp>
        <p:nvSpPr>
          <p:cNvPr id="33" name="Rounded Rectangle 32"/>
          <p:cNvSpPr/>
          <p:nvPr/>
        </p:nvSpPr>
        <p:spPr>
          <a:xfrm>
            <a:off x="4343400" y="4498847"/>
            <a:ext cx="1508760" cy="292608"/>
          </a:xfrm>
          <a:prstGeom prst="roundRect">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16785C"/>
                </a:solidFill>
                <a:latin typeface="Apple SD Gothic Neo"/>
              </a:rPr>
              <a:t>약 59% 절감</a:t>
            </a:r>
          </a:p>
        </p:txBody>
      </p:sp>
      <p:sp>
        <p:nvSpPr>
          <p:cNvPr id="34" name="TextBox 33"/>
          <p:cNvSpPr txBox="1"/>
          <p:nvPr/>
        </p:nvSpPr>
        <p:spPr>
          <a:xfrm>
            <a:off x="640080" y="4873751"/>
            <a:ext cx="320040" cy="274320"/>
          </a:xfrm>
          <a:prstGeom prst="rect">
            <a:avLst/>
          </a:prstGeom>
          <a:noFill/>
        </p:spPr>
        <p:txBody>
          <a:bodyPr wrap="square" lIns="0" rIns="0" tIns="0" bIns="0" anchor="ctr">
            <a:spAutoFit/>
          </a:bodyPr>
          <a:lstStyle/>
          <a:p>
            <a:r>
              <a:rPr sz="1200" b="1">
                <a:solidFill>
                  <a:srgbClr val="62746D"/>
                </a:solidFill>
                <a:latin typeface="Apple SD Gothic Neo"/>
              </a:rPr>
              <a:t>전</a:t>
            </a:r>
          </a:p>
        </p:txBody>
      </p:sp>
      <p:sp>
        <p:nvSpPr>
          <p:cNvPr id="35" name="Rectangle 34"/>
          <p:cNvSpPr/>
          <p:nvPr/>
        </p:nvSpPr>
        <p:spPr>
          <a:xfrm>
            <a:off x="1005840" y="4873751"/>
            <a:ext cx="2743200" cy="274320"/>
          </a:xfrm>
          <a:prstGeom prst="rect">
            <a:avLst/>
          </a:prstGeom>
          <a:solidFill>
            <a:srgbClr val="B7C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8768" y="4873751"/>
            <a:ext cx="1737360" cy="274320"/>
          </a:xfrm>
          <a:prstGeom prst="rect">
            <a:avLst/>
          </a:prstGeom>
          <a:noFill/>
        </p:spPr>
        <p:txBody>
          <a:bodyPr wrap="square" lIns="0" rIns="0" tIns="0" bIns="0" anchor="ctr">
            <a:spAutoFit/>
          </a:bodyPr>
          <a:lstStyle/>
          <a:p>
            <a:r>
              <a:rPr sz="1500" b="1">
                <a:solidFill>
                  <a:srgbClr val="19382F"/>
                </a:solidFill>
                <a:latin typeface="Apple SD Gothic Neo"/>
              </a:rPr>
              <a:t>$0.0067</a:t>
            </a:r>
          </a:p>
        </p:txBody>
      </p:sp>
      <p:sp>
        <p:nvSpPr>
          <p:cNvPr id="37" name="TextBox 36"/>
          <p:cNvSpPr txBox="1"/>
          <p:nvPr/>
        </p:nvSpPr>
        <p:spPr>
          <a:xfrm>
            <a:off x="640080" y="5221223"/>
            <a:ext cx="320040" cy="274320"/>
          </a:xfrm>
          <a:prstGeom prst="rect">
            <a:avLst/>
          </a:prstGeom>
          <a:noFill/>
        </p:spPr>
        <p:txBody>
          <a:bodyPr wrap="square" lIns="0" rIns="0" tIns="0" bIns="0" anchor="ctr">
            <a:spAutoFit/>
          </a:bodyPr>
          <a:lstStyle/>
          <a:p>
            <a:r>
              <a:rPr sz="1200" b="1">
                <a:solidFill>
                  <a:srgbClr val="62746D"/>
                </a:solidFill>
                <a:latin typeface="Apple SD Gothic Neo"/>
              </a:rPr>
              <a:t>후</a:t>
            </a:r>
          </a:p>
        </p:txBody>
      </p:sp>
      <p:sp>
        <p:nvSpPr>
          <p:cNvPr id="38" name="Rectangle 37"/>
          <p:cNvSpPr/>
          <p:nvPr/>
        </p:nvSpPr>
        <p:spPr>
          <a:xfrm>
            <a:off x="1005840" y="5221223"/>
            <a:ext cx="1131004" cy="274320"/>
          </a:xfrm>
          <a:prstGeom prst="rect">
            <a:avLst/>
          </a:prstGeom>
          <a:solidFill>
            <a:srgbClr val="2E9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46572" y="5221223"/>
            <a:ext cx="1737360" cy="274320"/>
          </a:xfrm>
          <a:prstGeom prst="rect">
            <a:avLst/>
          </a:prstGeom>
          <a:noFill/>
        </p:spPr>
        <p:txBody>
          <a:bodyPr wrap="square" lIns="0" rIns="0" tIns="0" bIns="0" anchor="ctr">
            <a:spAutoFit/>
          </a:bodyPr>
          <a:lstStyle/>
          <a:p>
            <a:r>
              <a:rPr sz="1500" b="1">
                <a:solidFill>
                  <a:srgbClr val="19382F"/>
                </a:solidFill>
                <a:latin typeface="Apple SD Gothic Neo"/>
              </a:rPr>
              <a:t>$0.0027</a:t>
            </a:r>
          </a:p>
        </p:txBody>
      </p:sp>
      <p:sp>
        <p:nvSpPr>
          <p:cNvPr id="40" name="TextBox 39"/>
          <p:cNvSpPr txBox="1"/>
          <p:nvPr/>
        </p:nvSpPr>
        <p:spPr>
          <a:xfrm>
            <a:off x="640080" y="5550407"/>
            <a:ext cx="5212080" cy="182880"/>
          </a:xfrm>
          <a:prstGeom prst="rect">
            <a:avLst/>
          </a:prstGeom>
          <a:noFill/>
        </p:spPr>
        <p:txBody>
          <a:bodyPr wrap="square" lIns="0" rIns="0" tIns="0" bIns="0">
            <a:spAutoFit/>
          </a:bodyPr>
          <a:lstStyle/>
          <a:p>
            <a:r>
              <a:rPr sz="1100" b="0">
                <a:solidFill>
                  <a:srgbClr val="62746D"/>
                </a:solidFill>
                <a:latin typeface="Apple SD Gothic Neo"/>
              </a:rPr>
              <a:t>글자 수 기반 추정 · 제공 구조 측정</a:t>
            </a:r>
          </a:p>
        </p:txBody>
      </p:sp>
      <p:sp>
        <p:nvSpPr>
          <p:cNvPr id="41" name="Rectangle 40"/>
          <p:cNvSpPr/>
          <p:nvPr/>
        </p:nvSpPr>
        <p:spPr>
          <a:xfrm>
            <a:off x="6309360" y="2011680"/>
            <a:ext cx="5212080" cy="329184"/>
          </a:xfrm>
          <a:prstGeom prst="rect">
            <a:avLst/>
          </a:prstGeom>
          <a:solidFill>
            <a:srgbClr val="1938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9088" y="2011680"/>
            <a:ext cx="1261872" cy="329184"/>
          </a:xfrm>
          <a:prstGeom prst="rect">
            <a:avLst/>
          </a:prstGeom>
          <a:noFill/>
        </p:spPr>
        <p:txBody>
          <a:bodyPr wrap="square" lIns="0" rIns="0" tIns="0" bIns="0" anchor="ctr">
            <a:spAutoFit/>
          </a:bodyPr>
          <a:lstStyle/>
          <a:p>
            <a:r>
              <a:rPr sz="1200" b="1">
                <a:solidFill>
                  <a:srgbClr val="FFFFFF"/>
                </a:solidFill>
                <a:latin typeface="Apple SD Gothic Neo"/>
              </a:rPr>
              <a:t>기술</a:t>
            </a:r>
          </a:p>
        </p:txBody>
      </p:sp>
      <p:sp>
        <p:nvSpPr>
          <p:cNvPr id="43" name="TextBox 42"/>
          <p:cNvSpPr txBox="1"/>
          <p:nvPr/>
        </p:nvSpPr>
        <p:spPr>
          <a:xfrm>
            <a:off x="7836407" y="2011680"/>
            <a:ext cx="1764791" cy="329184"/>
          </a:xfrm>
          <a:prstGeom prst="rect">
            <a:avLst/>
          </a:prstGeom>
          <a:noFill/>
        </p:spPr>
        <p:txBody>
          <a:bodyPr wrap="square" lIns="0" rIns="0" tIns="0" bIns="0" anchor="ctr">
            <a:spAutoFit/>
          </a:bodyPr>
          <a:lstStyle/>
          <a:p>
            <a:r>
              <a:rPr sz="1200" b="1">
                <a:solidFill>
                  <a:srgbClr val="FFFFFF"/>
                </a:solidFill>
                <a:latin typeface="Apple SD Gothic Neo"/>
              </a:rPr>
              <a:t>선택 이유</a:t>
            </a:r>
          </a:p>
        </p:txBody>
      </p:sp>
      <p:sp>
        <p:nvSpPr>
          <p:cNvPr id="44" name="TextBox 43"/>
          <p:cNvSpPr txBox="1"/>
          <p:nvPr/>
        </p:nvSpPr>
        <p:spPr>
          <a:xfrm>
            <a:off x="9756648" y="2011680"/>
            <a:ext cx="1764791" cy="329184"/>
          </a:xfrm>
          <a:prstGeom prst="rect">
            <a:avLst/>
          </a:prstGeom>
          <a:noFill/>
        </p:spPr>
        <p:txBody>
          <a:bodyPr wrap="square" lIns="0" rIns="0" tIns="0" bIns="0" anchor="ctr">
            <a:spAutoFit/>
          </a:bodyPr>
          <a:lstStyle/>
          <a:p>
            <a:r>
              <a:rPr sz="1200" b="1">
                <a:solidFill>
                  <a:srgbClr val="FFFFFF"/>
                </a:solidFill>
                <a:latin typeface="Apple SD Gothic Neo"/>
              </a:rPr>
              <a:t>한계</a:t>
            </a:r>
          </a:p>
        </p:txBody>
      </p:sp>
      <p:sp>
        <p:nvSpPr>
          <p:cNvPr id="45" name="Rectangle 44"/>
          <p:cNvSpPr/>
          <p:nvPr/>
        </p:nvSpPr>
        <p:spPr>
          <a:xfrm>
            <a:off x="6309360" y="2340864"/>
            <a:ext cx="5212080" cy="822960"/>
          </a:xfrm>
          <a:prstGeom prst="rect">
            <a:avLst/>
          </a:prstGeom>
          <a:solidFill>
            <a:srgbClr val="F4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9088" y="2340864"/>
            <a:ext cx="1188720" cy="822960"/>
          </a:xfrm>
          <a:prstGeom prst="rect">
            <a:avLst/>
          </a:prstGeom>
          <a:noFill/>
        </p:spPr>
        <p:txBody>
          <a:bodyPr wrap="square" lIns="0" rIns="0" tIns="0" bIns="0" anchor="ctr">
            <a:spAutoFit/>
          </a:bodyPr>
          <a:lstStyle/>
          <a:p>
            <a:r>
              <a:rPr sz="1500" b="1">
                <a:solidFill>
                  <a:srgbClr val="16785C"/>
                </a:solidFill>
                <a:latin typeface="Apple SD Gothic Neo"/>
              </a:rPr>
              <a:t>의미 기반 검색</a:t>
            </a:r>
          </a:p>
        </p:txBody>
      </p:sp>
      <p:sp>
        <p:nvSpPr>
          <p:cNvPr id="47" name="TextBox 46"/>
          <p:cNvSpPr txBox="1"/>
          <p:nvPr/>
        </p:nvSpPr>
        <p:spPr>
          <a:xfrm>
            <a:off x="7836407" y="2340864"/>
            <a:ext cx="1691639" cy="822960"/>
          </a:xfrm>
          <a:prstGeom prst="rect">
            <a:avLst/>
          </a:prstGeom>
          <a:noFill/>
        </p:spPr>
        <p:txBody>
          <a:bodyPr wrap="square" lIns="0" rIns="0" tIns="0" bIns="0" anchor="ctr">
            <a:spAutoFit/>
          </a:bodyPr>
          <a:lstStyle/>
          <a:p>
            <a:r>
              <a:rPr sz="1300" b="0">
                <a:solidFill>
                  <a:srgbClr val="19382F"/>
                </a:solidFill>
                <a:latin typeface="Apple SD Gothic Neo"/>
              </a:rPr>
              <a:t>키워드는 표현이 다르면 놓침</a:t>
            </a:r>
          </a:p>
        </p:txBody>
      </p:sp>
      <p:sp>
        <p:nvSpPr>
          <p:cNvPr id="48" name="TextBox 47"/>
          <p:cNvSpPr txBox="1"/>
          <p:nvPr/>
        </p:nvSpPr>
        <p:spPr>
          <a:xfrm>
            <a:off x="9756648" y="2340864"/>
            <a:ext cx="1691639" cy="822960"/>
          </a:xfrm>
          <a:prstGeom prst="rect">
            <a:avLst/>
          </a:prstGeom>
          <a:noFill/>
        </p:spPr>
        <p:txBody>
          <a:bodyPr wrap="square" lIns="0" rIns="0" tIns="0" bIns="0" anchor="ctr">
            <a:spAutoFit/>
          </a:bodyPr>
          <a:lstStyle/>
          <a:p>
            <a:r>
              <a:rPr sz="1300" b="0">
                <a:solidFill>
                  <a:srgbClr val="B6503E"/>
                </a:solidFill>
                <a:latin typeface="Apple SD Gothic Neo"/>
              </a:rPr>
              <a:t>임베딩 자원 · 지연</a:t>
            </a:r>
          </a:p>
        </p:txBody>
      </p:sp>
      <p:sp>
        <p:nvSpPr>
          <p:cNvPr id="49" name="Rectangle 48"/>
          <p:cNvSpPr/>
          <p:nvPr/>
        </p:nvSpPr>
        <p:spPr>
          <a:xfrm>
            <a:off x="6309360" y="3154680"/>
            <a:ext cx="521208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19088" y="3154680"/>
            <a:ext cx="1188720" cy="822960"/>
          </a:xfrm>
          <a:prstGeom prst="rect">
            <a:avLst/>
          </a:prstGeom>
          <a:noFill/>
        </p:spPr>
        <p:txBody>
          <a:bodyPr wrap="square" lIns="0" rIns="0" tIns="0" bIns="0" anchor="ctr">
            <a:spAutoFit/>
          </a:bodyPr>
          <a:lstStyle/>
          <a:p>
            <a:r>
              <a:rPr sz="1500" b="1">
                <a:solidFill>
                  <a:srgbClr val="16785C"/>
                </a:solidFill>
                <a:latin typeface="Apple SD Gothic Neo"/>
              </a:rPr>
              <a:t>규칙 기반 검증</a:t>
            </a:r>
          </a:p>
        </p:txBody>
      </p:sp>
      <p:sp>
        <p:nvSpPr>
          <p:cNvPr id="51" name="TextBox 50"/>
          <p:cNvSpPr txBox="1"/>
          <p:nvPr/>
        </p:nvSpPr>
        <p:spPr>
          <a:xfrm>
            <a:off x="7836407" y="3154680"/>
            <a:ext cx="1691639" cy="822960"/>
          </a:xfrm>
          <a:prstGeom prst="rect">
            <a:avLst/>
          </a:prstGeom>
          <a:noFill/>
        </p:spPr>
        <p:txBody>
          <a:bodyPr wrap="square" lIns="0" rIns="0" tIns="0" bIns="0" anchor="ctr">
            <a:spAutoFit/>
          </a:bodyPr>
          <a:lstStyle/>
          <a:p>
            <a:r>
              <a:rPr sz="1300" b="0">
                <a:solidFill>
                  <a:srgbClr val="19382F"/>
                </a:solidFill>
                <a:latin typeface="Apple SD Gothic Neo"/>
              </a:rPr>
              <a:t>판정이 명확 · 재현 가능</a:t>
            </a:r>
          </a:p>
        </p:txBody>
      </p:sp>
      <p:sp>
        <p:nvSpPr>
          <p:cNvPr id="52" name="TextBox 51"/>
          <p:cNvSpPr txBox="1"/>
          <p:nvPr/>
        </p:nvSpPr>
        <p:spPr>
          <a:xfrm>
            <a:off x="9756648" y="3154680"/>
            <a:ext cx="1691639" cy="822960"/>
          </a:xfrm>
          <a:prstGeom prst="rect">
            <a:avLst/>
          </a:prstGeom>
          <a:noFill/>
        </p:spPr>
        <p:txBody>
          <a:bodyPr wrap="square" lIns="0" rIns="0" tIns="0" bIns="0" anchor="ctr">
            <a:spAutoFit/>
          </a:bodyPr>
          <a:lstStyle/>
          <a:p>
            <a:r>
              <a:rPr sz="1300" b="0">
                <a:solidFill>
                  <a:srgbClr val="B6503E"/>
                </a:solidFill>
                <a:latin typeface="Apple SD Gothic Neo"/>
              </a:rPr>
              <a:t>새 표현 누락 가능</a:t>
            </a:r>
          </a:p>
        </p:txBody>
      </p:sp>
      <p:sp>
        <p:nvSpPr>
          <p:cNvPr id="53" name="Rectangle 52"/>
          <p:cNvSpPr/>
          <p:nvPr/>
        </p:nvSpPr>
        <p:spPr>
          <a:xfrm>
            <a:off x="6309360" y="3968496"/>
            <a:ext cx="5212080" cy="822960"/>
          </a:xfrm>
          <a:prstGeom prst="rect">
            <a:avLst/>
          </a:prstGeom>
          <a:solidFill>
            <a:srgbClr val="F4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19088" y="3968496"/>
            <a:ext cx="1188720" cy="822960"/>
          </a:xfrm>
          <a:prstGeom prst="rect">
            <a:avLst/>
          </a:prstGeom>
          <a:noFill/>
        </p:spPr>
        <p:txBody>
          <a:bodyPr wrap="square" lIns="0" rIns="0" tIns="0" bIns="0" anchor="ctr">
            <a:spAutoFit/>
          </a:bodyPr>
          <a:lstStyle/>
          <a:p>
            <a:r>
              <a:rPr sz="1500" b="1">
                <a:solidFill>
                  <a:srgbClr val="16785C"/>
                </a:solidFill>
                <a:latin typeface="Apple SD Gothic Neo"/>
              </a:rPr>
              <a:t>초안 비공개</a:t>
            </a:r>
          </a:p>
        </p:txBody>
      </p:sp>
      <p:sp>
        <p:nvSpPr>
          <p:cNvPr id="55" name="TextBox 54"/>
          <p:cNvSpPr txBox="1"/>
          <p:nvPr/>
        </p:nvSpPr>
        <p:spPr>
          <a:xfrm>
            <a:off x="7836407" y="3968496"/>
            <a:ext cx="1691639" cy="822960"/>
          </a:xfrm>
          <a:prstGeom prst="rect">
            <a:avLst/>
          </a:prstGeom>
          <a:noFill/>
        </p:spPr>
        <p:txBody>
          <a:bodyPr wrap="square" lIns="0" rIns="0" tIns="0" bIns="0" anchor="ctr">
            <a:spAutoFit/>
          </a:bodyPr>
          <a:lstStyle/>
          <a:p>
            <a:r>
              <a:rPr sz="1300" b="0">
                <a:solidFill>
                  <a:srgbClr val="19382F"/>
                </a:solidFill>
                <a:latin typeface="Apple SD Gothic Neo"/>
              </a:rPr>
              <a:t>틀린 수치 노출 방지</a:t>
            </a:r>
          </a:p>
        </p:txBody>
      </p:sp>
      <p:sp>
        <p:nvSpPr>
          <p:cNvPr id="56" name="TextBox 55"/>
          <p:cNvSpPr txBox="1"/>
          <p:nvPr/>
        </p:nvSpPr>
        <p:spPr>
          <a:xfrm>
            <a:off x="9756648" y="3968496"/>
            <a:ext cx="1691639" cy="822960"/>
          </a:xfrm>
          <a:prstGeom prst="rect">
            <a:avLst/>
          </a:prstGeom>
          <a:noFill/>
        </p:spPr>
        <p:txBody>
          <a:bodyPr wrap="square" lIns="0" rIns="0" tIns="0" bIns="0" anchor="ctr">
            <a:spAutoFit/>
          </a:bodyPr>
          <a:lstStyle/>
          <a:p>
            <a:r>
              <a:rPr sz="1300" b="0">
                <a:solidFill>
                  <a:srgbClr val="B6503E"/>
                </a:solidFill>
                <a:latin typeface="Apple SD Gothic Neo"/>
              </a:rPr>
              <a:t>답변 대기 · 토큰 스트리밍 포기</a:t>
            </a:r>
          </a:p>
        </p:txBody>
      </p:sp>
      <p:sp>
        <p:nvSpPr>
          <p:cNvPr id="57" name="Rectangle 56"/>
          <p:cNvSpPr/>
          <p:nvPr/>
        </p:nvSpPr>
        <p:spPr>
          <a:xfrm>
            <a:off x="6309360" y="4782312"/>
            <a:ext cx="521208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19088" y="4782312"/>
            <a:ext cx="1188720" cy="822960"/>
          </a:xfrm>
          <a:prstGeom prst="rect">
            <a:avLst/>
          </a:prstGeom>
          <a:noFill/>
        </p:spPr>
        <p:txBody>
          <a:bodyPr wrap="square" lIns="0" rIns="0" tIns="0" bIns="0" anchor="ctr">
            <a:spAutoFit/>
          </a:bodyPr>
          <a:lstStyle/>
          <a:p>
            <a:r>
              <a:rPr sz="1500" b="1">
                <a:solidFill>
                  <a:srgbClr val="16785C"/>
                </a:solidFill>
                <a:latin typeface="Apple SD Gothic Neo"/>
              </a:rPr>
              <a:t>서브그래프 · 모듈화</a:t>
            </a:r>
          </a:p>
        </p:txBody>
      </p:sp>
      <p:sp>
        <p:nvSpPr>
          <p:cNvPr id="59" name="TextBox 58"/>
          <p:cNvSpPr txBox="1"/>
          <p:nvPr/>
        </p:nvSpPr>
        <p:spPr>
          <a:xfrm>
            <a:off x="7836407" y="4782312"/>
            <a:ext cx="1691639" cy="822960"/>
          </a:xfrm>
          <a:prstGeom prst="rect">
            <a:avLst/>
          </a:prstGeom>
          <a:noFill/>
        </p:spPr>
        <p:txBody>
          <a:bodyPr wrap="square" lIns="0" rIns="0" tIns="0" bIns="0" anchor="ctr">
            <a:spAutoFit/>
          </a:bodyPr>
          <a:lstStyle/>
          <a:p>
            <a:r>
              <a:rPr sz="1300" b="0">
                <a:solidFill>
                  <a:srgbClr val="19382F"/>
                </a:solidFill>
                <a:latin typeface="Apple SD Gothic Neo"/>
              </a:rPr>
              <a:t>부분 실패 격리 · 테스트 용이</a:t>
            </a:r>
          </a:p>
        </p:txBody>
      </p:sp>
      <p:sp>
        <p:nvSpPr>
          <p:cNvPr id="60" name="TextBox 59"/>
          <p:cNvSpPr txBox="1"/>
          <p:nvPr/>
        </p:nvSpPr>
        <p:spPr>
          <a:xfrm>
            <a:off x="9756648" y="4782312"/>
            <a:ext cx="1691639" cy="822960"/>
          </a:xfrm>
          <a:prstGeom prst="rect">
            <a:avLst/>
          </a:prstGeom>
          <a:noFill/>
        </p:spPr>
        <p:txBody>
          <a:bodyPr wrap="square" lIns="0" rIns="0" tIns="0" bIns="0" anchor="ctr">
            <a:spAutoFit/>
          </a:bodyPr>
          <a:lstStyle/>
          <a:p>
            <a:r>
              <a:rPr sz="1300" b="0">
                <a:solidFill>
                  <a:srgbClr val="B6503E"/>
                </a:solidFill>
                <a:latin typeface="Apple SD Gothic Neo"/>
              </a:rPr>
              <a:t>속도 이득 없음</a:t>
            </a:r>
          </a:p>
        </p:txBody>
      </p:sp>
      <p:sp>
        <p:nvSpPr>
          <p:cNvPr id="61" name="Rectangle 60"/>
          <p:cNvSpPr/>
          <p:nvPr/>
        </p:nvSpPr>
        <p:spPr>
          <a:xfrm>
            <a:off x="6309360" y="5596128"/>
            <a:ext cx="5212080" cy="13716"/>
          </a:xfrm>
          <a:prstGeom prst="rect">
            <a:avLst/>
          </a:prstGeom>
          <a:solidFill>
            <a:srgbClr val="B7C4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40080" y="5852160"/>
            <a:ext cx="10881360" cy="411480"/>
          </a:xfrm>
          <a:prstGeom prst="rect">
            <a:avLst/>
          </a:prstGeom>
          <a:solidFill>
            <a:srgbClr val="EE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2960" y="5852160"/>
            <a:ext cx="10515600" cy="411480"/>
          </a:xfrm>
          <a:prstGeom prst="rect">
            <a:avLst/>
          </a:prstGeom>
          <a:noFill/>
        </p:spPr>
        <p:txBody>
          <a:bodyPr wrap="square" lIns="0" rIns="0" tIns="0" bIns="0" anchor="ctr">
            <a:spAutoFit/>
          </a:bodyPr>
          <a:lstStyle/>
          <a:p>
            <a:r>
              <a:rPr sz="1200" b="0">
                <a:solidFill>
                  <a:srgbClr val="62746D"/>
                </a:solidFill>
                <a:latin typeface="Apple SD Gothic Neo"/>
              </a:rPr>
              <a:t>비용은 글자 수 기반 추정  |  프롬프트 압축·요약은 미적용  |  fast/quality 모델 분리와 병렬 구조는 제공 기반을 측정한 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02F27"/>
        </a:solidFill>
      </p:bgPr>
    </p:bg>
    <p:spTree>
      <p:nvGrpSpPr>
        <p:cNvPr id="1" name=""/>
        <p:cNvGrpSpPr/>
        <p:nvPr/>
      </p:nvGrpSpPr>
      <p:grpSpPr>
        <a:xfrm>
          <a:off x="0" y="0"/>
          <a:ext cx="0" cy="0"/>
          <a:chOff x="0" y="0"/>
          <a:chExt cx="0" cy="0"/>
        </a:xfrm>
      </p:grpSpPr>
      <p:sp>
        <p:nvSpPr>
          <p:cNvPr id="2" name="Text 0"/>
          <p:cNvSpPr txBox="1"/>
          <p:nvPr/>
        </p:nvSpPr>
        <p:spPr>
          <a:xfrm>
            <a:off x="594360" y="320040"/>
            <a:ext cx="9144000" cy="274320"/>
          </a:xfrm>
          <a:prstGeom prst="rect">
            <a:avLst/>
          </a:prstGeom>
          <a:noFill/>
          <a:ln/>
        </p:spPr>
        <p:txBody>
          <a:bodyPr wrap="square" lIns="0" tIns="0" rIns="0" bIns="0" rtlCol="0" anchor="ctr"/>
          <a:lstStyle/>
          <a:p>
            <a:pPr indent="0" marL="0">
              <a:buNone/>
            </a:pPr>
            <a:r>
              <a:rPr lang="en-US" sz="1100" b="1" dirty="0">
                <a:solidFill>
                  <a:srgbClr val="A4DAC2"/>
                </a:solidFill>
                <a:latin typeface="Apple SD Gothic Neo" pitchFamily="34" charset="0"/>
                <a:ea typeface="Apple SD Gothic Neo" pitchFamily="34" charset="-122"/>
                <a:cs typeface="Apple SD Gothic Neo" pitchFamily="34" charset="-120"/>
              </a:rPr>
              <a:t>09  한계와 트레이드오프</a:t>
            </a:r>
            <a:endParaRPr lang="en-US" sz="1100" dirty="0"/>
          </a:p>
        </p:txBody>
      </p:sp>
      <p:sp>
        <p:nvSpPr>
          <p:cNvPr id="3" name="Text 1"/>
          <p:cNvSpPr txBox="1"/>
          <p:nvPr/>
        </p:nvSpPr>
        <p:spPr>
          <a:xfrm>
            <a:off x="594360" y="868680"/>
            <a:ext cx="10972800" cy="914400"/>
          </a:xfrm>
          <a:prstGeom prst="rect">
            <a:avLst/>
          </a:prstGeom>
          <a:noFill/>
          <a:ln/>
        </p:spPr>
        <p:txBody>
          <a:bodyPr wrap="square" lIns="0" tIns="0" rIns="0" bIns="0" rtlCol="0" anchor="ctr"/>
          <a:lstStyle/>
          <a:p>
            <a:pPr indent="0" marL="0">
              <a:buNone/>
            </a:pPr>
            <a:r>
              <a:rPr lang="en-US" sz="3200" b="1" dirty="0">
                <a:solidFill>
                  <a:srgbClr val="FFFFFF"/>
                </a:solidFill>
                <a:latin typeface="Apple SD Gothic Neo" pitchFamily="34" charset="0"/>
                <a:ea typeface="Apple SD Gothic Neo" pitchFamily="34" charset="-122"/>
                <a:cs typeface="Apple SD Gothic Neo" pitchFamily="34" charset="-120"/>
              </a:rPr>
              <a:t>검증 통과가 답변 전체의 정확성을 보장하지 않음</a:t>
            </a:r>
            <a:endParaRPr lang="en-US" sz="3200" dirty="0"/>
          </a:p>
        </p:txBody>
      </p:sp>
      <p:sp>
        <p:nvSpPr>
          <p:cNvPr id="4" name="Text 2"/>
          <p:cNvSpPr txBox="1"/>
          <p:nvPr/>
        </p:nvSpPr>
        <p:spPr>
          <a:xfrm>
            <a:off x="594360" y="6473952"/>
            <a:ext cx="7315200" cy="164592"/>
          </a:xfrm>
          <a:prstGeom prst="rect">
            <a:avLst/>
          </a:prstGeom>
          <a:noFill/>
          <a:ln/>
        </p:spPr>
        <p:txBody>
          <a:bodyPr wrap="square" lIns="0" tIns="0" rIns="0" bIns="0" rtlCol="0" anchor="ctr"/>
          <a:lstStyle/>
          <a:p>
            <a:pPr indent="0" marL="0">
              <a:buNone/>
            </a:pPr>
            <a:r>
              <a:rPr lang="en-US" sz="900" dirty="0">
                <a:solidFill>
                  <a:srgbClr val="A4DAC2"/>
                </a:solidFill>
                <a:latin typeface="Apple SD Gothic Neo" pitchFamily="34" charset="0"/>
                <a:ea typeface="Apple SD Gothic Neo" pitchFamily="34" charset="-122"/>
                <a:cs typeface="Apple SD Gothic Neo" pitchFamily="34" charset="-120"/>
              </a:rPr>
              <a:t>AI CAPSTONE  ·  김하연</a:t>
            </a:r>
            <a:endParaRPr lang="en-US" sz="900" dirty="0"/>
          </a:p>
        </p:txBody>
      </p:sp>
      <p:sp>
        <p:nvSpPr>
          <p:cNvPr id="5" name="Text 3"/>
          <p:cNvSpPr txBox="1"/>
          <p:nvPr/>
        </p:nvSpPr>
        <p:spPr>
          <a:xfrm>
            <a:off x="10835640" y="6473952"/>
            <a:ext cx="777240" cy="164592"/>
          </a:xfrm>
          <a:prstGeom prst="rect">
            <a:avLst/>
          </a:prstGeom>
          <a:noFill/>
          <a:ln/>
        </p:spPr>
        <p:txBody>
          <a:bodyPr wrap="square" lIns="0" tIns="0" rIns="0" bIns="0" rtlCol="0" anchor="ctr"/>
          <a:lstStyle/>
          <a:p>
            <a:pPr indent="0" marL="0">
              <a:buNone/>
            </a:pPr>
            <a:r>
              <a:rPr lang="en-US" sz="900" dirty="0">
                <a:solidFill>
                  <a:srgbClr val="A4DAC2"/>
                </a:solidFill>
                <a:latin typeface="Apple SD Gothic Neo" pitchFamily="34" charset="0"/>
                <a:ea typeface="Apple SD Gothic Neo" pitchFamily="34" charset="-122"/>
                <a:cs typeface="Apple SD Gothic Neo" pitchFamily="34" charset="-120"/>
              </a:rPr>
              <a:t>10 / 10</a:t>
            </a:r>
            <a:endParaRPr lang="en-US" sz="900" dirty="0"/>
          </a:p>
        </p:txBody>
      </p:sp>
      <p:sp>
        <p:nvSpPr>
          <p:cNvPr id="7" name="Text 4"/>
          <p:cNvSpPr txBox="1"/>
          <p:nvPr/>
        </p:nvSpPr>
        <p:spPr>
          <a:xfrm>
            <a:off x="685800" y="2011680"/>
            <a:ext cx="1828800" cy="411480"/>
          </a:xfrm>
          <a:prstGeom prst="rect">
            <a:avLst/>
          </a:prstGeom>
          <a:noFill/>
          <a:ln/>
        </p:spPr>
        <p:txBody>
          <a:bodyPr wrap="square" lIns="0" tIns="0" rIns="0" bIns="0" rtlCol="0" anchor="ctr"/>
          <a:lstStyle/>
          <a:p>
            <a:pPr indent="0" marL="0">
              <a:buNone/>
            </a:pPr>
            <a:r>
              <a:rPr lang="en-US" sz="1800" b="1" dirty="0">
                <a:solidFill>
                  <a:srgbClr val="A4DAC2"/>
                </a:solidFill>
                <a:latin typeface="Apple SD Gothic Neo" pitchFamily="34" charset="0"/>
                <a:ea typeface="Apple SD Gothic Neo" pitchFamily="34" charset="-122"/>
                <a:cs typeface="Apple SD Gothic Neo" pitchFamily="34" charset="-120"/>
              </a:rPr>
              <a:t>검증 범위</a:t>
            </a:r>
            <a:endParaRPr lang="en-US" sz="1800" dirty="0"/>
          </a:p>
        </p:txBody>
      </p:sp>
      <p:sp>
        <p:nvSpPr>
          <p:cNvPr id="8" name="Text 5"/>
          <p:cNvSpPr txBox="1"/>
          <p:nvPr/>
        </p:nvSpPr>
        <p:spPr>
          <a:xfrm>
            <a:off x="2834640" y="2011680"/>
            <a:ext cx="4114800" cy="457200"/>
          </a:xfrm>
          <a:prstGeom prst="rect">
            <a:avLst/>
          </a:prstGeom>
          <a:noFill/>
          <a:ln/>
        </p:spPr>
        <p:txBody>
          <a:bodyPr wrap="square" lIns="0" tIns="0" rIns="0" bIns="0" rtlCol="0" anchor="ctr"/>
          <a:lstStyle/>
          <a:p>
            <a:pPr indent="0" marL="0">
              <a:buNone/>
            </a:pPr>
            <a:r>
              <a:rPr lang="en-US" sz="2000" dirty="0">
                <a:solidFill>
                  <a:srgbClr val="FFFFFF"/>
                </a:solidFill>
                <a:latin typeface="Apple SD Gothic Neo" pitchFamily="34" charset="0"/>
                <a:ea typeface="Apple SD Gothic Neo" pitchFamily="34" charset="-122"/>
                <a:cs typeface="Apple SD Gothic Neo" pitchFamily="34" charset="-120"/>
              </a:rPr>
              <a:t>시스템명·CPU·메모리만 대조</a:t>
            </a:r>
            <a:endParaRPr lang="en-US" sz="2000" dirty="0"/>
          </a:p>
        </p:txBody>
      </p:sp>
      <p:sp>
        <p:nvSpPr>
          <p:cNvPr id="9" name="Text 6"/>
          <p:cNvSpPr txBox="1"/>
          <p:nvPr/>
        </p:nvSpPr>
        <p:spPr>
          <a:xfrm>
            <a:off x="7086600" y="2011680"/>
            <a:ext cx="457200" cy="457200"/>
          </a:xfrm>
          <a:prstGeom prst="rect">
            <a:avLst/>
          </a:prstGeom>
          <a:noFill/>
          <a:ln/>
        </p:spPr>
        <p:txBody>
          <a:bodyPr wrap="square" lIns="0" tIns="0" rIns="0" bIns="0" rtlCol="0" anchor="ctr"/>
          <a:lstStyle/>
          <a:p>
            <a:pPr indent="0" marL="0">
              <a:buNone/>
            </a:pPr>
            <a:r>
              <a:rPr lang="en-US" sz="2200" dirty="0">
                <a:solidFill>
                  <a:srgbClr val="A4DAC2"/>
                </a:solidFill>
                <a:latin typeface="Apple SD Gothic Neo" pitchFamily="34" charset="0"/>
                <a:ea typeface="Apple SD Gothic Neo" pitchFamily="34" charset="-122"/>
                <a:cs typeface="Apple SD Gothic Neo" pitchFamily="34" charset="-120"/>
              </a:rPr>
              <a:t>↔</a:t>
            </a:r>
            <a:endParaRPr lang="en-US" sz="2200" dirty="0"/>
          </a:p>
        </p:txBody>
      </p:sp>
      <p:sp>
        <p:nvSpPr>
          <p:cNvPr id="10" name="Text 7"/>
          <p:cNvSpPr txBox="1"/>
          <p:nvPr/>
        </p:nvSpPr>
        <p:spPr>
          <a:xfrm>
            <a:off x="7863840" y="2011680"/>
            <a:ext cx="3657600" cy="548640"/>
          </a:xfrm>
          <a:prstGeom prst="rect">
            <a:avLst/>
          </a:prstGeom>
          <a:noFill/>
          <a:ln/>
        </p:spPr>
        <p:txBody>
          <a:bodyPr wrap="square" lIns="0" tIns="0" rIns="0" bIns="0" rtlCol="0" anchor="ctr"/>
          <a:lstStyle/>
          <a:p>
            <a:pPr indent="0" marL="0">
              <a:buNone/>
            </a:pPr>
            <a:r>
              <a:rPr lang="en-US" sz="1700" dirty="0">
                <a:solidFill>
                  <a:srgbClr val="A4DAC2"/>
                </a:solidFill>
                <a:latin typeface="Apple SD Gothic Neo" pitchFamily="34" charset="0"/>
                <a:ea typeface="Apple SD Gothic Neo" pitchFamily="34" charset="-122"/>
                <a:cs typeface="Apple SD Gothic Neo" pitchFamily="34" charset="-120"/>
              </a:rPr>
              <a:t>원인 설명·권장 조치는 미검증</a:t>
            </a:r>
            <a:endParaRPr lang="en-US" sz="1700" dirty="0"/>
          </a:p>
        </p:txBody>
      </p:sp>
      <p:sp>
        <p:nvSpPr>
          <p:cNvPr id="11" name="Text 8"/>
          <p:cNvSpPr txBox="1"/>
          <p:nvPr/>
        </p:nvSpPr>
        <p:spPr>
          <a:xfrm>
            <a:off x="685800" y="3063240"/>
            <a:ext cx="1828800" cy="411480"/>
          </a:xfrm>
          <a:prstGeom prst="rect">
            <a:avLst/>
          </a:prstGeom>
          <a:noFill/>
          <a:ln/>
        </p:spPr>
        <p:txBody>
          <a:bodyPr wrap="square" lIns="0" tIns="0" rIns="0" bIns="0" rtlCol="0" anchor="ctr"/>
          <a:lstStyle/>
          <a:p>
            <a:pPr indent="0" marL="0">
              <a:buNone/>
            </a:pPr>
            <a:r>
              <a:rPr lang="en-US" sz="1800" b="1" dirty="0">
                <a:solidFill>
                  <a:srgbClr val="A4DAC2"/>
                </a:solidFill>
                <a:latin typeface="Apple SD Gothic Neo" pitchFamily="34" charset="0"/>
                <a:ea typeface="Apple SD Gothic Neo" pitchFamily="34" charset="-122"/>
                <a:cs typeface="Apple SD Gothic Neo" pitchFamily="34" charset="-120"/>
              </a:rPr>
              <a:t>표현과 평가</a:t>
            </a:r>
            <a:endParaRPr lang="en-US" sz="1800" dirty="0"/>
          </a:p>
        </p:txBody>
      </p:sp>
      <p:sp>
        <p:nvSpPr>
          <p:cNvPr id="12" name="Text 9"/>
          <p:cNvSpPr txBox="1"/>
          <p:nvPr/>
        </p:nvSpPr>
        <p:spPr>
          <a:xfrm>
            <a:off x="2834640" y="3063240"/>
            <a:ext cx="4114800" cy="457200"/>
          </a:xfrm>
          <a:prstGeom prst="rect">
            <a:avLst/>
          </a:prstGeom>
          <a:noFill/>
          <a:ln/>
        </p:spPr>
        <p:txBody>
          <a:bodyPr wrap="square" lIns="0" tIns="0" rIns="0" bIns="0" rtlCol="0" anchor="ctr"/>
          <a:lstStyle/>
          <a:p>
            <a:pPr indent="0" marL="0">
              <a:buNone/>
            </a:pPr>
            <a:r>
              <a:rPr lang="en-US" sz="2000" dirty="0">
                <a:solidFill>
                  <a:srgbClr val="FFFFFF"/>
                </a:solidFill>
                <a:latin typeface="Apple SD Gothic Neo" pitchFamily="34" charset="0"/>
                <a:ea typeface="Apple SD Gothic Neo" pitchFamily="34" charset="-122"/>
                <a:cs typeface="Apple SD Gothic Neo" pitchFamily="34" charset="-120"/>
              </a:rPr>
              <a:t>명확한 규칙, 재현 가능한 판정</a:t>
            </a:r>
            <a:endParaRPr lang="en-US" sz="2000" dirty="0"/>
          </a:p>
        </p:txBody>
      </p:sp>
      <p:sp>
        <p:nvSpPr>
          <p:cNvPr id="13" name="Text 10"/>
          <p:cNvSpPr txBox="1"/>
          <p:nvPr/>
        </p:nvSpPr>
        <p:spPr>
          <a:xfrm>
            <a:off x="7086600" y="3063240"/>
            <a:ext cx="457200" cy="457200"/>
          </a:xfrm>
          <a:prstGeom prst="rect">
            <a:avLst/>
          </a:prstGeom>
          <a:noFill/>
          <a:ln/>
        </p:spPr>
        <p:txBody>
          <a:bodyPr wrap="square" lIns="0" tIns="0" rIns="0" bIns="0" rtlCol="0" anchor="ctr"/>
          <a:lstStyle/>
          <a:p>
            <a:pPr indent="0" marL="0">
              <a:buNone/>
            </a:pPr>
            <a:r>
              <a:rPr lang="en-US" sz="2200" dirty="0">
                <a:solidFill>
                  <a:srgbClr val="A4DAC2"/>
                </a:solidFill>
                <a:latin typeface="Apple SD Gothic Neo" pitchFamily="34" charset="0"/>
                <a:ea typeface="Apple SD Gothic Neo" pitchFamily="34" charset="-122"/>
                <a:cs typeface="Apple SD Gothic Neo" pitchFamily="34" charset="-120"/>
              </a:rPr>
              <a:t>↔</a:t>
            </a:r>
            <a:endParaRPr lang="en-US" sz="2200" dirty="0"/>
          </a:p>
        </p:txBody>
      </p:sp>
      <p:sp>
        <p:nvSpPr>
          <p:cNvPr id="14" name="Text 11"/>
          <p:cNvSpPr txBox="1"/>
          <p:nvPr/>
        </p:nvSpPr>
        <p:spPr>
          <a:xfrm>
            <a:off x="7863840" y="3063240"/>
            <a:ext cx="3657600" cy="548640"/>
          </a:xfrm>
          <a:prstGeom prst="rect">
            <a:avLst/>
          </a:prstGeom>
          <a:noFill/>
          <a:ln/>
        </p:spPr>
        <p:txBody>
          <a:bodyPr wrap="square" lIns="0" tIns="0" rIns="0" bIns="0" rtlCol="0" anchor="ctr"/>
          <a:lstStyle/>
          <a:p>
            <a:pPr indent="0" marL="0">
              <a:buNone/>
            </a:pPr>
            <a:r>
              <a:rPr lang="en-US" sz="1700" dirty="0">
                <a:solidFill>
                  <a:srgbClr val="A4DAC2"/>
                </a:solidFill>
                <a:latin typeface="Apple SD Gothic Neo" pitchFamily="34" charset="0"/>
                <a:ea typeface="Apple SD Gothic Neo" pitchFamily="34" charset="-122"/>
                <a:cs typeface="Apple SD Gothic Neo" pitchFamily="34" charset="-120"/>
              </a:rPr>
              <a:t>새 표현 누락 · 자체 평가의 낙관 가능성</a:t>
            </a:r>
            <a:endParaRPr lang="en-US" sz="1700" dirty="0"/>
          </a:p>
        </p:txBody>
      </p:sp>
      <p:sp>
        <p:nvSpPr>
          <p:cNvPr id="15" name="Text 12"/>
          <p:cNvSpPr txBox="1"/>
          <p:nvPr/>
        </p:nvSpPr>
        <p:spPr>
          <a:xfrm>
            <a:off x="685800" y="4114800"/>
            <a:ext cx="1828800" cy="411480"/>
          </a:xfrm>
          <a:prstGeom prst="rect">
            <a:avLst/>
          </a:prstGeom>
          <a:noFill/>
          <a:ln/>
        </p:spPr>
        <p:txBody>
          <a:bodyPr wrap="square" lIns="0" tIns="0" rIns="0" bIns="0" rtlCol="0" anchor="ctr"/>
          <a:lstStyle/>
          <a:p>
            <a:pPr indent="0" marL="0">
              <a:buNone/>
            </a:pPr>
            <a:r>
              <a:rPr lang="en-US" sz="1800" b="1" dirty="0">
                <a:solidFill>
                  <a:srgbClr val="A4DAC2"/>
                </a:solidFill>
                <a:latin typeface="Apple SD Gothic Neo" pitchFamily="34" charset="0"/>
                <a:ea typeface="Apple SD Gothic Neo" pitchFamily="34" charset="-122"/>
                <a:cs typeface="Apple SD Gothic Neo" pitchFamily="34" charset="-120"/>
              </a:rPr>
              <a:t>사용 경험</a:t>
            </a:r>
            <a:endParaRPr lang="en-US" sz="1800" dirty="0"/>
          </a:p>
        </p:txBody>
      </p:sp>
      <p:sp>
        <p:nvSpPr>
          <p:cNvPr id="16" name="Text 13"/>
          <p:cNvSpPr txBox="1"/>
          <p:nvPr/>
        </p:nvSpPr>
        <p:spPr>
          <a:xfrm>
            <a:off x="2834640" y="4114800"/>
            <a:ext cx="4114800" cy="457200"/>
          </a:xfrm>
          <a:prstGeom prst="rect">
            <a:avLst/>
          </a:prstGeom>
          <a:noFill/>
          <a:ln/>
        </p:spPr>
        <p:txBody>
          <a:bodyPr wrap="square" lIns="0" tIns="0" rIns="0" bIns="0" rtlCol="0" anchor="ctr"/>
          <a:lstStyle/>
          <a:p>
            <a:pPr indent="0" marL="0">
              <a:buNone/>
            </a:pPr>
            <a:r>
              <a:rPr lang="en-US" sz="2000" dirty="0">
                <a:solidFill>
                  <a:srgbClr val="FFFFFF"/>
                </a:solidFill>
                <a:latin typeface="Apple SD Gothic Neo" pitchFamily="34" charset="0"/>
                <a:ea typeface="Apple SD Gothic Neo" pitchFamily="34" charset="-122"/>
                <a:cs typeface="Apple SD Gothic Neo" pitchFamily="34" charset="-120"/>
              </a:rPr>
              <a:t>초안 비공개 · 의미 기반 검색</a:t>
            </a:r>
            <a:endParaRPr lang="en-US" sz="2000" dirty="0"/>
          </a:p>
        </p:txBody>
      </p:sp>
      <p:sp>
        <p:nvSpPr>
          <p:cNvPr id="17" name="Text 14"/>
          <p:cNvSpPr txBox="1"/>
          <p:nvPr/>
        </p:nvSpPr>
        <p:spPr>
          <a:xfrm>
            <a:off x="7086600" y="4114800"/>
            <a:ext cx="457200" cy="457200"/>
          </a:xfrm>
          <a:prstGeom prst="rect">
            <a:avLst/>
          </a:prstGeom>
          <a:noFill/>
          <a:ln/>
        </p:spPr>
        <p:txBody>
          <a:bodyPr wrap="square" lIns="0" tIns="0" rIns="0" bIns="0" rtlCol="0" anchor="ctr"/>
          <a:lstStyle/>
          <a:p>
            <a:pPr indent="0" marL="0">
              <a:buNone/>
            </a:pPr>
            <a:r>
              <a:rPr lang="en-US" sz="2200" dirty="0">
                <a:solidFill>
                  <a:srgbClr val="A4DAC2"/>
                </a:solidFill>
                <a:latin typeface="Apple SD Gothic Neo" pitchFamily="34" charset="0"/>
                <a:ea typeface="Apple SD Gothic Neo" pitchFamily="34" charset="-122"/>
                <a:cs typeface="Apple SD Gothic Neo" pitchFamily="34" charset="-120"/>
              </a:rPr>
              <a:t>↔</a:t>
            </a:r>
            <a:endParaRPr lang="en-US" sz="2200" dirty="0"/>
          </a:p>
        </p:txBody>
      </p:sp>
      <p:sp>
        <p:nvSpPr>
          <p:cNvPr id="18" name="Text 15"/>
          <p:cNvSpPr txBox="1"/>
          <p:nvPr/>
        </p:nvSpPr>
        <p:spPr>
          <a:xfrm>
            <a:off x="7863840" y="4114800"/>
            <a:ext cx="3657600" cy="548640"/>
          </a:xfrm>
          <a:prstGeom prst="rect">
            <a:avLst/>
          </a:prstGeom>
          <a:noFill/>
          <a:ln/>
        </p:spPr>
        <p:txBody>
          <a:bodyPr wrap="square" lIns="0" tIns="0" rIns="0" bIns="0" rtlCol="0" anchor="ctr"/>
          <a:lstStyle/>
          <a:p>
            <a:pPr indent="0" marL="0">
              <a:buNone/>
            </a:pPr>
            <a:r>
              <a:rPr lang="en-US" sz="1700" dirty="0">
                <a:solidFill>
                  <a:srgbClr val="A4DAC2"/>
                </a:solidFill>
                <a:latin typeface="Apple SD Gothic Neo" pitchFamily="34" charset="0"/>
                <a:ea typeface="Apple SD Gothic Neo" pitchFamily="34" charset="-122"/>
                <a:cs typeface="Apple SD Gothic Neo" pitchFamily="34" charset="-120"/>
              </a:rPr>
              <a:t>최종 답변 대기 · 임베딩 자원과 지연</a:t>
            </a:r>
            <a:endParaRPr lang="en-US" sz="1700" dirty="0"/>
          </a:p>
        </p:txBody>
      </p:sp>
      <p:sp>
        <p:nvSpPr>
          <p:cNvPr id="19" name="Text 16"/>
          <p:cNvSpPr txBox="1"/>
          <p:nvPr/>
        </p:nvSpPr>
        <p:spPr>
          <a:xfrm>
            <a:off x="685800" y="5440680"/>
            <a:ext cx="10881360" cy="548640"/>
          </a:xfrm>
          <a:prstGeom prst="rect">
            <a:avLst/>
          </a:prstGeom>
          <a:noFill/>
          <a:ln/>
        </p:spPr>
        <p:txBody>
          <a:bodyPr wrap="square" lIns="0" tIns="0" rIns="0" bIns="0" rtlCol="0" anchor="ctr"/>
          <a:lstStyle/>
          <a:p>
            <a:pPr indent="0" marL="0">
              <a:buNone/>
            </a:pPr>
            <a:r>
              <a:rPr lang="en-US" sz="2700" b="1" dirty="0">
                <a:solidFill>
                  <a:srgbClr val="FFFFFF"/>
                </a:solidFill>
                <a:latin typeface="Apple SD Gothic Neo" pitchFamily="34" charset="0"/>
                <a:ea typeface="Apple SD Gothic Neo" pitchFamily="34" charset="-122"/>
                <a:cs typeface="Apple SD Gothic Neo" pitchFamily="34" charset="-120"/>
              </a:rPr>
              <a:t>확인 범위를 명시하고, 근거가 부족하면 응답을 중단하는 방향으로 개선</a:t>
            </a:r>
            <a:endParaRPr lang="en-US" sz="2700" dirty="0"/>
          </a:p>
        </p:txBody>
      </p:sp>
      <p:sp>
        <p:nvSpPr>
          <p:cNvPr id="20" name="Text 17"/>
          <p:cNvSpPr txBox="1"/>
          <p:nvPr/>
        </p:nvSpPr>
        <p:spPr>
          <a:xfrm>
            <a:off x="685800" y="6080760"/>
            <a:ext cx="10881360" cy="274320"/>
          </a:xfrm>
          <a:prstGeom prst="rect">
            <a:avLst/>
          </a:prstGeom>
          <a:noFill/>
          <a:ln/>
        </p:spPr>
        <p:txBody>
          <a:bodyPr wrap="square" lIns="0" tIns="0" rIns="0" bIns="0" rtlCol="0" anchor="ctr"/>
          <a:lstStyle/>
          <a:p>
            <a:pPr indent="0" marL="0">
              <a:buNone/>
            </a:pPr>
            <a:r>
              <a:rPr lang="en-US" sz="1400" dirty="0">
                <a:solidFill>
                  <a:srgbClr val="A4DAC2"/>
                </a:solidFill>
                <a:latin typeface="Apple SD Gothic Neo" pitchFamily="34" charset="0"/>
                <a:ea typeface="Apple SD Gothic Neo" pitchFamily="34" charset="-122"/>
                <a:cs typeface="Apple SD Gothic Neo" pitchFamily="34" charset="-120"/>
              </a:rPr>
              <a:t>다음 단계: 독립 평가셋 · 구조화된 수치 출력 · 불분명한 대상은 되묻기</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 SD Gothic Ne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근거 기반 장애 진단 에이전트 개선</dc:title>
  <dc:subject>PptxGenJS Presentation</dc:subject>
  <dc:creator>김하연</dc:creator>
  <cp:lastModifiedBy>김하연</cp:lastModifiedBy>
  <cp:revision>1</cp:revision>
  <dcterms:created xsi:type="dcterms:W3CDTF">2026-10-22T01:11:59Z</dcterms:created>
  <dcterms:modified xsi:type="dcterms:W3CDTF">2026-10-22T01:11:59Z</dcterms:modified>
</cp:coreProperties>
</file>