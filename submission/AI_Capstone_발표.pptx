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운영 장애 진단 에이전트를 개선했습니다. 기존에는 답변이 길고 번호만 있으면 통과했고, 세 번 실패하면 강제로 합격했습니다. 운영자가 잘못된 수치를 믿고 조치할 수 있다고 생각해, 수집 근거와 답변을 대조하는 것을 중심 주제로 잡았습니다. 검색과 조사 실패 처리도 함께 개선했습니다.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흐름은 조사, 작성, 검증입니다. 시스템별 CPU와 메모리 수치를 비교하고, 틀린 항목을 구체적으로 알려 다시 작성하게 합니다. 세 번 실패하면 답변 대신 확인된 자료와 실패 이유를 제공합니다. 매뉴얼은 의미로 검색하되 확신이 낮으면 선택하지 않고, 조사 하나가 실패해도 성공한 자료는 유지합니다.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모니터링과 매뉴얼 조사를 두 서브에이전트로 나누고, 그래프의 각 역할을 모듈로 분리했습니다. 없는 시스템을 다른 시스템으로 바꾸지 않도록 대상 해석도 고쳤습니다. 마지막 점검에서는 비슷한 이름을 혼동하는 문제와, 미조회 시스템의 숫자가 다른 시스템과 같으면 통과하는 문제를 찾아 수정하고 회귀 테스트를 추가했습니다.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제공된 기반은 LangGraph 흐름, 서버와 세션, 병렬 조사입니다. 제가 개선한 부분은 검증과 실패 분기, 조사 분리, 검색 도구, 모듈화와 테스트입니다. MCP는 Model Context Protocol로 도구 연결 규약이고, RAG는 Retrieval-Augmented Generation으로 검색 자료를 답변에 활용하는 방식입니다. 두 서브에이전트는 독립적으로 추론하는 모델이 아니라 도구 호출형 그래프입니다.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수정 후 로컬 서버에서 다시 확인한 화면입니다. 작성 모델은 모의 모델이고 모니터링과 검색 도구는 실제로 연결했습니다. 수집값과 답변값이 같은지 비교표로 보여줍니다. 정상, 세 번 검증 실패, 자료 부족으로 작성 생략하는 흐름을 모두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이 비교 화면은 같은 질문에 CPU 값을 의도적으로 높여 쓰게 한 재현 실험입니다. 기존 검증은 틀린 값을 최종 답변으로 내보냈고, 개선 검증은 세 번 실패하면 중단합니다. 핵심은 실패를 숨기지 않고 불일치 이유와 실제 수집값을 보여주는 것입니다. 실모델의 오류 빈도를 측정한 실험은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기존 17개 사례에서 오류 차단은 9개 중 2개에서 9개로 늘었고 정상 8개는 통과했습니다. 추가 표적 평가도 개선됐지만 직접 만든 사례라 일반화에는 한계가 있습니다. 검색은 14개 중 기대 일치가 6개에서 12개로 늘었습니다. 최신 실모델 비교에서는 작성 시도는 양쪽 모두 평균 1회였고, 시간도 비슷해 속도 향상은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근거가 하나도 없을 때 작성 모델을 호출하지 않도록 했습니다. billing-service 단일 질문에서 작성 호출이 1회에서 0회로 줄었습니다. 병렬 실행과 모델 분리 수치도 측정했지만, 각각 모의 지연과 가정 단가를 사용하므로 실제 운영 성능이나 실과금 절감으로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이 검증기는 추출한 시스템별 수치만 대조합니다. 원인 설명과 권장 조치가 맞는지는 판단하지 못하고, 새로운 표현을 놓칠 수도 있습니다. 초안을 숨겨 안전성을 높이는 대신 답변이 조금씩 생성되는 경험은 포기했습니다. 제 개선의 의미는 모든 답변을 맞히는 것이 아니라, 확인한 범위를 보여주고 근거가 부족할 때 멈추도록 만든 데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운영 장애 진단 에이전트의</a:t>
            </a:r>
            <a:endParaRPr lang="en-US" sz="3000" dirty="0"/>
          </a:p>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근거 기반 검증·검색·조사 안정성 개선</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01 주제 · 25초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01</a:t>
            </a:r>
            <a:endParaRPr lang="en-US" sz="1000" dirty="0"/>
          </a:p>
        </p:txBody>
      </p:sp>
      <p:sp>
        <p:nvSpPr>
          <p:cNvPr id="7" name="Shape 4"/>
          <p:cNvSpPr/>
          <p:nvPr/>
        </p:nvSpPr>
        <p:spPr>
          <a:xfrm>
            <a:off x="640080" y="2194560"/>
            <a:ext cx="3566160" cy="3108960"/>
          </a:xfrm>
          <a:prstGeom prst="roundRect">
            <a:avLst>
              <a:gd name="adj" fmla="val 4412"/>
            </a:avLst>
          </a:prstGeom>
          <a:solidFill>
            <a:srgbClr val="F7E8D7"/>
          </a:solidFill>
          <a:ln w="12700">
            <a:solidFill>
              <a:srgbClr val="F7E8D7"/>
            </a:solidFill>
            <a:prstDash val="solid"/>
          </a:ln>
        </p:spPr>
      </p:sp>
      <p:sp>
        <p:nvSpPr>
          <p:cNvPr id="8" name="Text 5"/>
          <p:cNvSpPr txBox="1"/>
          <p:nvPr/>
        </p:nvSpPr>
        <p:spPr>
          <a:xfrm>
            <a:off x="868680"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①</a:t>
            </a:r>
            <a:endParaRPr lang="en-US" sz="2000" dirty="0"/>
          </a:p>
        </p:txBody>
      </p:sp>
      <p:sp>
        <p:nvSpPr>
          <p:cNvPr id="9" name="Text 6"/>
          <p:cNvSpPr txBox="1"/>
          <p:nvPr/>
        </p:nvSpPr>
        <p:spPr>
          <a:xfrm>
            <a:off x="868680"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답변 검증이 형식만 검사</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3회 실패하면 강제 합격</a:t>
            </a:r>
            <a:endParaRPr lang="en-US" sz="1700" dirty="0"/>
          </a:p>
        </p:txBody>
      </p:sp>
      <p:sp>
        <p:nvSpPr>
          <p:cNvPr id="10" name="Shape 7"/>
          <p:cNvSpPr/>
          <p:nvPr/>
        </p:nvSpPr>
        <p:spPr>
          <a:xfrm>
            <a:off x="4315968" y="2194560"/>
            <a:ext cx="3566160" cy="3108960"/>
          </a:xfrm>
          <a:prstGeom prst="roundRect">
            <a:avLst>
              <a:gd name="adj" fmla="val 4412"/>
            </a:avLst>
          </a:prstGeom>
          <a:solidFill>
            <a:srgbClr val="F7E8D7"/>
          </a:solidFill>
          <a:ln w="12700">
            <a:solidFill>
              <a:srgbClr val="F7E8D7"/>
            </a:solidFill>
            <a:prstDash val="solid"/>
          </a:ln>
        </p:spPr>
      </p:sp>
      <p:sp>
        <p:nvSpPr>
          <p:cNvPr id="11" name="Text 8"/>
          <p:cNvSpPr txBox="1"/>
          <p:nvPr/>
        </p:nvSpPr>
        <p:spPr>
          <a:xfrm>
            <a:off x="4544568"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②</a:t>
            </a:r>
            <a:endParaRPr lang="en-US" sz="2000" dirty="0"/>
          </a:p>
        </p:txBody>
      </p:sp>
      <p:sp>
        <p:nvSpPr>
          <p:cNvPr id="12" name="Text 9"/>
          <p:cNvSpPr txBox="1"/>
          <p:nvPr/>
        </p:nvSpPr>
        <p:spPr>
          <a:xfrm>
            <a:off x="4544568"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매뉴얼을 키워드로 선택</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못 찾으면 db-down 기본값</a:t>
            </a:r>
            <a:endParaRPr lang="en-US" sz="1700" dirty="0"/>
          </a:p>
        </p:txBody>
      </p:sp>
      <p:sp>
        <p:nvSpPr>
          <p:cNvPr id="13" name="Shape 10"/>
          <p:cNvSpPr/>
          <p:nvPr/>
        </p:nvSpPr>
        <p:spPr>
          <a:xfrm>
            <a:off x="7991856" y="2194560"/>
            <a:ext cx="3566160" cy="3108960"/>
          </a:xfrm>
          <a:prstGeom prst="roundRect">
            <a:avLst>
              <a:gd name="adj" fmla="val 4412"/>
            </a:avLst>
          </a:prstGeom>
          <a:solidFill>
            <a:srgbClr val="F7E8D7"/>
          </a:solidFill>
          <a:ln w="12700">
            <a:solidFill>
              <a:srgbClr val="F7E8D7"/>
            </a:solidFill>
            <a:prstDash val="solid"/>
          </a:ln>
        </p:spPr>
      </p:sp>
      <p:sp>
        <p:nvSpPr>
          <p:cNvPr id="14" name="Text 11"/>
          <p:cNvSpPr txBox="1"/>
          <p:nvPr/>
        </p:nvSpPr>
        <p:spPr>
          <a:xfrm>
            <a:off x="8220456"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③</a:t>
            </a:r>
            <a:endParaRPr lang="en-US" sz="2000" dirty="0"/>
          </a:p>
        </p:txBody>
      </p:sp>
      <p:sp>
        <p:nvSpPr>
          <p:cNvPr id="15" name="Text 12"/>
          <p:cNvSpPr txBox="1"/>
          <p:nvPr/>
        </p:nvSpPr>
        <p:spPr>
          <a:xfrm>
            <a:off x="8220456"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조사 하나가 실패하면</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성공한 자료까지 버림</a:t>
            </a:r>
            <a:endParaRPr lang="en-US" sz="1700" dirty="0"/>
          </a:p>
        </p:txBody>
      </p:sp>
      <p:sp>
        <p:nvSpPr>
          <p:cNvPr id="16" name="Text 13"/>
          <p:cNvSpPr txBox="1"/>
          <p:nvPr/>
        </p:nvSpPr>
        <p:spPr>
          <a:xfrm>
            <a:off x="640080" y="5486400"/>
            <a:ext cx="10972800" cy="548640"/>
          </a:xfrm>
          <a:prstGeom prst="rect">
            <a:avLst/>
          </a:prstGeom>
          <a:noFill/>
          <a:ln/>
        </p:spPr>
        <p:txBody>
          <a:bodyPr wrap="square" lIns="0" tIns="0" rIns="0" bIns="0" rtlCol="0" anchor="ctr"/>
          <a:lstStyle/>
          <a:p>
            <a:pPr indent="0" marL="0">
              <a:buNone/>
            </a:pPr>
            <a:r>
              <a:rPr lang="en-US" sz="1900" b="1" dirty="0">
                <a:solidFill>
                  <a:srgbClr val="087F73"/>
                </a:solidFill>
                <a:latin typeface="Apple SD Gothic Neo" pitchFamily="34" charset="0"/>
                <a:ea typeface="Apple SD Gothic Neo" pitchFamily="34" charset="-122"/>
                <a:cs typeface="Apple SD Gothic Neo" pitchFamily="34" charset="-120"/>
              </a:rPr>
              <a:t>→ 근거 대조 검증 · 의미 기반 매뉴얼 검색 · 부분 실패 격리 · 근거를 보여주는 화면</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기능 개선: 검증 · 검색 · 실패 처리</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02 핵심 개선 3가지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02</a:t>
            </a:r>
            <a:endParaRPr lang="en-US" sz="1000" dirty="0"/>
          </a:p>
        </p:txBody>
      </p:sp>
      <p:sp>
        <p:nvSpPr>
          <p:cNvPr id="7" name="Shape 4"/>
          <p:cNvSpPr/>
          <p:nvPr/>
        </p:nvSpPr>
        <p:spPr>
          <a:xfrm>
            <a:off x="640080" y="1920240"/>
            <a:ext cx="3566160" cy="3291840"/>
          </a:xfrm>
          <a:prstGeom prst="roundRect">
            <a:avLst>
              <a:gd name="adj" fmla="val 4167"/>
            </a:avLst>
          </a:prstGeom>
          <a:solidFill>
            <a:srgbClr val="EDF5F3"/>
          </a:solidFill>
          <a:ln w="12700">
            <a:solidFill>
              <a:srgbClr val="EDF5F3"/>
            </a:solidFill>
            <a:prstDash val="solid"/>
          </a:ln>
        </p:spPr>
      </p:sp>
      <p:sp>
        <p:nvSpPr>
          <p:cNvPr id="8" name="Text 5"/>
          <p:cNvSpPr txBox="1"/>
          <p:nvPr/>
        </p:nvSpPr>
        <p:spPr>
          <a:xfrm>
            <a:off x="868680"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① 근거 대조 검증</a:t>
            </a:r>
            <a:endParaRPr lang="en-US" sz="2000" dirty="0"/>
          </a:p>
        </p:txBody>
      </p:sp>
      <p:sp>
        <p:nvSpPr>
          <p:cNvPr id="9" name="Text 6"/>
          <p:cNvSpPr txBox="1"/>
          <p:nvPr/>
        </p:nvSpPr>
        <p:spPr>
          <a:xfrm>
            <a:off x="868680"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시스템명·CPU·메모리 %</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오차 0.5%p 허용</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불일치 사유로 재작성</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3회 실패 → 실패 안내</a:t>
            </a:r>
            <a:endParaRPr lang="en-US" sz="1600" dirty="0"/>
          </a:p>
        </p:txBody>
      </p:sp>
      <p:sp>
        <p:nvSpPr>
          <p:cNvPr id="10" name="Shape 7"/>
          <p:cNvSpPr/>
          <p:nvPr/>
        </p:nvSpPr>
        <p:spPr>
          <a:xfrm>
            <a:off x="4315968" y="1920240"/>
            <a:ext cx="3566160" cy="3291840"/>
          </a:xfrm>
          <a:prstGeom prst="roundRect">
            <a:avLst>
              <a:gd name="adj" fmla="val 4167"/>
            </a:avLst>
          </a:prstGeom>
          <a:solidFill>
            <a:srgbClr val="EDF5F3"/>
          </a:solidFill>
          <a:ln w="12700">
            <a:solidFill>
              <a:srgbClr val="EDF5F3"/>
            </a:solidFill>
            <a:prstDash val="solid"/>
          </a:ln>
        </p:spPr>
      </p:sp>
      <p:sp>
        <p:nvSpPr>
          <p:cNvPr id="11" name="Text 8"/>
          <p:cNvSpPr txBox="1"/>
          <p:nvPr/>
        </p:nvSpPr>
        <p:spPr>
          <a:xfrm>
            <a:off x="4544568"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② 의미 기반 매뉴얼 검색</a:t>
            </a:r>
            <a:endParaRPr lang="en-US" sz="2000" dirty="0"/>
          </a:p>
        </p:txBody>
      </p:sp>
      <p:sp>
        <p:nvSpPr>
          <p:cNvPr id="12" name="Text 9"/>
          <p:cNvSpPr txBox="1"/>
          <p:nvPr/>
        </p:nvSpPr>
        <p:spPr>
          <a:xfrm>
            <a:off x="4544568"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로컬 임베딩 + 코사인 유사도</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MCP 도구로 제공</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점수 낮거나 차이 작으면 미확정</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후보·점수를 화면에 표시</a:t>
            </a:r>
            <a:endParaRPr lang="en-US" sz="1600" dirty="0"/>
          </a:p>
        </p:txBody>
      </p:sp>
      <p:sp>
        <p:nvSpPr>
          <p:cNvPr id="13" name="Shape 10"/>
          <p:cNvSpPr/>
          <p:nvPr/>
        </p:nvSpPr>
        <p:spPr>
          <a:xfrm>
            <a:off x="7991856" y="1920240"/>
            <a:ext cx="3566160" cy="3291840"/>
          </a:xfrm>
          <a:prstGeom prst="roundRect">
            <a:avLst>
              <a:gd name="adj" fmla="val 4167"/>
            </a:avLst>
          </a:prstGeom>
          <a:solidFill>
            <a:srgbClr val="EDF5F3"/>
          </a:solidFill>
          <a:ln w="12700">
            <a:solidFill>
              <a:srgbClr val="EDF5F3"/>
            </a:solidFill>
            <a:prstDash val="solid"/>
          </a:ln>
        </p:spPr>
      </p:sp>
      <p:sp>
        <p:nvSpPr>
          <p:cNvPr id="14" name="Text 11"/>
          <p:cNvSpPr txBox="1"/>
          <p:nvPr/>
        </p:nvSpPr>
        <p:spPr>
          <a:xfrm>
            <a:off x="8220456"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③ 부분 실패 격리</a:t>
            </a:r>
            <a:endParaRPr lang="en-US" sz="2000" dirty="0"/>
          </a:p>
        </p:txBody>
      </p:sp>
      <p:sp>
        <p:nvSpPr>
          <p:cNvPr id="15" name="Text 12"/>
          <p:cNvSpPr txBox="1"/>
          <p:nvPr/>
        </p:nvSpPr>
        <p:spPr>
          <a:xfrm>
            <a:off x="8220456"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작업별 예외 수집</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성공한 자료 유지</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시간 제한 · 실패 대상 표시</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자료 없으면 검증 불가 종료</a:t>
            </a:r>
            <a:endParaRPr lang="en-US" sz="1600" dirty="0"/>
          </a:p>
        </p:txBody>
      </p:sp>
      <p:sp>
        <p:nvSpPr>
          <p:cNvPr id="16" name="Text 13"/>
          <p:cNvSpPr txBox="1"/>
          <p:nvPr/>
        </p:nvSpPr>
        <p:spPr>
          <a:xfrm>
            <a:off x="640080" y="5532120"/>
            <a:ext cx="10972800" cy="54864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수집(모니터링·매뉴얼 검색) → 작성 → 근거 대조 → 통과 / 재작성 / 실패 안내</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구조·안정성 개선과 스스로 찾은 약점</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03 추가 개선 4가지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03</a:t>
            </a:r>
            <a:endParaRPr lang="en-US" sz="1000" dirty="0"/>
          </a:p>
        </p:txBody>
      </p:sp>
      <p:sp>
        <p:nvSpPr>
          <p:cNvPr id="7" name="Shape 4"/>
          <p:cNvSpPr/>
          <p:nvPr/>
        </p:nvSpPr>
        <p:spPr>
          <a:xfrm>
            <a:off x="640080" y="1920240"/>
            <a:ext cx="2651760" cy="3108960"/>
          </a:xfrm>
          <a:prstGeom prst="roundRect">
            <a:avLst>
              <a:gd name="adj" fmla="val 5172"/>
            </a:avLst>
          </a:prstGeom>
          <a:solidFill>
            <a:srgbClr val="EDF5F3"/>
          </a:solidFill>
          <a:ln w="12700">
            <a:solidFill>
              <a:srgbClr val="EDF5F3"/>
            </a:solidFill>
            <a:prstDash val="solid"/>
          </a:ln>
        </p:spPr>
      </p:sp>
      <p:sp>
        <p:nvSpPr>
          <p:cNvPr id="8" name="Text 5"/>
          <p:cNvSpPr txBox="1"/>
          <p:nvPr/>
        </p:nvSpPr>
        <p:spPr>
          <a:xfrm>
            <a:off x="868680"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④ 조사 서브에이전트</a:t>
            </a:r>
            <a:endParaRPr lang="en-US" sz="2000" dirty="0"/>
          </a:p>
        </p:txBody>
      </p:sp>
      <p:sp>
        <p:nvSpPr>
          <p:cNvPr id="9" name="Text 6"/>
          <p:cNvSpPr txBox="1"/>
          <p:nvPr/>
        </p:nvSpPr>
        <p:spPr>
          <a:xfrm>
            <a:off x="868680"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research → 2개로 분리</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monitoring_agent</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runbook_agent</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supervisor가 병렬 분배</a:t>
            </a:r>
            <a:endParaRPr lang="en-US" sz="1400" dirty="0"/>
          </a:p>
        </p:txBody>
      </p:sp>
      <p:sp>
        <p:nvSpPr>
          <p:cNvPr id="10" name="Shape 7"/>
          <p:cNvSpPr/>
          <p:nvPr/>
        </p:nvSpPr>
        <p:spPr>
          <a:xfrm>
            <a:off x="3410712" y="1920240"/>
            <a:ext cx="2651760" cy="3108960"/>
          </a:xfrm>
          <a:prstGeom prst="roundRect">
            <a:avLst>
              <a:gd name="adj" fmla="val 5172"/>
            </a:avLst>
          </a:prstGeom>
          <a:solidFill>
            <a:srgbClr val="EDF5F3"/>
          </a:solidFill>
          <a:ln w="12700">
            <a:solidFill>
              <a:srgbClr val="EDF5F3"/>
            </a:solidFill>
            <a:prstDash val="solid"/>
          </a:ln>
        </p:spPr>
      </p:sp>
      <p:sp>
        <p:nvSpPr>
          <p:cNvPr id="11" name="Text 8"/>
          <p:cNvSpPr txBox="1"/>
          <p:nvPr/>
        </p:nvSpPr>
        <p:spPr>
          <a:xfrm>
            <a:off x="3639312"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⑤ 대상 시스템 해석</a:t>
            </a:r>
            <a:endParaRPr lang="en-US" sz="2000" dirty="0"/>
          </a:p>
        </p:txBody>
      </p:sp>
      <p:sp>
        <p:nvSpPr>
          <p:cNvPr id="12" name="Text 9"/>
          <p:cNvSpPr txBox="1"/>
          <p:nvPr/>
        </p:nvSpPr>
        <p:spPr>
          <a:xfrm>
            <a:off x="3639312"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없는 시스템을 auth-service로</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바꾸지 않고 조사 실패로 표시</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이름이 없을 때만 기본값,</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사용했음을 알림</a:t>
            </a:r>
            <a:endParaRPr lang="en-US" sz="1400" dirty="0"/>
          </a:p>
        </p:txBody>
      </p:sp>
      <p:sp>
        <p:nvSpPr>
          <p:cNvPr id="13" name="Shape 10"/>
          <p:cNvSpPr/>
          <p:nvPr/>
        </p:nvSpPr>
        <p:spPr>
          <a:xfrm>
            <a:off x="6181344" y="1920240"/>
            <a:ext cx="2651760" cy="3108960"/>
          </a:xfrm>
          <a:prstGeom prst="roundRect">
            <a:avLst>
              <a:gd name="adj" fmla="val 5172"/>
            </a:avLst>
          </a:prstGeom>
          <a:solidFill>
            <a:srgbClr val="EDF5F3"/>
          </a:solidFill>
          <a:ln w="12700">
            <a:solidFill>
              <a:srgbClr val="EDF5F3"/>
            </a:solidFill>
            <a:prstDash val="solid"/>
          </a:ln>
        </p:spPr>
      </p:sp>
      <p:sp>
        <p:nvSpPr>
          <p:cNvPr id="14" name="Text 11"/>
          <p:cNvSpPr txBox="1"/>
          <p:nvPr/>
        </p:nvSpPr>
        <p:spPr>
          <a:xfrm>
            <a:off x="6409944"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⑥ 검증 규칙 2차</a:t>
            </a:r>
            <a:endParaRPr lang="en-US" sz="2000" dirty="0"/>
          </a:p>
        </p:txBody>
      </p:sp>
      <p:sp>
        <p:nvSpPr>
          <p:cNvPr id="15" name="Text 12"/>
          <p:cNvSpPr txBox="1"/>
          <p:nvPr/>
        </p:nvSpPr>
        <p:spPr>
          <a:xfrm>
            <a:off x="6409944"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동의어·표·'각각' 지원</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임계치·부정 수치 제외</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수치 인용 시에만</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시스템명 요구</a:t>
            </a:r>
            <a:endParaRPr lang="en-US" sz="1400" dirty="0"/>
          </a:p>
        </p:txBody>
      </p:sp>
      <p:sp>
        <p:nvSpPr>
          <p:cNvPr id="16" name="Shape 13"/>
          <p:cNvSpPr/>
          <p:nvPr/>
        </p:nvSpPr>
        <p:spPr>
          <a:xfrm>
            <a:off x="8951976" y="1920240"/>
            <a:ext cx="2651760" cy="3108960"/>
          </a:xfrm>
          <a:prstGeom prst="roundRect">
            <a:avLst>
              <a:gd name="adj" fmla="val 5172"/>
            </a:avLst>
          </a:prstGeom>
          <a:solidFill>
            <a:srgbClr val="EDF5F3"/>
          </a:solidFill>
          <a:ln w="12700">
            <a:solidFill>
              <a:srgbClr val="EDF5F3"/>
            </a:solidFill>
            <a:prstDash val="solid"/>
          </a:ln>
        </p:spPr>
      </p:sp>
      <p:sp>
        <p:nvSpPr>
          <p:cNvPr id="17" name="Text 14"/>
          <p:cNvSpPr txBox="1"/>
          <p:nvPr/>
        </p:nvSpPr>
        <p:spPr>
          <a:xfrm>
            <a:off x="9180576"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⑦ 노드 모듈화</a:t>
            </a:r>
            <a:endParaRPr lang="en-US" sz="2000" dirty="0"/>
          </a:p>
        </p:txBody>
      </p:sp>
      <p:sp>
        <p:nvSpPr>
          <p:cNvPr id="18" name="Text 15"/>
          <p:cNvSpPr txBox="1"/>
          <p:nvPr/>
        </p:nvSpPr>
        <p:spPr>
          <a:xfrm>
            <a:off x="9180576"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graph.py 425줄 → 58줄</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nodes/ 6개 모듈</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동작 변경 없음</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(테스트로 확인)</a:t>
            </a:r>
            <a:endParaRPr lang="en-US" sz="1400" dirty="0"/>
          </a:p>
        </p:txBody>
      </p:sp>
      <p:sp>
        <p:nvSpPr>
          <p:cNvPr id="19" name="Text 16"/>
          <p:cNvSpPr txBox="1"/>
          <p:nvPr/>
        </p:nvSpPr>
        <p:spPr>
          <a:xfrm>
            <a:off x="640080" y="5303520"/>
            <a:ext cx="10972800" cy="548640"/>
          </a:xfrm>
          <a:prstGeom prst="rect">
            <a:avLst/>
          </a:prstGeom>
          <a:noFill/>
          <a:ln/>
        </p:spPr>
        <p:txBody>
          <a:bodyPr wrap="square" lIns="0" tIns="0" rIns="0" bIns="0" rtlCol="0" anchor="ctr"/>
          <a:lstStyle/>
          <a:p>
            <a:pPr indent="0" marL="0">
              <a:buNone/>
            </a:pPr>
            <a:r>
              <a:rPr lang="en-US" sz="1800" b="1" dirty="0">
                <a:solidFill>
                  <a:srgbClr val="AD453F"/>
                </a:solidFill>
                <a:latin typeface="Apple SD Gothic Neo" pitchFamily="34" charset="0"/>
                <a:ea typeface="Apple SD Gothic Neo" pitchFamily="34" charset="-122"/>
                <a:cs typeface="Apple SD Gothic Neo" pitchFamily="34" charset="-120"/>
              </a:rPr>
              <a:t>개선이 만든 약점(틀린 값 통과·런북 문장 오탐)을 평가를 다시 돌려 스스로 찾아 고침</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사용한 기술: 제공 기반과 내 변경</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04 기술 요소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04</a:t>
            </a:r>
            <a:endParaRPr lang="en-US" sz="1000" dirty="0"/>
          </a:p>
        </p:txBody>
      </p:sp>
      <p:sp>
        <p:nvSpPr>
          <p:cNvPr id="7" name="Shape 4"/>
          <p:cNvSpPr/>
          <p:nvPr/>
        </p:nvSpPr>
        <p:spPr>
          <a:xfrm>
            <a:off x="640080" y="1828800"/>
            <a:ext cx="10927080" cy="475488"/>
          </a:xfrm>
          <a:prstGeom prst="rect">
            <a:avLst/>
          </a:prstGeom>
          <a:solidFill>
            <a:srgbClr val="087F73"/>
          </a:solidFill>
          <a:ln w="12700">
            <a:solidFill>
              <a:srgbClr val="DDE5DF"/>
            </a:solidFill>
            <a:prstDash val="solid"/>
          </a:ln>
        </p:spPr>
      </p:sp>
      <p:sp>
        <p:nvSpPr>
          <p:cNvPr id="8" name="Text 5"/>
          <p:cNvSpPr txBox="1"/>
          <p:nvPr/>
        </p:nvSpPr>
        <p:spPr>
          <a:xfrm>
            <a:off x="777240" y="1828800"/>
            <a:ext cx="292608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a:t>
            </a:r>
            <a:endParaRPr lang="en-US" sz="1400" dirty="0"/>
          </a:p>
        </p:txBody>
      </p:sp>
      <p:sp>
        <p:nvSpPr>
          <p:cNvPr id="9" name="Text 6"/>
          <p:cNvSpPr txBox="1"/>
          <p:nvPr/>
        </p:nvSpPr>
        <p:spPr>
          <a:xfrm>
            <a:off x="3794760" y="1828800"/>
            <a:ext cx="356616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제공받은 기반</a:t>
            </a:r>
            <a:endParaRPr lang="en-US" sz="1400" dirty="0"/>
          </a:p>
        </p:txBody>
      </p:sp>
      <p:sp>
        <p:nvSpPr>
          <p:cNvPr id="10" name="Text 7"/>
          <p:cNvSpPr txBox="1"/>
          <p:nvPr/>
        </p:nvSpPr>
        <p:spPr>
          <a:xfrm>
            <a:off x="7498080" y="1828800"/>
            <a:ext cx="402336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내가 바꾼 것</a:t>
            </a:r>
            <a:endParaRPr lang="en-US" sz="1400" dirty="0"/>
          </a:p>
        </p:txBody>
      </p:sp>
      <p:sp>
        <p:nvSpPr>
          <p:cNvPr id="11" name="Shape 8"/>
          <p:cNvSpPr/>
          <p:nvPr/>
        </p:nvSpPr>
        <p:spPr>
          <a:xfrm>
            <a:off x="640080" y="2359152"/>
            <a:ext cx="10927080" cy="475488"/>
          </a:xfrm>
          <a:prstGeom prst="rect">
            <a:avLst/>
          </a:prstGeom>
          <a:solidFill>
            <a:srgbClr val="EDF5F3"/>
          </a:solidFill>
          <a:ln w="12700">
            <a:solidFill>
              <a:srgbClr val="DDE5DF"/>
            </a:solidFill>
            <a:prstDash val="solid"/>
          </a:ln>
        </p:spPr>
      </p:sp>
      <p:sp>
        <p:nvSpPr>
          <p:cNvPr id="12" name="Text 9"/>
          <p:cNvSpPr txBox="1"/>
          <p:nvPr/>
        </p:nvSpPr>
        <p:spPr>
          <a:xfrm>
            <a:off x="777240" y="2359152"/>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LangGraph</a:t>
            </a:r>
            <a:endParaRPr lang="en-US" sz="1400" dirty="0"/>
          </a:p>
        </p:txBody>
      </p:sp>
      <p:sp>
        <p:nvSpPr>
          <p:cNvPr id="13" name="Text 10"/>
          <p:cNvSpPr txBox="1"/>
          <p:nvPr/>
        </p:nvSpPr>
        <p:spPr>
          <a:xfrm>
            <a:off x="3794760" y="2359152"/>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route→…→finalize 흐름</a:t>
            </a:r>
            <a:endParaRPr lang="en-US" sz="1400" dirty="0"/>
          </a:p>
        </p:txBody>
      </p:sp>
      <p:sp>
        <p:nvSpPr>
          <p:cNvPr id="14" name="Text 11"/>
          <p:cNvSpPr txBox="1"/>
          <p:nvPr/>
        </p:nvSpPr>
        <p:spPr>
          <a:xfrm>
            <a:off x="7498080" y="2359152"/>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검증 실패 분기 · 재조사 판단 분리</a:t>
            </a:r>
            <a:endParaRPr lang="en-US" sz="1400" dirty="0"/>
          </a:p>
        </p:txBody>
      </p:sp>
      <p:sp>
        <p:nvSpPr>
          <p:cNvPr id="15" name="Shape 12"/>
          <p:cNvSpPr/>
          <p:nvPr/>
        </p:nvSpPr>
        <p:spPr>
          <a:xfrm>
            <a:off x="640080" y="2889504"/>
            <a:ext cx="10927080" cy="475488"/>
          </a:xfrm>
          <a:prstGeom prst="rect">
            <a:avLst/>
          </a:prstGeom>
          <a:solidFill>
            <a:srgbClr val="FFFFFF"/>
          </a:solidFill>
          <a:ln w="12700">
            <a:solidFill>
              <a:srgbClr val="DDE5DF"/>
            </a:solidFill>
            <a:prstDash val="solid"/>
          </a:ln>
        </p:spPr>
      </p:sp>
      <p:sp>
        <p:nvSpPr>
          <p:cNvPr id="16" name="Text 13"/>
          <p:cNvSpPr txBox="1"/>
          <p:nvPr/>
        </p:nvSpPr>
        <p:spPr>
          <a:xfrm>
            <a:off x="777240" y="2889504"/>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Multi-Agent</a:t>
            </a:r>
            <a:endParaRPr lang="en-US" sz="1400" dirty="0"/>
          </a:p>
        </p:txBody>
      </p:sp>
      <p:sp>
        <p:nvSpPr>
          <p:cNvPr id="17" name="Text 14"/>
          <p:cNvSpPr txBox="1"/>
          <p:nvPr/>
        </p:nvSpPr>
        <p:spPr>
          <a:xfrm>
            <a:off x="3794760" y="2889504"/>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단일 그래프 supervisor 노드</a:t>
            </a:r>
            <a:endParaRPr lang="en-US" sz="1400" dirty="0"/>
          </a:p>
        </p:txBody>
      </p:sp>
      <p:sp>
        <p:nvSpPr>
          <p:cNvPr id="18" name="Text 15"/>
          <p:cNvSpPr txBox="1"/>
          <p:nvPr/>
        </p:nvSpPr>
        <p:spPr>
          <a:xfrm>
            <a:off x="7498080" y="2889504"/>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research → 서브에이전트 2개 (ADR-10)</a:t>
            </a:r>
            <a:endParaRPr lang="en-US" sz="1400" dirty="0"/>
          </a:p>
        </p:txBody>
      </p:sp>
      <p:sp>
        <p:nvSpPr>
          <p:cNvPr id="19" name="Shape 16"/>
          <p:cNvSpPr/>
          <p:nvPr/>
        </p:nvSpPr>
        <p:spPr>
          <a:xfrm>
            <a:off x="640080" y="3419856"/>
            <a:ext cx="10927080" cy="475488"/>
          </a:xfrm>
          <a:prstGeom prst="rect">
            <a:avLst/>
          </a:prstGeom>
          <a:solidFill>
            <a:srgbClr val="EDF5F3"/>
          </a:solidFill>
          <a:ln w="12700">
            <a:solidFill>
              <a:srgbClr val="DDE5DF"/>
            </a:solidFill>
            <a:prstDash val="solid"/>
          </a:ln>
        </p:spPr>
      </p:sp>
      <p:sp>
        <p:nvSpPr>
          <p:cNvPr id="20" name="Text 17"/>
          <p:cNvSpPr txBox="1"/>
          <p:nvPr/>
        </p:nvSpPr>
        <p:spPr>
          <a:xfrm>
            <a:off x="777240" y="3419856"/>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MCP · RAG 흐름</a:t>
            </a:r>
            <a:endParaRPr lang="en-US" sz="1400" dirty="0"/>
          </a:p>
        </p:txBody>
      </p:sp>
      <p:sp>
        <p:nvSpPr>
          <p:cNvPr id="21" name="Text 18"/>
          <p:cNvSpPr txBox="1"/>
          <p:nvPr/>
        </p:nvSpPr>
        <p:spPr>
          <a:xfrm>
            <a:off x="3794760" y="3419856"/>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모니터링 도구·매뉴얼 조회</a:t>
            </a:r>
            <a:endParaRPr lang="en-US" sz="1400" dirty="0"/>
          </a:p>
        </p:txBody>
      </p:sp>
      <p:sp>
        <p:nvSpPr>
          <p:cNvPr id="22" name="Text 19"/>
          <p:cNvSpPr txBox="1"/>
          <p:nvPr/>
        </p:nvSpPr>
        <p:spPr>
          <a:xfrm>
            <a:off x="7498080" y="3419856"/>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검색 도구 추가 → 검색→작성 (ADR-02)</a:t>
            </a:r>
            <a:endParaRPr lang="en-US" sz="1400" dirty="0"/>
          </a:p>
        </p:txBody>
      </p:sp>
      <p:sp>
        <p:nvSpPr>
          <p:cNvPr id="23" name="Shape 20"/>
          <p:cNvSpPr/>
          <p:nvPr/>
        </p:nvSpPr>
        <p:spPr>
          <a:xfrm>
            <a:off x="640080" y="3950208"/>
            <a:ext cx="10927080" cy="475488"/>
          </a:xfrm>
          <a:prstGeom prst="rect">
            <a:avLst/>
          </a:prstGeom>
          <a:solidFill>
            <a:srgbClr val="FFFFFF"/>
          </a:solidFill>
          <a:ln w="12700">
            <a:solidFill>
              <a:srgbClr val="DDE5DF"/>
            </a:solidFill>
            <a:prstDash val="solid"/>
          </a:ln>
        </p:spPr>
      </p:sp>
      <p:sp>
        <p:nvSpPr>
          <p:cNvPr id="24" name="Text 21"/>
          <p:cNvSpPr txBox="1"/>
          <p:nvPr/>
        </p:nvSpPr>
        <p:spPr>
          <a:xfrm>
            <a:off x="777240" y="3950208"/>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병렬 조사</a:t>
            </a:r>
            <a:endParaRPr lang="en-US" sz="1400" dirty="0"/>
          </a:p>
        </p:txBody>
      </p:sp>
      <p:sp>
        <p:nvSpPr>
          <p:cNvPr id="25" name="Text 22"/>
          <p:cNvSpPr txBox="1"/>
          <p:nvPr/>
        </p:nvSpPr>
        <p:spPr>
          <a:xfrm>
            <a:off x="3794760" y="3950208"/>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asyncio.gather</a:t>
            </a:r>
            <a:endParaRPr lang="en-US" sz="1400" dirty="0"/>
          </a:p>
        </p:txBody>
      </p:sp>
      <p:sp>
        <p:nvSpPr>
          <p:cNvPr id="26" name="Text 23"/>
          <p:cNvSpPr txBox="1"/>
          <p:nvPr/>
        </p:nvSpPr>
        <p:spPr>
          <a:xfrm>
            <a:off x="7498080" y="3950208"/>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부분 실패 격리 · 시간 제한</a:t>
            </a:r>
            <a:endParaRPr lang="en-US" sz="1400" dirty="0"/>
          </a:p>
        </p:txBody>
      </p:sp>
      <p:sp>
        <p:nvSpPr>
          <p:cNvPr id="27" name="Shape 24"/>
          <p:cNvSpPr/>
          <p:nvPr/>
        </p:nvSpPr>
        <p:spPr>
          <a:xfrm>
            <a:off x="640080" y="4480560"/>
            <a:ext cx="10927080" cy="475488"/>
          </a:xfrm>
          <a:prstGeom prst="rect">
            <a:avLst/>
          </a:prstGeom>
          <a:solidFill>
            <a:srgbClr val="EDF5F3"/>
          </a:solidFill>
          <a:ln w="12700">
            <a:solidFill>
              <a:srgbClr val="DDE5DF"/>
            </a:solidFill>
            <a:prstDash val="solid"/>
          </a:ln>
        </p:spPr>
      </p:sp>
      <p:sp>
        <p:nvSpPr>
          <p:cNvPr id="28" name="Text 25"/>
          <p:cNvSpPr txBox="1"/>
          <p:nvPr/>
        </p:nvSpPr>
        <p:spPr>
          <a:xfrm>
            <a:off x="777240" y="4480560"/>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모듈화 · DI · 테스트</a:t>
            </a:r>
            <a:endParaRPr lang="en-US" sz="1400" dirty="0"/>
          </a:p>
        </p:txBody>
      </p:sp>
      <p:sp>
        <p:nvSpPr>
          <p:cNvPr id="29" name="Text 26"/>
          <p:cNvSpPr txBox="1"/>
          <p:nvPr/>
        </p:nvSpPr>
        <p:spPr>
          <a:xfrm>
            <a:off x="3794760" y="4480560"/>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agent/ 패키지 · SupervisorDeps 주입</a:t>
            </a:r>
            <a:endParaRPr lang="en-US" sz="1400" dirty="0"/>
          </a:p>
        </p:txBody>
      </p:sp>
      <p:sp>
        <p:nvSpPr>
          <p:cNvPr id="30" name="Text 27"/>
          <p:cNvSpPr txBox="1"/>
          <p:nvPr/>
        </p:nvSpPr>
        <p:spPr>
          <a:xfrm>
            <a:off x="7498080" y="4480560"/>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nodes/ 분리 · 서브에이전트 DI · 테스트 6종</a:t>
            </a:r>
            <a:endParaRPr lang="en-US" sz="1400" dirty="0"/>
          </a:p>
        </p:txBody>
      </p:sp>
      <p:sp>
        <p:nvSpPr>
          <p:cNvPr id="31" name="Shape 28"/>
          <p:cNvSpPr/>
          <p:nvPr/>
        </p:nvSpPr>
        <p:spPr>
          <a:xfrm>
            <a:off x="640080" y="5010912"/>
            <a:ext cx="10927080" cy="475488"/>
          </a:xfrm>
          <a:prstGeom prst="rect">
            <a:avLst/>
          </a:prstGeom>
          <a:solidFill>
            <a:srgbClr val="FFFFFF"/>
          </a:solidFill>
          <a:ln w="12700">
            <a:solidFill>
              <a:srgbClr val="DDE5DF"/>
            </a:solidFill>
            <a:prstDash val="solid"/>
          </a:ln>
        </p:spPr>
      </p:sp>
      <p:sp>
        <p:nvSpPr>
          <p:cNvPr id="32" name="Text 29"/>
          <p:cNvSpPr txBox="1"/>
          <p:nvPr/>
        </p:nvSpPr>
        <p:spPr>
          <a:xfrm>
            <a:off x="777240" y="5010912"/>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FastAPI · SSE · SQLite</a:t>
            </a:r>
            <a:endParaRPr lang="en-US" sz="1400" dirty="0"/>
          </a:p>
        </p:txBody>
      </p:sp>
      <p:sp>
        <p:nvSpPr>
          <p:cNvPr id="33" name="Text 30"/>
          <p:cNvSpPr txBox="1"/>
          <p:nvPr/>
        </p:nvSpPr>
        <p:spPr>
          <a:xfrm>
            <a:off x="3794760" y="5010912"/>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서버 · 진행 스트리밍 · 세션</a:t>
            </a:r>
            <a:endParaRPr lang="en-US" sz="1400" dirty="0"/>
          </a:p>
        </p:txBody>
      </p:sp>
      <p:sp>
        <p:nvSpPr>
          <p:cNvPr id="34" name="Text 31"/>
          <p:cNvSpPr txBox="1"/>
          <p:nvPr/>
        </p:nvSpPr>
        <p:spPr>
          <a:xfrm>
            <a:off x="7498080" y="5010912"/>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초안 토큰 차단 · metadata 확장</a:t>
            </a:r>
            <a:endParaRPr lang="en-US" sz="1400" dirty="0"/>
          </a:p>
        </p:txBody>
      </p:sp>
      <p:sp>
        <p:nvSpPr>
          <p:cNvPr id="35" name="Shape 32"/>
          <p:cNvSpPr/>
          <p:nvPr/>
        </p:nvSpPr>
        <p:spPr>
          <a:xfrm>
            <a:off x="640080" y="5541264"/>
            <a:ext cx="10927080" cy="475488"/>
          </a:xfrm>
          <a:prstGeom prst="rect">
            <a:avLst/>
          </a:prstGeom>
          <a:solidFill>
            <a:srgbClr val="EDF5F3"/>
          </a:solidFill>
          <a:ln w="12700">
            <a:solidFill>
              <a:srgbClr val="DDE5DF"/>
            </a:solidFill>
            <a:prstDash val="solid"/>
          </a:ln>
        </p:spPr>
      </p:sp>
      <p:sp>
        <p:nvSpPr>
          <p:cNvPr id="36" name="Text 33"/>
          <p:cNvSpPr txBox="1"/>
          <p:nvPr/>
        </p:nvSpPr>
        <p:spPr>
          <a:xfrm>
            <a:off x="777240" y="5541264"/>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모델 분리 · LangSmith</a:t>
            </a:r>
            <a:endParaRPr lang="en-US" sz="1400" dirty="0"/>
          </a:p>
        </p:txBody>
      </p:sp>
      <p:sp>
        <p:nvSpPr>
          <p:cNvPr id="37" name="Text 34"/>
          <p:cNvSpPr txBox="1"/>
          <p:nvPr/>
        </p:nvSpPr>
        <p:spPr>
          <a:xfrm>
            <a:off x="3794760" y="5541264"/>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fast/quality · 추적 코드</a:t>
            </a:r>
            <a:endParaRPr lang="en-US" sz="1400" dirty="0"/>
          </a:p>
        </p:txBody>
      </p:sp>
      <p:sp>
        <p:nvSpPr>
          <p:cNvPr id="38" name="Text 35"/>
          <p:cNvSpPr txBox="1"/>
          <p:nvPr/>
        </p:nvSpPr>
        <p:spPr>
          <a:xfrm>
            <a:off x="7498080" y="5541264"/>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효과 측정 · 추적 트리 확인(평가는 안 함)</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최종 실행 화면</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05 최종 실행 · 10초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05</a:t>
            </a:r>
            <a:endParaRPr lang="en-US" sz="1000" dirty="0"/>
          </a:p>
        </p:txBody>
      </p:sp>
      <p:pic>
        <p:nvPicPr>
          <p:cNvPr id="7" name="Image 0" descr="최종점검_정상.png">    </p:cNvPr>
          <p:cNvPicPr>
            <a:picLocks noChangeAspect="1"/>
          </p:cNvPicPr>
          <p:nvPr/>
        </p:nvPicPr>
        <p:blipFill>
          <a:blip r:embed="rId1"/>
          <a:stretch>
            <a:fillRect/>
          </a:stretch>
        </p:blipFill>
        <p:spPr>
          <a:xfrm>
            <a:off x="640080" y="1920240"/>
            <a:ext cx="6858000" cy="3858768"/>
          </a:xfrm>
          <a:prstGeom prst="rect">
            <a:avLst/>
          </a:prstGeom>
        </p:spPr>
      </p:pic>
      <p:sp>
        <p:nvSpPr>
          <p:cNvPr id="8" name="Shape 4"/>
          <p:cNvSpPr/>
          <p:nvPr/>
        </p:nvSpPr>
        <p:spPr>
          <a:xfrm>
            <a:off x="7772400" y="2103120"/>
            <a:ext cx="3749040" cy="2743200"/>
          </a:xfrm>
          <a:prstGeom prst="roundRect">
            <a:avLst>
              <a:gd name="adj" fmla="val 5000"/>
            </a:avLst>
          </a:prstGeom>
          <a:solidFill>
            <a:srgbClr val="EDF5F3"/>
          </a:solidFill>
          <a:ln w="12700">
            <a:solidFill>
              <a:srgbClr val="EDF5F3"/>
            </a:solidFill>
            <a:prstDash val="solid"/>
          </a:ln>
        </p:spPr>
      </p:sp>
      <p:sp>
        <p:nvSpPr>
          <p:cNvPr id="9" name="Text 5"/>
          <p:cNvSpPr txBox="1"/>
          <p:nvPr/>
        </p:nvSpPr>
        <p:spPr>
          <a:xfrm>
            <a:off x="8001000" y="2286000"/>
            <a:ext cx="329184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화면에서 확인할 것</a:t>
            </a:r>
            <a:endParaRPr lang="en-US" sz="2000" dirty="0"/>
          </a:p>
        </p:txBody>
      </p:sp>
      <p:sp>
        <p:nvSpPr>
          <p:cNvPr id="10" name="Text 6"/>
          <p:cNvSpPr txBox="1"/>
          <p:nvPr/>
        </p:nvSpPr>
        <p:spPr>
          <a:xfrm>
            <a:off x="8001000" y="2880360"/>
            <a:ext cx="3291840" cy="18288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① 최종 답변: 초안은 비공개</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② 근거 비교표: 수집값 vs 답변값</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③ 매뉴얼 검색 근거: 후보·점수</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④ 검증 범위: 대조한 항목만 명시</a:t>
            </a:r>
            <a:endParaRPr lang="en-US" sz="1500" dirty="0"/>
          </a:p>
        </p:txBody>
      </p:sp>
      <p:sp>
        <p:nvSpPr>
          <p:cNvPr id="11" name="Text 7"/>
          <p:cNvSpPr txBox="1"/>
          <p:nvPr/>
        </p:nvSpPr>
        <p:spPr>
          <a:xfrm>
            <a:off x="7772400" y="5120640"/>
            <a:ext cx="3749040" cy="731520"/>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실제 서버+MCP+임베딩, 작성 모델은 모의(정해진 응답)</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화면 개선: 검증 근거를 확인할 수 있게</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06 화면 설계 의도 · 제공받은 Vue 화면을 근거 확인 중심으로 개선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06</a:t>
            </a:r>
            <a:endParaRPr lang="en-US" sz="1000" dirty="0"/>
          </a:p>
        </p:txBody>
      </p:sp>
      <p:pic>
        <p:nvPicPr>
          <p:cNvPr id="7" name="Image 0" descr="화면설명_주석.png">    </p:cNvPr>
          <p:cNvPicPr>
            <a:picLocks noChangeAspect="1"/>
          </p:cNvPicPr>
          <p:nvPr/>
        </p:nvPicPr>
        <p:blipFill>
          <a:blip r:embed="rId1"/>
          <a:stretch>
            <a:fillRect/>
          </a:stretch>
        </p:blipFill>
        <p:spPr>
          <a:xfrm>
            <a:off x="548640" y="1737360"/>
            <a:ext cx="4389120" cy="4617720"/>
          </a:xfrm>
          <a:prstGeom prst="rect">
            <a:avLst/>
          </a:prstGeom>
        </p:spPr>
      </p:pic>
      <p:sp>
        <p:nvSpPr>
          <p:cNvPr id="8" name="Shape 4"/>
          <p:cNvSpPr/>
          <p:nvPr/>
        </p:nvSpPr>
        <p:spPr>
          <a:xfrm>
            <a:off x="5257800" y="1819656"/>
            <a:ext cx="384048" cy="384048"/>
          </a:xfrm>
          <a:prstGeom prst="ellipse">
            <a:avLst/>
          </a:prstGeom>
          <a:solidFill>
            <a:srgbClr val="087F73"/>
          </a:solidFill>
          <a:ln w="12700">
            <a:solidFill>
              <a:srgbClr val="087F73"/>
            </a:solidFill>
            <a:prstDash val="solid"/>
          </a:ln>
        </p:spPr>
      </p:sp>
      <p:sp>
        <p:nvSpPr>
          <p:cNvPr id="9" name="Text 5"/>
          <p:cNvSpPr/>
          <p:nvPr/>
        </p:nvSpPr>
        <p:spPr>
          <a:xfrm>
            <a:off x="5257800" y="18196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10" name="Text 6"/>
          <p:cNvSpPr txBox="1"/>
          <p:nvPr/>
        </p:nvSpPr>
        <p:spPr>
          <a:xfrm>
            <a:off x="5806440" y="1764792"/>
            <a:ext cx="5852160" cy="27432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진행 단계</a:t>
            </a:r>
            <a:endParaRPr lang="en-US" sz="1600" dirty="0"/>
          </a:p>
        </p:txBody>
      </p:sp>
      <p:sp>
        <p:nvSpPr>
          <p:cNvPr id="11" name="Text 7"/>
          <p:cNvSpPr txBox="1"/>
          <p:nvPr/>
        </p:nvSpPr>
        <p:spPr>
          <a:xfrm>
            <a:off x="5806440" y="2039112"/>
            <a:ext cx="5852160" cy="256032"/>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기다리는 동안 무엇을 하는지 보인다</a:t>
            </a:r>
            <a:endParaRPr lang="en-US" sz="1300" dirty="0"/>
          </a:p>
        </p:txBody>
      </p:sp>
      <p:sp>
        <p:nvSpPr>
          <p:cNvPr id="12" name="Shape 8"/>
          <p:cNvSpPr/>
          <p:nvPr/>
        </p:nvSpPr>
        <p:spPr>
          <a:xfrm>
            <a:off x="5257800" y="2404872"/>
            <a:ext cx="384048" cy="384048"/>
          </a:xfrm>
          <a:prstGeom prst="ellipse">
            <a:avLst/>
          </a:prstGeom>
          <a:solidFill>
            <a:srgbClr val="087F73"/>
          </a:solidFill>
          <a:ln w="12700">
            <a:solidFill>
              <a:srgbClr val="087F73"/>
            </a:solidFill>
            <a:prstDash val="solid"/>
          </a:ln>
        </p:spPr>
      </p:sp>
      <p:sp>
        <p:nvSpPr>
          <p:cNvPr id="13" name="Text 9"/>
          <p:cNvSpPr/>
          <p:nvPr/>
        </p:nvSpPr>
        <p:spPr>
          <a:xfrm>
            <a:off x="5257800" y="2404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14" name="Text 10"/>
          <p:cNvSpPr txBox="1"/>
          <p:nvPr/>
        </p:nvSpPr>
        <p:spPr>
          <a:xfrm>
            <a:off x="5806440" y="2350008"/>
            <a:ext cx="5852160" cy="27432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수집값 ↔ 답변값 비교표</a:t>
            </a:r>
            <a:endParaRPr lang="en-US" sz="1600" dirty="0"/>
          </a:p>
        </p:txBody>
      </p:sp>
      <p:sp>
        <p:nvSpPr>
          <p:cNvPr id="15" name="Text 11"/>
          <p:cNvSpPr txBox="1"/>
          <p:nvPr/>
        </p:nvSpPr>
        <p:spPr>
          <a:xfrm>
            <a:off x="5806440" y="2624328"/>
            <a:ext cx="5852160" cy="256032"/>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통과했다는 말만 믿지 않고 직접 비교한다</a:t>
            </a:r>
            <a:endParaRPr lang="en-US" sz="1300" dirty="0"/>
          </a:p>
        </p:txBody>
      </p:sp>
      <p:sp>
        <p:nvSpPr>
          <p:cNvPr id="16" name="Shape 12"/>
          <p:cNvSpPr/>
          <p:nvPr/>
        </p:nvSpPr>
        <p:spPr>
          <a:xfrm>
            <a:off x="5257800" y="2990088"/>
            <a:ext cx="384048" cy="384048"/>
          </a:xfrm>
          <a:prstGeom prst="ellipse">
            <a:avLst/>
          </a:prstGeom>
          <a:solidFill>
            <a:srgbClr val="087F73"/>
          </a:solidFill>
          <a:ln w="12700">
            <a:solidFill>
              <a:srgbClr val="087F73"/>
            </a:solidFill>
            <a:prstDash val="solid"/>
          </a:ln>
        </p:spPr>
      </p:sp>
      <p:sp>
        <p:nvSpPr>
          <p:cNvPr id="17" name="Text 13"/>
          <p:cNvSpPr/>
          <p:nvPr/>
        </p:nvSpPr>
        <p:spPr>
          <a:xfrm>
            <a:off x="5257800" y="2990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18" name="Text 14"/>
          <p:cNvSpPr txBox="1"/>
          <p:nvPr/>
        </p:nvSpPr>
        <p:spPr>
          <a:xfrm>
            <a:off x="5806440" y="2935224"/>
            <a:ext cx="5852160" cy="27432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검색 후보와 유사도</a:t>
            </a:r>
            <a:endParaRPr lang="en-US" sz="1600" dirty="0"/>
          </a:p>
        </p:txBody>
      </p:sp>
      <p:sp>
        <p:nvSpPr>
          <p:cNvPr id="19" name="Text 15"/>
          <p:cNvSpPr txBox="1"/>
          <p:nvPr/>
        </p:nvSpPr>
        <p:spPr>
          <a:xfrm>
            <a:off x="5806440" y="3209544"/>
            <a:ext cx="5852160" cy="256032"/>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어떤 매뉴얼이 선택됐는지 확인한다 (점수는 확률이 아님)</a:t>
            </a:r>
            <a:endParaRPr lang="en-US" sz="1300" dirty="0"/>
          </a:p>
        </p:txBody>
      </p:sp>
      <p:sp>
        <p:nvSpPr>
          <p:cNvPr id="20" name="Shape 16"/>
          <p:cNvSpPr/>
          <p:nvPr/>
        </p:nvSpPr>
        <p:spPr>
          <a:xfrm>
            <a:off x="5257800" y="3575304"/>
            <a:ext cx="384048" cy="384048"/>
          </a:xfrm>
          <a:prstGeom prst="ellipse">
            <a:avLst/>
          </a:prstGeom>
          <a:solidFill>
            <a:srgbClr val="087F73"/>
          </a:solidFill>
          <a:ln w="12700">
            <a:solidFill>
              <a:srgbClr val="087F73"/>
            </a:solidFill>
            <a:prstDash val="solid"/>
          </a:ln>
        </p:spPr>
      </p:sp>
      <p:sp>
        <p:nvSpPr>
          <p:cNvPr id="21" name="Text 17"/>
          <p:cNvSpPr/>
          <p:nvPr/>
        </p:nvSpPr>
        <p:spPr>
          <a:xfrm>
            <a:off x="5257800" y="3575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22" name="Text 18"/>
          <p:cNvSpPr txBox="1"/>
          <p:nvPr/>
        </p:nvSpPr>
        <p:spPr>
          <a:xfrm>
            <a:off x="5806440" y="3520440"/>
            <a:ext cx="5852160" cy="27432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상태 구분</a:t>
            </a:r>
            <a:endParaRPr lang="en-US" sz="1600" dirty="0"/>
          </a:p>
        </p:txBody>
      </p:sp>
      <p:sp>
        <p:nvSpPr>
          <p:cNvPr id="23" name="Text 19"/>
          <p:cNvSpPr txBox="1"/>
          <p:nvPr/>
        </p:nvSpPr>
        <p:spPr>
          <a:xfrm>
            <a:off x="5806440" y="3794760"/>
            <a:ext cx="5852160" cy="256032"/>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정상, 검증 실패, 자료 부족을 다르게 안내한다</a:t>
            </a:r>
            <a:endParaRPr lang="en-US" sz="1300" dirty="0"/>
          </a:p>
        </p:txBody>
      </p:sp>
      <p:sp>
        <p:nvSpPr>
          <p:cNvPr id="24" name="Shape 20"/>
          <p:cNvSpPr/>
          <p:nvPr/>
        </p:nvSpPr>
        <p:spPr>
          <a:xfrm>
            <a:off x="5257800" y="4160520"/>
            <a:ext cx="384048" cy="384048"/>
          </a:xfrm>
          <a:prstGeom prst="ellipse">
            <a:avLst/>
          </a:prstGeom>
          <a:solidFill>
            <a:srgbClr val="087F73"/>
          </a:solidFill>
          <a:ln w="12700">
            <a:solidFill>
              <a:srgbClr val="087F73"/>
            </a:solidFill>
            <a:prstDash val="solid"/>
          </a:ln>
        </p:spPr>
      </p:sp>
      <p:sp>
        <p:nvSpPr>
          <p:cNvPr id="25" name="Text 21"/>
          <p:cNvSpPr/>
          <p:nvPr/>
        </p:nvSpPr>
        <p:spPr>
          <a:xfrm>
            <a:off x="525780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26" name="Text 22"/>
          <p:cNvSpPr txBox="1"/>
          <p:nvPr/>
        </p:nvSpPr>
        <p:spPr>
          <a:xfrm>
            <a:off x="5806440" y="4105656"/>
            <a:ext cx="5852160" cy="27432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초안 비공개</a:t>
            </a:r>
            <a:endParaRPr lang="en-US" sz="1600" dirty="0"/>
          </a:p>
        </p:txBody>
      </p:sp>
      <p:sp>
        <p:nvSpPr>
          <p:cNvPr id="27" name="Text 23"/>
          <p:cNvSpPr txBox="1"/>
          <p:nvPr/>
        </p:nvSpPr>
        <p:spPr>
          <a:xfrm>
            <a:off x="5806440" y="4379976"/>
            <a:ext cx="5852160" cy="256032"/>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반려될 초안은 먼저 보여주지 않는다</a:t>
            </a:r>
            <a:endParaRPr lang="en-US" sz="1300" dirty="0"/>
          </a:p>
        </p:txBody>
      </p:sp>
      <p:sp>
        <p:nvSpPr>
          <p:cNvPr id="28" name="Text 24"/>
          <p:cNvSpPr txBox="1"/>
          <p:nvPr/>
        </p:nvSpPr>
        <p:spPr>
          <a:xfrm>
            <a:off x="5257800" y="4617720"/>
            <a:ext cx="2468880" cy="274320"/>
          </a:xfrm>
          <a:prstGeom prst="rect">
            <a:avLst/>
          </a:prstGeom>
          <a:noFill/>
          <a:ln/>
        </p:spPr>
        <p:txBody>
          <a:bodyPr wrap="square" lIns="0" tIns="0" rIns="0" bIns="0" rtlCol="0" anchor="ctr"/>
          <a:lstStyle/>
          <a:p>
            <a:pPr indent="0" marL="0">
              <a:buNone/>
            </a:pPr>
            <a:r>
              <a:rPr lang="en-US" sz="1300" b="1" dirty="0">
                <a:solidFill>
                  <a:srgbClr val="AD453F"/>
                </a:solidFill>
                <a:latin typeface="Apple SD Gothic Neo" pitchFamily="34" charset="0"/>
                <a:ea typeface="Apple SD Gothic Neo" pitchFamily="34" charset="-122"/>
                <a:cs typeface="Apple SD Gothic Neo" pitchFamily="34" charset="-120"/>
              </a:rPr>
              <a:t>검증 실패</a:t>
            </a:r>
            <a:endParaRPr lang="en-US" sz="1300" dirty="0"/>
          </a:p>
        </p:txBody>
      </p:sp>
      <p:sp>
        <p:nvSpPr>
          <p:cNvPr id="29" name="Text 25"/>
          <p:cNvSpPr txBox="1"/>
          <p:nvPr/>
        </p:nvSpPr>
        <p:spPr>
          <a:xfrm>
            <a:off x="8138160" y="4617720"/>
            <a:ext cx="3200400" cy="274320"/>
          </a:xfrm>
          <a:prstGeom prst="rect">
            <a:avLst/>
          </a:prstGeom>
          <a:noFill/>
          <a:ln/>
        </p:spPr>
        <p:txBody>
          <a:bodyPr wrap="square" lIns="0" tIns="0" rIns="0" bIns="0" rtlCol="0" anchor="ctr"/>
          <a:lstStyle/>
          <a:p>
            <a:pPr indent="0" marL="0">
              <a:buNone/>
            </a:pPr>
            <a:r>
              <a:rPr lang="en-US" sz="1300" b="1" dirty="0">
                <a:solidFill>
                  <a:srgbClr val="AD453F"/>
                </a:solidFill>
                <a:latin typeface="Apple SD Gothic Neo" pitchFamily="34" charset="0"/>
                <a:ea typeface="Apple SD Gothic Neo" pitchFamily="34" charset="-122"/>
                <a:cs typeface="Apple SD Gothic Neo" pitchFamily="34" charset="-120"/>
              </a:rPr>
              <a:t>자료 부족 · 검증 불가</a:t>
            </a:r>
            <a:endParaRPr lang="en-US" sz="1300" dirty="0"/>
          </a:p>
        </p:txBody>
      </p:sp>
      <p:sp>
        <p:nvSpPr>
          <p:cNvPr id="30" name="Shape 26"/>
          <p:cNvSpPr/>
          <p:nvPr/>
        </p:nvSpPr>
        <p:spPr>
          <a:xfrm>
            <a:off x="5230368" y="4910328"/>
            <a:ext cx="2752344" cy="1554480"/>
          </a:xfrm>
          <a:prstGeom prst="rect">
            <a:avLst/>
          </a:prstGeom>
          <a:solidFill>
            <a:srgbClr val="FFFFFF"/>
          </a:solidFill>
          <a:ln w="12700">
            <a:solidFill>
              <a:srgbClr val="DDE5DF"/>
            </a:solidFill>
            <a:prstDash val="solid"/>
          </a:ln>
        </p:spPr>
      </p:sp>
      <p:pic>
        <p:nvPicPr>
          <p:cNvPr id="31" name="Image 1" descr="최종점검_검증실패.png">    </p:cNvPr>
          <p:cNvPicPr>
            <a:picLocks noChangeAspect="1"/>
          </p:cNvPicPr>
          <p:nvPr/>
        </p:nvPicPr>
        <p:blipFill>
          <a:blip r:embed="rId2"/>
          <a:stretch>
            <a:fillRect/>
          </a:stretch>
        </p:blipFill>
        <p:spPr>
          <a:xfrm>
            <a:off x="5257800" y="4937760"/>
            <a:ext cx="2697480" cy="1517904"/>
          </a:xfrm>
          <a:prstGeom prst="rect">
            <a:avLst/>
          </a:prstGeom>
        </p:spPr>
      </p:pic>
      <p:sp>
        <p:nvSpPr>
          <p:cNvPr id="32" name="Shape 27"/>
          <p:cNvSpPr/>
          <p:nvPr/>
        </p:nvSpPr>
        <p:spPr>
          <a:xfrm>
            <a:off x="8110728" y="4910328"/>
            <a:ext cx="2752344" cy="1554480"/>
          </a:xfrm>
          <a:prstGeom prst="rect">
            <a:avLst/>
          </a:prstGeom>
          <a:solidFill>
            <a:srgbClr val="FFFFFF"/>
          </a:solidFill>
          <a:ln w="12700">
            <a:solidFill>
              <a:srgbClr val="DDE5DF"/>
            </a:solidFill>
            <a:prstDash val="solid"/>
          </a:ln>
        </p:spPr>
      </p:sp>
      <p:pic>
        <p:nvPicPr>
          <p:cNvPr id="33" name="Image 2" descr="최종점검_자료부족.png">    </p:cNvPr>
          <p:cNvPicPr>
            <a:picLocks noChangeAspect="1"/>
          </p:cNvPicPr>
          <p:nvPr/>
        </p:nvPicPr>
        <p:blipFill>
          <a:blip r:embed="rId3"/>
          <a:stretch>
            <a:fillRect/>
          </a:stretch>
        </p:blipFill>
        <p:spPr>
          <a:xfrm>
            <a:off x="8138160" y="4937760"/>
            <a:ext cx="2697480" cy="15179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선택 전후 비교 화면</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07 같은 틀린 답변, 같은 질문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07</a:t>
            </a:r>
            <a:endParaRPr lang="en-US" sz="1000" dirty="0"/>
          </a:p>
        </p:txBody>
      </p:sp>
      <p:sp>
        <p:nvSpPr>
          <p:cNvPr id="7" name="Text 4"/>
          <p:cNvSpPr txBox="1"/>
          <p:nvPr/>
        </p:nvSpPr>
        <p:spPr>
          <a:xfrm>
            <a:off x="640080" y="1783080"/>
            <a:ext cx="4206240" cy="365760"/>
          </a:xfrm>
          <a:prstGeom prst="rect">
            <a:avLst/>
          </a:prstGeom>
          <a:noFill/>
          <a:ln/>
        </p:spPr>
        <p:txBody>
          <a:bodyPr wrap="square" lIns="0" tIns="0" rIns="0" bIns="0" rtlCol="0" anchor="ctr"/>
          <a:lstStyle/>
          <a:p>
            <a:pPr indent="0" marL="0">
              <a:buNone/>
            </a:pPr>
            <a:r>
              <a:rPr lang="en-US" sz="1600" b="1" dirty="0">
                <a:solidFill>
                  <a:srgbClr val="AD453F"/>
                </a:solidFill>
                <a:latin typeface="Apple SD Gothic Neo" pitchFamily="34" charset="0"/>
                <a:ea typeface="Apple SD Gothic Neo" pitchFamily="34" charset="-122"/>
                <a:cs typeface="Apple SD Gothic Neo" pitchFamily="34" charset="-120"/>
              </a:rPr>
              <a:t>개선 전 (legacy 검증)</a:t>
            </a:r>
            <a:endParaRPr lang="en-US" sz="1600" dirty="0"/>
          </a:p>
        </p:txBody>
      </p:sp>
      <p:pic>
        <p:nvPicPr>
          <p:cNvPr id="8" name="Image 0" descr="개선전_답변_확대.png">    </p:cNvPr>
          <p:cNvPicPr>
            <a:picLocks noChangeAspect="1"/>
          </p:cNvPicPr>
          <p:nvPr/>
        </p:nvPicPr>
        <p:blipFill>
          <a:blip r:embed="rId1"/>
          <a:stretch>
            <a:fillRect/>
          </a:stretch>
        </p:blipFill>
        <p:spPr>
          <a:xfrm>
            <a:off x="640080" y="2194560"/>
            <a:ext cx="3931920" cy="1572768"/>
          </a:xfrm>
          <a:prstGeom prst="rect">
            <a:avLst/>
          </a:prstGeom>
        </p:spPr>
      </p:pic>
      <p:sp>
        <p:nvSpPr>
          <p:cNvPr id="9" name="Text 5"/>
          <p:cNvSpPr txBox="1"/>
          <p:nvPr/>
        </p:nvSpPr>
        <p:spPr>
          <a:xfrm>
            <a:off x="640080" y="3886200"/>
            <a:ext cx="3931920" cy="731520"/>
          </a:xfrm>
          <a:prstGeom prst="rect">
            <a:avLst/>
          </a:prstGeom>
          <a:noFill/>
          <a:ln/>
        </p:spPr>
        <p:txBody>
          <a:bodyPr wrap="square" lIns="0" tIns="0" rIns="0" bIns="0" rtlCol="0" anchor="t"/>
          <a:lstStyle/>
          <a:p>
            <a:pPr indent="0" marL="0">
              <a:buNone/>
            </a:pPr>
            <a:r>
              <a:rPr lang="en-US" sz="1400" dirty="0">
                <a:solidFill>
                  <a:srgbClr val="AD453F"/>
                </a:solidFill>
                <a:latin typeface="Apple SD Gothic Neo" pitchFamily="34" charset="0"/>
                <a:ea typeface="Apple SD Gothic Neo" pitchFamily="34" charset="-122"/>
                <a:cs typeface="Apple SD Gothic Neo" pitchFamily="34" charset="-120"/>
              </a:rPr>
              <a:t>→ 틀린 CPU(100.5%·54.8%)가 근거 표시 없이 최종 응답</a:t>
            </a:r>
            <a:endParaRPr lang="en-US" sz="1400" dirty="0"/>
          </a:p>
        </p:txBody>
      </p:sp>
      <p:sp>
        <p:nvSpPr>
          <p:cNvPr id="10" name="Text 6"/>
          <p:cNvSpPr txBox="1"/>
          <p:nvPr/>
        </p:nvSpPr>
        <p:spPr>
          <a:xfrm>
            <a:off x="5257800" y="1783080"/>
            <a:ext cx="4206240" cy="36576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개선 후 (근거 대조 검증)</a:t>
            </a:r>
            <a:endParaRPr lang="en-US" sz="1600" dirty="0"/>
          </a:p>
        </p:txBody>
      </p:sp>
      <p:pic>
        <p:nvPicPr>
          <p:cNvPr id="11" name="Image 1" descr="개선후_검증실패_확대.png">    </p:cNvPr>
          <p:cNvPicPr>
            <a:picLocks noChangeAspect="1"/>
          </p:cNvPicPr>
          <p:nvPr/>
        </p:nvPicPr>
        <p:blipFill>
          <a:blip r:embed="rId2"/>
          <a:stretch>
            <a:fillRect/>
          </a:stretch>
        </p:blipFill>
        <p:spPr>
          <a:xfrm>
            <a:off x="5257800" y="2194560"/>
            <a:ext cx="3931920" cy="4206240"/>
          </a:xfrm>
          <a:prstGeom prst="rect">
            <a:avLst/>
          </a:prstGeom>
        </p:spPr>
      </p:pic>
      <p:sp>
        <p:nvSpPr>
          <p:cNvPr id="12" name="Shape 7"/>
          <p:cNvSpPr/>
          <p:nvPr/>
        </p:nvSpPr>
        <p:spPr>
          <a:xfrm>
            <a:off x="9509760" y="2194560"/>
            <a:ext cx="2103120" cy="3291840"/>
          </a:xfrm>
          <a:prstGeom prst="roundRect">
            <a:avLst>
              <a:gd name="adj" fmla="val 6522"/>
            </a:avLst>
          </a:prstGeom>
          <a:solidFill>
            <a:srgbClr val="EDF5F3"/>
          </a:solidFill>
          <a:ln w="12700">
            <a:solidFill>
              <a:srgbClr val="EDF5F3"/>
            </a:solidFill>
            <a:prstDash val="solid"/>
          </a:ln>
        </p:spPr>
      </p:sp>
      <p:sp>
        <p:nvSpPr>
          <p:cNvPr id="13" name="Text 8"/>
          <p:cNvSpPr txBox="1"/>
          <p:nvPr/>
        </p:nvSpPr>
        <p:spPr>
          <a:xfrm>
            <a:off x="9738360" y="2377440"/>
            <a:ext cx="164592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핵심 차이</a:t>
            </a:r>
            <a:endParaRPr lang="en-US" sz="2000" dirty="0"/>
          </a:p>
        </p:txBody>
      </p:sp>
      <p:sp>
        <p:nvSpPr>
          <p:cNvPr id="14" name="Text 9"/>
          <p:cNvSpPr txBox="1"/>
          <p:nvPr/>
        </p:nvSpPr>
        <p:spPr>
          <a:xfrm>
            <a:off x="9738360" y="2971800"/>
            <a:ext cx="1645920" cy="2377440"/>
          </a:xfrm>
          <a:prstGeom prst="rect">
            <a:avLst/>
          </a:prstGeom>
          <a:noFill/>
          <a:ln/>
        </p:spPr>
        <p:txBody>
          <a:bodyPr wrap="square" lIns="0" tIns="0" rIns="0" bIns="0" rtlCol="0" anchor="t"/>
          <a:lstStyle/>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통과시키던 틀린 답변을</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"검증 실패"로 막고,</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사유와 실제 수집값을</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함께 안내</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전후 수치 비교</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08 실측 결과 · 40초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08</a:t>
            </a:r>
            <a:endParaRPr lang="en-US" sz="1000" dirty="0"/>
          </a:p>
        </p:txBody>
      </p:sp>
      <p:sp>
        <p:nvSpPr>
          <p:cNvPr id="7" name="Shape 4"/>
          <p:cNvSpPr/>
          <p:nvPr/>
        </p:nvSpPr>
        <p:spPr>
          <a:xfrm>
            <a:off x="640080" y="1874520"/>
            <a:ext cx="10927080" cy="914400"/>
          </a:xfrm>
          <a:prstGeom prst="roundRect">
            <a:avLst>
              <a:gd name="adj" fmla="val 12000"/>
            </a:avLst>
          </a:prstGeom>
          <a:solidFill>
            <a:srgbClr val="EDF5F3"/>
          </a:solidFill>
          <a:ln w="12700">
            <a:solidFill>
              <a:srgbClr val="EDF5F3"/>
            </a:solidFill>
            <a:prstDash val="solid"/>
          </a:ln>
        </p:spPr>
      </p:sp>
      <p:sp>
        <p:nvSpPr>
          <p:cNvPr id="8" name="Text 5"/>
          <p:cNvSpPr txBox="1"/>
          <p:nvPr/>
        </p:nvSpPr>
        <p:spPr>
          <a:xfrm>
            <a:off x="868680" y="1874520"/>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답변 검증 (기존 17개)</a:t>
            </a:r>
            <a:endParaRPr lang="en-US" sz="1700" dirty="0"/>
          </a:p>
        </p:txBody>
      </p:sp>
      <p:sp>
        <p:nvSpPr>
          <p:cNvPr id="9" name="Text 6"/>
          <p:cNvSpPr txBox="1"/>
          <p:nvPr/>
        </p:nvSpPr>
        <p:spPr>
          <a:xfrm>
            <a:off x="4114800" y="1874520"/>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오류 차단 2/9 → 9/9</a:t>
            </a:r>
            <a:endParaRPr lang="en-US" sz="1800" dirty="0"/>
          </a:p>
        </p:txBody>
      </p:sp>
      <p:sp>
        <p:nvSpPr>
          <p:cNvPr id="10" name="Text 7"/>
          <p:cNvSpPr txBox="1"/>
          <p:nvPr/>
        </p:nvSpPr>
        <p:spPr>
          <a:xfrm>
            <a:off x="7772400" y="1874520"/>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정상 통과 8/8 → 8/8 (오탐 해소)</a:t>
            </a:r>
            <a:endParaRPr lang="en-US" sz="1500" dirty="0"/>
          </a:p>
        </p:txBody>
      </p:sp>
      <p:sp>
        <p:nvSpPr>
          <p:cNvPr id="11" name="Shape 8"/>
          <p:cNvSpPr/>
          <p:nvPr/>
        </p:nvSpPr>
        <p:spPr>
          <a:xfrm>
            <a:off x="640080" y="2898648"/>
            <a:ext cx="10927080" cy="914400"/>
          </a:xfrm>
          <a:prstGeom prst="roundRect">
            <a:avLst>
              <a:gd name="adj" fmla="val 12000"/>
            </a:avLst>
          </a:prstGeom>
          <a:solidFill>
            <a:srgbClr val="EDF5F3"/>
          </a:solidFill>
          <a:ln w="12700">
            <a:solidFill>
              <a:srgbClr val="EDF5F3"/>
            </a:solidFill>
            <a:prstDash val="solid"/>
          </a:ln>
        </p:spPr>
      </p:sp>
      <p:sp>
        <p:nvSpPr>
          <p:cNvPr id="12" name="Text 9"/>
          <p:cNvSpPr txBox="1"/>
          <p:nvPr/>
        </p:nvSpPr>
        <p:spPr>
          <a:xfrm>
            <a:off x="868680" y="2898648"/>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검증 규칙 (표적 28개)</a:t>
            </a:r>
            <a:endParaRPr lang="en-US" sz="1700" dirty="0"/>
          </a:p>
        </p:txBody>
      </p:sp>
      <p:sp>
        <p:nvSpPr>
          <p:cNvPr id="13" name="Text 10"/>
          <p:cNvSpPr txBox="1"/>
          <p:nvPr/>
        </p:nvSpPr>
        <p:spPr>
          <a:xfrm>
            <a:off x="4114800" y="2898648"/>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오류 차단 6/14 → 14/14</a:t>
            </a:r>
            <a:endParaRPr lang="en-US" sz="1800" dirty="0"/>
          </a:p>
        </p:txBody>
      </p:sp>
      <p:sp>
        <p:nvSpPr>
          <p:cNvPr id="14" name="Text 11"/>
          <p:cNvSpPr txBox="1"/>
          <p:nvPr/>
        </p:nvSpPr>
        <p:spPr>
          <a:xfrm>
            <a:off x="7772400" y="2898648"/>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정상 통과 7/14 → 14/14 (자체 사례)</a:t>
            </a:r>
            <a:endParaRPr lang="en-US" sz="1500" dirty="0"/>
          </a:p>
        </p:txBody>
      </p:sp>
      <p:sp>
        <p:nvSpPr>
          <p:cNvPr id="15" name="Shape 12"/>
          <p:cNvSpPr/>
          <p:nvPr/>
        </p:nvSpPr>
        <p:spPr>
          <a:xfrm>
            <a:off x="640080" y="3922776"/>
            <a:ext cx="10927080" cy="914400"/>
          </a:xfrm>
          <a:prstGeom prst="roundRect">
            <a:avLst>
              <a:gd name="adj" fmla="val 12000"/>
            </a:avLst>
          </a:prstGeom>
          <a:solidFill>
            <a:srgbClr val="EDF5F3"/>
          </a:solidFill>
          <a:ln w="12700">
            <a:solidFill>
              <a:srgbClr val="EDF5F3"/>
            </a:solidFill>
            <a:prstDash val="solid"/>
          </a:ln>
        </p:spPr>
      </p:sp>
      <p:sp>
        <p:nvSpPr>
          <p:cNvPr id="16" name="Text 13"/>
          <p:cNvSpPr txBox="1"/>
          <p:nvPr/>
        </p:nvSpPr>
        <p:spPr>
          <a:xfrm>
            <a:off x="868680" y="3922776"/>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매뉴얼 선택 (14개)</a:t>
            </a:r>
            <a:endParaRPr lang="en-US" sz="1700" dirty="0"/>
          </a:p>
        </p:txBody>
      </p:sp>
      <p:sp>
        <p:nvSpPr>
          <p:cNvPr id="17" name="Text 14"/>
          <p:cNvSpPr txBox="1"/>
          <p:nvPr/>
        </p:nvSpPr>
        <p:spPr>
          <a:xfrm>
            <a:off x="4114800" y="3922776"/>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기대 일치 6/14 → 12/14</a:t>
            </a:r>
            <a:endParaRPr lang="en-US" sz="1800" dirty="0"/>
          </a:p>
        </p:txBody>
      </p:sp>
      <p:sp>
        <p:nvSpPr>
          <p:cNvPr id="18" name="Text 15"/>
          <p:cNvSpPr txBox="1"/>
          <p:nvPr/>
        </p:nvSpPr>
        <p:spPr>
          <a:xfrm>
            <a:off x="7772400" y="3922776"/>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무관 질문 미선택 0/2 → 2/2</a:t>
            </a:r>
            <a:endParaRPr lang="en-US" sz="1500" dirty="0"/>
          </a:p>
        </p:txBody>
      </p:sp>
      <p:sp>
        <p:nvSpPr>
          <p:cNvPr id="19" name="Shape 16"/>
          <p:cNvSpPr/>
          <p:nvPr/>
        </p:nvSpPr>
        <p:spPr>
          <a:xfrm>
            <a:off x="640080" y="4946904"/>
            <a:ext cx="10927080" cy="914400"/>
          </a:xfrm>
          <a:prstGeom prst="roundRect">
            <a:avLst>
              <a:gd name="adj" fmla="val 12000"/>
            </a:avLst>
          </a:prstGeom>
          <a:solidFill>
            <a:srgbClr val="EDF5F3"/>
          </a:solidFill>
          <a:ln w="12700">
            <a:solidFill>
              <a:srgbClr val="EDF5F3"/>
            </a:solidFill>
            <a:prstDash val="solid"/>
          </a:ln>
        </p:spPr>
      </p:sp>
      <p:sp>
        <p:nvSpPr>
          <p:cNvPr id="20" name="Text 17"/>
          <p:cNvSpPr txBox="1"/>
          <p:nvPr/>
        </p:nvSpPr>
        <p:spPr>
          <a:xfrm>
            <a:off x="868680" y="4946904"/>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Ollama 실모델 (4질문×1회)</a:t>
            </a:r>
            <a:endParaRPr lang="en-US" sz="1700" dirty="0"/>
          </a:p>
        </p:txBody>
      </p:sp>
      <p:sp>
        <p:nvSpPr>
          <p:cNvPr id="21" name="Text 18"/>
          <p:cNvSpPr txBox="1"/>
          <p:nvPr/>
        </p:nvSpPr>
        <p:spPr>
          <a:xfrm>
            <a:off x="4114800" y="4946904"/>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작성 시도 1.0 → 1.0회</a:t>
            </a:r>
            <a:endParaRPr lang="en-US" sz="1800" dirty="0"/>
          </a:p>
        </p:txBody>
      </p:sp>
      <p:sp>
        <p:nvSpPr>
          <p:cNvPr id="22" name="Text 19"/>
          <p:cNvSpPr txBox="1"/>
          <p:nvPr/>
        </p:nvSpPr>
        <p:spPr>
          <a:xfrm>
            <a:off x="7772400" y="4946904"/>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시간은 개선 전과 비슷 (42.6s ↔ 43.3s)</a:t>
            </a:r>
            <a:endParaRPr lang="en-US" sz="1500" dirty="0"/>
          </a:p>
        </p:txBody>
      </p:sp>
      <p:sp>
        <p:nvSpPr>
          <p:cNvPr id="23" name="Text 20"/>
          <p:cNvSpPr txBox="1"/>
          <p:nvPr/>
        </p:nvSpPr>
        <p:spPr>
          <a:xfrm>
            <a:off x="640080" y="6035040"/>
            <a:ext cx="10927080" cy="365760"/>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소규모 자체 평가 · 실모델 최신 비교는 legacy와 grounded · 실행 간 시간 변동이 커서 시간 개선은 주장하지 않음</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보너스: 실측 수치 3가지</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09 동시 실행 · 모델 분리 · 조기 종료 · 20초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09</a:t>
            </a:r>
            <a:endParaRPr lang="en-US" sz="1000" dirty="0"/>
          </a:p>
        </p:txBody>
      </p:sp>
      <p:sp>
        <p:nvSpPr>
          <p:cNvPr id="7" name="Shape 4"/>
          <p:cNvSpPr/>
          <p:nvPr/>
        </p:nvSpPr>
        <p:spPr>
          <a:xfrm>
            <a:off x="640080" y="1920240"/>
            <a:ext cx="3566160" cy="3383280"/>
          </a:xfrm>
          <a:prstGeom prst="roundRect">
            <a:avLst>
              <a:gd name="adj" fmla="val 4054"/>
            </a:avLst>
          </a:prstGeom>
          <a:solidFill>
            <a:srgbClr val="EDF5F3"/>
          </a:solidFill>
          <a:ln w="12700">
            <a:solidFill>
              <a:srgbClr val="EDF5F3"/>
            </a:solidFill>
            <a:prstDash val="solid"/>
          </a:ln>
        </p:spPr>
      </p:sp>
      <p:sp>
        <p:nvSpPr>
          <p:cNvPr id="8" name="Text 5"/>
          <p:cNvSpPr txBox="1"/>
          <p:nvPr/>
        </p:nvSpPr>
        <p:spPr>
          <a:xfrm>
            <a:off x="868680"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동시 실행 (측정)</a:t>
            </a:r>
            <a:endParaRPr lang="en-US" sz="2000" dirty="0"/>
          </a:p>
        </p:txBody>
      </p:sp>
      <p:sp>
        <p:nvSpPr>
          <p:cNvPr id="9" name="Text 6"/>
          <p:cNvSpPr txBox="1"/>
          <p:nvPr/>
        </p:nvSpPr>
        <p:spPr>
          <a:xfrm>
            <a:off x="868680"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병렬 0.36~0.37초</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직렬 1.07~1.08초</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약 3배 (5회)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0.35초/태스크는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원본의 시뮬레이션</a:t>
            </a:r>
            <a:endParaRPr lang="en-US" sz="1500" dirty="0"/>
          </a:p>
        </p:txBody>
      </p:sp>
      <p:sp>
        <p:nvSpPr>
          <p:cNvPr id="10" name="Shape 7"/>
          <p:cNvSpPr/>
          <p:nvPr/>
        </p:nvSpPr>
        <p:spPr>
          <a:xfrm>
            <a:off x="4315968" y="1920240"/>
            <a:ext cx="3566160" cy="3383280"/>
          </a:xfrm>
          <a:prstGeom prst="roundRect">
            <a:avLst>
              <a:gd name="adj" fmla="val 4054"/>
            </a:avLst>
          </a:prstGeom>
          <a:solidFill>
            <a:srgbClr val="EDF5F3"/>
          </a:solidFill>
          <a:ln w="12700">
            <a:solidFill>
              <a:srgbClr val="EDF5F3"/>
            </a:solidFill>
            <a:prstDash val="solid"/>
          </a:ln>
        </p:spPr>
      </p:sp>
      <p:sp>
        <p:nvSpPr>
          <p:cNvPr id="11" name="Text 8"/>
          <p:cNvSpPr txBox="1"/>
          <p:nvPr/>
        </p:nvSpPr>
        <p:spPr>
          <a:xfrm>
            <a:off x="4544568"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모델 분리 (측정·추정)</a:t>
            </a:r>
            <a:endParaRPr lang="en-US" sz="2000" dirty="0"/>
          </a:p>
        </p:txBody>
      </p:sp>
      <p:sp>
        <p:nvSpPr>
          <p:cNvPr id="12" name="Text 9"/>
          <p:cNvSpPr txBox="1"/>
          <p:nvPr/>
        </p:nvSpPr>
        <p:spPr>
          <a:xfrm>
            <a:off x="4544568"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분리 $0.0027</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전부 quality $0.0067</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약 59% 절감 (추정)</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토큰=글자수/4,</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단가는 가정값</a:t>
            </a:r>
            <a:endParaRPr lang="en-US" sz="1500" dirty="0"/>
          </a:p>
        </p:txBody>
      </p:sp>
      <p:sp>
        <p:nvSpPr>
          <p:cNvPr id="13" name="Shape 10"/>
          <p:cNvSpPr/>
          <p:nvPr/>
        </p:nvSpPr>
        <p:spPr>
          <a:xfrm>
            <a:off x="7991856" y="1920240"/>
            <a:ext cx="3566160" cy="3383280"/>
          </a:xfrm>
          <a:prstGeom prst="roundRect">
            <a:avLst>
              <a:gd name="adj" fmla="val 4054"/>
            </a:avLst>
          </a:prstGeom>
          <a:solidFill>
            <a:srgbClr val="EDF5F3"/>
          </a:solidFill>
          <a:ln w="12700">
            <a:solidFill>
              <a:srgbClr val="EDF5F3"/>
            </a:solidFill>
            <a:prstDash val="solid"/>
          </a:ln>
        </p:spPr>
      </p:sp>
      <p:sp>
        <p:nvSpPr>
          <p:cNvPr id="14" name="Text 11"/>
          <p:cNvSpPr txBox="1"/>
          <p:nvPr/>
        </p:nvSpPr>
        <p:spPr>
          <a:xfrm>
            <a:off x="8220456"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조기 종료 (직접 추가)</a:t>
            </a:r>
            <a:endParaRPr lang="en-US" sz="2000" dirty="0"/>
          </a:p>
        </p:txBody>
      </p:sp>
      <p:sp>
        <p:nvSpPr>
          <p:cNvPr id="15" name="Text 12"/>
          <p:cNvSpPr txBox="1"/>
          <p:nvPr/>
        </p:nvSpPr>
        <p:spPr>
          <a:xfrm>
            <a:off x="8220456"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근거 0건이면 작성 생략</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응답 36.6s → 1.2~2.7s</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작성 모델 호출 1 → 0회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billing-service 질문</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3회, 단일 질문</a:t>
            </a:r>
            <a:endParaRPr lang="en-US" sz="1500" dirty="0"/>
          </a:p>
        </p:txBody>
      </p:sp>
      <p:sp>
        <p:nvSpPr>
          <p:cNvPr id="16" name="Text 13"/>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800" b="1" dirty="0">
                <a:solidFill>
                  <a:srgbClr val="087F73"/>
                </a:solidFill>
                <a:latin typeface="Apple SD Gothic Neo" pitchFamily="34" charset="0"/>
                <a:ea typeface="Apple SD Gothic Neo" pitchFamily="34" charset="-122"/>
                <a:cs typeface="Apple SD Gothic Neo" pitchFamily="34" charset="-120"/>
              </a:rPr>
              <a:t>앞 둘은 제공 구조의 효과 "측정", 마지막은 직접 추가한 비용 최적화</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한계와 트레이드오프</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10 한계 · 마무리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10</a:t>
            </a:r>
            <a:endParaRPr lang="en-US" sz="1000" dirty="0"/>
          </a:p>
        </p:txBody>
      </p:sp>
      <p:sp>
        <p:nvSpPr>
          <p:cNvPr id="7" name="Shape 4"/>
          <p:cNvSpPr/>
          <p:nvPr/>
        </p:nvSpPr>
        <p:spPr>
          <a:xfrm>
            <a:off x="640080" y="1920240"/>
            <a:ext cx="5303520" cy="3200400"/>
          </a:xfrm>
          <a:prstGeom prst="roundRect">
            <a:avLst>
              <a:gd name="adj" fmla="val 4286"/>
            </a:avLst>
          </a:prstGeom>
          <a:solidFill>
            <a:srgbClr val="F7E8D7"/>
          </a:solidFill>
          <a:ln w="12700">
            <a:solidFill>
              <a:srgbClr val="F7E8D7"/>
            </a:solidFill>
            <a:prstDash val="solid"/>
          </a:ln>
        </p:spPr>
      </p:sp>
      <p:sp>
        <p:nvSpPr>
          <p:cNvPr id="8" name="Text 5"/>
          <p:cNvSpPr txBox="1"/>
          <p:nvPr/>
        </p:nvSpPr>
        <p:spPr>
          <a:xfrm>
            <a:off x="868680" y="2103120"/>
            <a:ext cx="484632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남은 한계</a:t>
            </a:r>
            <a:endParaRPr lang="en-US" sz="2000" dirty="0"/>
          </a:p>
        </p:txBody>
      </p:sp>
      <p:sp>
        <p:nvSpPr>
          <p:cNvPr id="9" name="Text 6"/>
          <p:cNvSpPr txBox="1"/>
          <p:nvPr/>
        </p:nvSpPr>
        <p:spPr>
          <a:xfrm>
            <a:off x="868680" y="2697480"/>
            <a:ext cx="4846320" cy="22860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표현 변화 → 누락·오탐 (규칙이</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틀린 값을 통과시킨 적 2회)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원인 설명·알림 인용 미검증</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서브에이전트: LLM 판단 없음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소규모 자체 평가 · OpenAI 미검증</a:t>
            </a:r>
            <a:endParaRPr lang="en-US" sz="1500" dirty="0"/>
          </a:p>
        </p:txBody>
      </p:sp>
      <p:sp>
        <p:nvSpPr>
          <p:cNvPr id="10" name="Shape 7"/>
          <p:cNvSpPr/>
          <p:nvPr/>
        </p:nvSpPr>
        <p:spPr>
          <a:xfrm>
            <a:off x="6217920" y="1920240"/>
            <a:ext cx="5303520" cy="3200400"/>
          </a:xfrm>
          <a:prstGeom prst="roundRect">
            <a:avLst>
              <a:gd name="adj" fmla="val 4286"/>
            </a:avLst>
          </a:prstGeom>
          <a:solidFill>
            <a:srgbClr val="EDF5F3"/>
          </a:solidFill>
          <a:ln w="12700">
            <a:solidFill>
              <a:srgbClr val="EDF5F3"/>
            </a:solidFill>
            <a:prstDash val="solid"/>
          </a:ln>
        </p:spPr>
      </p:sp>
      <p:sp>
        <p:nvSpPr>
          <p:cNvPr id="11" name="Text 8"/>
          <p:cNvSpPr txBox="1"/>
          <p:nvPr/>
        </p:nvSpPr>
        <p:spPr>
          <a:xfrm>
            <a:off x="6446520" y="2103120"/>
            <a:ext cx="484632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트레이드오프</a:t>
            </a:r>
            <a:endParaRPr lang="en-US" sz="2000" dirty="0"/>
          </a:p>
        </p:txBody>
      </p:sp>
      <p:sp>
        <p:nvSpPr>
          <p:cNvPr id="12" name="Text 9"/>
          <p:cNvSpPr txBox="1"/>
          <p:nvPr/>
        </p:nvSpPr>
        <p:spPr>
          <a:xfrm>
            <a:off x="6446520" y="2697480"/>
            <a:ext cx="4846320" cy="22860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시스템명 요구 완화 ↔ 수치 없는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답변은 대조 없이 통과</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초안 비공개 ↔ 토큰 스트리밍 포기</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부분 자료 진행 ↔ 한계 표시 필요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모듈화 ↔ 성능 이득 없음</a:t>
            </a:r>
            <a:endParaRPr lang="en-US" sz="1500" dirty="0"/>
          </a:p>
        </p:txBody>
      </p:sp>
      <p:sp>
        <p:nvSpPr>
          <p:cNvPr id="13" name="Text 10"/>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800" b="1" dirty="0">
                <a:solidFill>
                  <a:srgbClr val="087F73"/>
                </a:solidFill>
                <a:latin typeface="Apple SD Gothic Neo" pitchFamily="34" charset="0"/>
                <a:ea typeface="Apple SD Gothic Neo" pitchFamily="34" charset="-122"/>
                <a:cs typeface="Apple SD Gothic Neo" pitchFamily="34" charset="-120"/>
              </a:rPr>
              <a:t>검사 통과 = 추출한 수치의 대조 결과 ≠ 답변 전체가 사실이라는 보장</a:t>
            </a:r>
            <a:endParaRPr lang="en-US" sz="1800" dirty="0"/>
          </a:p>
        </p:txBody>
      </p:sp>
      <p:sp>
        <p:nvSpPr>
          <p:cNvPr id="14" name="Text 11"/>
          <p:cNvSpPr txBox="1"/>
          <p:nvPr/>
        </p:nvSpPr>
        <p:spPr>
          <a:xfrm>
            <a:off x="640080" y="5760720"/>
            <a:ext cx="10881360" cy="457200"/>
          </a:xfrm>
          <a:prstGeom prst="rect">
            <a:avLst/>
          </a:prstGeom>
          <a:noFill/>
          <a:ln/>
        </p:spPr>
        <p:txBody>
          <a:bodyPr wrap="square" lIns="0" tIns="0" rIns="0" bIns="0" rtlCol="0" anchor="ctr"/>
          <a:lstStyle/>
          <a:p>
            <a:pPr indent="0" marL="0">
              <a:buNone/>
            </a:pPr>
            <a:r>
              <a:rPr lang="en-US" sz="1400" dirty="0">
                <a:solidFill>
                  <a:srgbClr val="597078"/>
                </a:solidFill>
                <a:latin typeface="Apple SD Gothic Neo" pitchFamily="34" charset="0"/>
                <a:ea typeface="Apple SD Gothic Neo" pitchFamily="34" charset="-122"/>
                <a:cs typeface="Apple SD Gothic Neo" pitchFamily="34" charset="-120"/>
              </a:rPr>
              <a:t>향후 개선: 사용자에게 되묻는 대상 확인 · 독립 평가셋 · LLM 판정 병행 · LangSmith 기반 평가 · 임베딩 검색 확장(문서 증가 시 인덱스 전략)</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운영 장애 진단 에이전트의 근거 기반 검증·검색·조사 안정성 개선</dc:title>
  <dc:subject>AI Capstone 개인과제</dc:subject>
  <dc:creator>하연</dc:creator>
  <cp:lastModifiedBy>하연</cp:lastModifiedBy>
  <cp:revision>1</cp:revision>
  <dcterms:created xsi:type="dcterms:W3CDTF">2026-10-22T01:29:41Z</dcterms:created>
  <dcterms:modified xsi:type="dcterms:W3CDTF">2026-10-22T01:29:41Z</dcterms:modified>
</cp:coreProperties>
</file>