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5"/>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2</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9</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6</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12</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7"/>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25초] 제목을 보고 청중을 향해 설명
안녕하세요. 운영 장애 진단 에이전트를 개선한 김하연입니다. 이 에이전트는 장애 질문을 받으면 시스템 자료와 대응 매뉴얼을 찾아 답합니다. 저는 운영자가 잘못된 수치를 믿고 조치할 수 있다는 문제에 주목했습니다. 그래서 수집 근거와 답변을 대조하고, 근거가 부족할 때는 멈추는 방향으로 개선했습니다.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35초] 40% → 99% → 통과 순서로 가리키기
이 숫자는 문제를 설명하기 위한 예시입니다. 수집한 CPU는 40퍼센트인데 답변이 99퍼센트라고 해도, 기존 검증은 통과시킬 수 있었습니다. 답변이 30자 이상이고 ‘1)’이 있는지만 확인했기 때문입니다. 세 번 실패하면 강제 합격하기도 했습니다. 길이와 형식이 맞는다는 사실이 내용의 정확성을 보장하지 못한다는 것이 출발점이었습니다.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40초] 검증·검색·조사 세 줄을 순서대로 설명
개선은 세 가지입니다. 먼저 시스템별 CPU와 메모리를 수집값과 대조하고, 불일치 이유를 알려 다시 작성하게 했습니다. 최초 작성을 포함해 총 세 번 실패하면 실패를 안내합니다. 둘째, 매뉴얼을 의미로 검색하되 유사도가 낮거나 후보 차이가 작으면 선택을 보류합니다. 셋째, 조사 작업의 실패를 분리해 성공한 자료는 유지합니다. 모니터링 근거가 하나도 없으면 작성 모델 호출부터 생략합니다.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50초] 초록색 노드, 아래쪽 중단 경로, 재작성 화살표를 가리키기
이 그림은 주요 흐름을 요약한 것입니다. 조사 후 근거가 없으면 작성을 생략하고, 있으면 작성한 답변을 검증합니다. 모니터링과 매뉴얼 조사를 두 서브에이전트로 나눴지만, 독립 모델이 판단하는 구조는 아닙니다. MCP는 도구 연결 규약이고 RAG는 검색 자료를 답변에 활용하는 방식입니다. 제공된 LangGraph와 서버 위에 검색 도구와 검증·실패 분기를 추가했습니다. 모듈화와 의존성 주입으로 도구를 바꿔 테스트할 수 있게 했고, LangSmith는 실행 추적만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10초] 화면 전체를 보여주기</a:t>
            </a:r>
          </a:p>
          <a:p/>
          <a:p>
            <a:r>
              <a:t>최종 실행 화면입니다. 작성 모델은 정해진 답변을 내는 모의 모델이고, 실제 MCP 도구와 로컬 임베딩을 연결했습니다. 모니터링 자료는 교육용 샘플입니다. 화면의 구성은 다음 장에서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40초] 왼쪽 통과 → 오른쪽 검증 실패 순서
같은 질문에서 CPU를 수집값보다 15퍼센트포인트 높게 쓰도록 오류를 넣었습니다. 기존 검증은 그 답변을 통과시켰지만, 개선 검증은 총 세 번 작성해도 일치하지 않자 실패 사유와 실제 수집값을 안내했습니다. 두 실행의 모니터링 수치는 변동하므로 같은 숫자를 비교한 실험은 아닙니다. 같은 오류 조건에서 검증 설정에 따라 처리가 달라지는지를 재현했습니다.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35초] 두 그래프와 자체 평가 조건만 짚기
같은 17개 입력에서 오류 답변 차단은 9개 중 2개에서 9개로 늘었고, 정상 답변 8개는 통과했습니다. 검색은 14개 사례 중 기대 일치가 6개에서 12개로 늘었습니다. 다만 직접 만든 작은 평가셋이어서 일반적인 정확도로 볼 수는 없습니다. 최신 실모델 비교에서는 작성 시도와 응답 시간이 비슷했기 때문에 전체적인 속도 향상은 주장하지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30초] 마지막 핵심 문장을 천천히 말하기
검사 통과가 답변 전체의 진실성을 뜻하지는 않습니다. 시스템명과 CPU·메모리 수치를 대조하지만 원인 설명과 권장 조치는 판단하지 못하고, 새로운 표현도 놓칠 수 있습니다. 초안을 숨기는 대신 최종 답변까지 기다려야 하는 비용도 있습니다. 앞으로는 독립 평가셋과 구조화된 수치 출력으로 보완하겠습니다. 확인한 범위를 보여주고, 근거가 부족하면 멈추도록 개선했습니다.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35초] 화면 위 번호를 위에서 아래로 가리키기</a:t>
            </a:r>
          </a:p>
          <a:p/>
          <a:p>
            <a:r>
              <a:t>화면은 제공받은 Vue 화면을 근거를 확인하기 쉽게 고친 것입니다. 첫째, 진행 단계로 지금 어떤 작업을 하는지 보이게 했습니다. 둘째, 수집값과 답변값을 나란히 놓아 직접 비교할 수 있게 했습니다. 셋째, 매뉴얼 검색 후보와 유사도를 공개했고, 점수는 확률이 아니라고 표시했습니다. 넷째, 검증 실패와 자료 부족은 정상 완료와 다른 상태로 안내합니다. 반려될 초안은 먼저 보여주지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BASE AI AGENT  /  개인과제</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근거 기반</a:t>
            </a:r>
            <a:endParaRPr lang="en-US" sz="3200" dirty="0"/>
          </a:p>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장애 진단 에이전트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01 / 09</a:t>
            </a:r>
            <a:endParaRPr lang="en-US" sz="900" dirty="0"/>
          </a:p>
        </p:txBody>
      </p:sp>
      <p:sp>
        <p:nvSpPr>
          <p:cNvPr id="7" name="Text 4"/>
          <p:cNvSpPr txBox="1"/>
          <p:nvPr/>
        </p:nvSpPr>
        <p:spPr>
          <a:xfrm>
            <a:off x="640080" y="2377440"/>
            <a:ext cx="5943600" cy="1005840"/>
          </a:xfrm>
          <a:prstGeom prst="rect">
            <a:avLst/>
          </a:prstGeom>
          <a:noFill/>
          <a:ln/>
        </p:spPr>
        <p:txBody>
          <a:bodyPr wrap="square" lIns="0" tIns="0" rIns="0" bIns="0" rtlCol="0" anchor="ctr"/>
          <a:lstStyle/>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수집한 자료와 다른 답변을</a:t>
            </a:r>
            <a:endParaRPr lang="en-US" sz="2600" dirty="0"/>
          </a:p>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그대로 통과시키지 않도록</a:t>
            </a:r>
            <a:endParaRPr lang="en-US" sz="2600" dirty="0"/>
          </a:p>
        </p:txBody>
      </p:sp>
      <p:sp>
        <p:nvSpPr>
          <p:cNvPr id="8" name="Text 5"/>
          <p:cNvSpPr txBox="1"/>
          <p:nvPr/>
        </p:nvSpPr>
        <p:spPr>
          <a:xfrm>
            <a:off x="685800" y="3794760"/>
            <a:ext cx="5303520" cy="457200"/>
          </a:xfrm>
          <a:prstGeom prst="rect">
            <a:avLst/>
          </a:prstGeom>
          <a:noFill/>
          <a:ln/>
        </p:spPr>
        <p:txBody>
          <a:bodyPr wrap="square" lIns="0" tIns="0" rIns="0" bIns="0" rtlCol="0" anchor="ctr"/>
          <a:lstStyle/>
          <a:p>
            <a:pPr indent="0" marL="0">
              <a:buNone/>
            </a:pPr>
            <a:r>
              <a:rPr lang="en-US" sz="1900" dirty="0">
                <a:solidFill>
                  <a:srgbClr val="FFFFFF"/>
                </a:solidFill>
                <a:latin typeface="Apple SD Gothic Neo" pitchFamily="34" charset="0"/>
                <a:ea typeface="Apple SD Gothic Neo" pitchFamily="34" charset="-122"/>
                <a:cs typeface="Apple SD Gothic Neo" pitchFamily="34" charset="-120"/>
              </a:rPr>
              <a:t>검증  ·  검색  ·  조사 안정성</a:t>
            </a:r>
            <a:endParaRPr lang="en-US" sz="1900" dirty="0"/>
          </a:p>
        </p:txBody>
      </p:sp>
      <p:sp>
        <p:nvSpPr>
          <p:cNvPr id="9" name="Shape 6"/>
          <p:cNvSpPr/>
          <p:nvPr/>
        </p:nvSpPr>
        <p:spPr>
          <a:xfrm>
            <a:off x="685800" y="5303520"/>
            <a:ext cx="1005840" cy="365760"/>
          </a:xfrm>
          <a:prstGeom prst="roundRect">
            <a:avLst>
              <a:gd name="adj" fmla="val 40000"/>
            </a:avLst>
          </a:prstGeom>
          <a:solidFill>
            <a:srgbClr val="244A3D"/>
          </a:solidFill>
          <a:ln w="12700">
            <a:solidFill>
              <a:srgbClr val="244A3D"/>
            </a:solidFill>
            <a:prstDash val="solid"/>
          </a:ln>
        </p:spPr>
        <p:txBody>
          <a:bodyPr/>
          <a:p/>
        </p:txBody>
      </p:sp>
      <p:sp>
        <p:nvSpPr>
          <p:cNvPr id="10" name="Text 7"/>
          <p:cNvSpPr txBox="1"/>
          <p:nvPr/>
        </p:nvSpPr>
        <p:spPr>
          <a:xfrm>
            <a:off x="795528" y="5303520"/>
            <a:ext cx="786384" cy="365760"/>
          </a:xfrm>
          <a:prstGeom prst="rect">
            <a:avLst/>
          </a:prstGeom>
          <a:noFill/>
          <a:ln/>
        </p:spPr>
        <p:txBody>
          <a:bodyPr wrap="square" lIns="0" tIns="0" rIns="0" bIns="0" rtlCol="0" anchor="ctr"/>
          <a:lstStyle/>
          <a:p>
            <a:pP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김하연</a:t>
            </a:r>
            <a:endParaRPr lang="en-US" sz="1200" dirty="0"/>
          </a:p>
        </p:txBody>
      </p:sp>
      <p:sp>
        <p:nvSpPr>
          <p:cNvPr id="11" name="Text 8"/>
          <p:cNvSpPr txBox="1"/>
          <p:nvPr/>
        </p:nvSpPr>
        <p:spPr>
          <a:xfrm>
            <a:off x="1920240" y="5303520"/>
            <a:ext cx="3657600" cy="365760"/>
          </a:xfrm>
          <a:prstGeom prst="rect">
            <a:avLst/>
          </a:prstGeom>
          <a:noFill/>
          <a:ln/>
        </p:spPr>
        <p:txBody>
          <a:bodyPr wrap="square" lIns="0" tIns="0" rIns="0" bIns="0" rtlCol="0" anchor="ctr"/>
          <a:lstStyle/>
          <a:p>
            <a:pPr indent="0" marL="0">
              <a:buNone/>
            </a:pPr>
            <a:r>
              <a:rPr lang="en-US" sz="1300" dirty="0">
                <a:solidFill>
                  <a:srgbClr val="A4DAC2"/>
                </a:solidFill>
                <a:latin typeface="Apple SD Gothic Neo" pitchFamily="34" charset="0"/>
                <a:ea typeface="Apple SD Gothic Neo" pitchFamily="34" charset="-122"/>
                <a:cs typeface="Apple SD Gothic Neo" pitchFamily="34" charset="-120"/>
              </a:rPr>
              <a:t>AI Capstone  |  2026.10</a:t>
            </a:r>
            <a:endParaRPr lang="en-US" sz="1300" dirty="0"/>
          </a:p>
        </p:txBody>
      </p:sp>
      <p:sp>
        <p:nvSpPr>
          <p:cNvPr id="12" name="Shape 9"/>
          <p:cNvSpPr/>
          <p:nvPr/>
        </p:nvSpPr>
        <p:spPr>
          <a:xfrm>
            <a:off x="6858000" y="1874520"/>
            <a:ext cx="4663440" cy="4160520"/>
          </a:xfrm>
          <a:prstGeom prst="roundRect">
            <a:avLst>
              <a:gd name="adj" fmla="val 3516"/>
            </a:avLst>
          </a:prstGeom>
          <a:solidFill>
            <a:srgbClr val="1D4437"/>
          </a:solidFill>
          <a:ln w="12700">
            <a:solidFill>
              <a:srgbClr val="1D4437"/>
            </a:solidFill>
            <a:prstDash val="solid"/>
          </a:ln>
        </p:spPr>
        <p:txBody>
          <a:bodyPr/>
          <a:p/>
        </p:txBody>
      </p:sp>
      <p:sp>
        <p:nvSpPr>
          <p:cNvPr id="13" name="Text 10"/>
          <p:cNvSpPr txBox="1"/>
          <p:nvPr/>
        </p:nvSpPr>
        <p:spPr>
          <a:xfrm>
            <a:off x="7178040" y="2176272"/>
            <a:ext cx="3977640" cy="274320"/>
          </a:xfrm>
          <a:prstGeom prst="rect">
            <a:avLst/>
          </a:prstGeom>
          <a:noFill/>
          <a:ln/>
        </p:spPr>
        <p:txBody>
          <a:bodyPr wrap="square" lIns="0" tIns="0" rIns="0" bIns="0" rtlCol="0" anchor="ctr"/>
          <a:lstStyle/>
          <a:p>
            <a:pPr indent="0" marL="0">
              <a:buNone/>
            </a:pPr>
            <a:r>
              <a:rPr lang="en-US" sz="1200" b="1" dirty="0">
                <a:solidFill>
                  <a:srgbClr val="A4DAC2"/>
                </a:solidFill>
                <a:latin typeface="Apple SD Gothic Neo" pitchFamily="34" charset="0"/>
                <a:ea typeface="Apple SD Gothic Neo" pitchFamily="34" charset="-122"/>
                <a:cs typeface="Apple SD Gothic Neo" pitchFamily="34" charset="-120"/>
              </a:rPr>
              <a:t>질문</a:t>
            </a:r>
            <a:endParaRPr lang="en-US" sz="1200" dirty="0"/>
          </a:p>
        </p:txBody>
      </p:sp>
      <p:sp>
        <p:nvSpPr>
          <p:cNvPr id="14" name="Text 11"/>
          <p:cNvSpPr txBox="1"/>
          <p:nvPr/>
        </p:nvSpPr>
        <p:spPr>
          <a:xfrm>
            <a:off x="7178040" y="2724912"/>
            <a:ext cx="3931920" cy="914400"/>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“로그인이 느려요.</a:t>
            </a:r>
            <a:endParaRPr lang="en-US" sz="2600" dirty="0"/>
          </a:p>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원인을 진단해줘.”</a:t>
            </a:r>
            <a:endParaRPr lang="en-US" sz="2600" dirty="0"/>
          </a:p>
        </p:txBody>
      </p:sp>
      <p:sp>
        <p:nvSpPr>
          <p:cNvPr id="15" name="Shape 12"/>
          <p:cNvSpPr/>
          <p:nvPr/>
        </p:nvSpPr>
        <p:spPr>
          <a:xfrm>
            <a:off x="7223760" y="3931920"/>
            <a:ext cx="3794760" cy="0"/>
          </a:xfrm>
          <a:prstGeom prst="line">
            <a:avLst/>
          </a:prstGeom>
          <a:noFill/>
          <a:ln w="20320">
            <a:solidFill>
              <a:srgbClr val="507867"/>
            </a:solidFill>
            <a:prstDash val="solid"/>
          </a:ln>
        </p:spPr>
        <p:txBody>
          <a:bodyPr/>
          <a:p/>
        </p:txBody>
      </p:sp>
      <p:sp>
        <p:nvSpPr>
          <p:cNvPr id="16" name="Text 13"/>
          <p:cNvSpPr txBox="1"/>
          <p:nvPr/>
        </p:nvSpPr>
        <p:spPr>
          <a:xfrm>
            <a:off x="7223760" y="4297680"/>
            <a:ext cx="155448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자료 수집</a:t>
            </a:r>
            <a:endParaRPr lang="en-US" sz="1800" dirty="0"/>
          </a:p>
        </p:txBody>
      </p:sp>
      <p:sp>
        <p:nvSpPr>
          <p:cNvPr id="17" name="Text 14"/>
          <p:cNvSpPr txBox="1"/>
          <p:nvPr/>
        </p:nvSpPr>
        <p:spPr>
          <a:xfrm>
            <a:off x="8823960" y="4297680"/>
            <a:ext cx="365760" cy="365760"/>
          </a:xfrm>
          <a:prstGeom prst="rect">
            <a:avLst/>
          </a:prstGeom>
          <a:noFill/>
          <a:ln/>
        </p:spPr>
        <p:txBody>
          <a:bodyPr wrap="square" lIns="0" tIns="0" rIns="0" bIns="0" rtlCol="0" anchor="ctr"/>
          <a:lstStyle/>
          <a:p>
            <a:pPr indent="0" marL="0">
              <a:buNone/>
            </a:pPr>
            <a:r>
              <a:rPr lang="en-US" sz="1800" dirty="0">
                <a:solidFill>
                  <a:srgbClr val="A4DAC2"/>
                </a:solidFill>
                <a:latin typeface="Apple SD Gothic Neo" pitchFamily="34" charset="0"/>
                <a:ea typeface="Apple SD Gothic Neo" pitchFamily="34" charset="-122"/>
                <a:cs typeface="Apple SD Gothic Neo" pitchFamily="34" charset="-120"/>
              </a:rPr>
              <a:t>→</a:t>
            </a:r>
            <a:endParaRPr lang="en-US" sz="1800" dirty="0"/>
          </a:p>
        </p:txBody>
      </p:sp>
      <p:sp>
        <p:nvSpPr>
          <p:cNvPr id="18" name="Text 15"/>
          <p:cNvSpPr txBox="1"/>
          <p:nvPr/>
        </p:nvSpPr>
        <p:spPr>
          <a:xfrm>
            <a:off x="9372600" y="4297680"/>
            <a:ext cx="160020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근거 대조</a:t>
            </a:r>
            <a:endParaRPr lang="en-US" sz="1800" dirty="0"/>
          </a:p>
        </p:txBody>
      </p:sp>
      <p:sp>
        <p:nvSpPr>
          <p:cNvPr id="19" name="Shape 16"/>
          <p:cNvSpPr/>
          <p:nvPr/>
        </p:nvSpPr>
        <p:spPr>
          <a:xfrm>
            <a:off x="7178040" y="5074920"/>
            <a:ext cx="3931920" cy="365760"/>
          </a:xfrm>
          <a:prstGeom prst="roundRect">
            <a:avLst>
              <a:gd name="adj" fmla="val 40000"/>
            </a:avLst>
          </a:prstGeom>
          <a:solidFill>
            <a:srgbClr val="A4DAC2"/>
          </a:solidFill>
          <a:ln w="12700">
            <a:solidFill>
              <a:srgbClr val="A4DAC2"/>
            </a:solidFill>
            <a:prstDash val="solid"/>
          </a:ln>
        </p:spPr>
        <p:txBody>
          <a:bodyPr/>
          <a:p/>
        </p:txBody>
      </p:sp>
      <p:sp>
        <p:nvSpPr>
          <p:cNvPr id="20" name="Text 17"/>
          <p:cNvSpPr txBox="1"/>
          <p:nvPr/>
        </p:nvSpPr>
        <p:spPr>
          <a:xfrm>
            <a:off x="7287768" y="5074920"/>
            <a:ext cx="3712464" cy="365760"/>
          </a:xfrm>
          <a:prstGeom prst="rect">
            <a:avLst/>
          </a:prstGeom>
          <a:noFill/>
          <a:ln/>
        </p:spPr>
        <p:txBody>
          <a:bodyPr wrap="square" lIns="0" tIns="0" rIns="0" bIns="0" rtlCol="0" anchor="ctr"/>
          <a:lstStyle/>
          <a:p>
            <a:pPr indent="0" marL="0">
              <a:buNone/>
            </a:pPr>
            <a:r>
              <a:rPr lang="en-US" sz="1200" b="1" dirty="0">
                <a:solidFill>
                  <a:srgbClr val="102F27"/>
                </a:solidFill>
                <a:latin typeface="Apple SD Gothic Neo" pitchFamily="34" charset="0"/>
                <a:ea typeface="Apple SD Gothic Neo" pitchFamily="34" charset="-122"/>
                <a:cs typeface="Apple SD Gothic Neo" pitchFamily="34" charset="-120"/>
              </a:rPr>
              <a:t>일치하면 응답 · 부족하면 중단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01  문제 정의</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형식은 맞아도, 수치는 틀릴 수 있었다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02 / 09</a:t>
            </a:r>
            <a:endParaRPr lang="en-US" sz="900" dirty="0"/>
          </a:p>
        </p:txBody>
      </p:sp>
      <p:sp>
        <p:nvSpPr>
          <p:cNvPr id="7" name="Text 4"/>
          <p:cNvSpPr txBox="1"/>
          <p:nvPr/>
        </p:nvSpPr>
        <p:spPr>
          <a:xfrm>
            <a:off x="64008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수집한 자료</a:t>
            </a:r>
            <a:endParaRPr lang="en-US" sz="1800" dirty="0"/>
          </a:p>
        </p:txBody>
      </p:sp>
      <p:sp>
        <p:nvSpPr>
          <p:cNvPr id="8" name="Text 5"/>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모델이 쓴 답변</a:t>
            </a:r>
            <a:endParaRPr lang="en-US" sz="1800" dirty="0"/>
          </a:p>
        </p:txBody>
      </p:sp>
      <p:sp>
        <p:nvSpPr>
          <p:cNvPr id="9" name="Text 6"/>
          <p:cNvSpPr txBox="1"/>
          <p:nvPr/>
        </p:nvSpPr>
        <p:spPr>
          <a:xfrm>
            <a:off x="832104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기존 검증 결과</a:t>
            </a:r>
            <a:endParaRPr lang="en-US" sz="1800" dirty="0"/>
          </a:p>
        </p:txBody>
      </p:sp>
      <p:sp>
        <p:nvSpPr>
          <p:cNvPr id="10" name="Shape 7"/>
          <p:cNvSpPr/>
          <p:nvPr/>
        </p:nvSpPr>
        <p:spPr>
          <a:xfrm>
            <a:off x="640080" y="2651760"/>
            <a:ext cx="3200400" cy="1828800"/>
          </a:xfrm>
          <a:prstGeom prst="roundRect">
            <a:avLst>
              <a:gd name="adj" fmla="val 8000"/>
            </a:avLst>
          </a:prstGeom>
          <a:solidFill>
            <a:srgbClr val="EEF5F1"/>
          </a:solidFill>
          <a:ln w="12700">
            <a:solidFill>
              <a:srgbClr val="EEF5F1"/>
            </a:solidFill>
            <a:prstDash val="solid"/>
          </a:ln>
        </p:spPr>
        <p:txBody>
          <a:bodyPr/>
          <a:p/>
        </p:txBody>
      </p:sp>
      <p:sp>
        <p:nvSpPr>
          <p:cNvPr id="11" name="Text 8"/>
          <p:cNvSpPr txBox="1"/>
          <p:nvPr/>
        </p:nvSpPr>
        <p:spPr>
          <a:xfrm>
            <a:off x="86868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2" name="Text 9"/>
          <p:cNvSpPr txBox="1"/>
          <p:nvPr/>
        </p:nvSpPr>
        <p:spPr>
          <a:xfrm>
            <a:off x="868680" y="3337560"/>
            <a:ext cx="2743200" cy="914400"/>
          </a:xfrm>
          <a:prstGeom prst="rect">
            <a:avLst/>
          </a:prstGeom>
          <a:noFill/>
          <a:ln/>
        </p:spPr>
        <p:txBody>
          <a:bodyPr wrap="square" lIns="0" tIns="0" rIns="0" bIns="0" rtlCol="0" anchor="ctr"/>
          <a:lstStyle/>
          <a:p>
            <a:pPr indent="0" marL="0">
              <a:buNone/>
            </a:pPr>
            <a:r>
              <a:rPr lang="en-US" sz="4800" b="1" dirty="0">
                <a:solidFill>
                  <a:srgbClr val="16785C"/>
                </a:solidFill>
                <a:latin typeface="Apple SD Gothic Neo" pitchFamily="34" charset="0"/>
                <a:ea typeface="Apple SD Gothic Neo" pitchFamily="34" charset="-122"/>
                <a:cs typeface="Apple SD Gothic Neo" pitchFamily="34" charset="-120"/>
              </a:rPr>
              <a:t>40%</a:t>
            </a:r>
            <a:endParaRPr lang="en-US" sz="4800" dirty="0"/>
          </a:p>
        </p:txBody>
      </p:sp>
      <p:sp>
        <p:nvSpPr>
          <p:cNvPr id="13" name="Shape 10"/>
          <p:cNvSpPr/>
          <p:nvPr/>
        </p:nvSpPr>
        <p:spPr>
          <a:xfrm>
            <a:off x="448056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4" name="Text 11"/>
          <p:cNvSpPr txBox="1"/>
          <p:nvPr/>
        </p:nvSpPr>
        <p:spPr>
          <a:xfrm>
            <a:off x="470916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5" name="Text 12"/>
          <p:cNvSpPr txBox="1"/>
          <p:nvPr/>
        </p:nvSpPr>
        <p:spPr>
          <a:xfrm>
            <a:off x="4709160" y="3337560"/>
            <a:ext cx="2743200" cy="914400"/>
          </a:xfrm>
          <a:prstGeom prst="rect">
            <a:avLst/>
          </a:prstGeom>
          <a:noFill/>
          <a:ln/>
        </p:spPr>
        <p:txBody>
          <a:bodyPr wrap="square" lIns="0" tIns="0" rIns="0" bIns="0" rtlCol="0" anchor="ctr"/>
          <a:lstStyle/>
          <a:p>
            <a:pPr indent="0" marL="0">
              <a:buNone/>
            </a:pPr>
            <a:r>
              <a:rPr lang="en-US" sz="4800" b="1" dirty="0">
                <a:solidFill>
                  <a:srgbClr val="B6503E"/>
                </a:solidFill>
                <a:latin typeface="Apple SD Gothic Neo" pitchFamily="34" charset="0"/>
                <a:ea typeface="Apple SD Gothic Neo" pitchFamily="34" charset="-122"/>
                <a:cs typeface="Apple SD Gothic Neo" pitchFamily="34" charset="-120"/>
              </a:rPr>
              <a:t>99%</a:t>
            </a:r>
            <a:endParaRPr lang="en-US" sz="4800" dirty="0"/>
          </a:p>
        </p:txBody>
      </p:sp>
      <p:sp>
        <p:nvSpPr>
          <p:cNvPr id="16" name="Text 13"/>
          <p:cNvSpPr txBox="1"/>
          <p:nvPr/>
        </p:nvSpPr>
        <p:spPr>
          <a:xfrm>
            <a:off x="397764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7" name="Text 14"/>
          <p:cNvSpPr txBox="1"/>
          <p:nvPr/>
        </p:nvSpPr>
        <p:spPr>
          <a:xfrm>
            <a:off x="781812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8" name="Shape 15"/>
          <p:cNvSpPr/>
          <p:nvPr/>
        </p:nvSpPr>
        <p:spPr>
          <a:xfrm>
            <a:off x="832104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9" name="Text 16"/>
          <p:cNvSpPr txBox="1"/>
          <p:nvPr/>
        </p:nvSpPr>
        <p:spPr>
          <a:xfrm>
            <a:off x="8595360" y="2971800"/>
            <a:ext cx="2651760" cy="822960"/>
          </a:xfrm>
          <a:prstGeom prst="rect">
            <a:avLst/>
          </a:prstGeom>
          <a:noFill/>
          <a:ln/>
        </p:spPr>
        <p:txBody>
          <a:bodyPr wrap="square" lIns="0" tIns="0" rIns="0" bIns="0" rtlCol="0" anchor="ctr"/>
          <a:lstStyle/>
          <a:p>
            <a:pPr indent="0" marL="0">
              <a:buNone/>
            </a:pPr>
            <a:r>
              <a:rPr lang="en-US" sz="4000" b="1" dirty="0">
                <a:solidFill>
                  <a:srgbClr val="B6503E"/>
                </a:solidFill>
                <a:latin typeface="Apple SD Gothic Neo" pitchFamily="34" charset="0"/>
                <a:ea typeface="Apple SD Gothic Neo" pitchFamily="34" charset="-122"/>
                <a:cs typeface="Apple SD Gothic Neo" pitchFamily="34" charset="-120"/>
              </a:rPr>
              <a:t>통과</a:t>
            </a:r>
            <a:endParaRPr lang="en-US" sz="4000" dirty="0"/>
          </a:p>
        </p:txBody>
      </p:sp>
      <p:sp>
        <p:nvSpPr>
          <p:cNvPr id="20" name="Text 17"/>
          <p:cNvSpPr txBox="1"/>
          <p:nvPr/>
        </p:nvSpPr>
        <p:spPr>
          <a:xfrm>
            <a:off x="8595360" y="3931920"/>
            <a:ext cx="2651760" cy="274320"/>
          </a:xfrm>
          <a:prstGeom prst="rect">
            <a:avLst/>
          </a:prstGeom>
          <a:noFill/>
          <a:ln/>
        </p:spPr>
        <p:txBody>
          <a:bodyPr wrap="square" lIns="0" tIns="0" rIns="0" bIns="0" rtlCol="0" anchor="ctr"/>
          <a:lstStyle/>
          <a:p>
            <a:pPr indent="0" marL="0">
              <a:buNone/>
            </a:pPr>
            <a:r>
              <a:rPr lang="en-US" sz="1600" dirty="0">
                <a:solidFill>
                  <a:srgbClr val="B6503E"/>
                </a:solidFill>
                <a:latin typeface="Apple SD Gothic Neo" pitchFamily="34" charset="0"/>
                <a:ea typeface="Apple SD Gothic Neo" pitchFamily="34" charset="-122"/>
                <a:cs typeface="Apple SD Gothic Neo" pitchFamily="34" charset="-120"/>
              </a:rPr>
              <a:t>길이 + 번호만 확인</a:t>
            </a:r>
            <a:endParaRPr lang="en-US" sz="1600" dirty="0"/>
          </a:p>
        </p:txBody>
      </p:sp>
      <p:sp>
        <p:nvSpPr>
          <p:cNvPr id="21" name="Text 18"/>
          <p:cNvSpPr txBox="1"/>
          <p:nvPr/>
        </p:nvSpPr>
        <p:spPr>
          <a:xfrm>
            <a:off x="685800" y="4681728"/>
            <a:ext cx="10881360" cy="27432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설명용 예시 · 실제 평가 수치 아님</a:t>
            </a:r>
            <a:endParaRPr lang="en-US" sz="1100" dirty="0"/>
          </a:p>
        </p:txBody>
      </p:sp>
      <p:sp>
        <p:nvSpPr>
          <p:cNvPr id="22" name="Text 19"/>
          <p:cNvSpPr txBox="1"/>
          <p:nvPr/>
        </p:nvSpPr>
        <p:spPr>
          <a:xfrm>
            <a:off x="731520" y="5303520"/>
            <a:ext cx="2011680" cy="411480"/>
          </a:xfrm>
          <a:prstGeom prst="rect">
            <a:avLst/>
          </a:prstGeom>
          <a:noFill/>
          <a:ln/>
        </p:spPr>
        <p:txBody>
          <a:bodyPr wrap="square" lIns="0" tIns="0" rIns="0" bIns="0" rtlCol="0" anchor="ctr"/>
          <a:lstStyle/>
          <a:p>
            <a:pPr indent="0" marL="0">
              <a:buNone/>
            </a:pPr>
            <a:r>
              <a:rPr lang="en-US" sz="2000" b="1" dirty="0">
                <a:solidFill>
                  <a:srgbClr val="19382F"/>
                </a:solidFill>
                <a:latin typeface="Apple SD Gothic Neo" pitchFamily="34" charset="0"/>
                <a:ea typeface="Apple SD Gothic Neo" pitchFamily="34" charset="-122"/>
                <a:cs typeface="Apple SD Gothic Neo" pitchFamily="34" charset="-120"/>
              </a:rPr>
              <a:t>형식 검사</a:t>
            </a:r>
            <a:endParaRPr lang="en-US" sz="2000" dirty="0"/>
          </a:p>
        </p:txBody>
      </p:sp>
      <p:sp>
        <p:nvSpPr>
          <p:cNvPr id="23" name="Text 20"/>
          <p:cNvSpPr txBox="1"/>
          <p:nvPr/>
        </p:nvSpPr>
        <p:spPr>
          <a:xfrm>
            <a:off x="2743200" y="5303520"/>
            <a:ext cx="3657600" cy="411480"/>
          </a:xfrm>
          <a:prstGeom prst="rect">
            <a:avLst/>
          </a:prstGeom>
          <a:noFill/>
          <a:ln/>
        </p:spPr>
        <p:txBody>
          <a:bodyPr wrap="square" lIns="0" tIns="0" rIns="0" bIns="0" rtlCol="0" anchor="ctr"/>
          <a:lstStyle/>
          <a:p>
            <a:pPr indent="0" marL="0">
              <a:buNone/>
            </a:pPr>
            <a:r>
              <a:rPr lang="en-US" sz="2000" dirty="0">
                <a:solidFill>
                  <a:srgbClr val="19382F"/>
                </a:solidFill>
                <a:latin typeface="Apple SD Gothic Neo" pitchFamily="34" charset="0"/>
                <a:ea typeface="Apple SD Gothic Neo" pitchFamily="34" charset="-122"/>
                <a:cs typeface="Apple SD Gothic Neo" pitchFamily="34" charset="-120"/>
              </a:rPr>
              <a:t>30자 이상 + “1)” 포함</a:t>
            </a:r>
            <a:endParaRPr lang="en-US" sz="2000" dirty="0"/>
          </a:p>
        </p:txBody>
      </p:sp>
      <p:sp>
        <p:nvSpPr>
          <p:cNvPr id="24" name="Text 21"/>
          <p:cNvSpPr txBox="1"/>
          <p:nvPr/>
        </p:nvSpPr>
        <p:spPr>
          <a:xfrm>
            <a:off x="7040880" y="5303520"/>
            <a:ext cx="4206240" cy="411480"/>
          </a:xfrm>
          <a:prstGeom prst="rect">
            <a:avLst/>
          </a:prstGeom>
          <a:noFill/>
          <a:ln/>
        </p:spPr>
        <p:txBody>
          <a:bodyPr wrap="square" lIns="0" tIns="0" rIns="0" bIns="0" rtlCol="0" anchor="ctr"/>
          <a:lstStyle/>
          <a:p>
            <a:pPr indent="0" marL="0">
              <a:buNone/>
            </a:pPr>
            <a:r>
              <a:rPr lang="en-US" sz="2000" b="1" dirty="0">
                <a:solidFill>
                  <a:srgbClr val="B6503E"/>
                </a:solidFill>
                <a:latin typeface="Apple SD Gothic Neo" pitchFamily="34" charset="0"/>
                <a:ea typeface="Apple SD Gothic Neo" pitchFamily="34" charset="-122"/>
                <a:cs typeface="Apple SD Gothic Neo" pitchFamily="34" charset="-120"/>
              </a:rPr>
              <a:t>3회 실패해도 강제 합격</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02  개선 사항</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근거를 모으는 과정부터, 답변을 내보내기까지</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03 / 09</a:t>
            </a:r>
            <a:endParaRPr lang="en-US" sz="900" dirty="0"/>
          </a:p>
        </p:txBody>
      </p:sp>
      <p:sp>
        <p:nvSpPr>
          <p:cNvPr id="7" name="Shape 4"/>
          <p:cNvSpPr/>
          <p:nvPr/>
        </p:nvSpPr>
        <p:spPr>
          <a:xfrm>
            <a:off x="640080" y="2176272"/>
            <a:ext cx="822960" cy="365760"/>
          </a:xfrm>
          <a:prstGeom prst="roundRect">
            <a:avLst>
              <a:gd name="adj" fmla="val 40000"/>
            </a:avLst>
          </a:prstGeom>
          <a:solidFill>
            <a:srgbClr val="EEF5F1"/>
          </a:solidFill>
          <a:ln w="12700">
            <a:solidFill>
              <a:srgbClr val="EEF5F1"/>
            </a:solidFill>
            <a:prstDash val="solid"/>
          </a:ln>
        </p:spPr>
        <p:txBody>
          <a:bodyPr/>
          <a:p/>
        </p:txBody>
      </p:sp>
      <p:sp>
        <p:nvSpPr>
          <p:cNvPr id="8" name="Text 5"/>
          <p:cNvSpPr txBox="1"/>
          <p:nvPr/>
        </p:nvSpPr>
        <p:spPr>
          <a:xfrm>
            <a:off x="749808" y="217627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검증</a:t>
            </a:r>
            <a:endParaRPr lang="en-US" sz="1200" dirty="0"/>
          </a:p>
        </p:txBody>
      </p:sp>
      <p:sp>
        <p:nvSpPr>
          <p:cNvPr id="9" name="Text 6"/>
          <p:cNvSpPr txBox="1"/>
          <p:nvPr/>
        </p:nvSpPr>
        <p:spPr>
          <a:xfrm>
            <a:off x="1783080" y="201168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길이·번호 확인</a:t>
            </a:r>
            <a:endParaRPr lang="en-US" sz="2000" dirty="0"/>
          </a:p>
        </p:txBody>
      </p:sp>
      <p:sp>
        <p:nvSpPr>
          <p:cNvPr id="10" name="Shape 7"/>
          <p:cNvSpPr/>
          <p:nvPr/>
        </p:nvSpPr>
        <p:spPr>
          <a:xfrm>
            <a:off x="4572000" y="2286000"/>
            <a:ext cx="594360" cy="0"/>
          </a:xfrm>
          <a:prstGeom prst="line">
            <a:avLst/>
          </a:prstGeom>
          <a:noFill/>
          <a:ln w="20320">
            <a:solidFill>
              <a:srgbClr val="16785C"/>
            </a:solidFill>
            <a:prstDash val="solid"/>
            <a:tailEnd type="triangle"/>
          </a:ln>
        </p:spPr>
        <p:txBody>
          <a:bodyPr/>
          <a:p/>
        </p:txBody>
      </p:sp>
      <p:sp>
        <p:nvSpPr>
          <p:cNvPr id="11" name="Text 8"/>
          <p:cNvSpPr txBox="1"/>
          <p:nvPr/>
        </p:nvSpPr>
        <p:spPr>
          <a:xfrm>
            <a:off x="5486400" y="201168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시스템별 수치 대조</a:t>
            </a:r>
            <a:endParaRPr lang="en-US" sz="2500" dirty="0"/>
          </a:p>
        </p:txBody>
      </p:sp>
      <p:sp>
        <p:nvSpPr>
          <p:cNvPr id="12" name="Text 9"/>
          <p:cNvSpPr txBox="1"/>
          <p:nvPr/>
        </p:nvSpPr>
        <p:spPr>
          <a:xfrm>
            <a:off x="5486400" y="259689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불일치 사유 → 재작성 / 총 3회 실패 → 중단</a:t>
            </a:r>
            <a:endParaRPr lang="en-US" sz="1500" dirty="0"/>
          </a:p>
        </p:txBody>
      </p:sp>
      <p:sp>
        <p:nvSpPr>
          <p:cNvPr id="13" name="Shape 10"/>
          <p:cNvSpPr/>
          <p:nvPr/>
        </p:nvSpPr>
        <p:spPr>
          <a:xfrm>
            <a:off x="685800" y="3035808"/>
            <a:ext cx="10789920" cy="0"/>
          </a:xfrm>
          <a:prstGeom prst="line">
            <a:avLst/>
          </a:prstGeom>
          <a:noFill/>
          <a:ln w="20320">
            <a:solidFill>
              <a:srgbClr val="DDE7E1"/>
            </a:solidFill>
            <a:prstDash val="solid"/>
          </a:ln>
        </p:spPr>
        <p:txBody>
          <a:bodyPr/>
          <a:p/>
        </p:txBody>
      </p:sp>
      <p:sp>
        <p:nvSpPr>
          <p:cNvPr id="14" name="Shape 11"/>
          <p:cNvSpPr/>
          <p:nvPr/>
        </p:nvSpPr>
        <p:spPr>
          <a:xfrm>
            <a:off x="640080" y="3364992"/>
            <a:ext cx="822960" cy="365760"/>
          </a:xfrm>
          <a:prstGeom prst="roundRect">
            <a:avLst>
              <a:gd name="adj" fmla="val 40000"/>
            </a:avLst>
          </a:prstGeom>
          <a:solidFill>
            <a:srgbClr val="EEF5F1"/>
          </a:solidFill>
          <a:ln w="12700">
            <a:solidFill>
              <a:srgbClr val="EEF5F1"/>
            </a:solidFill>
            <a:prstDash val="solid"/>
          </a:ln>
        </p:spPr>
        <p:txBody>
          <a:bodyPr/>
          <a:p/>
        </p:txBody>
      </p:sp>
      <p:sp>
        <p:nvSpPr>
          <p:cNvPr id="15" name="Text 12"/>
          <p:cNvSpPr txBox="1"/>
          <p:nvPr/>
        </p:nvSpPr>
        <p:spPr>
          <a:xfrm>
            <a:off x="749808" y="336499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검색</a:t>
            </a:r>
            <a:endParaRPr lang="en-US" sz="1200" dirty="0"/>
          </a:p>
        </p:txBody>
      </p:sp>
      <p:sp>
        <p:nvSpPr>
          <p:cNvPr id="16" name="Text 13"/>
          <p:cNvSpPr txBox="1"/>
          <p:nvPr/>
        </p:nvSpPr>
        <p:spPr>
          <a:xfrm>
            <a:off x="1783080" y="320040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키워드·기본값 선택</a:t>
            </a:r>
            <a:endParaRPr lang="en-US" sz="2000" dirty="0"/>
          </a:p>
        </p:txBody>
      </p:sp>
      <p:sp>
        <p:nvSpPr>
          <p:cNvPr id="17" name="Shape 14"/>
          <p:cNvSpPr/>
          <p:nvPr/>
        </p:nvSpPr>
        <p:spPr>
          <a:xfrm>
            <a:off x="4572000" y="3474720"/>
            <a:ext cx="594360" cy="0"/>
          </a:xfrm>
          <a:prstGeom prst="line">
            <a:avLst/>
          </a:prstGeom>
          <a:noFill/>
          <a:ln w="20320">
            <a:solidFill>
              <a:srgbClr val="16785C"/>
            </a:solidFill>
            <a:prstDash val="solid"/>
            <a:tailEnd type="triangle"/>
          </a:ln>
        </p:spPr>
        <p:txBody>
          <a:bodyPr/>
          <a:p/>
        </p:txBody>
      </p:sp>
      <p:sp>
        <p:nvSpPr>
          <p:cNvPr id="18" name="Text 15"/>
          <p:cNvSpPr txBox="1"/>
          <p:nvPr/>
        </p:nvSpPr>
        <p:spPr>
          <a:xfrm>
            <a:off x="5486400" y="320040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매뉴얼 의미 검색</a:t>
            </a:r>
            <a:endParaRPr lang="en-US" sz="2500" dirty="0"/>
          </a:p>
        </p:txBody>
      </p:sp>
      <p:sp>
        <p:nvSpPr>
          <p:cNvPr id="19" name="Text 16"/>
          <p:cNvSpPr txBox="1"/>
          <p:nvPr/>
        </p:nvSpPr>
        <p:spPr>
          <a:xfrm>
            <a:off x="5486400" y="378561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점수가 낮거나 후보 차이가 작으면 선택 보류</a:t>
            </a:r>
            <a:endParaRPr lang="en-US" sz="1500" dirty="0"/>
          </a:p>
        </p:txBody>
      </p:sp>
      <p:sp>
        <p:nvSpPr>
          <p:cNvPr id="20" name="Shape 17"/>
          <p:cNvSpPr/>
          <p:nvPr/>
        </p:nvSpPr>
        <p:spPr>
          <a:xfrm>
            <a:off x="685800" y="4224528"/>
            <a:ext cx="10789920" cy="0"/>
          </a:xfrm>
          <a:prstGeom prst="line">
            <a:avLst/>
          </a:prstGeom>
          <a:noFill/>
          <a:ln w="20320">
            <a:solidFill>
              <a:srgbClr val="DDE7E1"/>
            </a:solidFill>
            <a:prstDash val="solid"/>
          </a:ln>
        </p:spPr>
        <p:txBody>
          <a:bodyPr/>
          <a:p/>
        </p:txBody>
      </p:sp>
      <p:sp>
        <p:nvSpPr>
          <p:cNvPr id="21" name="Shape 18"/>
          <p:cNvSpPr/>
          <p:nvPr/>
        </p:nvSpPr>
        <p:spPr>
          <a:xfrm>
            <a:off x="640080" y="4553712"/>
            <a:ext cx="822960" cy="365760"/>
          </a:xfrm>
          <a:prstGeom prst="roundRect">
            <a:avLst>
              <a:gd name="adj" fmla="val 40000"/>
            </a:avLst>
          </a:prstGeom>
          <a:solidFill>
            <a:srgbClr val="EEF5F1"/>
          </a:solidFill>
          <a:ln w="12700">
            <a:solidFill>
              <a:srgbClr val="EEF5F1"/>
            </a:solidFill>
            <a:prstDash val="solid"/>
          </a:ln>
        </p:spPr>
        <p:txBody>
          <a:bodyPr/>
          <a:p/>
        </p:txBody>
      </p:sp>
      <p:sp>
        <p:nvSpPr>
          <p:cNvPr id="22" name="Text 19"/>
          <p:cNvSpPr txBox="1"/>
          <p:nvPr/>
        </p:nvSpPr>
        <p:spPr>
          <a:xfrm>
            <a:off x="749808" y="455371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조사</a:t>
            </a:r>
            <a:endParaRPr lang="en-US" sz="1200" dirty="0"/>
          </a:p>
        </p:txBody>
      </p:sp>
      <p:sp>
        <p:nvSpPr>
          <p:cNvPr id="23" name="Text 20"/>
          <p:cNvSpPr txBox="1"/>
          <p:nvPr/>
        </p:nvSpPr>
        <p:spPr>
          <a:xfrm>
            <a:off x="1783080" y="438912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한 작업 실패 시 중단</a:t>
            </a:r>
            <a:endParaRPr lang="en-US" sz="2000" dirty="0"/>
          </a:p>
        </p:txBody>
      </p:sp>
      <p:sp>
        <p:nvSpPr>
          <p:cNvPr id="24" name="Shape 21"/>
          <p:cNvSpPr/>
          <p:nvPr/>
        </p:nvSpPr>
        <p:spPr>
          <a:xfrm>
            <a:off x="4572000" y="4663440"/>
            <a:ext cx="594360" cy="0"/>
          </a:xfrm>
          <a:prstGeom prst="line">
            <a:avLst/>
          </a:prstGeom>
          <a:noFill/>
          <a:ln w="20320">
            <a:solidFill>
              <a:srgbClr val="16785C"/>
            </a:solidFill>
            <a:prstDash val="solid"/>
            <a:tailEnd type="triangle"/>
          </a:ln>
        </p:spPr>
        <p:txBody>
          <a:bodyPr/>
          <a:p/>
        </p:txBody>
      </p:sp>
      <p:sp>
        <p:nvSpPr>
          <p:cNvPr id="25" name="Text 22"/>
          <p:cNvSpPr txBox="1"/>
          <p:nvPr/>
        </p:nvSpPr>
        <p:spPr>
          <a:xfrm>
            <a:off x="5486400" y="438912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성공한 자료 유지</a:t>
            </a:r>
            <a:endParaRPr lang="en-US" sz="2500" dirty="0"/>
          </a:p>
        </p:txBody>
      </p:sp>
      <p:sp>
        <p:nvSpPr>
          <p:cNvPr id="26" name="Text 23"/>
          <p:cNvSpPr txBox="1"/>
          <p:nvPr/>
        </p:nvSpPr>
        <p:spPr>
          <a:xfrm>
            <a:off x="5486400" y="497433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실패 대상 안내 / 근거 0건이면 작성 생략</a:t>
            </a:r>
            <a:endParaRPr lang="en-US" sz="1500" dirty="0"/>
          </a:p>
        </p:txBody>
      </p:sp>
      <p:sp>
        <p:nvSpPr>
          <p:cNvPr id="27" name="Text 24"/>
          <p:cNvSpPr txBox="1"/>
          <p:nvPr/>
        </p:nvSpPr>
        <p:spPr>
          <a:xfrm>
            <a:off x="685800" y="5852160"/>
            <a:ext cx="1371600" cy="320040"/>
          </a:xfrm>
          <a:prstGeom prst="rect">
            <a:avLst/>
          </a:prstGeom>
          <a:noFill/>
          <a:ln/>
        </p:spPr>
        <p:txBody>
          <a:bodyPr wrap="square" lIns="0" tIns="0" rIns="0" bIns="0" rtlCol="0" anchor="ctr"/>
          <a:lstStyle/>
          <a:p>
            <a:pPr indent="0" marL="0">
              <a:buNone/>
            </a:pPr>
            <a:r>
              <a:rPr lang="en-US" sz="1500" b="1" dirty="0">
                <a:solidFill>
                  <a:srgbClr val="16785C"/>
                </a:solidFill>
                <a:latin typeface="Apple SD Gothic Neo" pitchFamily="34" charset="0"/>
                <a:ea typeface="Apple SD Gothic Neo" pitchFamily="34" charset="-122"/>
                <a:cs typeface="Apple SD Gothic Neo" pitchFamily="34" charset="-120"/>
              </a:rPr>
              <a:t>추가 보완</a:t>
            </a:r>
            <a:endParaRPr lang="en-US" sz="1500" dirty="0"/>
          </a:p>
        </p:txBody>
      </p:sp>
      <p:sp>
        <p:nvSpPr>
          <p:cNvPr id="28" name="Text 25"/>
          <p:cNvSpPr txBox="1"/>
          <p:nvPr/>
        </p:nvSpPr>
        <p:spPr>
          <a:xfrm>
            <a:off x="2286000" y="5852160"/>
            <a:ext cx="9144000" cy="320040"/>
          </a:xfrm>
          <a:prstGeom prst="rect">
            <a:avLst/>
          </a:prstGeom>
          <a:noFill/>
          <a:ln/>
        </p:spPr>
        <p:txBody>
          <a:bodyPr wrap="square" lIns="0" tIns="0" rIns="0" bIns="0" rtlCol="0" anchor="ctr"/>
          <a:lstStyle/>
          <a:p>
            <a:pPr indent="0" marL="0">
              <a:buNone/>
            </a:pPr>
            <a:r>
              <a:rPr lang="en-US" sz="1700" dirty="0">
                <a:solidFill>
                  <a:srgbClr val="19382F"/>
                </a:solidFill>
                <a:latin typeface="Apple SD Gothic Neo" pitchFamily="34" charset="0"/>
                <a:ea typeface="Apple SD Gothic Neo" pitchFamily="34" charset="-122"/>
                <a:cs typeface="Apple SD Gothic Neo" pitchFamily="34" charset="-120"/>
              </a:rPr>
              <a:t>대상 시스템명 구분  ·  역할별 모듈 분리  ·  단위·회귀 테스트</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03  구조와 사용 기술</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확인과 실패 분기를 처리 흐름에 넣었다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04 / 09</a:t>
            </a:r>
            <a:endParaRPr lang="en-US" sz="900" dirty="0"/>
          </a:p>
        </p:txBody>
      </p:sp>
      <p:sp>
        <p:nvSpPr>
          <p:cNvPr id="7" name="Shape 4"/>
          <p:cNvSpPr/>
          <p:nvPr/>
        </p:nvSpPr>
        <p:spPr>
          <a:xfrm>
            <a:off x="640080" y="210312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8" name="Text 5"/>
          <p:cNvSpPr txBox="1"/>
          <p:nvPr/>
        </p:nvSpPr>
        <p:spPr>
          <a:xfrm>
            <a:off x="749808" y="215798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질문·계획</a:t>
            </a:r>
            <a:endParaRPr lang="en-US" sz="1800" dirty="0"/>
          </a:p>
        </p:txBody>
      </p:sp>
      <p:sp>
        <p:nvSpPr>
          <p:cNvPr id="9" name="Shape 6"/>
          <p:cNvSpPr/>
          <p:nvPr/>
        </p:nvSpPr>
        <p:spPr>
          <a:xfrm>
            <a:off x="2606040" y="182880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0" name="Text 7"/>
          <p:cNvSpPr txBox="1"/>
          <p:nvPr/>
        </p:nvSpPr>
        <p:spPr>
          <a:xfrm>
            <a:off x="2715768" y="188366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모니터링</a:t>
            </a:r>
            <a:endParaRPr lang="en-US" sz="1800" dirty="0"/>
          </a:p>
        </p:txBody>
      </p:sp>
      <p:sp>
        <p:nvSpPr>
          <p:cNvPr id="11" name="Shape 8"/>
          <p:cNvSpPr/>
          <p:nvPr/>
        </p:nvSpPr>
        <p:spPr>
          <a:xfrm>
            <a:off x="2606040" y="278892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2" name="Text 9"/>
          <p:cNvSpPr txBox="1"/>
          <p:nvPr/>
        </p:nvSpPr>
        <p:spPr>
          <a:xfrm>
            <a:off x="2715768" y="284378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매뉴얼 검색</a:t>
            </a:r>
            <a:endParaRPr lang="en-US" sz="1800" dirty="0"/>
          </a:p>
        </p:txBody>
      </p:sp>
      <p:sp>
        <p:nvSpPr>
          <p:cNvPr id="13" name="Shape 10"/>
          <p:cNvSpPr/>
          <p:nvPr/>
        </p:nvSpPr>
        <p:spPr>
          <a:xfrm>
            <a:off x="484632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4" name="Text 11"/>
          <p:cNvSpPr txBox="1"/>
          <p:nvPr/>
        </p:nvSpPr>
        <p:spPr>
          <a:xfrm>
            <a:off x="495604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근거 확인</a:t>
            </a:r>
            <a:endParaRPr lang="en-US" sz="1800" dirty="0"/>
          </a:p>
        </p:txBody>
      </p:sp>
      <p:sp>
        <p:nvSpPr>
          <p:cNvPr id="15" name="Shape 12"/>
          <p:cNvSpPr/>
          <p:nvPr/>
        </p:nvSpPr>
        <p:spPr>
          <a:xfrm>
            <a:off x="6858000" y="228600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16" name="Text 13"/>
          <p:cNvSpPr txBox="1"/>
          <p:nvPr/>
        </p:nvSpPr>
        <p:spPr>
          <a:xfrm>
            <a:off x="696772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답변 작성</a:t>
            </a:r>
            <a:endParaRPr lang="en-US" sz="1800" dirty="0"/>
          </a:p>
        </p:txBody>
      </p:sp>
      <p:sp>
        <p:nvSpPr>
          <p:cNvPr id="17" name="Shape 14"/>
          <p:cNvSpPr/>
          <p:nvPr/>
        </p:nvSpPr>
        <p:spPr>
          <a:xfrm>
            <a:off x="886968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8" name="Text 15"/>
          <p:cNvSpPr txBox="1"/>
          <p:nvPr/>
        </p:nvSpPr>
        <p:spPr>
          <a:xfrm>
            <a:off x="897940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수치 검증</a:t>
            </a:r>
            <a:endParaRPr lang="en-US" sz="1800" dirty="0"/>
          </a:p>
        </p:txBody>
      </p:sp>
      <p:sp>
        <p:nvSpPr>
          <p:cNvPr id="19" name="Shape 16"/>
          <p:cNvSpPr/>
          <p:nvPr/>
        </p:nvSpPr>
        <p:spPr>
          <a:xfrm>
            <a:off x="10835640" y="2286000"/>
            <a:ext cx="777240" cy="640080"/>
          </a:xfrm>
          <a:prstGeom prst="roundRect">
            <a:avLst>
              <a:gd name="adj" fmla="val 22857"/>
            </a:avLst>
          </a:prstGeom>
          <a:solidFill>
            <a:srgbClr val="EEF5F1"/>
          </a:solidFill>
          <a:ln w="12700">
            <a:solidFill>
              <a:srgbClr val="EEF5F1"/>
            </a:solidFill>
            <a:prstDash val="solid"/>
          </a:ln>
        </p:spPr>
        <p:txBody>
          <a:bodyPr/>
          <a:p/>
        </p:txBody>
      </p:sp>
      <p:sp>
        <p:nvSpPr>
          <p:cNvPr id="20" name="Text 17"/>
          <p:cNvSpPr txBox="1"/>
          <p:nvPr/>
        </p:nvSpPr>
        <p:spPr>
          <a:xfrm>
            <a:off x="10945368" y="2340864"/>
            <a:ext cx="55778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응답</a:t>
            </a:r>
            <a:endParaRPr lang="en-US" sz="1800" dirty="0"/>
          </a:p>
        </p:txBody>
      </p:sp>
      <p:sp>
        <p:nvSpPr>
          <p:cNvPr id="21" name="Shape 18"/>
          <p:cNvSpPr/>
          <p:nvPr/>
        </p:nvSpPr>
        <p:spPr>
          <a:xfrm>
            <a:off x="2194560" y="2423160"/>
            <a:ext cx="182880" cy="0"/>
          </a:xfrm>
          <a:prstGeom prst="line">
            <a:avLst/>
          </a:prstGeom>
          <a:noFill/>
          <a:ln w="20320">
            <a:solidFill>
              <a:srgbClr val="B8C5BE"/>
            </a:solidFill>
            <a:prstDash val="solid"/>
          </a:ln>
        </p:spPr>
        <p:txBody>
          <a:bodyPr/>
          <a:p/>
        </p:txBody>
      </p:sp>
      <p:sp>
        <p:nvSpPr>
          <p:cNvPr id="22" name="Shape 19"/>
          <p:cNvSpPr/>
          <p:nvPr/>
        </p:nvSpPr>
        <p:spPr>
          <a:xfrm>
            <a:off x="2377440" y="2148840"/>
            <a:ext cx="0" cy="960120"/>
          </a:xfrm>
          <a:prstGeom prst="line">
            <a:avLst/>
          </a:prstGeom>
          <a:noFill/>
          <a:ln w="20320">
            <a:solidFill>
              <a:srgbClr val="B8C5BE"/>
            </a:solidFill>
            <a:prstDash val="solid"/>
          </a:ln>
        </p:spPr>
        <p:txBody>
          <a:bodyPr/>
          <a:p/>
        </p:txBody>
      </p:sp>
      <p:sp>
        <p:nvSpPr>
          <p:cNvPr id="23" name="Shape 20"/>
          <p:cNvSpPr/>
          <p:nvPr/>
        </p:nvSpPr>
        <p:spPr>
          <a:xfrm>
            <a:off x="2377440" y="2148840"/>
            <a:ext cx="182880" cy="0"/>
          </a:xfrm>
          <a:prstGeom prst="line">
            <a:avLst/>
          </a:prstGeom>
          <a:noFill/>
          <a:ln w="20320">
            <a:solidFill>
              <a:srgbClr val="B8C5BE"/>
            </a:solidFill>
            <a:prstDash val="solid"/>
            <a:tailEnd type="triangle"/>
          </a:ln>
        </p:spPr>
        <p:txBody>
          <a:bodyPr/>
          <a:p/>
        </p:txBody>
      </p:sp>
      <p:sp>
        <p:nvSpPr>
          <p:cNvPr id="24" name="Shape 21"/>
          <p:cNvSpPr/>
          <p:nvPr/>
        </p:nvSpPr>
        <p:spPr>
          <a:xfrm>
            <a:off x="2377440" y="3108960"/>
            <a:ext cx="182880" cy="0"/>
          </a:xfrm>
          <a:prstGeom prst="line">
            <a:avLst/>
          </a:prstGeom>
          <a:noFill/>
          <a:ln w="20320">
            <a:solidFill>
              <a:srgbClr val="B8C5BE"/>
            </a:solidFill>
            <a:prstDash val="solid"/>
            <a:tailEnd type="triangle"/>
          </a:ln>
        </p:spPr>
        <p:txBody>
          <a:bodyPr/>
          <a:p/>
        </p:txBody>
      </p:sp>
      <p:sp>
        <p:nvSpPr>
          <p:cNvPr id="25" name="Shape 22"/>
          <p:cNvSpPr/>
          <p:nvPr/>
        </p:nvSpPr>
        <p:spPr>
          <a:xfrm>
            <a:off x="4389120" y="2194560"/>
            <a:ext cx="365760" cy="274320"/>
          </a:xfrm>
          <a:prstGeom prst="line">
            <a:avLst/>
          </a:prstGeom>
          <a:noFill/>
          <a:ln w="20320">
            <a:solidFill>
              <a:srgbClr val="B8C5BE"/>
            </a:solidFill>
            <a:prstDash val="solid"/>
            <a:tailEnd type="triangle"/>
          </a:ln>
        </p:spPr>
        <p:txBody>
          <a:bodyPr/>
          <a:p/>
        </p:txBody>
      </p:sp>
      <p:sp>
        <p:nvSpPr>
          <p:cNvPr id="26" name="Shape 23"/>
          <p:cNvSpPr/>
          <p:nvPr/>
        </p:nvSpPr>
        <p:spPr>
          <a:xfrm>
            <a:off x="4389120" y="3063240"/>
            <a:ext cx="365760" cy="-274320"/>
          </a:xfrm>
          <a:prstGeom prst="line">
            <a:avLst/>
          </a:prstGeom>
          <a:noFill/>
          <a:ln w="20320">
            <a:solidFill>
              <a:srgbClr val="B8C5BE"/>
            </a:solidFill>
            <a:prstDash val="solid"/>
            <a:tailEnd type="triangle"/>
          </a:ln>
        </p:spPr>
        <p:txBody>
          <a:bodyPr/>
          <a:p/>
        </p:txBody>
      </p:sp>
      <p:sp>
        <p:nvSpPr>
          <p:cNvPr id="27" name="Shape 24"/>
          <p:cNvSpPr/>
          <p:nvPr/>
        </p:nvSpPr>
        <p:spPr>
          <a:xfrm>
            <a:off x="6400800" y="2606040"/>
            <a:ext cx="365760" cy="0"/>
          </a:xfrm>
          <a:prstGeom prst="line">
            <a:avLst/>
          </a:prstGeom>
          <a:noFill/>
          <a:ln w="20320">
            <a:solidFill>
              <a:srgbClr val="B8C5BE"/>
            </a:solidFill>
            <a:prstDash val="solid"/>
            <a:tailEnd type="triangle"/>
          </a:ln>
        </p:spPr>
        <p:txBody>
          <a:bodyPr/>
          <a:p/>
        </p:txBody>
      </p:sp>
      <p:sp>
        <p:nvSpPr>
          <p:cNvPr id="28" name="Shape 25"/>
          <p:cNvSpPr/>
          <p:nvPr/>
        </p:nvSpPr>
        <p:spPr>
          <a:xfrm>
            <a:off x="8412480" y="2606040"/>
            <a:ext cx="365760" cy="0"/>
          </a:xfrm>
          <a:prstGeom prst="line">
            <a:avLst/>
          </a:prstGeom>
          <a:noFill/>
          <a:ln w="20320">
            <a:solidFill>
              <a:srgbClr val="B8C5BE"/>
            </a:solidFill>
            <a:prstDash val="solid"/>
            <a:tailEnd type="triangle"/>
          </a:ln>
        </p:spPr>
        <p:txBody>
          <a:bodyPr/>
          <a:p/>
        </p:txBody>
      </p:sp>
      <p:sp>
        <p:nvSpPr>
          <p:cNvPr id="29" name="Shape 26"/>
          <p:cNvSpPr/>
          <p:nvPr/>
        </p:nvSpPr>
        <p:spPr>
          <a:xfrm>
            <a:off x="10424160" y="2606040"/>
            <a:ext cx="320040" cy="0"/>
          </a:xfrm>
          <a:prstGeom prst="line">
            <a:avLst/>
          </a:prstGeom>
          <a:noFill/>
          <a:ln w="20320">
            <a:solidFill>
              <a:srgbClr val="B8C5BE"/>
            </a:solidFill>
            <a:prstDash val="solid"/>
            <a:tailEnd type="triangle"/>
          </a:ln>
        </p:spPr>
        <p:txBody>
          <a:bodyPr/>
          <a:p/>
        </p:txBody>
      </p:sp>
      <p:sp>
        <p:nvSpPr>
          <p:cNvPr id="30" name="Text 27"/>
          <p:cNvSpPr txBox="1"/>
          <p:nvPr/>
        </p:nvSpPr>
        <p:spPr>
          <a:xfrm>
            <a:off x="10424160" y="1938528"/>
            <a:ext cx="411480" cy="228600"/>
          </a:xfrm>
          <a:prstGeom prst="rect">
            <a:avLst/>
          </a:prstGeom>
          <a:noFill/>
          <a:ln/>
        </p:spPr>
        <p:txBody>
          <a:bodyPr wrap="square" lIns="0" tIns="0" rIns="0" bIns="0" rtlCol="0" anchor="ctr"/>
          <a:lstStyle/>
          <a:p>
            <a:pPr indent="0" marL="0">
              <a:buNone/>
            </a:pPr>
            <a:r>
              <a:rPr lang="en-US" sz="1000" dirty="0">
                <a:solidFill>
                  <a:srgbClr val="16785C"/>
                </a:solidFill>
                <a:latin typeface="Apple SD Gothic Neo" pitchFamily="34" charset="0"/>
                <a:ea typeface="Apple SD Gothic Neo" pitchFamily="34" charset="-122"/>
                <a:cs typeface="Apple SD Gothic Neo" pitchFamily="34" charset="-120"/>
              </a:rPr>
              <a:t>통과</a:t>
            </a:r>
            <a:endParaRPr lang="en-US" sz="1000" dirty="0"/>
          </a:p>
        </p:txBody>
      </p:sp>
      <p:sp>
        <p:nvSpPr>
          <p:cNvPr id="31" name="Shape 28"/>
          <p:cNvSpPr/>
          <p:nvPr/>
        </p:nvSpPr>
        <p:spPr>
          <a:xfrm>
            <a:off x="5596128" y="2971800"/>
            <a:ext cx="0" cy="594360"/>
          </a:xfrm>
          <a:prstGeom prst="line">
            <a:avLst/>
          </a:prstGeom>
          <a:noFill/>
          <a:ln w="20320">
            <a:solidFill>
              <a:srgbClr val="B6503E"/>
            </a:solidFill>
            <a:prstDash val="solid"/>
            <a:tailEnd type="triangle"/>
          </a:ln>
        </p:spPr>
        <p:txBody>
          <a:bodyPr/>
          <a:p/>
        </p:txBody>
      </p:sp>
      <p:sp>
        <p:nvSpPr>
          <p:cNvPr id="32" name="Shape 29"/>
          <p:cNvSpPr/>
          <p:nvPr/>
        </p:nvSpPr>
        <p:spPr>
          <a:xfrm>
            <a:off x="4572000" y="3657600"/>
            <a:ext cx="2834640" cy="365760"/>
          </a:xfrm>
          <a:prstGeom prst="roundRect">
            <a:avLst>
              <a:gd name="adj" fmla="val 40000"/>
            </a:avLst>
          </a:prstGeom>
          <a:solidFill>
            <a:srgbClr val="FAEEEA"/>
          </a:solidFill>
          <a:ln w="12700">
            <a:solidFill>
              <a:srgbClr val="FAEEEA"/>
            </a:solidFill>
            <a:prstDash val="solid"/>
          </a:ln>
        </p:spPr>
        <p:txBody>
          <a:bodyPr/>
          <a:p/>
        </p:txBody>
      </p:sp>
      <p:sp>
        <p:nvSpPr>
          <p:cNvPr id="33" name="Text 30"/>
          <p:cNvSpPr txBox="1"/>
          <p:nvPr/>
        </p:nvSpPr>
        <p:spPr>
          <a:xfrm>
            <a:off x="4681728" y="3657600"/>
            <a:ext cx="261518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근거 0건 → 작성 생략</a:t>
            </a:r>
            <a:endParaRPr lang="en-US" sz="1200" dirty="0"/>
          </a:p>
        </p:txBody>
      </p:sp>
      <p:sp>
        <p:nvSpPr>
          <p:cNvPr id="34" name="Shape 31"/>
          <p:cNvSpPr/>
          <p:nvPr/>
        </p:nvSpPr>
        <p:spPr>
          <a:xfrm>
            <a:off x="9646920" y="2971800"/>
            <a:ext cx="0" cy="411480"/>
          </a:xfrm>
          <a:prstGeom prst="line">
            <a:avLst/>
          </a:prstGeom>
          <a:noFill/>
          <a:ln w="20320">
            <a:solidFill>
              <a:srgbClr val="16785C"/>
            </a:solidFill>
            <a:prstDash val="solid"/>
          </a:ln>
        </p:spPr>
        <p:txBody>
          <a:bodyPr/>
          <a:p/>
        </p:txBody>
      </p:sp>
      <p:sp>
        <p:nvSpPr>
          <p:cNvPr id="35" name="Shape 32"/>
          <p:cNvSpPr/>
          <p:nvPr/>
        </p:nvSpPr>
        <p:spPr>
          <a:xfrm>
            <a:off x="7589520" y="3383280"/>
            <a:ext cx="2057400" cy="0"/>
          </a:xfrm>
          <a:prstGeom prst="line">
            <a:avLst/>
          </a:prstGeom>
          <a:noFill/>
          <a:ln w="20320">
            <a:solidFill>
              <a:srgbClr val="16785C"/>
            </a:solidFill>
            <a:prstDash val="solid"/>
          </a:ln>
        </p:spPr>
        <p:txBody>
          <a:bodyPr/>
          <a:p/>
        </p:txBody>
      </p:sp>
      <p:sp>
        <p:nvSpPr>
          <p:cNvPr id="36" name="Shape 33"/>
          <p:cNvSpPr/>
          <p:nvPr/>
        </p:nvSpPr>
        <p:spPr>
          <a:xfrm>
            <a:off x="7589520" y="3383280"/>
            <a:ext cx="0" cy="-365760"/>
          </a:xfrm>
          <a:prstGeom prst="line">
            <a:avLst/>
          </a:prstGeom>
          <a:noFill/>
          <a:ln w="20320">
            <a:solidFill>
              <a:srgbClr val="16785C"/>
            </a:solidFill>
            <a:prstDash val="solid"/>
            <a:tailEnd type="triangle"/>
          </a:ln>
        </p:spPr>
        <p:txBody>
          <a:bodyPr/>
          <a:p/>
        </p:txBody>
      </p:sp>
      <p:sp>
        <p:nvSpPr>
          <p:cNvPr id="37" name="Text 34"/>
          <p:cNvSpPr txBox="1"/>
          <p:nvPr/>
        </p:nvSpPr>
        <p:spPr>
          <a:xfrm>
            <a:off x="7680960" y="3584448"/>
            <a:ext cx="2743200" cy="320040"/>
          </a:xfrm>
          <a:prstGeom prst="rect">
            <a:avLst/>
          </a:prstGeom>
          <a:noFill/>
          <a:ln/>
        </p:spPr>
        <p:txBody>
          <a:bodyPr wrap="square" lIns="0" tIns="0" rIns="0" bIns="0" rtlCol="0" anchor="ctr"/>
          <a:lstStyle/>
          <a:p>
            <a:pPr indent="0" marL="0">
              <a:buNone/>
            </a:pPr>
            <a:r>
              <a:rPr lang="en-US" sz="1300" b="1" dirty="0">
                <a:solidFill>
                  <a:srgbClr val="16785C"/>
                </a:solidFill>
                <a:latin typeface="Apple SD Gothic Neo" pitchFamily="34" charset="0"/>
                <a:ea typeface="Apple SD Gothic Neo" pitchFamily="34" charset="-122"/>
                <a:cs typeface="Apple SD Gothic Neo" pitchFamily="34" charset="-120"/>
              </a:rPr>
              <a:t>반려 → 재작성</a:t>
            </a:r>
            <a:endParaRPr lang="en-US" sz="1300" dirty="0"/>
          </a:p>
        </p:txBody>
      </p:sp>
      <p:sp>
        <p:nvSpPr>
          <p:cNvPr id="38" name="Text 35"/>
          <p:cNvSpPr txBox="1"/>
          <p:nvPr/>
        </p:nvSpPr>
        <p:spPr>
          <a:xfrm>
            <a:off x="8503920" y="4069080"/>
            <a:ext cx="3108960" cy="320040"/>
          </a:xfrm>
          <a:prstGeom prst="rect">
            <a:avLst/>
          </a:prstGeom>
          <a:noFill/>
          <a:ln/>
        </p:spPr>
        <p:txBody>
          <a:bodyPr wrap="square" lIns="0" tIns="0" rIns="0" bIns="0" rtlCol="0" anchor="ctr"/>
          <a:lstStyle/>
          <a:p>
            <a:pPr indent="0" marL="0">
              <a:buNone/>
            </a:pPr>
            <a:r>
              <a:rPr lang="en-US" sz="1300" b="1" dirty="0">
                <a:solidFill>
                  <a:srgbClr val="B6503E"/>
                </a:solidFill>
                <a:latin typeface="Apple SD Gothic Neo" pitchFamily="34" charset="0"/>
                <a:ea typeface="Apple SD Gothic Neo" pitchFamily="34" charset="-122"/>
                <a:cs typeface="Apple SD Gothic Neo" pitchFamily="34" charset="-120"/>
              </a:rPr>
              <a:t>총 3회 실패 → 실패 안내</a:t>
            </a:r>
            <a:endParaRPr lang="en-US" sz="1300" dirty="0"/>
          </a:p>
        </p:txBody>
      </p:sp>
      <p:sp>
        <p:nvSpPr>
          <p:cNvPr id="39" name="Text 36"/>
          <p:cNvSpPr txBox="1"/>
          <p:nvPr/>
        </p:nvSpPr>
        <p:spPr>
          <a:xfrm>
            <a:off x="685800" y="4617720"/>
            <a:ext cx="320040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Multi-Agent</a:t>
            </a:r>
            <a:endParaRPr lang="en-US" sz="1800" dirty="0"/>
          </a:p>
        </p:txBody>
      </p:sp>
      <p:sp>
        <p:nvSpPr>
          <p:cNvPr id="40" name="Text 37"/>
          <p:cNvSpPr txBox="1"/>
          <p:nvPr/>
        </p:nvSpPr>
        <p:spPr>
          <a:xfrm>
            <a:off x="68580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조사 서브그래프 2개</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독립 LLM 추론·협상은 아님</a:t>
            </a:r>
            <a:endParaRPr lang="en-US" sz="1500" dirty="0"/>
          </a:p>
        </p:txBody>
      </p:sp>
      <p:sp>
        <p:nvSpPr>
          <p:cNvPr id="41" name="Text 38"/>
          <p:cNvSpPr txBox="1"/>
          <p:nvPr/>
        </p:nvSpPr>
        <p:spPr>
          <a:xfrm>
            <a:off x="4389120" y="4617720"/>
            <a:ext cx="329184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MCP · RAG</a:t>
            </a:r>
            <a:endParaRPr lang="en-US" sz="1800" dirty="0"/>
          </a:p>
        </p:txBody>
      </p:sp>
      <p:sp>
        <p:nvSpPr>
          <p:cNvPr id="42" name="Text 39"/>
          <p:cNvSpPr txBox="1"/>
          <p:nvPr/>
        </p:nvSpPr>
        <p:spPr>
          <a:xfrm>
            <a:off x="438912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도구 연결 → 의미 검색</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선택한 본문으로 답변 작성</a:t>
            </a:r>
            <a:endParaRPr lang="en-US" sz="1500" dirty="0"/>
          </a:p>
        </p:txBody>
      </p:sp>
      <p:sp>
        <p:nvSpPr>
          <p:cNvPr id="43" name="Text 40"/>
          <p:cNvSpPr txBox="1"/>
          <p:nvPr/>
        </p:nvSpPr>
        <p:spPr>
          <a:xfrm>
            <a:off x="8092440" y="4617720"/>
            <a:ext cx="347472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모듈화 · 의존성 주입</a:t>
            </a:r>
            <a:endParaRPr lang="en-US" sz="1800" dirty="0"/>
          </a:p>
        </p:txBody>
      </p:sp>
      <p:sp>
        <p:nvSpPr>
          <p:cNvPr id="44" name="Text 41"/>
          <p:cNvSpPr txBox="1"/>
          <p:nvPr/>
        </p:nvSpPr>
        <p:spPr>
          <a:xfrm>
            <a:off x="8092440" y="5120640"/>
            <a:ext cx="347472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역할 분리 · 테스트 도구 교체</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단위·회귀 테스트 포함 6종</a:t>
            </a:r>
            <a:endParaRPr lang="en-US" sz="1500" dirty="0"/>
          </a:p>
        </p:txBody>
      </p:sp>
      <p:sp>
        <p:nvSpPr>
          <p:cNvPr id="45" name="Text 42"/>
          <p:cNvSpPr txBox="1"/>
          <p:nvPr/>
        </p:nvSpPr>
        <p:spPr>
          <a:xfrm>
            <a:off x="685800" y="6080760"/>
            <a:ext cx="10881360" cy="228600"/>
          </a:xfrm>
          <a:prstGeom prst="rect">
            <a:avLst/>
          </a:prstGeom>
          <a:noFill/>
          <a:ln/>
        </p:spPr>
        <p:txBody>
          <a:bodyPr wrap="square" lIns="0" tIns="0" rIns="0" bIns="0" rtlCol="0" anchor="ctr"/>
          <a:lstStyle/>
          <a:p>
            <a:pPr indent="0" marL="0">
              <a:buNone/>
            </a:pPr>
            <a:r>
              <a:rPr lang="en-US" sz="1000" dirty="0">
                <a:solidFill>
                  <a:srgbClr val="62746D"/>
                </a:solidFill>
                <a:latin typeface="Apple SD Gothic Neo" pitchFamily="34" charset="0"/>
                <a:ea typeface="Apple SD Gothic Neo" pitchFamily="34" charset="-122"/>
                <a:cs typeface="Apple SD Gothic Neo" pitchFamily="34" charset="-120"/>
              </a:rPr>
              <a:t>제공 기반: LangGraph·서버·세션  |  직접 개선: 조사 분리·검색·검증·실패 분기  |  LangSmith: 실행 추적만 확인</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04  최종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최종 답변 옆에, 확인한 근거를 남겼다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05 / 09</a:t>
            </a:r>
            <a:endParaRPr lang="en-US" sz="900" dirty="0"/>
          </a:p>
        </p:txBody>
      </p:sp>
      <p:pic>
        <p:nvPicPr>
          <p:cNvPr id="7" name="Image 0" descr="실제 실행 화면 확대">    </p:cNvPr>
          <p:cNvPicPr>
            <a:picLocks noChangeAspect="1"/>
          </p:cNvPicPr>
          <p:nvPr/>
        </p:nvPicPr>
        <p:blipFill>
          <a:blip r:embed="rId1"/>
          <a:srcRect l="23438" t="38194" r="27344" b="1389"/>
          <a:stretch>
            <a:fillRect/>
          </a:stretch>
        </p:blipFill>
        <p:spPr>
          <a:xfrm>
            <a:off x="640080" y="1783080"/>
            <a:ext cx="6675120" cy="4608576"/>
          </a:xfrm>
          <a:prstGeom prst="rect">
            <a:avLst/>
          </a:prstGeom>
        </p:spPr>
      </p:pic>
      <p:sp>
        <p:nvSpPr>
          <p:cNvPr id="8" name="Shape 4"/>
          <p:cNvSpPr/>
          <p:nvPr/>
        </p:nvSpPr>
        <p:spPr>
          <a:xfrm>
            <a:off x="7818120" y="2011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9" name="Text 5"/>
          <p:cNvSpPr txBox="1"/>
          <p:nvPr/>
        </p:nvSpPr>
        <p:spPr>
          <a:xfrm>
            <a:off x="7927848" y="2011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01</a:t>
            </a:r>
            <a:endParaRPr lang="en-US" sz="1200" dirty="0"/>
          </a:p>
        </p:txBody>
      </p:sp>
      <p:sp>
        <p:nvSpPr>
          <p:cNvPr id="10" name="Text 6"/>
          <p:cNvSpPr txBox="1"/>
          <p:nvPr/>
        </p:nvSpPr>
        <p:spPr>
          <a:xfrm>
            <a:off x="8595360" y="1975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최종 답변</a:t>
            </a:r>
            <a:endParaRPr lang="en-US" sz="2300" dirty="0"/>
          </a:p>
        </p:txBody>
      </p:sp>
      <p:sp>
        <p:nvSpPr>
          <p:cNvPr id="11" name="Text 7"/>
          <p:cNvSpPr txBox="1"/>
          <p:nvPr/>
        </p:nvSpPr>
        <p:spPr>
          <a:xfrm>
            <a:off x="7863840" y="2532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초안은 숨기고 처리 후 제공</a:t>
            </a:r>
            <a:endParaRPr lang="en-US" sz="1600" dirty="0"/>
          </a:p>
        </p:txBody>
      </p:sp>
      <p:sp>
        <p:nvSpPr>
          <p:cNvPr id="12" name="Shape 8"/>
          <p:cNvSpPr/>
          <p:nvPr/>
        </p:nvSpPr>
        <p:spPr>
          <a:xfrm>
            <a:off x="7818120" y="3154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3" name="Text 9"/>
          <p:cNvSpPr txBox="1"/>
          <p:nvPr/>
        </p:nvSpPr>
        <p:spPr>
          <a:xfrm>
            <a:off x="7927848" y="3154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02</a:t>
            </a:r>
            <a:endParaRPr lang="en-US" sz="1200" dirty="0"/>
          </a:p>
        </p:txBody>
      </p:sp>
      <p:sp>
        <p:nvSpPr>
          <p:cNvPr id="14" name="Text 10"/>
          <p:cNvSpPr txBox="1"/>
          <p:nvPr/>
        </p:nvSpPr>
        <p:spPr>
          <a:xfrm>
            <a:off x="8595360" y="3118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수집값 ↔ 답변값</a:t>
            </a:r>
            <a:endParaRPr lang="en-US" sz="2300" dirty="0"/>
          </a:p>
        </p:txBody>
      </p:sp>
      <p:sp>
        <p:nvSpPr>
          <p:cNvPr id="15" name="Text 11"/>
          <p:cNvSpPr txBox="1"/>
          <p:nvPr/>
        </p:nvSpPr>
        <p:spPr>
          <a:xfrm>
            <a:off x="7863840" y="3675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시스템별 수치를 나란히 대조</a:t>
            </a:r>
            <a:endParaRPr lang="en-US" sz="1600" dirty="0"/>
          </a:p>
        </p:txBody>
      </p:sp>
      <p:sp>
        <p:nvSpPr>
          <p:cNvPr id="16" name="Shape 12"/>
          <p:cNvSpPr/>
          <p:nvPr/>
        </p:nvSpPr>
        <p:spPr>
          <a:xfrm>
            <a:off x="7818120" y="4297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7" name="Text 13"/>
          <p:cNvSpPr txBox="1"/>
          <p:nvPr/>
        </p:nvSpPr>
        <p:spPr>
          <a:xfrm>
            <a:off x="7927848" y="4297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03</a:t>
            </a:r>
            <a:endParaRPr lang="en-US" sz="1200" dirty="0"/>
          </a:p>
        </p:txBody>
      </p:sp>
      <p:sp>
        <p:nvSpPr>
          <p:cNvPr id="18" name="Text 14"/>
          <p:cNvSpPr txBox="1"/>
          <p:nvPr/>
        </p:nvSpPr>
        <p:spPr>
          <a:xfrm>
            <a:off x="8595360" y="4261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검증 범위</a:t>
            </a:r>
            <a:endParaRPr lang="en-US" sz="2300" dirty="0"/>
          </a:p>
        </p:txBody>
      </p:sp>
      <p:sp>
        <p:nvSpPr>
          <p:cNvPr id="19" name="Text 15"/>
          <p:cNvSpPr txBox="1"/>
          <p:nvPr/>
        </p:nvSpPr>
        <p:spPr>
          <a:xfrm>
            <a:off x="7863840" y="4818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확인한 항목과 한계를 명시</a:t>
            </a:r>
            <a:endParaRPr lang="en-US" sz="1600" dirty="0"/>
          </a:p>
        </p:txBody>
      </p:sp>
      <p:sp>
        <p:nvSpPr>
          <p:cNvPr id="20" name="Text 16"/>
          <p:cNvSpPr txBox="1"/>
          <p:nvPr/>
        </p:nvSpPr>
        <p:spPr>
          <a:xfrm>
            <a:off x="7863840" y="5760720"/>
            <a:ext cx="3657600" cy="4572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모의 작성 모델 · 교육용 모니터링 샘플</a:t>
            </a:r>
            <a:endParaRPr lang="en-US" sz="1100" dirty="0"/>
          </a:p>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실제 MCP·로컬 임베딩 연결 · 2026-10-21</a:t>
            </a:r>
            <a:endParaRPr lang="en-US" sz="11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nchor="t">
            <a:spAutoFit/>
          </a:bodyPr>
          <a:lstStyle/>
          <a:p>
            <a:r>
              <a:rPr sz="1100" b="1">
                <a:solidFill>
                  <a:srgbClr val="16785C"/>
                </a:solidFill>
                <a:latin typeface="Apple SD Gothic Neo"/>
              </a:rPr>
              <a:t>05  화면 개선</a:t>
            </a:r>
          </a:p>
        </p:txBody>
      </p:sp>
      <p:sp>
        <p:nvSpPr>
          <p:cNvPr id="3" name="TextBox 2"/>
          <p:cNvSpPr txBox="1"/>
          <p:nvPr/>
        </p:nvSpPr>
        <p:spPr>
          <a:xfrm>
            <a:off x="594360" y="868680"/>
            <a:ext cx="10972800" cy="914400"/>
          </a:xfrm>
          <a:prstGeom prst="rect">
            <a:avLst/>
          </a:prstGeom>
          <a:noFill/>
        </p:spPr>
        <p:txBody>
          <a:bodyPr wrap="square" lIns="0" rIns="0" tIns="0" bIns="0" anchor="t">
            <a:spAutoFit/>
          </a:bodyPr>
          <a:lstStyle/>
          <a:p>
            <a:r>
              <a:rPr sz="3200" b="1">
                <a:solidFill>
                  <a:srgbClr val="19382F"/>
                </a:solidFill>
                <a:latin typeface="Apple SD Gothic Neo"/>
              </a:rPr>
              <a:t>화면도 근거를 확인하는 방향으로 고쳤다</a:t>
            </a:r>
          </a:p>
        </p:txBody>
      </p:sp>
      <p:sp>
        <p:nvSpPr>
          <p:cNvPr id="4" name="TextBox 3"/>
          <p:cNvSpPr txBox="1"/>
          <p:nvPr/>
        </p:nvSpPr>
        <p:spPr>
          <a:xfrm>
            <a:off x="594360" y="6473952"/>
            <a:ext cx="7315200" cy="164592"/>
          </a:xfrm>
          <a:prstGeom prst="rect">
            <a:avLst/>
          </a:prstGeom>
          <a:noFill/>
        </p:spPr>
        <p:txBody>
          <a:bodyPr wrap="square" lIns="0" rIns="0" tIns="0" bIns="0" anchor="t">
            <a:spAutoFit/>
          </a:bodyPr>
          <a:lstStyle/>
          <a:p>
            <a:r>
              <a:rPr sz="900" b="0">
                <a:solidFill>
                  <a:srgbClr val="62746D"/>
                </a:solidFill>
                <a:latin typeface="Apple SD Gothic Neo"/>
              </a:rPr>
              <a:t>AI CAPSTONE  ·  김하연</a:t>
            </a:r>
          </a:p>
        </p:txBody>
      </p:sp>
      <p:pic>
        <p:nvPicPr>
          <p:cNvPr id="5" name="Picture 4" descr="화면설명_주석.png"/>
          <p:cNvPicPr>
            <a:picLocks noChangeAspect="1"/>
          </p:cNvPicPr>
          <p:nvPr/>
        </p:nvPicPr>
        <p:blipFill>
          <a:blip r:embed="rId2"/>
          <a:stretch>
            <a:fillRect/>
          </a:stretch>
        </p:blipFill>
        <p:spPr>
          <a:xfrm>
            <a:off x="640080" y="1783080"/>
            <a:ext cx="4379976" cy="4608576"/>
          </a:xfrm>
          <a:prstGeom prst="rect">
            <a:avLst/>
          </a:prstGeom>
        </p:spPr>
      </p:pic>
      <p:sp>
        <p:nvSpPr>
          <p:cNvPr id="6" name="Rounded Rectangle 5"/>
          <p:cNvSpPr/>
          <p:nvPr/>
        </p:nvSpPr>
        <p:spPr>
          <a:xfrm>
            <a:off x="5349240" y="1874519"/>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874519"/>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01</a:t>
            </a:r>
          </a:p>
        </p:txBody>
      </p:sp>
      <p:sp>
        <p:nvSpPr>
          <p:cNvPr id="8" name="TextBox 7"/>
          <p:cNvSpPr txBox="1"/>
          <p:nvPr/>
        </p:nvSpPr>
        <p:spPr>
          <a:xfrm>
            <a:off x="6080760" y="1847088"/>
            <a:ext cx="3200400" cy="320040"/>
          </a:xfrm>
          <a:prstGeom prst="rect">
            <a:avLst/>
          </a:prstGeom>
          <a:noFill/>
        </p:spPr>
        <p:txBody>
          <a:bodyPr wrap="square" lIns="0" rIns="0" tIns="0" bIns="0" anchor="t">
            <a:spAutoFit/>
          </a:bodyPr>
          <a:lstStyle/>
          <a:p>
            <a:r>
              <a:rPr sz="1800" b="1">
                <a:solidFill>
                  <a:srgbClr val="16785C"/>
                </a:solidFill>
                <a:latin typeface="Apple SD Gothic Neo"/>
              </a:rPr>
              <a:t>진행 단계</a:t>
            </a:r>
          </a:p>
        </p:txBody>
      </p:sp>
      <p:sp>
        <p:nvSpPr>
          <p:cNvPr id="9" name="TextBox 8"/>
          <p:cNvSpPr txBox="1"/>
          <p:nvPr/>
        </p:nvSpPr>
        <p:spPr>
          <a:xfrm>
            <a:off x="6080760" y="2185415"/>
            <a:ext cx="3246120" cy="411480"/>
          </a:xfrm>
          <a:prstGeom prst="rect">
            <a:avLst/>
          </a:prstGeom>
          <a:noFill/>
        </p:spPr>
        <p:txBody>
          <a:bodyPr wrap="square" lIns="0" rIns="0" tIns="0" bIns="0" anchor="t">
            <a:spAutoFit/>
          </a:bodyPr>
          <a:lstStyle/>
          <a:p>
            <a:r>
              <a:rPr sz="1250" b="0">
                <a:solidFill>
                  <a:srgbClr val="62746D"/>
                </a:solidFill>
                <a:latin typeface="Apple SD Gothic Neo"/>
              </a:rPr>
              <a:t>기다리는 동안 하는 일이 보인다</a:t>
            </a:r>
          </a:p>
        </p:txBody>
      </p:sp>
      <p:sp>
        <p:nvSpPr>
          <p:cNvPr id="10" name="Rounded Rectangle 9"/>
          <p:cNvSpPr/>
          <p:nvPr/>
        </p:nvSpPr>
        <p:spPr>
          <a:xfrm>
            <a:off x="5349240" y="2679191"/>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679191"/>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02</a:t>
            </a:r>
          </a:p>
        </p:txBody>
      </p:sp>
      <p:sp>
        <p:nvSpPr>
          <p:cNvPr id="12" name="TextBox 11"/>
          <p:cNvSpPr txBox="1"/>
          <p:nvPr/>
        </p:nvSpPr>
        <p:spPr>
          <a:xfrm>
            <a:off x="6080760" y="2651760"/>
            <a:ext cx="3200400" cy="320040"/>
          </a:xfrm>
          <a:prstGeom prst="rect">
            <a:avLst/>
          </a:prstGeom>
          <a:noFill/>
        </p:spPr>
        <p:txBody>
          <a:bodyPr wrap="square" lIns="0" rIns="0" tIns="0" bIns="0" anchor="t">
            <a:spAutoFit/>
          </a:bodyPr>
          <a:lstStyle/>
          <a:p>
            <a:r>
              <a:rPr sz="1800" b="1">
                <a:solidFill>
                  <a:srgbClr val="16785C"/>
                </a:solidFill>
                <a:latin typeface="Apple SD Gothic Neo"/>
              </a:rPr>
              <a:t>수집값 ↔ 답변값</a:t>
            </a:r>
          </a:p>
        </p:txBody>
      </p:sp>
      <p:sp>
        <p:nvSpPr>
          <p:cNvPr id="13" name="TextBox 12"/>
          <p:cNvSpPr txBox="1"/>
          <p:nvPr/>
        </p:nvSpPr>
        <p:spPr>
          <a:xfrm>
            <a:off x="6080760" y="2990087"/>
            <a:ext cx="3246120" cy="411480"/>
          </a:xfrm>
          <a:prstGeom prst="rect">
            <a:avLst/>
          </a:prstGeom>
          <a:noFill/>
        </p:spPr>
        <p:txBody>
          <a:bodyPr wrap="square" lIns="0" rIns="0" tIns="0" bIns="0" anchor="t">
            <a:spAutoFit/>
          </a:bodyPr>
          <a:lstStyle/>
          <a:p>
            <a:r>
              <a:rPr sz="1250" b="0">
                <a:solidFill>
                  <a:srgbClr val="62746D"/>
                </a:solidFill>
                <a:latin typeface="Apple SD Gothic Neo"/>
              </a:rPr>
              <a:t>통과했다는 말만 믿지 않고 직접 비교한다</a:t>
            </a:r>
          </a:p>
        </p:txBody>
      </p:sp>
      <p:sp>
        <p:nvSpPr>
          <p:cNvPr id="14" name="Rounded Rectangle 13"/>
          <p:cNvSpPr/>
          <p:nvPr/>
        </p:nvSpPr>
        <p:spPr>
          <a:xfrm>
            <a:off x="5349240" y="3483863"/>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483863"/>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03</a:t>
            </a:r>
          </a:p>
        </p:txBody>
      </p:sp>
      <p:sp>
        <p:nvSpPr>
          <p:cNvPr id="16" name="TextBox 15"/>
          <p:cNvSpPr txBox="1"/>
          <p:nvPr/>
        </p:nvSpPr>
        <p:spPr>
          <a:xfrm>
            <a:off x="6080760" y="3456432"/>
            <a:ext cx="3200400" cy="320040"/>
          </a:xfrm>
          <a:prstGeom prst="rect">
            <a:avLst/>
          </a:prstGeom>
          <a:noFill/>
        </p:spPr>
        <p:txBody>
          <a:bodyPr wrap="square" lIns="0" rIns="0" tIns="0" bIns="0" anchor="t">
            <a:spAutoFit/>
          </a:bodyPr>
          <a:lstStyle/>
          <a:p>
            <a:r>
              <a:rPr sz="1800" b="1">
                <a:solidFill>
                  <a:srgbClr val="16785C"/>
                </a:solidFill>
                <a:latin typeface="Apple SD Gothic Neo"/>
              </a:rPr>
              <a:t>검색 후보 · 유사도</a:t>
            </a:r>
          </a:p>
        </p:txBody>
      </p:sp>
      <p:sp>
        <p:nvSpPr>
          <p:cNvPr id="17" name="TextBox 16"/>
          <p:cNvSpPr txBox="1"/>
          <p:nvPr/>
        </p:nvSpPr>
        <p:spPr>
          <a:xfrm>
            <a:off x="6080760" y="3794759"/>
            <a:ext cx="3246120" cy="411480"/>
          </a:xfrm>
          <a:prstGeom prst="rect">
            <a:avLst/>
          </a:prstGeom>
          <a:noFill/>
        </p:spPr>
        <p:txBody>
          <a:bodyPr wrap="square" lIns="0" rIns="0" tIns="0" bIns="0" anchor="t">
            <a:spAutoFit/>
          </a:bodyPr>
          <a:lstStyle/>
          <a:p>
            <a:r>
              <a:rPr sz="1250" b="0">
                <a:solidFill>
                  <a:srgbClr val="62746D"/>
                </a:solidFill>
                <a:latin typeface="Apple SD Gothic Neo"/>
              </a:rPr>
              <a:t>선택된 매뉴얼과 점수를 확인한다</a:t>
            </a:r>
          </a:p>
        </p:txBody>
      </p:sp>
      <p:sp>
        <p:nvSpPr>
          <p:cNvPr id="18" name="Rounded Rectangle 17"/>
          <p:cNvSpPr/>
          <p:nvPr/>
        </p:nvSpPr>
        <p:spPr>
          <a:xfrm>
            <a:off x="5349240" y="4288536"/>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4288536"/>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04</a:t>
            </a:r>
          </a:p>
        </p:txBody>
      </p:sp>
      <p:sp>
        <p:nvSpPr>
          <p:cNvPr id="20" name="TextBox 19"/>
          <p:cNvSpPr txBox="1"/>
          <p:nvPr/>
        </p:nvSpPr>
        <p:spPr>
          <a:xfrm>
            <a:off x="6080760" y="4261103"/>
            <a:ext cx="3200400" cy="320040"/>
          </a:xfrm>
          <a:prstGeom prst="rect">
            <a:avLst/>
          </a:prstGeom>
          <a:noFill/>
        </p:spPr>
        <p:txBody>
          <a:bodyPr wrap="square" lIns="0" rIns="0" tIns="0" bIns="0" anchor="t">
            <a:spAutoFit/>
          </a:bodyPr>
          <a:lstStyle/>
          <a:p>
            <a:r>
              <a:rPr sz="1800" b="1">
                <a:solidFill>
                  <a:srgbClr val="16785C"/>
                </a:solidFill>
                <a:latin typeface="Apple SD Gothic Neo"/>
              </a:rPr>
              <a:t>상태 구분</a:t>
            </a:r>
          </a:p>
        </p:txBody>
      </p:sp>
      <p:sp>
        <p:nvSpPr>
          <p:cNvPr id="21" name="TextBox 20"/>
          <p:cNvSpPr txBox="1"/>
          <p:nvPr/>
        </p:nvSpPr>
        <p:spPr>
          <a:xfrm>
            <a:off x="6080760" y="4599431"/>
            <a:ext cx="3246120" cy="411480"/>
          </a:xfrm>
          <a:prstGeom prst="rect">
            <a:avLst/>
          </a:prstGeom>
          <a:noFill/>
        </p:spPr>
        <p:txBody>
          <a:bodyPr wrap="square" lIns="0" rIns="0" tIns="0" bIns="0" anchor="t">
            <a:spAutoFit/>
          </a:bodyPr>
          <a:lstStyle/>
          <a:p>
            <a:r>
              <a:rPr sz="1250" b="0">
                <a:solidFill>
                  <a:srgbClr val="62746D"/>
                </a:solidFill>
                <a:latin typeface="Apple SD Gothic Neo"/>
              </a:rPr>
              <a:t>정상 · 검증 실패 · 자료 부족을 다르게 안내한다</a:t>
            </a:r>
          </a:p>
        </p:txBody>
      </p:sp>
      <p:sp>
        <p:nvSpPr>
          <p:cNvPr id="22" name="Rounded Rectangle 21"/>
          <p:cNvSpPr/>
          <p:nvPr/>
        </p:nvSpPr>
        <p:spPr>
          <a:xfrm>
            <a:off x="5349240" y="5093208"/>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5093208"/>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05</a:t>
            </a:r>
          </a:p>
        </p:txBody>
      </p:sp>
      <p:sp>
        <p:nvSpPr>
          <p:cNvPr id="24" name="TextBox 23"/>
          <p:cNvSpPr txBox="1"/>
          <p:nvPr/>
        </p:nvSpPr>
        <p:spPr>
          <a:xfrm>
            <a:off x="6080760" y="5065776"/>
            <a:ext cx="3200400" cy="320040"/>
          </a:xfrm>
          <a:prstGeom prst="rect">
            <a:avLst/>
          </a:prstGeom>
          <a:noFill/>
        </p:spPr>
        <p:txBody>
          <a:bodyPr wrap="square" lIns="0" rIns="0" tIns="0" bIns="0" anchor="t">
            <a:spAutoFit/>
          </a:bodyPr>
          <a:lstStyle/>
          <a:p>
            <a:r>
              <a:rPr sz="1800" b="1">
                <a:solidFill>
                  <a:srgbClr val="16785C"/>
                </a:solidFill>
                <a:latin typeface="Apple SD Gothic Neo"/>
              </a:rPr>
              <a:t>초안 비공개</a:t>
            </a:r>
          </a:p>
        </p:txBody>
      </p:sp>
      <p:sp>
        <p:nvSpPr>
          <p:cNvPr id="25" name="TextBox 24"/>
          <p:cNvSpPr txBox="1"/>
          <p:nvPr/>
        </p:nvSpPr>
        <p:spPr>
          <a:xfrm>
            <a:off x="6080760" y="5404104"/>
            <a:ext cx="3246120" cy="411480"/>
          </a:xfrm>
          <a:prstGeom prst="rect">
            <a:avLst/>
          </a:prstGeom>
          <a:noFill/>
        </p:spPr>
        <p:txBody>
          <a:bodyPr wrap="square" lIns="0" rIns="0" tIns="0" bIns="0" anchor="t">
            <a:spAutoFit/>
          </a:bodyPr>
          <a:lstStyle/>
          <a:p>
            <a:r>
              <a:rPr sz="1250" b="0">
                <a:solidFill>
                  <a:srgbClr val="62746D"/>
                </a:solidFill>
                <a:latin typeface="Apple SD Gothic Neo"/>
              </a:rPr>
              <a:t>반려될 초안은 먼저 보여주지 않는다</a:t>
            </a:r>
          </a:p>
        </p:txBody>
      </p:sp>
      <p:sp>
        <p:nvSpPr>
          <p:cNvPr id="26" name="TextBox 25"/>
          <p:cNvSpPr txBox="1"/>
          <p:nvPr/>
        </p:nvSpPr>
        <p:spPr>
          <a:xfrm>
            <a:off x="5349240" y="5943600"/>
            <a:ext cx="4023360" cy="274320"/>
          </a:xfrm>
          <a:prstGeom prst="rect">
            <a:avLst/>
          </a:prstGeom>
          <a:noFill/>
        </p:spPr>
        <p:txBody>
          <a:bodyPr wrap="square" lIns="0" rIns="0" tIns="0" bIns="0" anchor="t">
            <a:spAutoFit/>
          </a:bodyPr>
          <a:lstStyle/>
          <a:p>
            <a:r>
              <a:rPr sz="1050" b="0">
                <a:solidFill>
                  <a:srgbClr val="62746D"/>
                </a:solidFill>
                <a:latin typeface="Apple SD Gothic Neo"/>
              </a:rPr>
              <a:t>제공받은 Vue 화면을 근거 확인 중심으로 개선 · 모의 작성 모델</a:t>
            </a:r>
          </a:p>
        </p:txBody>
      </p:sp>
      <p:sp>
        <p:nvSpPr>
          <p:cNvPr id="27" name="TextBox 26"/>
          <p:cNvSpPr txBox="1"/>
          <p:nvPr/>
        </p:nvSpPr>
        <p:spPr>
          <a:xfrm>
            <a:off x="9418320" y="1874519"/>
            <a:ext cx="2194560" cy="228600"/>
          </a:xfrm>
          <a:prstGeom prst="rect">
            <a:avLst/>
          </a:prstGeom>
          <a:noFill/>
        </p:spPr>
        <p:txBody>
          <a:bodyPr wrap="square" lIns="0" rIns="0" tIns="0" bIns="0" anchor="t">
            <a:spAutoFit/>
          </a:bodyPr>
          <a:lstStyle/>
          <a:p>
            <a:r>
              <a:rPr sz="1100" b="1">
                <a:solidFill>
                  <a:srgbClr val="B04A3A"/>
                </a:solidFill>
                <a:latin typeface="Apple SD Gothic Neo"/>
              </a:rPr>
              <a:t>검증 실패</a:t>
            </a:r>
          </a:p>
        </p:txBody>
      </p:sp>
      <p:pic>
        <p:nvPicPr>
          <p:cNvPr id="28" name="Picture 27" descr="최종점검_검증실패.png"/>
          <p:cNvPicPr>
            <a:picLocks noChangeAspect="1"/>
          </p:cNvPicPr>
          <p:nvPr/>
        </p:nvPicPr>
        <p:blipFill>
          <a:blip r:embed="rId3"/>
          <a:stretch>
            <a:fillRect/>
          </a:stretch>
        </p:blipFill>
        <p:spPr>
          <a:xfrm>
            <a:off x="9418320" y="2148840"/>
            <a:ext cx="2240280" cy="1261872"/>
          </a:xfrm>
          <a:prstGeom prst="rect">
            <a:avLst/>
          </a:prstGeom>
        </p:spPr>
      </p:pic>
      <p:sp>
        <p:nvSpPr>
          <p:cNvPr id="29" name="TextBox 28"/>
          <p:cNvSpPr txBox="1"/>
          <p:nvPr/>
        </p:nvSpPr>
        <p:spPr>
          <a:xfrm>
            <a:off x="9418320" y="3703320"/>
            <a:ext cx="2194560" cy="228600"/>
          </a:xfrm>
          <a:prstGeom prst="rect">
            <a:avLst/>
          </a:prstGeom>
          <a:noFill/>
        </p:spPr>
        <p:txBody>
          <a:bodyPr wrap="square" lIns="0" rIns="0" tIns="0" bIns="0" anchor="t">
            <a:spAutoFit/>
          </a:bodyPr>
          <a:lstStyle/>
          <a:p>
            <a:r>
              <a:rPr sz="1100" b="1">
                <a:solidFill>
                  <a:srgbClr val="B04A3A"/>
                </a:solidFill>
                <a:latin typeface="Apple SD Gothic Neo"/>
              </a:rPr>
              <a:t>자료 부족 · 검증 불가</a:t>
            </a:r>
          </a:p>
        </p:txBody>
      </p:sp>
      <p:pic>
        <p:nvPicPr>
          <p:cNvPr id="30" name="Picture 29" descr="최종점검_자료부족.png"/>
          <p:cNvPicPr>
            <a:picLocks noChangeAspect="1"/>
          </p:cNvPicPr>
          <p:nvPr/>
        </p:nvPicPr>
        <p:blipFill>
          <a:blip r:embed="rId4"/>
          <a:stretch>
            <a:fillRect/>
          </a:stretch>
        </p:blipFill>
        <p:spPr>
          <a:xfrm>
            <a:off x="9418320" y="3977639"/>
            <a:ext cx="2240280" cy="1261872"/>
          </a:xfrm>
          <a:prstGeom prst="rect">
            <a:avLst/>
          </a:prstGeom>
        </p:spPr>
      </p:pic>
      <p:sp>
        <p:nvSpPr>
          <p:cNvPr id="31" name="TextBox 30"/>
          <p:cNvSpPr txBox="1"/>
          <p:nvPr/>
        </p:nvSpPr>
        <p:spPr>
          <a:xfrm>
            <a:off x="10835640" y="6473952"/>
            <a:ext cx="777240" cy="164592"/>
          </a:xfrm>
          <a:prstGeom prst="rect">
            <a:avLst/>
          </a:prstGeom>
          <a:noFill/>
        </p:spPr>
        <p:txBody>
          <a:bodyPr wrap="none" lIns="0" rIns="0" tIns="0" bIns="0">
            <a:spAutoFit/>
          </a:bodyPr>
          <a:lstStyle/>
          <a:p>
            <a:r>
              <a:rPr sz="900">
                <a:solidFill>
                  <a:srgbClr val="62746D"/>
                </a:solidFill>
                <a:latin typeface="Apple SD Gothic Neo"/>
              </a:rPr>
              <a:t>06 / 09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06  개선 전후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같은 오류 조건에서, 통과 대신 실패를 안내했다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07 / 09</a:t>
            </a:r>
            <a:endParaRPr lang="en-US" sz="900" dirty="0"/>
          </a:p>
        </p:txBody>
      </p:sp>
      <p:sp>
        <p:nvSpPr>
          <p:cNvPr id="7" name="Shape 4"/>
          <p:cNvSpPr/>
          <p:nvPr/>
        </p:nvSpPr>
        <p:spPr>
          <a:xfrm>
            <a:off x="640080" y="1965960"/>
            <a:ext cx="1051560" cy="365760"/>
          </a:xfrm>
          <a:prstGeom prst="roundRect">
            <a:avLst>
              <a:gd name="adj" fmla="val 40000"/>
            </a:avLst>
          </a:prstGeom>
          <a:solidFill>
            <a:srgbClr val="FAEEEA"/>
          </a:solidFill>
          <a:ln w="12700">
            <a:solidFill>
              <a:srgbClr val="FAEEEA"/>
            </a:solidFill>
            <a:prstDash val="solid"/>
          </a:ln>
        </p:spPr>
        <p:txBody>
          <a:bodyPr/>
          <a:p/>
        </p:txBody>
      </p:sp>
      <p:sp>
        <p:nvSpPr>
          <p:cNvPr id="8" name="Text 5"/>
          <p:cNvSpPr txBox="1"/>
          <p:nvPr/>
        </p:nvSpPr>
        <p:spPr>
          <a:xfrm>
            <a:off x="749808" y="1965960"/>
            <a:ext cx="83210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BEFORE</a:t>
            </a:r>
            <a:endParaRPr lang="en-US" sz="1200" dirty="0"/>
          </a:p>
        </p:txBody>
      </p:sp>
      <p:sp>
        <p:nvSpPr>
          <p:cNvPr id="9" name="Text 6"/>
          <p:cNvSpPr txBox="1"/>
          <p:nvPr/>
        </p:nvSpPr>
        <p:spPr>
          <a:xfrm>
            <a:off x="1920240" y="1920240"/>
            <a:ext cx="3749040" cy="457200"/>
          </a:xfrm>
          <a:prstGeom prst="rect">
            <a:avLst/>
          </a:prstGeom>
          <a:noFill/>
          <a:ln/>
        </p:spPr>
        <p:txBody>
          <a:bodyPr wrap="square" lIns="0" tIns="0" rIns="0" bIns="0" rtlCol="0" anchor="ctr"/>
          <a:lstStyle/>
          <a:p>
            <a:pPr indent="0" marL="0">
              <a:buNone/>
            </a:pPr>
            <a:r>
              <a:rPr lang="en-US" sz="2500" b="1" dirty="0">
                <a:solidFill>
                  <a:srgbClr val="B6503E"/>
                </a:solidFill>
                <a:latin typeface="Apple SD Gothic Neo" pitchFamily="34" charset="0"/>
                <a:ea typeface="Apple SD Gothic Neo" pitchFamily="34" charset="-122"/>
                <a:cs typeface="Apple SD Gothic Neo" pitchFamily="34" charset="-120"/>
              </a:rPr>
              <a:t>틀린 수치도 통과</a:t>
            </a:r>
            <a:endParaRPr lang="en-US" sz="2500" dirty="0"/>
          </a:p>
        </p:txBody>
      </p:sp>
      <p:sp>
        <p:nvSpPr>
          <p:cNvPr id="10" name="Shape 7"/>
          <p:cNvSpPr/>
          <p:nvPr/>
        </p:nvSpPr>
        <p:spPr>
          <a:xfrm>
            <a:off x="6355080" y="1965960"/>
            <a:ext cx="960120" cy="365760"/>
          </a:xfrm>
          <a:prstGeom prst="roundRect">
            <a:avLst>
              <a:gd name="adj" fmla="val 40000"/>
            </a:avLst>
          </a:prstGeom>
          <a:solidFill>
            <a:srgbClr val="EEF5F1"/>
          </a:solidFill>
          <a:ln w="12700">
            <a:solidFill>
              <a:srgbClr val="EEF5F1"/>
            </a:solidFill>
            <a:prstDash val="solid"/>
          </a:ln>
        </p:spPr>
        <p:txBody>
          <a:bodyPr/>
          <a:p/>
        </p:txBody>
      </p:sp>
      <p:sp>
        <p:nvSpPr>
          <p:cNvPr id="11" name="Text 8"/>
          <p:cNvSpPr txBox="1"/>
          <p:nvPr/>
        </p:nvSpPr>
        <p:spPr>
          <a:xfrm>
            <a:off x="6464808" y="1965960"/>
            <a:ext cx="74066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AFTER</a:t>
            </a:r>
            <a:endParaRPr lang="en-US" sz="1200" dirty="0"/>
          </a:p>
        </p:txBody>
      </p:sp>
      <p:sp>
        <p:nvSpPr>
          <p:cNvPr id="12" name="Text 9"/>
          <p:cNvSpPr txBox="1"/>
          <p:nvPr/>
        </p:nvSpPr>
        <p:spPr>
          <a:xfrm>
            <a:off x="7543800" y="1920240"/>
            <a:ext cx="3977640" cy="45720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수집값과 다르면 차단</a:t>
            </a:r>
            <a:endParaRPr lang="en-US" sz="2500" dirty="0"/>
          </a:p>
        </p:txBody>
      </p:sp>
      <p:pic>
        <p:nvPicPr>
          <p:cNvPr id="13" name="Image 0" descr="/Users/hayeon/Documents/Codex/2026-10-19/x20/outputs/capstone-final-check/deck/개선전_답변_확대.png">    </p:cNvPr>
          <p:cNvPicPr>
            <a:picLocks noChangeAspect="1"/>
          </p:cNvPicPr>
          <p:nvPr/>
        </p:nvPicPr>
        <p:blipFill>
          <a:blip r:embed="rId1"/>
          <a:stretch>
            <a:fillRect/>
          </a:stretch>
        </p:blipFill>
        <p:spPr>
          <a:xfrm>
            <a:off x="640080" y="2743200"/>
            <a:ext cx="5166360" cy="2066544"/>
          </a:xfrm>
          <a:prstGeom prst="rect">
            <a:avLst/>
          </a:prstGeom>
        </p:spPr>
      </p:pic>
      <p:pic>
        <p:nvPicPr>
          <p:cNvPr id="14" name="Image 1" descr="실제 실행 화면 확대">    </p:cNvPr>
          <p:cNvPicPr>
            <a:picLocks noChangeAspect="1"/>
          </p:cNvPicPr>
          <p:nvPr/>
        </p:nvPicPr>
        <p:blipFill>
          <a:blip r:embed="rId2"/>
          <a:srcRect l="0" t="17000" r="0" b="45000"/>
          <a:stretch>
            <a:fillRect/>
          </a:stretch>
        </p:blipFill>
        <p:spPr>
          <a:xfrm>
            <a:off x="6355080" y="2743200"/>
            <a:ext cx="5166360" cy="2066544"/>
          </a:xfrm>
          <a:prstGeom prst="rect">
            <a:avLst/>
          </a:prstGeom>
        </p:spPr>
      </p:pic>
      <p:sp>
        <p:nvSpPr>
          <p:cNvPr id="15" name="Text 10"/>
          <p:cNvSpPr txBox="1"/>
          <p:nvPr/>
        </p:nvSpPr>
        <p:spPr>
          <a:xfrm>
            <a:off x="731520" y="5166360"/>
            <a:ext cx="5029200" cy="457200"/>
          </a:xfrm>
          <a:prstGeom prst="rect">
            <a:avLst/>
          </a:prstGeom>
          <a:noFill/>
          <a:ln/>
        </p:spPr>
        <p:txBody>
          <a:bodyPr wrap="square" lIns="0" tIns="0" rIns="0" bIns="0" rtlCol="0" anchor="ctr"/>
          <a:lstStyle/>
          <a:p>
            <a:pPr indent="0" marL="0">
              <a:buNone/>
            </a:pPr>
            <a:r>
              <a:rPr lang="en-US" sz="1900" dirty="0">
                <a:solidFill>
                  <a:srgbClr val="62746D"/>
                </a:solidFill>
                <a:latin typeface="Apple SD Gothic Neo" pitchFamily="34" charset="0"/>
                <a:ea typeface="Apple SD Gothic Neo" pitchFamily="34" charset="-122"/>
                <a:cs typeface="Apple SD Gothic Neo" pitchFamily="34" charset="-120"/>
              </a:rPr>
              <a:t>검사 기준: 길이·번호</a:t>
            </a:r>
            <a:endParaRPr lang="en-US" sz="1900" dirty="0"/>
          </a:p>
        </p:txBody>
      </p:sp>
      <p:sp>
        <p:nvSpPr>
          <p:cNvPr id="16" name="Text 11"/>
          <p:cNvSpPr txBox="1"/>
          <p:nvPr/>
        </p:nvSpPr>
        <p:spPr>
          <a:xfrm>
            <a:off x="6400800" y="5166360"/>
            <a:ext cx="5120640" cy="457200"/>
          </a:xfrm>
          <a:prstGeom prst="rect">
            <a:avLst/>
          </a:prstGeom>
          <a:noFill/>
          <a:ln/>
        </p:spPr>
        <p:txBody>
          <a:bodyPr wrap="square" lIns="0" tIns="0" rIns="0" bIns="0" rtlCol="0" anchor="ctr"/>
          <a:lstStyle/>
          <a:p>
            <a:pPr indent="0" marL="0">
              <a:buNone/>
            </a:pPr>
            <a:r>
              <a:rPr lang="en-US" sz="1900" b="1" dirty="0">
                <a:solidFill>
                  <a:srgbClr val="16785C"/>
                </a:solidFill>
                <a:latin typeface="Apple SD Gothic Neo" pitchFamily="34" charset="0"/>
                <a:ea typeface="Apple SD Gothic Neo" pitchFamily="34" charset="-122"/>
                <a:cs typeface="Apple SD Gothic Neo" pitchFamily="34" charset="-120"/>
              </a:rPr>
              <a:t>총 3회 실패 → 사유와 실제 수집값 제공</a:t>
            </a:r>
            <a:endParaRPr lang="en-US" sz="1900" dirty="0"/>
          </a:p>
        </p:txBody>
      </p:sp>
      <p:sp>
        <p:nvSpPr>
          <p:cNvPr id="17" name="Text 12"/>
          <p:cNvSpPr txBox="1"/>
          <p:nvPr/>
        </p:nvSpPr>
        <p:spPr>
          <a:xfrm>
            <a:off x="685800" y="5989320"/>
            <a:ext cx="1088136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같은 질문 + CPU 수치에 15%p 오류 주입 · 모의 모델 재현 · 실행별 모니터링 수치에는 변동이 있음</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07  평가 결과</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자체 평가에서 오류 차단과 검색 선택을 개선했다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08 / 09</a:t>
            </a:r>
            <a:endParaRPr lang="en-US" sz="900" dirty="0"/>
          </a:p>
        </p:txBody>
      </p:sp>
      <p:sp>
        <p:nvSpPr>
          <p:cNvPr id="7" name="Text 4"/>
          <p:cNvSpPr txBox="1"/>
          <p:nvPr/>
        </p:nvSpPr>
        <p:spPr>
          <a:xfrm>
            <a:off x="64008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오류 답변 차단</a:t>
            </a:r>
            <a:endParaRPr lang="en-US" sz="2300" dirty="0"/>
          </a:p>
        </p:txBody>
      </p:sp>
      <p:sp>
        <p:nvSpPr>
          <p:cNvPr id="8" name="Text 5"/>
          <p:cNvSpPr txBox="1"/>
          <p:nvPr/>
        </p:nvSpPr>
        <p:spPr>
          <a:xfrm>
            <a:off x="64008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2/9 → 9/9</a:t>
            </a:r>
            <a:endParaRPr lang="en-US" sz="4000" dirty="0"/>
          </a:p>
        </p:txBody>
      </p:sp>
      <p:graphicFrame>
        <p:nvGraphicFramePr>
          <p:cNvPr id="9" name="Chart 0" descr=""/>
          <p:cNvGraphicFramePr/>
          <p:nvPr/>
        </p:nvGraphicFramePr>
        <p:xfrm>
          <a:off x="566928" y="3520440"/>
          <a:ext cx="5303520" cy="16002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008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정상 답변 8/8 유지 · 동일 17개 입력</a:t>
            </a:r>
            <a:endParaRPr lang="en-US" sz="1400" dirty="0"/>
          </a:p>
        </p:txBody>
      </p:sp>
      <p:sp>
        <p:nvSpPr>
          <p:cNvPr id="11" name="Text 7"/>
          <p:cNvSpPr txBox="1"/>
          <p:nvPr/>
        </p:nvSpPr>
        <p:spPr>
          <a:xfrm>
            <a:off x="630936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매뉴얼 선택 기대 일치</a:t>
            </a:r>
            <a:endParaRPr lang="en-US" sz="2300" dirty="0"/>
          </a:p>
        </p:txBody>
      </p:sp>
      <p:sp>
        <p:nvSpPr>
          <p:cNvPr id="12" name="Text 8"/>
          <p:cNvSpPr txBox="1"/>
          <p:nvPr/>
        </p:nvSpPr>
        <p:spPr>
          <a:xfrm>
            <a:off x="630936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6/14 → 12/14</a:t>
            </a:r>
            <a:endParaRPr lang="en-US" sz="4000" dirty="0"/>
          </a:p>
        </p:txBody>
      </p:sp>
      <p:graphicFrame>
        <p:nvGraphicFramePr>
          <p:cNvPr id="13" name="Chart 1" descr=""/>
          <p:cNvGraphicFramePr/>
          <p:nvPr/>
        </p:nvGraphicFramePr>
        <p:xfrm>
          <a:off x="6236208" y="3520440"/>
          <a:ext cx="5303520" cy="16002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30936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장애 12개 + 무관 질문 2개</a:t>
            </a:r>
            <a:endParaRPr lang="en-US" sz="1400" dirty="0"/>
          </a:p>
        </p:txBody>
      </p:sp>
      <p:sp>
        <p:nvSpPr>
          <p:cNvPr id="15" name="Shape 10"/>
          <p:cNvSpPr/>
          <p:nvPr/>
        </p:nvSpPr>
        <p:spPr>
          <a:xfrm>
            <a:off x="640080" y="5806440"/>
            <a:ext cx="10881360" cy="457200"/>
          </a:xfrm>
          <a:prstGeom prst="roundRect">
            <a:avLst>
              <a:gd name="adj" fmla="val 32000"/>
            </a:avLst>
          </a:prstGeom>
          <a:solidFill>
            <a:srgbClr val="EEF5F1"/>
          </a:solidFill>
          <a:ln w="12700">
            <a:solidFill>
              <a:srgbClr val="EEF5F1"/>
            </a:solidFill>
            <a:prstDash val="solid"/>
          </a:ln>
        </p:spPr>
        <p:txBody>
          <a:bodyPr/>
          <a:p/>
        </p:txBody>
      </p:sp>
      <p:sp>
        <p:nvSpPr>
          <p:cNvPr id="16" name="Text 11"/>
          <p:cNvSpPr txBox="1"/>
          <p:nvPr/>
        </p:nvSpPr>
        <p:spPr>
          <a:xfrm>
            <a:off x="822960" y="5852160"/>
            <a:ext cx="1051560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소규모 자체 평가  |  Ollama 최신 비교: 작성 시도 1.0 → 1.0회, 42.6 → 43.3초 — 속도 향상 주장 안 함</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08  한계와 트레이드오프</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검사 통과가 답변 전체의 진실성을 뜻하지는 않는다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09 / 09</a:t>
            </a:r>
            <a:endParaRPr lang="en-US" sz="900" dirty="0"/>
          </a:p>
        </p:txBody>
      </p:sp>
      <p:sp>
        <p:nvSpPr>
          <p:cNvPr id="7" name="Text 4"/>
          <p:cNvSpPr txBox="1"/>
          <p:nvPr/>
        </p:nvSpPr>
        <p:spPr>
          <a:xfrm>
            <a:off x="685800" y="201168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검증 범위</a:t>
            </a:r>
            <a:endParaRPr lang="en-US" sz="1800" dirty="0"/>
          </a:p>
        </p:txBody>
      </p:sp>
      <p:sp>
        <p:nvSpPr>
          <p:cNvPr id="8" name="Text 5"/>
          <p:cNvSpPr txBox="1"/>
          <p:nvPr/>
        </p:nvSpPr>
        <p:spPr>
          <a:xfrm>
            <a:off x="2834640" y="201168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시스템명·CPU·메모리만 대조</a:t>
            </a:r>
            <a:endParaRPr lang="en-US" sz="2000" dirty="0"/>
          </a:p>
        </p:txBody>
      </p:sp>
      <p:sp>
        <p:nvSpPr>
          <p:cNvPr id="9" name="Text 6"/>
          <p:cNvSpPr txBox="1"/>
          <p:nvPr/>
        </p:nvSpPr>
        <p:spPr>
          <a:xfrm>
            <a:off x="7086600" y="201168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7"/>
          <p:cNvSpPr txBox="1"/>
          <p:nvPr/>
        </p:nvSpPr>
        <p:spPr>
          <a:xfrm>
            <a:off x="7863840" y="201168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원인 설명·권장 조치는 미검증</a:t>
            </a:r>
            <a:endParaRPr lang="en-US" sz="1700" dirty="0"/>
          </a:p>
        </p:txBody>
      </p:sp>
      <p:sp>
        <p:nvSpPr>
          <p:cNvPr id="11" name="Text 8"/>
          <p:cNvSpPr txBox="1"/>
          <p:nvPr/>
        </p:nvSpPr>
        <p:spPr>
          <a:xfrm>
            <a:off x="685800" y="306324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표현과 평가</a:t>
            </a:r>
            <a:endParaRPr lang="en-US" sz="1800" dirty="0"/>
          </a:p>
        </p:txBody>
      </p:sp>
      <p:sp>
        <p:nvSpPr>
          <p:cNvPr id="12" name="Text 9"/>
          <p:cNvSpPr txBox="1"/>
          <p:nvPr/>
        </p:nvSpPr>
        <p:spPr>
          <a:xfrm>
            <a:off x="2834640" y="306324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명확한 규칙, 재현 가능한 판정</a:t>
            </a:r>
            <a:endParaRPr lang="en-US" sz="2000" dirty="0"/>
          </a:p>
        </p:txBody>
      </p:sp>
      <p:sp>
        <p:nvSpPr>
          <p:cNvPr id="13" name="Text 10"/>
          <p:cNvSpPr txBox="1"/>
          <p:nvPr/>
        </p:nvSpPr>
        <p:spPr>
          <a:xfrm>
            <a:off x="7086600" y="306324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4" name="Text 11"/>
          <p:cNvSpPr txBox="1"/>
          <p:nvPr/>
        </p:nvSpPr>
        <p:spPr>
          <a:xfrm>
            <a:off x="7863840" y="306324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새 표현 누락 · 자체 평가의 낙관 가능성</a:t>
            </a:r>
            <a:endParaRPr lang="en-US" sz="1700" dirty="0"/>
          </a:p>
        </p:txBody>
      </p:sp>
      <p:sp>
        <p:nvSpPr>
          <p:cNvPr id="15" name="Text 12"/>
          <p:cNvSpPr txBox="1"/>
          <p:nvPr/>
        </p:nvSpPr>
        <p:spPr>
          <a:xfrm>
            <a:off x="685800" y="411480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사용 경험</a:t>
            </a:r>
            <a:endParaRPr lang="en-US" sz="1800" dirty="0"/>
          </a:p>
        </p:txBody>
      </p:sp>
      <p:sp>
        <p:nvSpPr>
          <p:cNvPr id="16" name="Text 13"/>
          <p:cNvSpPr txBox="1"/>
          <p:nvPr/>
        </p:nvSpPr>
        <p:spPr>
          <a:xfrm>
            <a:off x="2834640" y="411480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초안 비공개 · 의미 기반 검색</a:t>
            </a:r>
            <a:endParaRPr lang="en-US" sz="2000" dirty="0"/>
          </a:p>
        </p:txBody>
      </p:sp>
      <p:sp>
        <p:nvSpPr>
          <p:cNvPr id="17" name="Text 14"/>
          <p:cNvSpPr txBox="1"/>
          <p:nvPr/>
        </p:nvSpPr>
        <p:spPr>
          <a:xfrm>
            <a:off x="7086600" y="411480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8" name="Text 15"/>
          <p:cNvSpPr txBox="1"/>
          <p:nvPr/>
        </p:nvSpPr>
        <p:spPr>
          <a:xfrm>
            <a:off x="7863840" y="411480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최종 답변 대기 · 임베딩 자원과 지연</a:t>
            </a:r>
            <a:endParaRPr lang="en-US" sz="1700" dirty="0"/>
          </a:p>
        </p:txBody>
      </p:sp>
      <p:sp>
        <p:nvSpPr>
          <p:cNvPr id="19" name="Text 16"/>
          <p:cNvSpPr txBox="1"/>
          <p:nvPr/>
        </p:nvSpPr>
        <p:spPr>
          <a:xfrm>
            <a:off x="685800" y="544068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Apple SD Gothic Neo" pitchFamily="34" charset="0"/>
                <a:ea typeface="Apple SD Gothic Neo" pitchFamily="34" charset="-122"/>
                <a:cs typeface="Apple SD Gothic Neo" pitchFamily="34" charset="-120"/>
              </a:rPr>
              <a:t>확인한 범위를 보여주고, 근거가 부족하면 멈추도록.</a:t>
            </a:r>
            <a:endParaRPr lang="en-US" sz="2700" dirty="0"/>
          </a:p>
        </p:txBody>
      </p:sp>
      <p:sp>
        <p:nvSpPr>
          <p:cNvPr id="20" name="Text 17"/>
          <p:cNvSpPr txBox="1"/>
          <p:nvPr/>
        </p:nvSpPr>
        <p:spPr>
          <a:xfrm>
            <a:off x="685800" y="6080760"/>
            <a:ext cx="10881360" cy="274320"/>
          </a:xfrm>
          <a:prstGeom prst="rect">
            <a:avLst/>
          </a:prstGeom>
          <a:noFill/>
          <a:ln/>
        </p:spPr>
        <p:txBody>
          <a:bodyPr wrap="square" lIns="0" tIns="0" rIns="0" bIns="0" rtlCol="0" anchor="ctr"/>
          <a:lstStyle/>
          <a:p>
            <a:pPr indent="0" marL="0">
              <a:buNone/>
            </a:pPr>
            <a:r>
              <a:rPr lang="en-US" sz="1400" dirty="0">
                <a:solidFill>
                  <a:srgbClr val="A4DAC2"/>
                </a:solidFill>
                <a:latin typeface="Apple SD Gothic Neo" pitchFamily="34" charset="0"/>
                <a:ea typeface="Apple SD Gothic Neo" pitchFamily="34" charset="-122"/>
                <a:cs typeface="Apple SD Gothic Neo" pitchFamily="34" charset="-120"/>
              </a:rPr>
              <a:t>다음 단계: 독립 평가셋 · 구조화된 수치 출력 · 불분명한 대상은 되묻기</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근거 기반 장애 진단 에이전트 개선</dc:title>
  <dc:subject>PptxGenJS Presentation</dc:subject>
  <dc:creator>김하연</dc:creator>
  <cp:lastModifiedBy>김하연</cp:lastModifiedBy>
  <cp:revision>1</cp:revision>
  <dcterms:created xsi:type="dcterms:W3CDTF">2026-10-22T01:11:59Z</dcterms:created>
  <dcterms:modified xsi:type="dcterms:W3CDTF">2026-10-22T01:11:59Z</dcterms:modified>
</cp:coreProperties>
</file>