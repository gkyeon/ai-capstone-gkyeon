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5" r:id="rId16"/>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50초] 흐름도를 왼쪽에서 오른쪽으로 따라가기, 막히면 '근거 없으면 생략, 다르면 재작성'만 강조</a:t>
            </a:r>
          </a:p>
          <a:p/>
          <a:p>
            <a:r>
              <a:t>이어서 구조와 사용 기술입니다. 처리 흐름은 질문과 계획, 모니터링과 매뉴얼 조사, 근거 확인, 답변 작성, 수치 검증 순서입니다. 근거가 없으면 작성을 생략하고, 수치가 다르면 재작성하며, 세 번 실패하면 실패를 안내합니다. 조사는 서브그래프 두 개로 나눴고, 독립된 모델이 판단하는 구조는 아닙니다. MCP로 도구를 연결하고 검색한 매뉴얼을 답변 작성에 활용했습니다. 모듈 분리와 의존성 주입으로 테스트를 구성했고, LangSmith는 추적 확인까지만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45초] 왼쪽 숫자 세 개를 짚고, 오른쪽은 '이유와 한계' 한 줄씩만 읽기</a:t>
            </a:r>
          </a:p>
          <a:p/>
          <a:p>
            <a:r>
              <a:t>이어서 비용과 성능 측정, 그리고 기술 선택 이유입니다. 근거가 없을 때 작성 모델 호출을 생략해 응답 시간이 36.6초에서 1.2~2.7초로 줄었습니다. 조사를 병렬로 처리하면 직렬 1.07초가 0.36초가 되며, 제공받은 구조를 측정한 값입니다. 재작성은 평균 2회에서 1회로 줄었지만 정확도 향상은 아닙니다. 오른쪽은 기술별 선택 이유와 한계입니다. 비용은 글자 수 기반 추정이고 프롬프트 압축은 적용하지 않았습니다.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10</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10</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10</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10</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0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10</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05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10</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10</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08  비용·성능 측정과 기술 선택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측정 결과 및 기술 선택 근거</a:t>
            </a:r>
          </a:p>
        </p:txBody>
      </p:sp>
      <p:sp>
        <p:nvSpPr>
          <p:cNvPr id="4" name="TextBox 3"/>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5" name="TextBox 4"/>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6" name="TextBox 5"/>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7" name="TextBox 6"/>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09 / 10</a:t>
            </a:r>
          </a:p>
        </p:txBody>
      </p:sp>
      <p:sp>
        <p:nvSpPr>
          <p:cNvPr id="8" name="TextBox 7"/>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9" name="TextBox 8"/>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0" name="TextBox 9"/>
          <p:cNvSpPr txBox="1"/>
          <p:nvPr/>
        </p:nvSpPr>
        <p:spPr>
          <a:xfrm>
            <a:off x="640080" y="1965960"/>
            <a:ext cx="3657600" cy="274320"/>
          </a:xfrm>
          <a:prstGeom prst="rect">
            <a:avLst/>
          </a:prstGeom>
          <a:noFill/>
        </p:spPr>
        <p:txBody>
          <a:bodyPr wrap="square" lIns="0" rIns="0" tIns="0" bIns="0">
            <a:spAutoFit/>
          </a:bodyPr>
          <a:lstStyle/>
          <a:p>
            <a:r>
              <a:rPr sz="1400" b="1">
                <a:solidFill>
                  <a:srgbClr val="16785C"/>
                </a:solidFill>
                <a:latin typeface="Apple SD Gothic Neo"/>
              </a:rPr>
              <a:t>작성 모델 호출 생략 (근거 0건)</a:t>
            </a:r>
          </a:p>
        </p:txBody>
      </p:sp>
      <p:sp>
        <p:nvSpPr>
          <p:cNvPr id="11" name="Rounded Rectangle 10"/>
          <p:cNvSpPr/>
          <p:nvPr/>
        </p:nvSpPr>
        <p:spPr>
          <a:xfrm>
            <a:off x="4343400" y="193852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13배 이상 단축</a:t>
            </a:r>
          </a:p>
        </p:txBody>
      </p:sp>
      <p:sp>
        <p:nvSpPr>
          <p:cNvPr id="12" name="TextBox 11"/>
          <p:cNvSpPr txBox="1"/>
          <p:nvPr/>
        </p:nvSpPr>
        <p:spPr>
          <a:xfrm>
            <a:off x="640080" y="2313432"/>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13" name="Rectangle 12"/>
          <p:cNvSpPr/>
          <p:nvPr/>
        </p:nvSpPr>
        <p:spPr>
          <a:xfrm>
            <a:off x="1005840" y="2313432"/>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58768" y="2313432"/>
            <a:ext cx="1737360" cy="274320"/>
          </a:xfrm>
          <a:prstGeom prst="rect">
            <a:avLst/>
          </a:prstGeom>
          <a:noFill/>
        </p:spPr>
        <p:txBody>
          <a:bodyPr wrap="square" lIns="0" rIns="0" tIns="0" bIns="0" anchor="ctr">
            <a:spAutoFit/>
          </a:bodyPr>
          <a:lstStyle/>
          <a:p>
            <a:r>
              <a:rPr sz="1500" b="1">
                <a:solidFill>
                  <a:srgbClr val="19382F"/>
                </a:solidFill>
                <a:latin typeface="Apple SD Gothic Neo"/>
              </a:rPr>
              <a:t>36.6초</a:t>
            </a:r>
          </a:p>
        </p:txBody>
      </p:sp>
      <p:sp>
        <p:nvSpPr>
          <p:cNvPr id="15" name="TextBox 14"/>
          <p:cNvSpPr txBox="1"/>
          <p:nvPr/>
        </p:nvSpPr>
        <p:spPr>
          <a:xfrm>
            <a:off x="640080" y="266090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16" name="Rectangle 15"/>
          <p:cNvSpPr/>
          <p:nvPr/>
        </p:nvSpPr>
        <p:spPr>
          <a:xfrm>
            <a:off x="1005840" y="2660903"/>
            <a:ext cx="202367"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17935" y="2660903"/>
            <a:ext cx="1737360" cy="274320"/>
          </a:xfrm>
          <a:prstGeom prst="rect">
            <a:avLst/>
          </a:prstGeom>
          <a:noFill/>
        </p:spPr>
        <p:txBody>
          <a:bodyPr wrap="square" lIns="0" rIns="0" tIns="0" bIns="0" anchor="ctr">
            <a:spAutoFit/>
          </a:bodyPr>
          <a:lstStyle/>
          <a:p>
            <a:r>
              <a:rPr sz="1500" b="1">
                <a:solidFill>
                  <a:srgbClr val="19382F"/>
                </a:solidFill>
                <a:latin typeface="Apple SD Gothic Neo"/>
              </a:rPr>
              <a:t>1.2~2.7초</a:t>
            </a:r>
          </a:p>
        </p:txBody>
      </p:sp>
      <p:sp>
        <p:nvSpPr>
          <p:cNvPr id="18" name="TextBox 17"/>
          <p:cNvSpPr txBox="1"/>
          <p:nvPr/>
        </p:nvSpPr>
        <p:spPr>
          <a:xfrm>
            <a:off x="640080" y="2990088"/>
            <a:ext cx="5212080" cy="182880"/>
          </a:xfrm>
          <a:prstGeom prst="rect">
            <a:avLst/>
          </a:prstGeom>
          <a:noFill/>
        </p:spPr>
        <p:txBody>
          <a:bodyPr wrap="square" lIns="0" rIns="0" tIns="0" bIns="0">
            <a:spAutoFit/>
          </a:bodyPr>
          <a:lstStyle/>
          <a:p>
            <a:r>
              <a:rPr sz="1100" b="0">
                <a:solidFill>
                  <a:srgbClr val="62746D"/>
                </a:solidFill>
                <a:latin typeface="Apple SD Gothic Neo"/>
              </a:rPr>
              <a:t>단일 질문 실측 · 작성 호출 1회 → 0회</a:t>
            </a:r>
          </a:p>
        </p:txBody>
      </p:sp>
      <p:sp>
        <p:nvSpPr>
          <p:cNvPr id="19" name="TextBox 18"/>
          <p:cNvSpPr txBox="1"/>
          <p:nvPr/>
        </p:nvSpPr>
        <p:spPr>
          <a:xfrm>
            <a:off x="640080" y="3246120"/>
            <a:ext cx="3657600" cy="274320"/>
          </a:xfrm>
          <a:prstGeom prst="rect">
            <a:avLst/>
          </a:prstGeom>
          <a:noFill/>
        </p:spPr>
        <p:txBody>
          <a:bodyPr wrap="square" lIns="0" rIns="0" tIns="0" bIns="0">
            <a:spAutoFit/>
          </a:bodyPr>
          <a:lstStyle/>
          <a:p>
            <a:r>
              <a:rPr sz="1400" b="1">
                <a:solidFill>
                  <a:srgbClr val="16785C"/>
                </a:solidFill>
                <a:latin typeface="Apple SD Gothic Neo"/>
              </a:rPr>
              <a:t>병렬 조사 (모니터링 3건)</a:t>
            </a:r>
          </a:p>
        </p:txBody>
      </p:sp>
      <p:sp>
        <p:nvSpPr>
          <p:cNvPr id="20" name="Rounded Rectangle 19"/>
          <p:cNvSpPr/>
          <p:nvPr/>
        </p:nvSpPr>
        <p:spPr>
          <a:xfrm>
            <a:off x="4343400" y="321868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2.9배 단축</a:t>
            </a:r>
          </a:p>
        </p:txBody>
      </p:sp>
      <p:sp>
        <p:nvSpPr>
          <p:cNvPr id="21" name="TextBox 20"/>
          <p:cNvSpPr txBox="1"/>
          <p:nvPr/>
        </p:nvSpPr>
        <p:spPr>
          <a:xfrm>
            <a:off x="640080" y="359359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22" name="Rectangle 21"/>
          <p:cNvSpPr/>
          <p:nvPr/>
        </p:nvSpPr>
        <p:spPr>
          <a:xfrm>
            <a:off x="1005840" y="359359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58768" y="3593591"/>
            <a:ext cx="1737360" cy="274320"/>
          </a:xfrm>
          <a:prstGeom prst="rect">
            <a:avLst/>
          </a:prstGeom>
          <a:noFill/>
        </p:spPr>
        <p:txBody>
          <a:bodyPr wrap="square" lIns="0" rIns="0" tIns="0" bIns="0" anchor="ctr">
            <a:spAutoFit/>
          </a:bodyPr>
          <a:lstStyle/>
          <a:p>
            <a:r>
              <a:rPr sz="1500" b="1">
                <a:solidFill>
                  <a:srgbClr val="19382F"/>
                </a:solidFill>
                <a:latin typeface="Apple SD Gothic Neo"/>
              </a:rPr>
              <a:t>1.07초</a:t>
            </a:r>
          </a:p>
        </p:txBody>
      </p:sp>
      <p:sp>
        <p:nvSpPr>
          <p:cNvPr id="24" name="TextBox 23"/>
          <p:cNvSpPr txBox="1"/>
          <p:nvPr/>
        </p:nvSpPr>
        <p:spPr>
          <a:xfrm>
            <a:off x="640080" y="394106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5" name="Rectangle 24"/>
          <p:cNvSpPr/>
          <p:nvPr/>
        </p:nvSpPr>
        <p:spPr>
          <a:xfrm>
            <a:off x="1005840" y="3941063"/>
            <a:ext cx="922945"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38513" y="3941063"/>
            <a:ext cx="1737360" cy="274320"/>
          </a:xfrm>
          <a:prstGeom prst="rect">
            <a:avLst/>
          </a:prstGeom>
          <a:noFill/>
        </p:spPr>
        <p:txBody>
          <a:bodyPr wrap="square" lIns="0" rIns="0" tIns="0" bIns="0" anchor="ctr">
            <a:spAutoFit/>
          </a:bodyPr>
          <a:lstStyle/>
          <a:p>
            <a:r>
              <a:rPr sz="1500" b="1">
                <a:solidFill>
                  <a:srgbClr val="19382F"/>
                </a:solidFill>
                <a:latin typeface="Apple SD Gothic Neo"/>
              </a:rPr>
              <a:t>0.36초</a:t>
            </a:r>
          </a:p>
        </p:txBody>
      </p:sp>
      <p:sp>
        <p:nvSpPr>
          <p:cNvPr id="27" name="TextBox 26"/>
          <p:cNvSpPr txBox="1"/>
          <p:nvPr/>
        </p:nvSpPr>
        <p:spPr>
          <a:xfrm>
            <a:off x="640080" y="4270248"/>
            <a:ext cx="5212080" cy="182880"/>
          </a:xfrm>
          <a:prstGeom prst="rect">
            <a:avLst/>
          </a:prstGeom>
          <a:noFill/>
        </p:spPr>
        <p:txBody>
          <a:bodyPr wrap="square" lIns="0" rIns="0" tIns="0" bIns="0">
            <a:spAutoFit/>
          </a:bodyPr>
          <a:lstStyle/>
          <a:p>
            <a:r>
              <a:rPr sz="1100" b="0">
                <a:solidFill>
                  <a:srgbClr val="62746D"/>
                </a:solidFill>
                <a:latin typeface="Apple SD Gothic Neo"/>
              </a:rPr>
              <a:t>제공 구조 측정 · 작업당 0.35초는 모의 지연</a:t>
            </a:r>
          </a:p>
        </p:txBody>
      </p:sp>
      <p:sp>
        <p:nvSpPr>
          <p:cNvPr id="28" name="TextBox 27"/>
          <p:cNvSpPr txBox="1"/>
          <p:nvPr/>
        </p:nvSpPr>
        <p:spPr>
          <a:xfrm>
            <a:off x="640080" y="4526279"/>
            <a:ext cx="3657600" cy="274320"/>
          </a:xfrm>
          <a:prstGeom prst="rect">
            <a:avLst/>
          </a:prstGeom>
          <a:noFill/>
        </p:spPr>
        <p:txBody>
          <a:bodyPr wrap="square" lIns="0" rIns="0" tIns="0" bIns="0">
            <a:spAutoFit/>
          </a:bodyPr>
          <a:lstStyle/>
          <a:p>
            <a:r>
              <a:rPr sz="1400" b="1">
                <a:solidFill>
                  <a:srgbClr val="16785C"/>
                </a:solidFill>
                <a:latin typeface="Apple SD Gothic Neo"/>
              </a:rPr>
              <a:t>평균 재작성 횟수</a:t>
            </a:r>
          </a:p>
        </p:txBody>
      </p:sp>
      <p:sp>
        <p:nvSpPr>
          <p:cNvPr id="29" name="Rounded Rectangle 28"/>
          <p:cNvSpPr/>
          <p:nvPr/>
        </p:nvSpPr>
        <p:spPr>
          <a:xfrm>
            <a:off x="4343400" y="4498847"/>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50% 감소</a:t>
            </a:r>
          </a:p>
        </p:txBody>
      </p:sp>
      <p:sp>
        <p:nvSpPr>
          <p:cNvPr id="30" name="TextBox 29"/>
          <p:cNvSpPr txBox="1"/>
          <p:nvPr/>
        </p:nvSpPr>
        <p:spPr>
          <a:xfrm>
            <a:off x="640080" y="487375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31" name="Rectangle 30"/>
          <p:cNvSpPr/>
          <p:nvPr/>
        </p:nvSpPr>
        <p:spPr>
          <a:xfrm>
            <a:off x="1005840" y="487375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58768" y="4873751"/>
            <a:ext cx="1737360" cy="274320"/>
          </a:xfrm>
          <a:prstGeom prst="rect">
            <a:avLst/>
          </a:prstGeom>
          <a:noFill/>
        </p:spPr>
        <p:txBody>
          <a:bodyPr wrap="square" lIns="0" rIns="0" tIns="0" bIns="0" anchor="ctr">
            <a:spAutoFit/>
          </a:bodyPr>
          <a:lstStyle/>
          <a:p>
            <a:r>
              <a:rPr sz="1500" b="1">
                <a:solidFill>
                  <a:srgbClr val="19382F"/>
                </a:solidFill>
                <a:latin typeface="Apple SD Gothic Neo"/>
              </a:rPr>
              <a:t>2.0회</a:t>
            </a:r>
          </a:p>
        </p:txBody>
      </p:sp>
      <p:sp>
        <p:nvSpPr>
          <p:cNvPr id="33" name="TextBox 32"/>
          <p:cNvSpPr txBox="1"/>
          <p:nvPr/>
        </p:nvSpPr>
        <p:spPr>
          <a:xfrm>
            <a:off x="640080" y="522122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34" name="Rectangle 33"/>
          <p:cNvSpPr/>
          <p:nvPr/>
        </p:nvSpPr>
        <p:spPr>
          <a:xfrm>
            <a:off x="1005840" y="5221223"/>
            <a:ext cx="1371600"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87168" y="5221223"/>
            <a:ext cx="1737360" cy="274320"/>
          </a:xfrm>
          <a:prstGeom prst="rect">
            <a:avLst/>
          </a:prstGeom>
          <a:noFill/>
        </p:spPr>
        <p:txBody>
          <a:bodyPr wrap="square" lIns="0" rIns="0" tIns="0" bIns="0" anchor="ctr">
            <a:spAutoFit/>
          </a:bodyPr>
          <a:lstStyle/>
          <a:p>
            <a:r>
              <a:rPr sz="1500" b="1">
                <a:solidFill>
                  <a:srgbClr val="19382F"/>
                </a:solidFill>
                <a:latin typeface="Apple SD Gothic Neo"/>
              </a:rPr>
              <a:t>1.0회</a:t>
            </a:r>
          </a:p>
        </p:txBody>
      </p:sp>
      <p:sp>
        <p:nvSpPr>
          <p:cNvPr id="36" name="TextBox 35"/>
          <p:cNvSpPr txBox="1"/>
          <p:nvPr/>
        </p:nvSpPr>
        <p:spPr>
          <a:xfrm>
            <a:off x="640080" y="5550407"/>
            <a:ext cx="5212080" cy="182880"/>
          </a:xfrm>
          <a:prstGeom prst="rect">
            <a:avLst/>
          </a:prstGeom>
          <a:noFill/>
        </p:spPr>
        <p:txBody>
          <a:bodyPr wrap="square" lIns="0" rIns="0" tIns="0" bIns="0">
            <a:spAutoFit/>
          </a:bodyPr>
          <a:lstStyle/>
          <a:p>
            <a:r>
              <a:rPr sz="1100" b="0">
                <a:solidFill>
                  <a:srgbClr val="62746D"/>
                </a:solidFill>
                <a:latin typeface="Apple SD Gothic Neo"/>
              </a:rPr>
              <a:t>비용 절감 지표 · 정확도 향상은 아님</a:t>
            </a:r>
          </a:p>
        </p:txBody>
      </p:sp>
      <p:sp>
        <p:nvSpPr>
          <p:cNvPr id="37" name="Rectangle 36"/>
          <p:cNvSpPr/>
          <p:nvPr/>
        </p:nvSpPr>
        <p:spPr>
          <a:xfrm>
            <a:off x="6309360" y="2011680"/>
            <a:ext cx="5212080" cy="329184"/>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19088" y="2011680"/>
            <a:ext cx="1261872" cy="329184"/>
          </a:xfrm>
          <a:prstGeom prst="rect">
            <a:avLst/>
          </a:prstGeom>
          <a:noFill/>
        </p:spPr>
        <p:txBody>
          <a:bodyPr wrap="square" lIns="0" rIns="0" tIns="0" bIns="0" anchor="ctr">
            <a:spAutoFit/>
          </a:bodyPr>
          <a:lstStyle/>
          <a:p>
            <a:r>
              <a:rPr sz="1200" b="1">
                <a:solidFill>
                  <a:srgbClr val="FFFFFF"/>
                </a:solidFill>
                <a:latin typeface="Apple SD Gothic Neo"/>
              </a:rPr>
              <a:t>기술</a:t>
            </a:r>
          </a:p>
        </p:txBody>
      </p:sp>
      <p:sp>
        <p:nvSpPr>
          <p:cNvPr id="39" name="TextBox 38"/>
          <p:cNvSpPr txBox="1"/>
          <p:nvPr/>
        </p:nvSpPr>
        <p:spPr>
          <a:xfrm>
            <a:off x="7836407"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선택 이유</a:t>
            </a:r>
          </a:p>
        </p:txBody>
      </p:sp>
      <p:sp>
        <p:nvSpPr>
          <p:cNvPr id="40" name="TextBox 39"/>
          <p:cNvSpPr txBox="1"/>
          <p:nvPr/>
        </p:nvSpPr>
        <p:spPr>
          <a:xfrm>
            <a:off x="9756648"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한계</a:t>
            </a:r>
          </a:p>
        </p:txBody>
      </p:sp>
      <p:sp>
        <p:nvSpPr>
          <p:cNvPr id="41" name="Rectangle 40"/>
          <p:cNvSpPr/>
          <p:nvPr/>
        </p:nvSpPr>
        <p:spPr>
          <a:xfrm>
            <a:off x="6309360" y="2340864"/>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2340864"/>
            <a:ext cx="1188720" cy="822960"/>
          </a:xfrm>
          <a:prstGeom prst="rect">
            <a:avLst/>
          </a:prstGeom>
          <a:noFill/>
        </p:spPr>
        <p:txBody>
          <a:bodyPr wrap="square" lIns="0" rIns="0" tIns="0" bIns="0" anchor="ctr">
            <a:spAutoFit/>
          </a:bodyPr>
          <a:lstStyle/>
          <a:p>
            <a:r>
              <a:rPr sz="1500" b="1">
                <a:solidFill>
                  <a:srgbClr val="16785C"/>
                </a:solidFill>
                <a:latin typeface="Apple SD Gothic Neo"/>
              </a:rPr>
              <a:t>의미 기반 검색</a:t>
            </a:r>
          </a:p>
        </p:txBody>
      </p:sp>
      <p:sp>
        <p:nvSpPr>
          <p:cNvPr id="43" name="TextBox 42"/>
          <p:cNvSpPr txBox="1"/>
          <p:nvPr/>
        </p:nvSpPr>
        <p:spPr>
          <a:xfrm>
            <a:off x="7836407" y="2340864"/>
            <a:ext cx="1691639" cy="822960"/>
          </a:xfrm>
          <a:prstGeom prst="rect">
            <a:avLst/>
          </a:prstGeom>
          <a:noFill/>
        </p:spPr>
        <p:txBody>
          <a:bodyPr wrap="square" lIns="0" rIns="0" tIns="0" bIns="0" anchor="ctr">
            <a:spAutoFit/>
          </a:bodyPr>
          <a:lstStyle/>
          <a:p>
            <a:r>
              <a:rPr sz="1300" b="0">
                <a:solidFill>
                  <a:srgbClr val="19382F"/>
                </a:solidFill>
                <a:latin typeface="Apple SD Gothic Neo"/>
              </a:rPr>
              <a:t>키워드는 표현이 다르면 놓침</a:t>
            </a:r>
          </a:p>
        </p:txBody>
      </p:sp>
      <p:sp>
        <p:nvSpPr>
          <p:cNvPr id="44" name="TextBox 43"/>
          <p:cNvSpPr txBox="1"/>
          <p:nvPr/>
        </p:nvSpPr>
        <p:spPr>
          <a:xfrm>
            <a:off x="9756648" y="2340864"/>
            <a:ext cx="1691639" cy="822960"/>
          </a:xfrm>
          <a:prstGeom prst="rect">
            <a:avLst/>
          </a:prstGeom>
          <a:noFill/>
        </p:spPr>
        <p:txBody>
          <a:bodyPr wrap="square" lIns="0" rIns="0" tIns="0" bIns="0" anchor="ctr">
            <a:spAutoFit/>
          </a:bodyPr>
          <a:lstStyle/>
          <a:p>
            <a:r>
              <a:rPr sz="1300" b="0">
                <a:solidFill>
                  <a:srgbClr val="B6503E"/>
                </a:solidFill>
                <a:latin typeface="Apple SD Gothic Neo"/>
              </a:rPr>
              <a:t>임베딩 자원 · 지연</a:t>
            </a:r>
          </a:p>
        </p:txBody>
      </p:sp>
      <p:sp>
        <p:nvSpPr>
          <p:cNvPr id="45" name="Rectangle 44"/>
          <p:cNvSpPr/>
          <p:nvPr/>
        </p:nvSpPr>
        <p:spPr>
          <a:xfrm>
            <a:off x="6309360" y="3154680"/>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19088" y="3154680"/>
            <a:ext cx="1188720" cy="822960"/>
          </a:xfrm>
          <a:prstGeom prst="rect">
            <a:avLst/>
          </a:prstGeom>
          <a:noFill/>
        </p:spPr>
        <p:txBody>
          <a:bodyPr wrap="square" lIns="0" rIns="0" tIns="0" bIns="0" anchor="ctr">
            <a:spAutoFit/>
          </a:bodyPr>
          <a:lstStyle/>
          <a:p>
            <a:r>
              <a:rPr sz="1500" b="1">
                <a:solidFill>
                  <a:srgbClr val="16785C"/>
                </a:solidFill>
                <a:latin typeface="Apple SD Gothic Neo"/>
              </a:rPr>
              <a:t>규칙 기반 검증</a:t>
            </a:r>
          </a:p>
        </p:txBody>
      </p:sp>
      <p:sp>
        <p:nvSpPr>
          <p:cNvPr id="47" name="TextBox 46"/>
          <p:cNvSpPr txBox="1"/>
          <p:nvPr/>
        </p:nvSpPr>
        <p:spPr>
          <a:xfrm>
            <a:off x="7836407" y="3154680"/>
            <a:ext cx="1691639" cy="822960"/>
          </a:xfrm>
          <a:prstGeom prst="rect">
            <a:avLst/>
          </a:prstGeom>
          <a:noFill/>
        </p:spPr>
        <p:txBody>
          <a:bodyPr wrap="square" lIns="0" rIns="0" tIns="0" bIns="0" anchor="ctr">
            <a:spAutoFit/>
          </a:bodyPr>
          <a:lstStyle/>
          <a:p>
            <a:r>
              <a:rPr sz="1300" b="0">
                <a:solidFill>
                  <a:srgbClr val="19382F"/>
                </a:solidFill>
                <a:latin typeface="Apple SD Gothic Neo"/>
              </a:rPr>
              <a:t>판정이 명확 · 재현 가능</a:t>
            </a:r>
          </a:p>
        </p:txBody>
      </p:sp>
      <p:sp>
        <p:nvSpPr>
          <p:cNvPr id="48" name="TextBox 47"/>
          <p:cNvSpPr txBox="1"/>
          <p:nvPr/>
        </p:nvSpPr>
        <p:spPr>
          <a:xfrm>
            <a:off x="9756648" y="3154680"/>
            <a:ext cx="1691639" cy="822960"/>
          </a:xfrm>
          <a:prstGeom prst="rect">
            <a:avLst/>
          </a:prstGeom>
          <a:noFill/>
        </p:spPr>
        <p:txBody>
          <a:bodyPr wrap="square" lIns="0" rIns="0" tIns="0" bIns="0" anchor="ctr">
            <a:spAutoFit/>
          </a:bodyPr>
          <a:lstStyle/>
          <a:p>
            <a:r>
              <a:rPr sz="1300" b="0">
                <a:solidFill>
                  <a:srgbClr val="B6503E"/>
                </a:solidFill>
                <a:latin typeface="Apple SD Gothic Neo"/>
              </a:rPr>
              <a:t>새 표현 누락 가능</a:t>
            </a:r>
          </a:p>
        </p:txBody>
      </p:sp>
      <p:sp>
        <p:nvSpPr>
          <p:cNvPr id="49" name="Rectangle 48"/>
          <p:cNvSpPr/>
          <p:nvPr/>
        </p:nvSpPr>
        <p:spPr>
          <a:xfrm>
            <a:off x="6309360" y="3968496"/>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9088" y="3968496"/>
            <a:ext cx="1188720" cy="822960"/>
          </a:xfrm>
          <a:prstGeom prst="rect">
            <a:avLst/>
          </a:prstGeom>
          <a:noFill/>
        </p:spPr>
        <p:txBody>
          <a:bodyPr wrap="square" lIns="0" rIns="0" tIns="0" bIns="0" anchor="ctr">
            <a:spAutoFit/>
          </a:bodyPr>
          <a:lstStyle/>
          <a:p>
            <a:r>
              <a:rPr sz="1500" b="1">
                <a:solidFill>
                  <a:srgbClr val="16785C"/>
                </a:solidFill>
                <a:latin typeface="Apple SD Gothic Neo"/>
              </a:rPr>
              <a:t>초안 비공개</a:t>
            </a:r>
          </a:p>
        </p:txBody>
      </p:sp>
      <p:sp>
        <p:nvSpPr>
          <p:cNvPr id="51" name="TextBox 50"/>
          <p:cNvSpPr txBox="1"/>
          <p:nvPr/>
        </p:nvSpPr>
        <p:spPr>
          <a:xfrm>
            <a:off x="7836407" y="3968496"/>
            <a:ext cx="1691639" cy="822960"/>
          </a:xfrm>
          <a:prstGeom prst="rect">
            <a:avLst/>
          </a:prstGeom>
          <a:noFill/>
        </p:spPr>
        <p:txBody>
          <a:bodyPr wrap="square" lIns="0" rIns="0" tIns="0" bIns="0" anchor="ctr">
            <a:spAutoFit/>
          </a:bodyPr>
          <a:lstStyle/>
          <a:p>
            <a:r>
              <a:rPr sz="1300" b="0">
                <a:solidFill>
                  <a:srgbClr val="19382F"/>
                </a:solidFill>
                <a:latin typeface="Apple SD Gothic Neo"/>
              </a:rPr>
              <a:t>틀린 수치 노출 방지</a:t>
            </a:r>
          </a:p>
        </p:txBody>
      </p:sp>
      <p:sp>
        <p:nvSpPr>
          <p:cNvPr id="52" name="TextBox 51"/>
          <p:cNvSpPr txBox="1"/>
          <p:nvPr/>
        </p:nvSpPr>
        <p:spPr>
          <a:xfrm>
            <a:off x="9756648" y="3968496"/>
            <a:ext cx="1691639" cy="822960"/>
          </a:xfrm>
          <a:prstGeom prst="rect">
            <a:avLst/>
          </a:prstGeom>
          <a:noFill/>
        </p:spPr>
        <p:txBody>
          <a:bodyPr wrap="square" lIns="0" rIns="0" tIns="0" bIns="0" anchor="ctr">
            <a:spAutoFit/>
          </a:bodyPr>
          <a:lstStyle/>
          <a:p>
            <a:r>
              <a:rPr sz="1300" b="0">
                <a:solidFill>
                  <a:srgbClr val="B6503E"/>
                </a:solidFill>
                <a:latin typeface="Apple SD Gothic Neo"/>
              </a:rPr>
              <a:t>답변 대기 · 토큰 스트리밍 포기</a:t>
            </a:r>
          </a:p>
        </p:txBody>
      </p:sp>
      <p:sp>
        <p:nvSpPr>
          <p:cNvPr id="53" name="Rectangle 52"/>
          <p:cNvSpPr/>
          <p:nvPr/>
        </p:nvSpPr>
        <p:spPr>
          <a:xfrm>
            <a:off x="6309360" y="4782312"/>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19088" y="4782312"/>
            <a:ext cx="1188720" cy="822960"/>
          </a:xfrm>
          <a:prstGeom prst="rect">
            <a:avLst/>
          </a:prstGeom>
          <a:noFill/>
        </p:spPr>
        <p:txBody>
          <a:bodyPr wrap="square" lIns="0" rIns="0" tIns="0" bIns="0" anchor="ctr">
            <a:spAutoFit/>
          </a:bodyPr>
          <a:lstStyle/>
          <a:p>
            <a:r>
              <a:rPr sz="1500" b="1">
                <a:solidFill>
                  <a:srgbClr val="16785C"/>
                </a:solidFill>
                <a:latin typeface="Apple SD Gothic Neo"/>
              </a:rPr>
              <a:t>서브그래프 · 모듈화</a:t>
            </a:r>
          </a:p>
        </p:txBody>
      </p:sp>
      <p:sp>
        <p:nvSpPr>
          <p:cNvPr id="55" name="TextBox 54"/>
          <p:cNvSpPr txBox="1"/>
          <p:nvPr/>
        </p:nvSpPr>
        <p:spPr>
          <a:xfrm>
            <a:off x="7836407" y="4782312"/>
            <a:ext cx="1691639" cy="822960"/>
          </a:xfrm>
          <a:prstGeom prst="rect">
            <a:avLst/>
          </a:prstGeom>
          <a:noFill/>
        </p:spPr>
        <p:txBody>
          <a:bodyPr wrap="square" lIns="0" rIns="0" tIns="0" bIns="0" anchor="ctr">
            <a:spAutoFit/>
          </a:bodyPr>
          <a:lstStyle/>
          <a:p>
            <a:r>
              <a:rPr sz="1300" b="0">
                <a:solidFill>
                  <a:srgbClr val="19382F"/>
                </a:solidFill>
                <a:latin typeface="Apple SD Gothic Neo"/>
              </a:rPr>
              <a:t>부분 실패 격리 · 테스트 용이</a:t>
            </a:r>
          </a:p>
        </p:txBody>
      </p:sp>
      <p:sp>
        <p:nvSpPr>
          <p:cNvPr id="56" name="TextBox 55"/>
          <p:cNvSpPr txBox="1"/>
          <p:nvPr/>
        </p:nvSpPr>
        <p:spPr>
          <a:xfrm>
            <a:off x="9756648" y="4782312"/>
            <a:ext cx="1691639" cy="822960"/>
          </a:xfrm>
          <a:prstGeom prst="rect">
            <a:avLst/>
          </a:prstGeom>
          <a:noFill/>
        </p:spPr>
        <p:txBody>
          <a:bodyPr wrap="square" lIns="0" rIns="0" tIns="0" bIns="0" anchor="ctr">
            <a:spAutoFit/>
          </a:bodyPr>
          <a:lstStyle/>
          <a:p>
            <a:r>
              <a:rPr sz="1300" b="0">
                <a:solidFill>
                  <a:srgbClr val="B6503E"/>
                </a:solidFill>
                <a:latin typeface="Apple SD Gothic Neo"/>
              </a:rPr>
              <a:t>속도 이득 없음</a:t>
            </a:r>
          </a:p>
        </p:txBody>
      </p:sp>
      <p:sp>
        <p:nvSpPr>
          <p:cNvPr id="57" name="Rectangle 56"/>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5852160"/>
            <a:ext cx="10881360" cy="41148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2960" y="5852160"/>
            <a:ext cx="10515600" cy="411480"/>
          </a:xfrm>
          <a:prstGeom prst="rect">
            <a:avLst/>
          </a:prstGeom>
          <a:noFill/>
        </p:spPr>
        <p:txBody>
          <a:bodyPr wrap="square" lIns="0" rIns="0" tIns="0" bIns="0" anchor="ctr">
            <a:spAutoFit/>
          </a:bodyPr>
          <a:lstStyle/>
          <a:p>
            <a:r>
              <a:rPr sz="1200" b="0">
                <a:solidFill>
                  <a:srgbClr val="62746D"/>
                </a:solidFill>
                <a:latin typeface="Apple SD Gothic Neo"/>
              </a:rPr>
              <a:t>비용은 글자 수 기반 추정  |  프롬프트 압축·요약은 미적용  |  fast/quality 모델 분리와 병렬 구조는 제공 기반을 측정한 것</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09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10 / 10</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