
<file path=[Content_Types].xml><?xml version="1.0" encoding="utf-8"?>
<Types xmlns="http://schemas.openxmlformats.org/package/2006/content-types">
  <Default Extension="gif" ContentType="image/gif"/>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4" r:id="rId15"/>
    <p:sldId id="261" r:id="rId7"/>
    <p:sldId id="262" r:id="rId8"/>
    <p:sldId id="265" r:id="rId16"/>
    <p:sldId id="263" r:id="rId9"/>
    <p:sldId id="266" r:id="rId17"/>
    <p:sldId id="267" r:id="rId18"/>
    <p:sldId id="268" r:id="rId19"/>
    <p:sldId id="269" r:id="rId20"/>
    <p:sldId id="270" r:id="rId21"/>
    <p:sldId id="271" r:id="rId22"/>
    <p:sldId id="272" r:id="rId23"/>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10.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6.xml"/><Relationship Id="rId16" Type="http://schemas.openxmlformats.org/officeDocument/2006/relationships/slide" Target="slides/slide9.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개선 전</c:v>
                </c:pt>
              </c:strCache>
            </c:strRef>
          </c:tx>
          <c:spPr>
            <a:solidFill>
              <a:srgbClr val="B8C5BE"/>
            </a:solidFill>
            <a:effectLst/>
          </c:spPr>
          <c:invertIfNegative val="0"/>
          <c:dLbls>
            <c:numFmt formatCode="#,##0" sourceLinked="0"/>
            <c:txPr>
              <a:bodyPr/>
              <a:lstStyle/>
              <a:p>
                <a:pPr>
                  <a:defRPr b="0" i="0" strike="noStrike" sz="1200" u="none">
                    <a:solidFill>
                      <a:srgbClr val="19382F"/>
                    </a:solidFill>
                    <a:latin typeface="Arial"/>
                  </a:defRPr>
                </a:pPr>
              </a:p>
            </c:txPr>
            <c:showLegendKey val="0"/>
            <c:showVal val="1"/>
            <c:showCatName val="0"/>
            <c:showSerName val="0"/>
            <c:showPercent val="0"/>
            <c:showBubbleSize val="0"/>
            <c:showLeaderLines val="0"/>
          </c:dLbls>
          <c:cat>
            <c:multiLvlStrRef>
              <c:f>Sheet1!$A$2:$A$2</c:f>
              <c:multiLvlStrCache>
                <c:ptCount val="1"/>
                <c:lvl>
                  <c:pt idx="0">
                    <c:v>사례 수</c:v>
                  </c:pt>
                </c:lvl>
              </c:multiLvlStrCache>
            </c:multiLvlStrRef>
          </c:cat>
          <c:val>
            <c:numRef>
              <c:f>Sheet1!$B$2:$B$2</c:f>
              <c:numCache>
                <c:formatCode>General</c:formatCode>
                <c:ptCount val="1"/>
                <c:pt idx="0">
                  <c:v>2</c:v>
                </c:pt>
              </c:numCache>
            </c:numRef>
          </c:val>
        </c:ser>
        <c:ser>
          <c:idx val="1"/>
          <c:order val="1"/>
          <c:tx>
            <c:strRef>
              <c:f>Sheet1!$C$1</c:f>
              <c:strCache>
                <c:ptCount val="1"/>
                <c:pt idx="0">
                  <c:v>개선 후</c:v>
                </c:pt>
              </c:strCache>
            </c:strRef>
          </c:tx>
          <c:spPr>
            <a:solidFill>
              <a:srgbClr val="16785C"/>
            </a:solidFill>
            <a:effectLst/>
          </c:spPr>
          <c:invertIfNegative val="0"/>
          <c:dLbls>
            <c:numFmt formatCode="#,##0" sourceLinked="0"/>
            <c:txPr>
              <a:bodyPr/>
              <a:lstStyle/>
              <a:p>
                <a:pPr>
                  <a:defRPr b="0" i="0" strike="noStrike" sz="1200" u="none">
                    <a:solidFill>
                      <a:srgbClr val="19382F"/>
                    </a:solidFill>
                    <a:latin typeface="Arial"/>
                  </a:defRPr>
                </a:pPr>
              </a:p>
            </c:txPr>
            <c:showLegendKey val="0"/>
            <c:showVal val="1"/>
            <c:showCatName val="0"/>
            <c:showSerName val="0"/>
            <c:showPercent val="0"/>
            <c:showBubbleSize val="0"/>
            <c:showLeaderLines val="0"/>
          </c:dLbls>
          <c:cat>
            <c:multiLvlStrRef>
              <c:f>Sheet1!$A$2:$A$2</c:f>
              <c:multiLvlStrCache>
                <c:ptCount val="1"/>
                <c:lvl>
                  <c:pt idx="0">
                    <c:v>사례 수</c:v>
                  </c:pt>
                </c:lvl>
              </c:multiLvlStrCache>
            </c:multiLvlStrRef>
          </c:cat>
          <c:val>
            <c:numRef>
              <c:f>Sheet1!$C$2:$C$2</c:f>
              <c:numCache>
                <c:formatCode>General</c:formatCode>
                <c:ptCount val="1"/>
                <c:pt idx="0">
                  <c:v>9</c:v>
                </c:pt>
              </c:numCache>
            </c:numRef>
          </c:val>
        </c:ser>
        <c:dLbls>
          <c:numFmt formatCode="#,##0" sourceLinked="0"/>
          <c:txPr>
            <a:bodyPr/>
            <a:lstStyle/>
            <a:p>
              <a:pPr>
                <a:defRPr b="0" i="0" strike="noStrike" sz="1200" u="none">
                  <a:solidFill>
                    <a:srgbClr val="19382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62746D"/>
                </a:solidFill>
                <a:latin typeface="Arial"/>
              </a:defRPr>
            </a:pPr>
            <a:endParaRPr lang="en-US"/>
          </a:p>
        </c:txPr>
        <c:crossAx val="2094734552"/>
        <c:crosses val="autoZero"/>
        <c:auto val="1"/>
        <c:lblAlgn val="ctr"/>
        <c:noMultiLvlLbl val="1"/>
      </c:catAx>
      <c:valAx>
        <c:axId val="2094734552"/>
        <c:scaling>
          <c:orientation val="minMax"/>
          <c:max val="9"/>
          <c:min val="0"/>
        </c:scaling>
        <c:delete val="0"/>
        <c:axPos val="b"/>
        <c:majorGridlines>
          <c:spPr>
            <a:ln w="12700" cap="flat">
              <a:solidFill>
                <a:srgbClr val="DDE7E1"/>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000" b="0" i="0" u="none" strike="noStrike">
                <a:solidFill>
                  <a:srgbClr val="000000"/>
                </a:solidFill>
                <a:latin typeface="Arial"/>
              </a:defRPr>
            </a:pPr>
            <a:endParaRPr lang="en-US"/>
          </a:p>
        </c:txPr>
        <c:crossAx val="2094734554"/>
        <c:crosses val="autoZero"/>
        <c:crossBetween val="between"/>
        <c:majorUnit val="3"/>
      </c:valAx>
      <c:spPr>
        <a:noFill/>
        <a:ln>
          <a:noFill/>
        </a:ln>
        <a:effectLst/>
      </c:spPr>
    </c:plotArea>
    <c:legend>
      <c:legendPos val="b"/>
      <c:overlay val="0"/>
      <c:txPr>
        <a:bodyPr/>
        <a:lstStyle/>
        <a:p>
          <a:pPr>
            <a:defRPr sz="1100">
              <a:latin typeface="Apple SD Gothic Neo"/>
              <a:cs typeface="Apple SD Gothic Neo"/>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개선 전</c:v>
                </c:pt>
              </c:strCache>
            </c:strRef>
          </c:tx>
          <c:spPr>
            <a:solidFill>
              <a:srgbClr val="B8C5BE"/>
            </a:solidFill>
            <a:effectLst/>
          </c:spPr>
          <c:invertIfNegative val="0"/>
          <c:dLbls>
            <c:numFmt formatCode="#,##0" sourceLinked="0"/>
            <c:txPr>
              <a:bodyPr/>
              <a:lstStyle/>
              <a:p>
                <a:pPr>
                  <a:defRPr b="0" i="0" strike="noStrike" sz="1200" u="none">
                    <a:solidFill>
                      <a:srgbClr val="19382F"/>
                    </a:solidFill>
                    <a:latin typeface="Arial"/>
                  </a:defRPr>
                </a:pPr>
              </a:p>
            </c:txPr>
            <c:showLegendKey val="0"/>
            <c:showVal val="1"/>
            <c:showCatName val="0"/>
            <c:showSerName val="0"/>
            <c:showPercent val="0"/>
            <c:showBubbleSize val="0"/>
            <c:showLeaderLines val="0"/>
          </c:dLbls>
          <c:cat>
            <c:multiLvlStrRef>
              <c:f>Sheet1!$A$2:$A$2</c:f>
              <c:multiLvlStrCache>
                <c:ptCount val="1"/>
                <c:lvl>
                  <c:pt idx="0">
                    <c:v>사례 수</c:v>
                  </c:pt>
                </c:lvl>
              </c:multiLvlStrCache>
            </c:multiLvlStrRef>
          </c:cat>
          <c:val>
            <c:numRef>
              <c:f>Sheet1!$B$2:$B$2</c:f>
              <c:numCache>
                <c:formatCode>General</c:formatCode>
                <c:ptCount val="1"/>
                <c:pt idx="0">
                  <c:v>6</c:v>
                </c:pt>
              </c:numCache>
            </c:numRef>
          </c:val>
        </c:ser>
        <c:ser>
          <c:idx val="1"/>
          <c:order val="1"/>
          <c:tx>
            <c:strRef>
              <c:f>Sheet1!$C$1</c:f>
              <c:strCache>
                <c:ptCount val="1"/>
                <c:pt idx="0">
                  <c:v>개선 후</c:v>
                </c:pt>
              </c:strCache>
            </c:strRef>
          </c:tx>
          <c:spPr>
            <a:solidFill>
              <a:srgbClr val="16785C"/>
            </a:solidFill>
            <a:effectLst/>
          </c:spPr>
          <c:invertIfNegative val="0"/>
          <c:dLbls>
            <c:numFmt formatCode="#,##0" sourceLinked="0"/>
            <c:txPr>
              <a:bodyPr/>
              <a:lstStyle/>
              <a:p>
                <a:pPr>
                  <a:defRPr b="0" i="0" strike="noStrike" sz="1200" u="none">
                    <a:solidFill>
                      <a:srgbClr val="19382F"/>
                    </a:solidFill>
                    <a:latin typeface="Arial"/>
                  </a:defRPr>
                </a:pPr>
              </a:p>
            </c:txPr>
            <c:showLegendKey val="0"/>
            <c:showVal val="1"/>
            <c:showCatName val="0"/>
            <c:showSerName val="0"/>
            <c:showPercent val="0"/>
            <c:showBubbleSize val="0"/>
            <c:showLeaderLines val="0"/>
          </c:dLbls>
          <c:cat>
            <c:multiLvlStrRef>
              <c:f>Sheet1!$A$2:$A$2</c:f>
              <c:multiLvlStrCache>
                <c:ptCount val="1"/>
                <c:lvl>
                  <c:pt idx="0">
                    <c:v>사례 수</c:v>
                  </c:pt>
                </c:lvl>
              </c:multiLvlStrCache>
            </c:multiLvlStrRef>
          </c:cat>
          <c:val>
            <c:numRef>
              <c:f>Sheet1!$C$2:$C$2</c:f>
              <c:numCache>
                <c:formatCode>General</c:formatCode>
                <c:ptCount val="1"/>
                <c:pt idx="0">
                  <c:v>12</c:v>
                </c:pt>
              </c:numCache>
            </c:numRef>
          </c:val>
        </c:ser>
        <c:dLbls>
          <c:numFmt formatCode="#,##0" sourceLinked="0"/>
          <c:txPr>
            <a:bodyPr/>
            <a:lstStyle/>
            <a:p>
              <a:pPr>
                <a:defRPr b="0" i="0" strike="noStrike" sz="1200" u="none">
                  <a:solidFill>
                    <a:srgbClr val="19382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62746D"/>
                </a:solidFill>
                <a:latin typeface="Arial"/>
              </a:defRPr>
            </a:pPr>
            <a:endParaRPr lang="en-US"/>
          </a:p>
        </c:txPr>
        <c:crossAx val="2094734552"/>
        <c:crosses val="autoZero"/>
        <c:auto val="1"/>
        <c:lblAlgn val="ctr"/>
        <c:noMultiLvlLbl val="1"/>
      </c:catAx>
      <c:valAx>
        <c:axId val="2094734552"/>
        <c:scaling>
          <c:orientation val="minMax"/>
          <c:max val="14"/>
          <c:min val="0"/>
        </c:scaling>
        <c:delete val="0"/>
        <c:axPos val="b"/>
        <c:majorGridlines>
          <c:spPr>
            <a:ln w="12700" cap="flat">
              <a:solidFill>
                <a:srgbClr val="DDE7E1"/>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000" b="0" i="0" u="none" strike="noStrike">
                <a:solidFill>
                  <a:srgbClr val="000000"/>
                </a:solidFill>
                <a:latin typeface="Arial"/>
              </a:defRPr>
            </a:pPr>
            <a:endParaRPr lang="en-US"/>
          </a:p>
        </c:txPr>
        <c:crossAx val="2094734554"/>
        <c:crosses val="autoZero"/>
        <c:crossBetween val="between"/>
        <c:majorUnit val="7"/>
      </c:valAx>
      <c:spPr>
        <a:noFill/>
        <a:ln>
          <a:noFill/>
        </a:ln>
        <a:effectLst/>
      </c:spPr>
    </c:plotArea>
    <c:legend>
      <c:legendPos val="b"/>
      <c:overlay val="0"/>
      <c:txPr>
        <a:bodyPr/>
        <a:lstStyle/>
        <a:p>
          <a:pPr>
            <a:defRPr sz="1100">
              <a:latin typeface="Apple SD Gothic Neo"/>
              <a:cs typeface="Apple SD Gothic Neo"/>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15초] 청중에게 인사하며 시작, 목차 4개를 짚으며 말하기</a:t>
            </a:r>
          </a:p>
          <a:p/>
          <a:p>
            <a:r>
              <a:t>안녕하세요. 운영 장애 진단 에이전트의 근거 기반 개선을 발표할 김하연입니다. 발표는 문제 정의, 개선 사항, 실행 결과와 평가, 한계 순서로 진행하겠습니다.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35초] 40% → 99% → 통과 순서로 가리키기</a:t>
            </a:r>
          </a:p>
          <a:p/>
          <a:p>
            <a:r>
              <a:t>먼저 문제 정의입니다. 기존 검증은 답변이 30자 이상이고 '1)'을 포함하는지만 확인했습니다. 예를 들어 수집한 CPU가 40퍼센트인데 답변이 99퍼센트여도 통과할 수 있었고, 세 번 실패하면 강제로 통과시켰습니다. 형식이 맞아도 내용이 맞는다는 보장은 없다는 점이 출발점입니다. 이 수치는 설명을 위한 예시입니다.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40초] 검증, 검색, 조사 세 줄을 위에서 아래로 짚기</a:t>
            </a:r>
          </a:p>
          <a:p/>
          <a:p>
            <a:r>
              <a:t>다음은 개선 사항입니다. 첫째, 답변의 시스템별 CPU와 메모리를 수집값과 대조하고, 불일치하면 사유를 알려 다시 작성하게 했습니다. 최초 작성을 포함해 세 번 실패하면 실패를 안내합니다. 둘째, 매뉴얼을 의미로 검색하고, 유사도가 낮거나 후보 차이가 작으면 선택하지 않습니다. 셋째, 조사 하나가 실패해도 성공한 자료는 유지하고, 근거가 없으면 작성 모델 호출을 생략합니다.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50초] 흐름도는 요약도(전체 노드는 부록 A-6), 왼쪽에서 오른쪽으로 따라가기, 막히면 '근거 없으면 생략, 다르면 재작성'만 강조</a:t>
            </a:r>
          </a:p>
          <a:p/>
          <a:p>
            <a:r>
              <a:t>이어서 구조와 사용 기술입니다. 요약한 처리 흐름은 질문과 계획, 모니터링과 매뉴얼 조사, 근거 확인, 답변 작성, 수치 검증 순서입니다. 근거가 없으면 작성을 생략하고, 수치가 다르면 재작성하며, 세 번 실패하면 실패를 안내합니다. 조사는 서브그래프 두 개로 나눴고, 독립된 모델이 판단하는 구조는 아닙니다. MCP로 도구를 연결하고 검색한 매뉴얼을 답변 작성에 활용했습니다. 모듈 분리와 의존성 주입으로 테스트를 구성했고, LangSmith는 추적 확인까지만 했습니다.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15초] 화면만 보여주고 바로 다음 장으로 넘어가기</a:t>
            </a:r>
          </a:p>
          <a:p/>
          <a:p>
            <a:r>
              <a:t>최종 실행 화면입니다. 모의 작성 모델에 실제 MCP 도구와 로컬 임베딩을 연결했습니다. 구성은 다음 장에서 설명하겠습니다.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35초] GIF를 보며 왼쪽에서 오른쪽 순서로 설명하기</a:t>
            </a:r>
          </a:p>
          <a:p/>
          <a:p>
            <a:r>
              <a:t>개선 전후 비교입니다. 같은 질문에서 모의 모델이 CPU를 15퍼센트포인트 높게 쓰도록 오류를 넣었습니다. 왼쪽 개선 전에는 틀린 수치가 그대로 통과하고, 오른쪽 개선 후에는 세 번 작성해도 일치하지 않아 사유와 실제 수집값을 안내합니다. 두 실행의 수치는 서로 다르므로, 같은 숫자의 비교가 아니라 처리 방식의 차이를 재현한 것입니다.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35초] 숫자 두 개(2/9→9/9, 6/14→12/14)를 또박또박 말하기</a:t>
            </a:r>
          </a:p>
          <a:p/>
          <a:p>
            <a:r>
              <a:t>평가 결과입니다. 같은 17개 입력에서 오류 답변 차단은 9개 중 2개에서 9개로 늘었고, 정상 답변 8개는 모두 통과했습니다. 매뉴얼 선택은 14개 사례 중 기대와 일치한 수가 6개에서 12개로 늘었습니다. 다만 직접 만든 소규모 평가셋이라 일반적인 정확도는 아닙니다. 실모델 비교에서는 작성 시도와 응답 시간이 비슷해 속도 향상은 주장하지 않습니다.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35초] 천천히 읽고, 마지막 문장 뒤에 인사하며 마무리하기</a:t>
            </a:r>
          </a:p>
          <a:p/>
          <a:p>
            <a:r>
              <a:t>마지막으로 한계입니다. 검증은 시스템명과 CPU, 메모리 수치의 일치만 확인하며 원인 설명은 판단하지 못합니다. 규칙 기반이라 새로운 표현을 놓칠 수 있고, 초안을 숨기는 대신 답변을 기다려야 하며, 임베딩 검색에는 자원과 지연이 듭니다. 향후 독립 평가셋과 구조화된 수치 출력으로 보완하겠습니다. 세부 근거는 부록에 정리했습니다. 이상으로 발표를 마치겠습니다. 감사합니다.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[목표 30초] 화면 위 번호를 위에서 아래로 가리키기</a:t>
            </a:r>
          </a:p>
          <a:p/>
          <a:p>
            <a:r>
              <a:t>화면은 제공받은 Vue 화면을 근거 확인 중심으로 개선했습니다. 1번은 진행 단계, 2번은 수집값과 답변값의 비교표입니다. 3번은 매뉴얼 검색 후보와 유사도이며, 점수는 확률이 아닙니다. 4번은 정상, 검증 실패, 자료 부족을 구분해 안내하고, 5번은 반려될 초안을 먼저 보여주지 않는 기능입니다.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[목표 45초] 왼쪽 숫자 세 개를 짚고, 오른쪽은 '이유와 한계' 한 줄씩만 읽기</a:t>
            </a:r>
          </a:p>
          <a:p/>
          <a:p>
            <a:r>
              <a:t>이어서 비용과 성능 측정, 그리고 기술 선택 이유입니다. 근거가 없을 때 작성 모델 호출을 생략해 응답 시간이 36.6초에서 1.2~2.7초로 줄었습니다. 조사를 병렬로 처리하면 직렬 1.07초가 0.36초가 되며, 제공받은 구조를 측정한 값입니다. 모델을 용도별로 나눈 비용은 글자 수 기반 추정으로 약 59퍼센트 절감됩니다. 오른쪽은 기술별 선택 이유와 한계입니다. 프롬프트 압축은 적용하지 않았습니다.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[부록] 발표는 10번에서 종료. 질문이 나오면 해당 부록 번호로 이동</a:t>
            </a:r>
          </a:p>
          <a:p/>
          <a:p>
            <a:r>
              <a:t>부록입니다. 질문이 있으면 해당 쪽을 열어 설명합니다.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[부록] 제공 기반과 직접 구현을 구분해 답변</a:t>
            </a:r>
          </a:p>
          <a:p/>
          <a:p>
            <a:r>
              <a:t>제공받은 구조와 직접 변경한 부분을 구분해 표시했습니다. 측정만 한 항목은 구현으로 주장하지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[부록] 'why'를 물으면 이 표의 한 줄로 답</a:t>
            </a:r>
          </a:p>
          <a:p/>
          <a:p>
            <a:r>
              <a:t>각 결정의 이유와 대안은 저장소의 설계 결정 기록에 있습니다. 실험하지 않은 대안은 하지 않았다고 적었습니다.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[부록] 평가의 신뢰도를 물으면 '자체 평가라 낙관적'을 먼저 인정</a:t>
            </a:r>
          </a:p>
          <a:p/>
          <a:p>
            <a:r>
              <a:t>평가는 소규모 자체 평가셋입니다. 같은 입력으로 개선 전후를 비교했고, 낙관적일 수 있다는 한계를 함께 적었습니다.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[부록] 에러 핸들링 질문에 사용</a:t>
            </a:r>
          </a:p>
          <a:p/>
          <a:p>
            <a:r>
              <a:t>검증 규칙과 실패 처리 방식을 정리했습니다. 한계로는 직전 시스템명 연결 방식 때문에 정상 서술이 반려될 수 있다는 점이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[부록] 다이어그램과 구현 비교를 물으면 이 쪽</a:t>
            </a:r>
          </a:p>
          <a:p/>
          <a:p>
            <a:r>
              <a:t>전체 노드 흐름입니다. 초록색이 직접 추가하거나 변경한 노드이고, 근거 점검과 실패 종료는 새로 추가했습니다.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 Id="rId4" Type="http://schemas.openxmlformats.org/officeDocument/2006/relationships/image" Target="../media/image4.gi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notesSlide" Target="../notesSlides/notesSlide9.xml"/></Relationships>
</file>

<file path=ppt/slides/_rels/slide7.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 Id="rId5" Type="http://schemas.openxmlformats.org/officeDocument/2006/relationships/image" Target="../media/image5.gif"/><Relationship Id="rId6" Type="http://schemas.openxmlformats.org/officeDocument/2006/relationships/image" Target="../media/image6.gif"/></Relationships>
</file>

<file path=ppt/slides/_rels/slide8.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chart" Target="../charts/chart2.xm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F27"/>
        </a:solidFill>
      </p:bgPr>
    </p:bg>
    <p:spTree>
      <p:nvGrpSpPr>
        <p:cNvPr id="1" name=""/>
        <p:cNvGrpSpPr/>
        <p:nvPr/>
      </p:nvGrpSpPr>
      <p:grpSpPr>
        <a:xfrm>
          <a:off x="0" y="0"/>
          <a:ext cx="0" cy="0"/>
          <a:chOff x="0" y="0"/>
          <a:chExt cx="0" cy="0"/>
        </a:xfrm>
      </p:grpSpPr>
      <p:sp>
        <p:nvSpPr>
          <p:cNvPr id="2" name="Text 0"/>
          <p:cNvSpPr txBox="1"/>
          <p:nvPr/>
        </p:nvSpPr>
        <p:spPr>
          <a:xfrm>
            <a:off x="594360" y="320040"/>
            <a:ext cx="9144000" cy="274320"/>
          </a:xfrm>
          <a:prstGeom prst="rect">
            <a:avLst/>
          </a:prstGeom>
          <a:noFill/>
          <a:ln/>
        </p:spPr>
        <p:txBody>
          <a:bodyPr wrap="square" lIns="0" tIns="0" rIns="0" bIns="0" rtlCol="0" anchor="ctr"/>
          <a:lstStyle/>
          <a:p>
            <a:pPr indent="0" marL="0">
              <a:buNone/>
            </a:pPr>
            <a:r>
              <a:rPr lang="en-US" sz="1100" b="1" dirty="0">
                <a:solidFill>
                  <a:srgbClr val="A4DAC2"/>
                </a:solidFill>
                <a:latin typeface="Apple SD Gothic Neo" pitchFamily="34" charset="0"/>
                <a:ea typeface="Apple SD Gothic Neo" pitchFamily="34" charset="-122"/>
                <a:cs typeface="Apple SD Gothic Neo" pitchFamily="34" charset="-120"/>
              </a:rPr>
              <a:t>BASE AI AGENT  /  개인과제</a:t>
            </a:r>
            <a:endParaRPr lang="en-US" sz="1100" dirty="0"/>
          </a:p>
        </p:txBody>
      </p:sp>
      <p:sp>
        <p:nvSpPr>
          <p:cNvPr id="3" name="Text 1"/>
          <p:cNvSpPr txBox="1"/>
          <p:nvPr/>
        </p:nvSpPr>
        <p:spPr>
          <a:xfrm>
            <a:off x="594360" y="868680"/>
            <a:ext cx="10972800" cy="914400"/>
          </a:xfrm>
          <a:prstGeom prst="rect">
            <a:avLst/>
          </a:prstGeom>
          <a:noFill/>
          <a:ln/>
        </p:spPr>
        <p:txBody>
          <a:bodyPr wrap="square" lIns="0" tIns="0" rIns="0" bIns="0" rtlCol="0" anchor="ctr"/>
          <a:lstStyle/>
          <a:p>
            <a:pPr indent="0" marL="0">
              <a:buNone/>
            </a:pPr>
            <a:r>
              <a:rPr lang="en-US" sz="3200" b="1" dirty="0">
                <a:solidFill>
                  <a:srgbClr val="FFFFFF"/>
                </a:solidFill>
                <a:latin typeface="Apple SD Gothic Neo" pitchFamily="34" charset="0"/>
                <a:ea typeface="Apple SD Gothic Neo" pitchFamily="34" charset="-122"/>
                <a:cs typeface="Apple SD Gothic Neo" pitchFamily="34" charset="-120"/>
              </a:rPr>
              <a:t>근거 기반</a:t>
            </a:r>
            <a:endParaRPr lang="en-US" sz="3200" dirty="0"/>
          </a:p>
          <a:p>
            <a:pPr indent="0" marL="0">
              <a:buNone/>
            </a:pPr>
            <a:r>
              <a:rPr lang="en-US" sz="3200" b="1" dirty="0">
                <a:solidFill>
                  <a:srgbClr val="FFFFFF"/>
                </a:solidFill>
                <a:latin typeface="Apple SD Gothic Neo" pitchFamily="34" charset="0"/>
                <a:ea typeface="Apple SD Gothic Neo" pitchFamily="34" charset="-122"/>
                <a:cs typeface="Apple SD Gothic Neo" pitchFamily="34" charset="-120"/>
              </a:rPr>
              <a:t>장애 진단 에이전트 개선</a:t>
            </a:r>
            <a:endParaRPr lang="en-US" sz="3200" dirty="0"/>
          </a:p>
        </p:txBody>
      </p:sp>
      <p:sp>
        <p:nvSpPr>
          <p:cNvPr id="4" name="Text 2"/>
          <p:cNvSpPr txBox="1"/>
          <p:nvPr/>
        </p:nvSpPr>
        <p:spPr>
          <a:xfrm>
            <a:off x="594360" y="6473952"/>
            <a:ext cx="7315200" cy="164592"/>
          </a:xfrm>
          <a:prstGeom prst="rect">
            <a:avLst/>
          </a:prstGeom>
          <a:noFill/>
          <a:ln/>
        </p:spPr>
        <p:txBody>
          <a:bodyPr wrap="square" lIns="0" tIns="0" rIns="0" bIns="0" rtlCol="0" anchor="ctr"/>
          <a:lstStyle/>
          <a:p>
            <a:pPr indent="0" marL="0">
              <a:buNone/>
            </a:pPr>
            <a:r>
              <a:rPr lang="en-US" sz="900" dirty="0">
                <a:solidFill>
                  <a:srgbClr val="A4DAC2"/>
                </a:solidFill>
                <a:latin typeface="Apple SD Gothic Neo" pitchFamily="34" charset="0"/>
                <a:ea typeface="Apple SD Gothic Neo" pitchFamily="34" charset="-122"/>
                <a:cs typeface="Apple SD Gothic Neo" pitchFamily="34" charset="-120"/>
              </a:rPr>
              <a:t>AI CAPSTONE  ·  김하연</a:t>
            </a:r>
            <a:endParaRPr lang="en-US" sz="900" dirty="0"/>
          </a:p>
        </p:txBody>
      </p:sp>
      <p:sp>
        <p:nvSpPr>
          <p:cNvPr id="5" name="Text 3"/>
          <p:cNvSpPr txBox="1"/>
          <p:nvPr/>
        </p:nvSpPr>
        <p:spPr>
          <a:xfrm>
            <a:off x="10835640" y="6473952"/>
            <a:ext cx="777240" cy="164592"/>
          </a:xfrm>
          <a:prstGeom prst="rect">
            <a:avLst/>
          </a:prstGeom>
          <a:noFill/>
          <a:ln/>
        </p:spPr>
        <p:txBody>
          <a:bodyPr wrap="square" lIns="0" tIns="0" rIns="0" bIns="0" rtlCol="0" anchor="ctr"/>
          <a:lstStyle/>
          <a:p>
            <a:pPr indent="0" marL="0">
              <a:buNone/>
            </a:pPr>
            <a:r>
              <a:rPr lang="en-US" sz="900" dirty="0">
                <a:solidFill>
                  <a:srgbClr val="A4DAC2"/>
                </a:solidFill>
                <a:latin typeface="Apple SD Gothic Neo" pitchFamily="34" charset="0"/>
                <a:ea typeface="Apple SD Gothic Neo" pitchFamily="34" charset="-122"/>
                <a:cs typeface="Apple SD Gothic Neo" pitchFamily="34" charset="-120"/>
              </a:rPr>
              <a:t>01 / 10</a:t>
            </a:r>
            <a:endParaRPr lang="en-US" sz="900" dirty="0"/>
          </a:p>
        </p:txBody>
      </p:sp>
      <p:sp>
        <p:nvSpPr>
          <p:cNvPr id="7" name="Text 4"/>
          <p:cNvSpPr txBox="1"/>
          <p:nvPr/>
        </p:nvSpPr>
        <p:spPr>
          <a:xfrm>
            <a:off x="640080" y="2377440"/>
            <a:ext cx="5943600" cy="1005840"/>
          </a:xfrm>
          <a:prstGeom prst="rect">
            <a:avLst/>
          </a:prstGeom>
          <a:noFill/>
          <a:ln/>
        </p:spPr>
        <p:txBody>
          <a:bodyPr wrap="square" lIns="0" tIns="0" rIns="0" bIns="0" rtlCol="0" anchor="ctr"/>
          <a:lstStyle/>
          <a:p>
            <a:pPr indent="0" marL="0">
              <a:buNone/>
            </a:pPr>
            <a:r>
              <a:rPr lang="en-US" sz="2600" dirty="0">
                <a:solidFill>
                  <a:srgbClr val="A4DAC2"/>
                </a:solidFill>
                <a:latin typeface="Apple SD Gothic Neo" pitchFamily="34" charset="0"/>
                <a:ea typeface="Apple SD Gothic Neo" pitchFamily="34" charset="-122"/>
                <a:cs typeface="Apple SD Gothic Neo" pitchFamily="34" charset="-120"/>
              </a:rPr>
              <a:t>수집한 자료와 다른 답변을</a:t>
            </a:r>
            <a:endParaRPr lang="en-US" sz="2600" dirty="0"/>
          </a:p>
          <a:p>
            <a:pPr indent="0" marL="0">
              <a:buNone/>
            </a:pPr>
            <a:r>
              <a:rPr lang="en-US" sz="2600" dirty="0">
                <a:solidFill>
                  <a:srgbClr val="A4DAC2"/>
                </a:solidFill>
                <a:latin typeface="Apple SD Gothic Neo" pitchFamily="34" charset="0"/>
                <a:ea typeface="Apple SD Gothic Neo" pitchFamily="34" charset="-122"/>
                <a:cs typeface="Apple SD Gothic Neo" pitchFamily="34" charset="-120"/>
              </a:rPr>
              <a:t>그대로 통과시키지 않도록</a:t>
            </a:r>
            <a:endParaRPr lang="en-US" sz="2600" dirty="0"/>
          </a:p>
        </p:txBody>
      </p:sp>
      <p:sp>
        <p:nvSpPr>
          <p:cNvPr id="8" name="Text 5"/>
          <p:cNvSpPr txBox="1"/>
          <p:nvPr/>
        </p:nvSpPr>
        <p:spPr>
          <a:xfrm>
            <a:off x="685800" y="3794760"/>
            <a:ext cx="5303520" cy="457200"/>
          </a:xfrm>
          <a:prstGeom prst="rect">
            <a:avLst/>
          </a:prstGeom>
          <a:noFill/>
          <a:ln/>
        </p:spPr>
        <p:txBody>
          <a:bodyPr wrap="square" lIns="0" tIns="0" rIns="0" bIns="0" rtlCol="0" anchor="ctr"/>
          <a:lstStyle/>
          <a:p>
            <a:pPr indent="0" marL="0">
              <a:buNone/>
            </a:pPr>
            <a:r>
              <a:rPr lang="en-US" sz="1900" dirty="0">
                <a:solidFill>
                  <a:srgbClr val="FFFFFF"/>
                </a:solidFill>
                <a:latin typeface="Apple SD Gothic Neo" pitchFamily="34" charset="0"/>
                <a:ea typeface="Apple SD Gothic Neo" pitchFamily="34" charset="-122"/>
                <a:cs typeface="Apple SD Gothic Neo" pitchFamily="34" charset="-120"/>
              </a:rPr>
              <a:t>검증  ·  검색  ·  조사 안정성</a:t>
            </a:r>
            <a:endParaRPr lang="en-US" sz="1900" dirty="0"/>
          </a:p>
        </p:txBody>
      </p:sp>
      <p:sp>
        <p:nvSpPr>
          <p:cNvPr id="9" name="Shape 6"/>
          <p:cNvSpPr/>
          <p:nvPr/>
        </p:nvSpPr>
        <p:spPr>
          <a:xfrm>
            <a:off x="685800" y="5303520"/>
            <a:ext cx="1005840" cy="365760"/>
          </a:xfrm>
          <a:prstGeom prst="roundRect">
            <a:avLst>
              <a:gd name="adj" fmla="val 40000"/>
            </a:avLst>
          </a:prstGeom>
          <a:solidFill>
            <a:srgbClr val="244A3D"/>
          </a:solidFill>
          <a:ln w="12700">
            <a:solidFill>
              <a:srgbClr val="244A3D"/>
            </a:solidFill>
            <a:prstDash val="solid"/>
          </a:ln>
        </p:spPr>
        <p:txBody>
          <a:bodyPr/>
          <a:p/>
        </p:txBody>
      </p:sp>
      <p:sp>
        <p:nvSpPr>
          <p:cNvPr id="10" name="Text 7"/>
          <p:cNvSpPr txBox="1"/>
          <p:nvPr/>
        </p:nvSpPr>
        <p:spPr>
          <a:xfrm>
            <a:off x="795528" y="5303520"/>
            <a:ext cx="786384" cy="365760"/>
          </a:xfrm>
          <a:prstGeom prst="rect">
            <a:avLst/>
          </a:prstGeom>
          <a:noFill/>
          <a:ln/>
        </p:spPr>
        <p:txBody>
          <a:bodyPr wrap="square" lIns="0" tIns="0" rIns="0" bIns="0" rtlCol="0" anchor="ctr"/>
          <a:lstStyle/>
          <a:p>
            <a:pP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김하연</a:t>
            </a:r>
            <a:endParaRPr lang="en-US" sz="1200" dirty="0"/>
          </a:p>
        </p:txBody>
      </p:sp>
      <p:sp>
        <p:nvSpPr>
          <p:cNvPr id="11" name="Text 8"/>
          <p:cNvSpPr txBox="1"/>
          <p:nvPr/>
        </p:nvSpPr>
        <p:spPr>
          <a:xfrm>
            <a:off x="1920240" y="5303520"/>
            <a:ext cx="3657600" cy="365760"/>
          </a:xfrm>
          <a:prstGeom prst="rect">
            <a:avLst/>
          </a:prstGeom>
          <a:noFill/>
          <a:ln/>
        </p:spPr>
        <p:txBody>
          <a:bodyPr wrap="square" lIns="0" tIns="0" rIns="0" bIns="0" rtlCol="0" anchor="ctr"/>
          <a:lstStyle/>
          <a:p>
            <a:pPr indent="0" marL="0">
              <a:buNone/>
            </a:pPr>
            <a:r>
              <a:rPr lang="en-US" sz="1300" dirty="0">
                <a:solidFill>
                  <a:srgbClr val="A4DAC2"/>
                </a:solidFill>
                <a:latin typeface="Apple SD Gothic Neo" pitchFamily="34" charset="0"/>
                <a:ea typeface="Apple SD Gothic Neo" pitchFamily="34" charset="-122"/>
                <a:cs typeface="Apple SD Gothic Neo" pitchFamily="34" charset="-120"/>
              </a:rPr>
              <a:t>AI Capstone  |  2026.10</a:t>
            </a:r>
            <a:endParaRPr lang="en-US" sz="1300" dirty="0"/>
          </a:p>
        </p:txBody>
      </p:sp>
      <p:sp>
        <p:nvSpPr>
          <p:cNvPr id="12" name="Shape 9"/>
          <p:cNvSpPr/>
          <p:nvPr/>
        </p:nvSpPr>
        <p:spPr>
          <a:xfrm>
            <a:off x="6858000" y="1874520"/>
            <a:ext cx="4663440" cy="4160520"/>
          </a:xfrm>
          <a:prstGeom prst="roundRect">
            <a:avLst>
              <a:gd name="adj" fmla="val 3516"/>
            </a:avLst>
          </a:prstGeom>
          <a:solidFill>
            <a:srgbClr val="1D4437"/>
          </a:solidFill>
          <a:ln w="12700">
            <a:solidFill>
              <a:srgbClr val="1D4437"/>
            </a:solidFill>
            <a:prstDash val="solid"/>
          </a:ln>
        </p:spPr>
        <p:txBody>
          <a:bodyPr/>
          <a:p/>
        </p:txBody>
      </p:sp>
      <p:sp>
        <p:nvSpPr>
          <p:cNvPr id="13" name="Text 10"/>
          <p:cNvSpPr txBox="1"/>
          <p:nvPr/>
        </p:nvSpPr>
        <p:spPr>
          <a:xfrm>
            <a:off x="7178040" y="2176272"/>
            <a:ext cx="3977640" cy="274320"/>
          </a:xfrm>
          <a:prstGeom prst="rect">
            <a:avLst/>
          </a:prstGeom>
          <a:noFill/>
          <a:ln/>
        </p:spPr>
        <p:txBody>
          <a:bodyPr wrap="square" lIns="0" tIns="0" rIns="0" bIns="0" rtlCol="0" anchor="ctr"/>
          <a:lstStyle/>
          <a:p>
            <a:pPr indent="0" marL="0">
              <a:buNone/>
            </a:pPr>
            <a:r>
              <a:rPr lang="en-US" sz="1200" b="1" dirty="0">
                <a:solidFill>
                  <a:srgbClr val="A4DAC2"/>
                </a:solidFill>
                <a:latin typeface="Apple SD Gothic Neo" pitchFamily="34" charset="0"/>
                <a:ea typeface="Apple SD Gothic Neo" pitchFamily="34" charset="-122"/>
                <a:cs typeface="Apple SD Gothic Neo" pitchFamily="34" charset="-120"/>
              </a:rPr>
              <a:t>질문</a:t>
            </a:r>
            <a:endParaRPr lang="en-US" sz="1200" dirty="0"/>
          </a:p>
        </p:txBody>
      </p:sp>
      <p:sp>
        <p:nvSpPr>
          <p:cNvPr id="14" name="Text 11"/>
          <p:cNvSpPr txBox="1"/>
          <p:nvPr/>
        </p:nvSpPr>
        <p:spPr>
          <a:xfrm>
            <a:off x="7178040" y="2724912"/>
            <a:ext cx="3931920" cy="914400"/>
          </a:xfrm>
          <a:prstGeom prst="rect">
            <a:avLst/>
          </a:prstGeom>
          <a:noFill/>
          <a:ln/>
        </p:spPr>
        <p:txBody>
          <a:bodyPr wrap="square" lIns="0" tIns="0" rIns="0" bIns="0" rtlCol="0" anchor="ctr"/>
          <a:lstStyle/>
          <a:p>
            <a:pPr indent="0" marL="0">
              <a:buNone/>
            </a:pPr>
            <a:r>
              <a:rPr lang="en-US" sz="2600" b="1" dirty="0">
                <a:solidFill>
                  <a:srgbClr val="FFFFFF"/>
                </a:solidFill>
                <a:latin typeface="Apple SD Gothic Neo" pitchFamily="34" charset="0"/>
                <a:ea typeface="Apple SD Gothic Neo" pitchFamily="34" charset="-122"/>
                <a:cs typeface="Apple SD Gothic Neo" pitchFamily="34" charset="-120"/>
              </a:rPr>
              <a:t>“로그인이 느려요.</a:t>
            </a:r>
            <a:endParaRPr lang="en-US" sz="2600" dirty="0"/>
          </a:p>
          <a:p>
            <a:pPr indent="0" marL="0">
              <a:buNone/>
            </a:pPr>
            <a:r>
              <a:rPr lang="en-US" sz="2600" b="1" dirty="0">
                <a:solidFill>
                  <a:srgbClr val="FFFFFF"/>
                </a:solidFill>
                <a:latin typeface="Apple SD Gothic Neo" pitchFamily="34" charset="0"/>
                <a:ea typeface="Apple SD Gothic Neo" pitchFamily="34" charset="-122"/>
                <a:cs typeface="Apple SD Gothic Neo" pitchFamily="34" charset="-120"/>
              </a:rPr>
              <a:t>원인을 진단해줘.”</a:t>
            </a:r>
            <a:endParaRPr lang="en-US" sz="2600" dirty="0"/>
          </a:p>
        </p:txBody>
      </p:sp>
      <p:sp>
        <p:nvSpPr>
          <p:cNvPr id="15" name="Shape 12"/>
          <p:cNvSpPr/>
          <p:nvPr/>
        </p:nvSpPr>
        <p:spPr>
          <a:xfrm>
            <a:off x="7223760" y="3931920"/>
            <a:ext cx="3794760" cy="0"/>
          </a:xfrm>
          <a:prstGeom prst="line">
            <a:avLst/>
          </a:prstGeom>
          <a:noFill/>
          <a:ln w="20320">
            <a:solidFill>
              <a:srgbClr val="507867"/>
            </a:solidFill>
            <a:prstDash val="solid"/>
          </a:ln>
        </p:spPr>
        <p:txBody>
          <a:bodyPr/>
          <a:p/>
        </p:txBody>
      </p:sp>
      <p:sp>
        <p:nvSpPr>
          <p:cNvPr id="16" name="Text 13"/>
          <p:cNvSpPr txBox="1"/>
          <p:nvPr/>
        </p:nvSpPr>
        <p:spPr>
          <a:xfrm>
            <a:off x="7223760" y="4297680"/>
            <a:ext cx="1554480" cy="365760"/>
          </a:xfrm>
          <a:prstGeom prst="rect">
            <a:avLst/>
          </a:prstGeom>
          <a:noFill/>
          <a:ln/>
        </p:spPr>
        <p:txBody>
          <a:bodyPr wrap="square" lIns="0" tIns="0" rIns="0" bIns="0" rtlCol="0" anchor="ctr"/>
          <a:lstStyle/>
          <a:p>
            <a:pPr indent="0" marL="0">
              <a:buNone/>
            </a:pPr>
            <a:r>
              <a:rPr lang="en-US" sz="1800" dirty="0">
                <a:solidFill>
                  <a:srgbClr val="FFFFFF"/>
                </a:solidFill>
                <a:latin typeface="Apple SD Gothic Neo" pitchFamily="34" charset="0"/>
                <a:ea typeface="Apple SD Gothic Neo" pitchFamily="34" charset="-122"/>
                <a:cs typeface="Apple SD Gothic Neo" pitchFamily="34" charset="-120"/>
              </a:rPr>
              <a:t>자료 수집</a:t>
            </a:r>
            <a:endParaRPr lang="en-US" sz="1800" dirty="0"/>
          </a:p>
        </p:txBody>
      </p:sp>
      <p:sp>
        <p:nvSpPr>
          <p:cNvPr id="17" name="Text 14"/>
          <p:cNvSpPr txBox="1"/>
          <p:nvPr/>
        </p:nvSpPr>
        <p:spPr>
          <a:xfrm>
            <a:off x="8823960" y="4297680"/>
            <a:ext cx="365760" cy="365760"/>
          </a:xfrm>
          <a:prstGeom prst="rect">
            <a:avLst/>
          </a:prstGeom>
          <a:noFill/>
          <a:ln/>
        </p:spPr>
        <p:txBody>
          <a:bodyPr wrap="square" lIns="0" tIns="0" rIns="0" bIns="0" rtlCol="0" anchor="ctr"/>
          <a:lstStyle/>
          <a:p>
            <a:pPr indent="0" marL="0">
              <a:buNone/>
            </a:pPr>
            <a:r>
              <a:rPr lang="en-US" sz="1800" dirty="0">
                <a:solidFill>
                  <a:srgbClr val="A4DAC2"/>
                </a:solidFill>
                <a:latin typeface="Apple SD Gothic Neo" pitchFamily="34" charset="0"/>
                <a:ea typeface="Apple SD Gothic Neo" pitchFamily="34" charset="-122"/>
                <a:cs typeface="Apple SD Gothic Neo" pitchFamily="34" charset="-120"/>
              </a:rPr>
              <a:t>→</a:t>
            </a:r>
            <a:endParaRPr lang="en-US" sz="1800" dirty="0"/>
          </a:p>
        </p:txBody>
      </p:sp>
      <p:sp>
        <p:nvSpPr>
          <p:cNvPr id="18" name="Text 15"/>
          <p:cNvSpPr txBox="1"/>
          <p:nvPr/>
        </p:nvSpPr>
        <p:spPr>
          <a:xfrm>
            <a:off x="9372600" y="4297680"/>
            <a:ext cx="1600200" cy="365760"/>
          </a:xfrm>
          <a:prstGeom prst="rect">
            <a:avLst/>
          </a:prstGeom>
          <a:noFill/>
          <a:ln/>
        </p:spPr>
        <p:txBody>
          <a:bodyPr wrap="square" lIns="0" tIns="0" rIns="0" bIns="0" rtlCol="0" anchor="ctr"/>
          <a:lstStyle/>
          <a:p>
            <a:pPr indent="0" marL="0">
              <a:buNone/>
            </a:pPr>
            <a:r>
              <a:rPr lang="en-US" sz="1800" dirty="0">
                <a:solidFill>
                  <a:srgbClr val="FFFFFF"/>
                </a:solidFill>
                <a:latin typeface="Apple SD Gothic Neo" pitchFamily="34" charset="0"/>
                <a:ea typeface="Apple SD Gothic Neo" pitchFamily="34" charset="-122"/>
                <a:cs typeface="Apple SD Gothic Neo" pitchFamily="34" charset="-120"/>
              </a:rPr>
              <a:t>근거 대조</a:t>
            </a:r>
            <a:endParaRPr lang="en-US" sz="1800" dirty="0"/>
          </a:p>
        </p:txBody>
      </p:sp>
      <p:sp>
        <p:nvSpPr>
          <p:cNvPr id="19" name="Shape 16"/>
          <p:cNvSpPr/>
          <p:nvPr/>
        </p:nvSpPr>
        <p:spPr>
          <a:xfrm>
            <a:off x="7178040" y="5074920"/>
            <a:ext cx="3931920" cy="365760"/>
          </a:xfrm>
          <a:prstGeom prst="roundRect">
            <a:avLst>
              <a:gd name="adj" fmla="val 40000"/>
            </a:avLst>
          </a:prstGeom>
          <a:solidFill>
            <a:srgbClr val="A4DAC2"/>
          </a:solidFill>
          <a:ln w="12700">
            <a:solidFill>
              <a:srgbClr val="A4DAC2"/>
            </a:solidFill>
            <a:prstDash val="solid"/>
          </a:ln>
        </p:spPr>
        <p:txBody>
          <a:bodyPr/>
          <a:p/>
        </p:txBody>
      </p:sp>
      <p:sp>
        <p:nvSpPr>
          <p:cNvPr id="20" name="Text 17"/>
          <p:cNvSpPr txBox="1"/>
          <p:nvPr/>
        </p:nvSpPr>
        <p:spPr>
          <a:xfrm>
            <a:off x="7287768" y="5074920"/>
            <a:ext cx="3712464" cy="365760"/>
          </a:xfrm>
          <a:prstGeom prst="rect">
            <a:avLst/>
          </a:prstGeom>
          <a:noFill/>
          <a:ln/>
        </p:spPr>
        <p:txBody>
          <a:bodyPr wrap="square" lIns="0" tIns="0" rIns="0" bIns="0" rtlCol="0" anchor="ctr"/>
          <a:lstStyle/>
          <a:p>
            <a:pPr indent="0" marL="0">
              <a:buNone/>
            </a:pPr>
            <a:r>
              <a:rPr lang="en-US" sz="1200" b="1" dirty="0">
                <a:solidFill>
                  <a:srgbClr val="102F27"/>
                </a:solidFill>
                <a:latin typeface="Apple SD Gothic Neo" pitchFamily="34" charset="0"/>
                <a:ea typeface="Apple SD Gothic Neo" pitchFamily="34" charset="-122"/>
                <a:cs typeface="Apple SD Gothic Neo" pitchFamily="34" charset="-120"/>
              </a:rPr>
              <a:t>일치하면 응답 · 부족하면 중단</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0040"/>
            <a:ext cx="9144000" cy="274320"/>
          </a:xfrm>
          <a:prstGeom prst="rect">
            <a:avLst/>
          </a:prstGeom>
          <a:noFill/>
          <a:ln/>
        </p:spPr>
        <p:txBody>
          <a:bodyPr wrap="square" lIns="0" tIns="0" rIns="0" bIns="0" rtlCol="0" anchor="ctr"/>
          <a:lstStyle/>
          <a:p>
            <a:pPr indent="0" marL="0">
              <a:buNone/>
            </a:pPr>
            <a:r>
              <a:rPr lang="en-US" sz="1100" b="1" dirty="0">
                <a:solidFill>
                  <a:srgbClr val="16785C"/>
                </a:solidFill>
                <a:latin typeface="Apple SD Gothic Neo" pitchFamily="34" charset="0"/>
                <a:ea typeface="Apple SD Gothic Neo" pitchFamily="34" charset="-122"/>
                <a:cs typeface="Apple SD Gothic Neo" pitchFamily="34" charset="-120"/>
              </a:rPr>
              <a:t>01  문제 정의</a:t>
            </a:r>
            <a:endParaRPr lang="en-US" sz="1100" dirty="0"/>
          </a:p>
        </p:txBody>
      </p:sp>
      <p:sp>
        <p:nvSpPr>
          <p:cNvPr id="3" name="Text 1"/>
          <p:cNvSpPr txBox="1"/>
          <p:nvPr/>
        </p:nvSpPr>
        <p:spPr>
          <a:xfrm>
            <a:off x="594360" y="868680"/>
            <a:ext cx="10972800" cy="914400"/>
          </a:xfrm>
          <a:prstGeom prst="rect">
            <a:avLst/>
          </a:prstGeom>
          <a:noFill/>
          <a:ln/>
        </p:spPr>
        <p:txBody>
          <a:bodyPr wrap="square" lIns="0" tIns="0" rIns="0" bIns="0" rtlCol="0" anchor="ctr"/>
          <a:lstStyle/>
          <a:p>
            <a:pPr indent="0" marL="0">
              <a:buNone/>
            </a:pPr>
            <a:r>
              <a:rPr lang="en-US" sz="3200" b="1" dirty="0">
                <a:solidFill>
                  <a:srgbClr val="19382F"/>
                </a:solidFill>
                <a:latin typeface="Apple SD Gothic Neo" pitchFamily="34" charset="0"/>
                <a:ea typeface="Apple SD Gothic Neo" pitchFamily="34" charset="-122"/>
                <a:cs typeface="Apple SD Gothic Neo" pitchFamily="34" charset="-120"/>
              </a:rPr>
              <a:t>형식 검증만으로는 수치 오류를 걸러내지 못함</a:t>
            </a:r>
            <a:endParaRPr lang="en-US" sz="3200" dirty="0"/>
          </a:p>
        </p:txBody>
      </p:sp>
      <p:sp>
        <p:nvSpPr>
          <p:cNvPr id="4" name="Text 2"/>
          <p:cNvSpPr txBox="1"/>
          <p:nvPr/>
        </p:nvSpPr>
        <p:spPr>
          <a:xfrm>
            <a:off x="594360" y="6473952"/>
            <a:ext cx="731520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AI CAPSTONE  ·  김하연</a:t>
            </a:r>
            <a:endParaRPr lang="en-US" sz="900" dirty="0"/>
          </a:p>
        </p:txBody>
      </p:sp>
      <p:sp>
        <p:nvSpPr>
          <p:cNvPr id="5" name="Text 3"/>
          <p:cNvSpPr txBox="1"/>
          <p:nvPr/>
        </p:nvSpPr>
        <p:spPr>
          <a:xfrm>
            <a:off x="10835640" y="6473952"/>
            <a:ext cx="77724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02 / 10</a:t>
            </a:r>
            <a:endParaRPr lang="en-US" sz="900" dirty="0"/>
          </a:p>
        </p:txBody>
      </p:sp>
      <p:sp>
        <p:nvSpPr>
          <p:cNvPr id="7" name="Text 4"/>
          <p:cNvSpPr txBox="1"/>
          <p:nvPr/>
        </p:nvSpPr>
        <p:spPr>
          <a:xfrm>
            <a:off x="640080" y="2011680"/>
            <a:ext cx="3200400" cy="365760"/>
          </a:xfrm>
          <a:prstGeom prst="rect">
            <a:avLst/>
          </a:prstGeom>
          <a:noFill/>
          <a:ln/>
        </p:spPr>
        <p:txBody>
          <a:bodyPr wrap="square" lIns="0" tIns="0" rIns="0" bIns="0" rtlCol="0" anchor="ctr"/>
          <a:lstStyle/>
          <a:p>
            <a:pPr indent="0" marL="0">
              <a:buNone/>
            </a:pPr>
            <a:r>
              <a:rPr lang="en-US" sz="1800" b="1" dirty="0">
                <a:solidFill>
                  <a:srgbClr val="62746D"/>
                </a:solidFill>
                <a:latin typeface="Apple SD Gothic Neo" pitchFamily="34" charset="0"/>
                <a:ea typeface="Apple SD Gothic Neo" pitchFamily="34" charset="-122"/>
                <a:cs typeface="Apple SD Gothic Neo" pitchFamily="34" charset="-120"/>
              </a:rPr>
              <a:t>수집한 자료</a:t>
            </a:r>
            <a:endParaRPr lang="en-US" sz="1800" dirty="0"/>
          </a:p>
        </p:txBody>
      </p:sp>
      <p:sp>
        <p:nvSpPr>
          <p:cNvPr id="8" name="Text 5"/>
          <p:cNvSpPr txBox="1"/>
          <p:nvPr/>
        </p:nvSpPr>
        <p:spPr>
          <a:xfrm>
            <a:off x="4480560" y="2011680"/>
            <a:ext cx="3200400" cy="365760"/>
          </a:xfrm>
          <a:prstGeom prst="rect">
            <a:avLst/>
          </a:prstGeom>
          <a:noFill/>
          <a:ln/>
        </p:spPr>
        <p:txBody>
          <a:bodyPr wrap="square" lIns="0" tIns="0" rIns="0" bIns="0" rtlCol="0" anchor="ctr"/>
          <a:lstStyle/>
          <a:p>
            <a:pPr indent="0" marL="0">
              <a:buNone/>
            </a:pPr>
            <a:r>
              <a:rPr lang="en-US" sz="1800" b="1" dirty="0">
                <a:solidFill>
                  <a:srgbClr val="62746D"/>
                </a:solidFill>
                <a:latin typeface="Apple SD Gothic Neo" pitchFamily="34" charset="0"/>
                <a:ea typeface="Apple SD Gothic Neo" pitchFamily="34" charset="-122"/>
                <a:cs typeface="Apple SD Gothic Neo" pitchFamily="34" charset="-120"/>
              </a:rPr>
              <a:t>모델이 쓴 답변</a:t>
            </a:r>
            <a:endParaRPr lang="en-US" sz="1800" dirty="0"/>
          </a:p>
        </p:txBody>
      </p:sp>
      <p:sp>
        <p:nvSpPr>
          <p:cNvPr id="9" name="Text 6"/>
          <p:cNvSpPr txBox="1"/>
          <p:nvPr/>
        </p:nvSpPr>
        <p:spPr>
          <a:xfrm>
            <a:off x="8321040" y="2011680"/>
            <a:ext cx="3200400" cy="365760"/>
          </a:xfrm>
          <a:prstGeom prst="rect">
            <a:avLst/>
          </a:prstGeom>
          <a:noFill/>
          <a:ln/>
        </p:spPr>
        <p:txBody>
          <a:bodyPr wrap="square" lIns="0" tIns="0" rIns="0" bIns="0" rtlCol="0" anchor="ctr"/>
          <a:lstStyle/>
          <a:p>
            <a:pPr indent="0" marL="0">
              <a:buNone/>
            </a:pPr>
            <a:r>
              <a:rPr lang="en-US" sz="1800" b="1" dirty="0">
                <a:solidFill>
                  <a:srgbClr val="62746D"/>
                </a:solidFill>
                <a:latin typeface="Apple SD Gothic Neo" pitchFamily="34" charset="0"/>
                <a:ea typeface="Apple SD Gothic Neo" pitchFamily="34" charset="-122"/>
                <a:cs typeface="Apple SD Gothic Neo" pitchFamily="34" charset="-120"/>
              </a:rPr>
              <a:t>기존 검증 결과</a:t>
            </a:r>
            <a:endParaRPr lang="en-US" sz="1800" dirty="0"/>
          </a:p>
        </p:txBody>
      </p:sp>
      <p:sp>
        <p:nvSpPr>
          <p:cNvPr id="10" name="Shape 7"/>
          <p:cNvSpPr/>
          <p:nvPr/>
        </p:nvSpPr>
        <p:spPr>
          <a:xfrm>
            <a:off x="640080" y="2651760"/>
            <a:ext cx="3200400" cy="1828800"/>
          </a:xfrm>
          <a:prstGeom prst="roundRect">
            <a:avLst>
              <a:gd name="adj" fmla="val 8000"/>
            </a:avLst>
          </a:prstGeom>
          <a:solidFill>
            <a:srgbClr val="EEF5F1"/>
          </a:solidFill>
          <a:ln w="12700">
            <a:solidFill>
              <a:srgbClr val="EEF5F1"/>
            </a:solidFill>
            <a:prstDash val="solid"/>
          </a:ln>
        </p:spPr>
        <p:txBody>
          <a:bodyPr/>
          <a:p/>
        </p:txBody>
      </p:sp>
      <p:sp>
        <p:nvSpPr>
          <p:cNvPr id="11" name="Text 8"/>
          <p:cNvSpPr txBox="1"/>
          <p:nvPr/>
        </p:nvSpPr>
        <p:spPr>
          <a:xfrm>
            <a:off x="868680" y="2834640"/>
            <a:ext cx="2743200" cy="365760"/>
          </a:xfrm>
          <a:prstGeom prst="rect">
            <a:avLst/>
          </a:prstGeom>
          <a:noFill/>
          <a:ln/>
        </p:spPr>
        <p:txBody>
          <a:bodyPr wrap="square" lIns="0" tIns="0" rIns="0" bIns="0" rtlCol="0" anchor="ctr"/>
          <a:lstStyle/>
          <a:p>
            <a:pPr indent="0" marL="0">
              <a:buNone/>
            </a:pPr>
            <a:r>
              <a:rPr lang="en-US" sz="1600" dirty="0">
                <a:solidFill>
                  <a:srgbClr val="62746D"/>
                </a:solidFill>
                <a:latin typeface="Apple SD Gothic Neo" pitchFamily="34" charset="0"/>
                <a:ea typeface="Apple SD Gothic Neo" pitchFamily="34" charset="-122"/>
                <a:cs typeface="Apple SD Gothic Neo" pitchFamily="34" charset="-120"/>
              </a:rPr>
              <a:t>auth-service · CPU</a:t>
            </a:r>
            <a:endParaRPr lang="en-US" sz="1600" dirty="0"/>
          </a:p>
        </p:txBody>
      </p:sp>
      <p:sp>
        <p:nvSpPr>
          <p:cNvPr id="12" name="Text 9"/>
          <p:cNvSpPr txBox="1"/>
          <p:nvPr/>
        </p:nvSpPr>
        <p:spPr>
          <a:xfrm>
            <a:off x="868680" y="3337560"/>
            <a:ext cx="2743200" cy="914400"/>
          </a:xfrm>
          <a:prstGeom prst="rect">
            <a:avLst/>
          </a:prstGeom>
          <a:noFill/>
          <a:ln/>
        </p:spPr>
        <p:txBody>
          <a:bodyPr wrap="square" lIns="0" tIns="0" rIns="0" bIns="0" rtlCol="0" anchor="ctr"/>
          <a:lstStyle/>
          <a:p>
            <a:pPr indent="0" marL="0">
              <a:buNone/>
            </a:pPr>
            <a:r>
              <a:rPr lang="en-US" sz="4800" b="1" dirty="0">
                <a:solidFill>
                  <a:srgbClr val="16785C"/>
                </a:solidFill>
                <a:latin typeface="Apple SD Gothic Neo" pitchFamily="34" charset="0"/>
                <a:ea typeface="Apple SD Gothic Neo" pitchFamily="34" charset="-122"/>
                <a:cs typeface="Apple SD Gothic Neo" pitchFamily="34" charset="-120"/>
              </a:rPr>
              <a:t>40%</a:t>
            </a:r>
            <a:endParaRPr lang="en-US" sz="4800" dirty="0"/>
          </a:p>
        </p:txBody>
      </p:sp>
      <p:sp>
        <p:nvSpPr>
          <p:cNvPr id="13" name="Shape 10"/>
          <p:cNvSpPr/>
          <p:nvPr/>
        </p:nvSpPr>
        <p:spPr>
          <a:xfrm>
            <a:off x="4480560" y="2651760"/>
            <a:ext cx="3200400" cy="1828800"/>
          </a:xfrm>
          <a:prstGeom prst="roundRect">
            <a:avLst>
              <a:gd name="adj" fmla="val 8000"/>
            </a:avLst>
          </a:prstGeom>
          <a:solidFill>
            <a:srgbClr val="FAEEEA"/>
          </a:solidFill>
          <a:ln w="12700">
            <a:solidFill>
              <a:srgbClr val="FAEEEA"/>
            </a:solidFill>
            <a:prstDash val="solid"/>
          </a:ln>
        </p:spPr>
        <p:txBody>
          <a:bodyPr/>
          <a:p/>
        </p:txBody>
      </p:sp>
      <p:sp>
        <p:nvSpPr>
          <p:cNvPr id="14" name="Text 11"/>
          <p:cNvSpPr txBox="1"/>
          <p:nvPr/>
        </p:nvSpPr>
        <p:spPr>
          <a:xfrm>
            <a:off x="4709160" y="2834640"/>
            <a:ext cx="2743200" cy="365760"/>
          </a:xfrm>
          <a:prstGeom prst="rect">
            <a:avLst/>
          </a:prstGeom>
          <a:noFill/>
          <a:ln/>
        </p:spPr>
        <p:txBody>
          <a:bodyPr wrap="square" lIns="0" tIns="0" rIns="0" bIns="0" rtlCol="0" anchor="ctr"/>
          <a:lstStyle/>
          <a:p>
            <a:pPr indent="0" marL="0">
              <a:buNone/>
            </a:pPr>
            <a:r>
              <a:rPr lang="en-US" sz="1600" dirty="0">
                <a:solidFill>
                  <a:srgbClr val="62746D"/>
                </a:solidFill>
                <a:latin typeface="Apple SD Gothic Neo" pitchFamily="34" charset="0"/>
                <a:ea typeface="Apple SD Gothic Neo" pitchFamily="34" charset="-122"/>
                <a:cs typeface="Apple SD Gothic Neo" pitchFamily="34" charset="-120"/>
              </a:rPr>
              <a:t>auth-service · CPU</a:t>
            </a:r>
            <a:endParaRPr lang="en-US" sz="1600" dirty="0"/>
          </a:p>
        </p:txBody>
      </p:sp>
      <p:sp>
        <p:nvSpPr>
          <p:cNvPr id="15" name="Text 12"/>
          <p:cNvSpPr txBox="1"/>
          <p:nvPr/>
        </p:nvSpPr>
        <p:spPr>
          <a:xfrm>
            <a:off x="4709160" y="3337560"/>
            <a:ext cx="2743200" cy="914400"/>
          </a:xfrm>
          <a:prstGeom prst="rect">
            <a:avLst/>
          </a:prstGeom>
          <a:noFill/>
          <a:ln/>
        </p:spPr>
        <p:txBody>
          <a:bodyPr wrap="square" lIns="0" tIns="0" rIns="0" bIns="0" rtlCol="0" anchor="ctr"/>
          <a:lstStyle/>
          <a:p>
            <a:pPr indent="0" marL="0">
              <a:buNone/>
            </a:pPr>
            <a:r>
              <a:rPr lang="en-US" sz="4800" b="1" dirty="0">
                <a:solidFill>
                  <a:srgbClr val="B6503E"/>
                </a:solidFill>
                <a:latin typeface="Apple SD Gothic Neo" pitchFamily="34" charset="0"/>
                <a:ea typeface="Apple SD Gothic Neo" pitchFamily="34" charset="-122"/>
                <a:cs typeface="Apple SD Gothic Neo" pitchFamily="34" charset="-120"/>
              </a:rPr>
              <a:t>99%</a:t>
            </a:r>
            <a:endParaRPr lang="en-US" sz="4800" dirty="0"/>
          </a:p>
        </p:txBody>
      </p:sp>
      <p:sp>
        <p:nvSpPr>
          <p:cNvPr id="16" name="Text 13"/>
          <p:cNvSpPr txBox="1"/>
          <p:nvPr/>
        </p:nvSpPr>
        <p:spPr>
          <a:xfrm>
            <a:off x="3977640" y="3291840"/>
            <a:ext cx="365760" cy="640080"/>
          </a:xfrm>
          <a:prstGeom prst="rect">
            <a:avLst/>
          </a:prstGeom>
          <a:noFill/>
          <a:ln/>
        </p:spPr>
        <p:txBody>
          <a:bodyPr wrap="square" lIns="0" tIns="0" rIns="0" bIns="0" rtlCol="0" anchor="ctr"/>
          <a:lstStyle/>
          <a:p>
            <a:pPr indent="0" marL="0">
              <a:buNone/>
            </a:pPr>
            <a:r>
              <a:rPr lang="en-US" sz="2800" dirty="0">
                <a:solidFill>
                  <a:srgbClr val="B8C5BE"/>
                </a:solidFill>
                <a:latin typeface="Apple SD Gothic Neo" pitchFamily="34" charset="0"/>
                <a:ea typeface="Apple SD Gothic Neo" pitchFamily="34" charset="-122"/>
                <a:cs typeface="Apple SD Gothic Neo" pitchFamily="34" charset="-120"/>
              </a:rPr>
              <a:t>→</a:t>
            </a:r>
            <a:endParaRPr lang="en-US" sz="2800" dirty="0"/>
          </a:p>
        </p:txBody>
      </p:sp>
      <p:sp>
        <p:nvSpPr>
          <p:cNvPr id="17" name="Text 14"/>
          <p:cNvSpPr txBox="1"/>
          <p:nvPr/>
        </p:nvSpPr>
        <p:spPr>
          <a:xfrm>
            <a:off x="7818120" y="3291840"/>
            <a:ext cx="365760" cy="640080"/>
          </a:xfrm>
          <a:prstGeom prst="rect">
            <a:avLst/>
          </a:prstGeom>
          <a:noFill/>
          <a:ln/>
        </p:spPr>
        <p:txBody>
          <a:bodyPr wrap="square" lIns="0" tIns="0" rIns="0" bIns="0" rtlCol="0" anchor="ctr"/>
          <a:lstStyle/>
          <a:p>
            <a:pPr indent="0" marL="0">
              <a:buNone/>
            </a:pPr>
            <a:r>
              <a:rPr lang="en-US" sz="2800" dirty="0">
                <a:solidFill>
                  <a:srgbClr val="B8C5BE"/>
                </a:solidFill>
                <a:latin typeface="Apple SD Gothic Neo" pitchFamily="34" charset="0"/>
                <a:ea typeface="Apple SD Gothic Neo" pitchFamily="34" charset="-122"/>
                <a:cs typeface="Apple SD Gothic Neo" pitchFamily="34" charset="-120"/>
              </a:rPr>
              <a:t>→</a:t>
            </a:r>
            <a:endParaRPr lang="en-US" sz="2800" dirty="0"/>
          </a:p>
        </p:txBody>
      </p:sp>
      <p:sp>
        <p:nvSpPr>
          <p:cNvPr id="18" name="Shape 15"/>
          <p:cNvSpPr/>
          <p:nvPr/>
        </p:nvSpPr>
        <p:spPr>
          <a:xfrm>
            <a:off x="8321040" y="2651760"/>
            <a:ext cx="3200400" cy="1828800"/>
          </a:xfrm>
          <a:prstGeom prst="roundRect">
            <a:avLst>
              <a:gd name="adj" fmla="val 8000"/>
            </a:avLst>
          </a:prstGeom>
          <a:solidFill>
            <a:srgbClr val="FAEEEA"/>
          </a:solidFill>
          <a:ln w="12700">
            <a:solidFill>
              <a:srgbClr val="FAEEEA"/>
            </a:solidFill>
            <a:prstDash val="solid"/>
          </a:ln>
        </p:spPr>
        <p:txBody>
          <a:bodyPr/>
          <a:p/>
        </p:txBody>
      </p:sp>
      <p:sp>
        <p:nvSpPr>
          <p:cNvPr id="19" name="Text 16"/>
          <p:cNvSpPr txBox="1"/>
          <p:nvPr/>
        </p:nvSpPr>
        <p:spPr>
          <a:xfrm>
            <a:off x="8595360" y="2971800"/>
            <a:ext cx="2651760" cy="822960"/>
          </a:xfrm>
          <a:prstGeom prst="rect">
            <a:avLst/>
          </a:prstGeom>
          <a:noFill/>
          <a:ln/>
        </p:spPr>
        <p:txBody>
          <a:bodyPr wrap="square" lIns="0" tIns="0" rIns="0" bIns="0" rtlCol="0" anchor="ctr"/>
          <a:lstStyle/>
          <a:p>
            <a:pPr indent="0" marL="0">
              <a:buNone/>
            </a:pPr>
            <a:r>
              <a:rPr lang="en-US" sz="4000" b="1" dirty="0">
                <a:solidFill>
                  <a:srgbClr val="B6503E"/>
                </a:solidFill>
                <a:latin typeface="Apple SD Gothic Neo" pitchFamily="34" charset="0"/>
                <a:ea typeface="Apple SD Gothic Neo" pitchFamily="34" charset="-122"/>
                <a:cs typeface="Apple SD Gothic Neo" pitchFamily="34" charset="-120"/>
              </a:rPr>
              <a:t>통과</a:t>
            </a:r>
            <a:endParaRPr lang="en-US" sz="4000" dirty="0"/>
          </a:p>
        </p:txBody>
      </p:sp>
      <p:sp>
        <p:nvSpPr>
          <p:cNvPr id="20" name="Text 17"/>
          <p:cNvSpPr txBox="1"/>
          <p:nvPr/>
        </p:nvSpPr>
        <p:spPr>
          <a:xfrm>
            <a:off x="8595360" y="3931920"/>
            <a:ext cx="2651760" cy="274320"/>
          </a:xfrm>
          <a:prstGeom prst="rect">
            <a:avLst/>
          </a:prstGeom>
          <a:noFill/>
          <a:ln/>
        </p:spPr>
        <p:txBody>
          <a:bodyPr wrap="square" lIns="0" tIns="0" rIns="0" bIns="0" rtlCol="0" anchor="ctr"/>
          <a:lstStyle/>
          <a:p>
            <a:pPr indent="0" marL="0">
              <a:buNone/>
            </a:pPr>
            <a:r>
              <a:rPr lang="en-US" sz="1600" dirty="0">
                <a:solidFill>
                  <a:srgbClr val="B6503E"/>
                </a:solidFill>
                <a:latin typeface="Apple SD Gothic Neo" pitchFamily="34" charset="0"/>
                <a:ea typeface="Apple SD Gothic Neo" pitchFamily="34" charset="-122"/>
                <a:cs typeface="Apple SD Gothic Neo" pitchFamily="34" charset="-120"/>
              </a:rPr>
              <a:t>길이 + 번호만 확인</a:t>
            </a:r>
            <a:endParaRPr lang="en-US" sz="1600" dirty="0"/>
          </a:p>
        </p:txBody>
      </p:sp>
      <p:sp>
        <p:nvSpPr>
          <p:cNvPr id="21" name="Text 18"/>
          <p:cNvSpPr txBox="1"/>
          <p:nvPr/>
        </p:nvSpPr>
        <p:spPr>
          <a:xfrm>
            <a:off x="685800" y="4681728"/>
            <a:ext cx="10881360" cy="274320"/>
          </a:xfrm>
          <a:prstGeom prst="rect">
            <a:avLst/>
          </a:prstGeom>
          <a:noFill/>
          <a:ln/>
        </p:spPr>
        <p:txBody>
          <a:bodyPr wrap="square" lIns="0" tIns="0" rIns="0" bIns="0" rtlCol="0" anchor="ctr"/>
          <a:lstStyle/>
          <a:p>
            <a:pPr indent="0" marL="0">
              <a:buNone/>
            </a:pPr>
            <a:r>
              <a:rPr lang="en-US" sz="1100" dirty="0">
                <a:solidFill>
                  <a:srgbClr val="62746D"/>
                </a:solidFill>
                <a:latin typeface="Apple SD Gothic Neo" pitchFamily="34" charset="0"/>
                <a:ea typeface="Apple SD Gothic Neo" pitchFamily="34" charset="-122"/>
                <a:cs typeface="Apple SD Gothic Neo" pitchFamily="34" charset="-120"/>
              </a:rPr>
              <a:t>설명용 예시 · 실제 평가 수치 아님</a:t>
            </a:r>
            <a:endParaRPr lang="en-US" sz="1100" dirty="0"/>
          </a:p>
        </p:txBody>
      </p:sp>
      <p:sp>
        <p:nvSpPr>
          <p:cNvPr id="22" name="Text 19"/>
          <p:cNvSpPr txBox="1"/>
          <p:nvPr/>
        </p:nvSpPr>
        <p:spPr>
          <a:xfrm>
            <a:off x="731520" y="5303520"/>
            <a:ext cx="2011680" cy="411480"/>
          </a:xfrm>
          <a:prstGeom prst="rect">
            <a:avLst/>
          </a:prstGeom>
          <a:noFill/>
          <a:ln/>
        </p:spPr>
        <p:txBody>
          <a:bodyPr wrap="square" lIns="0" tIns="0" rIns="0" bIns="0" rtlCol="0" anchor="ctr"/>
          <a:lstStyle/>
          <a:p>
            <a:pPr indent="0" marL="0">
              <a:buNone/>
            </a:pPr>
            <a:r>
              <a:rPr lang="en-US" sz="2000" b="1" dirty="0">
                <a:solidFill>
                  <a:srgbClr val="19382F"/>
                </a:solidFill>
                <a:latin typeface="Apple SD Gothic Neo" pitchFamily="34" charset="0"/>
                <a:ea typeface="Apple SD Gothic Neo" pitchFamily="34" charset="-122"/>
                <a:cs typeface="Apple SD Gothic Neo" pitchFamily="34" charset="-120"/>
              </a:rPr>
              <a:t>형식 검사</a:t>
            </a:r>
            <a:endParaRPr lang="en-US" sz="2000" dirty="0"/>
          </a:p>
        </p:txBody>
      </p:sp>
      <p:sp>
        <p:nvSpPr>
          <p:cNvPr id="23" name="Text 20"/>
          <p:cNvSpPr txBox="1"/>
          <p:nvPr/>
        </p:nvSpPr>
        <p:spPr>
          <a:xfrm>
            <a:off x="2743200" y="5303520"/>
            <a:ext cx="3657600" cy="411480"/>
          </a:xfrm>
          <a:prstGeom prst="rect">
            <a:avLst/>
          </a:prstGeom>
          <a:noFill/>
          <a:ln/>
        </p:spPr>
        <p:txBody>
          <a:bodyPr wrap="square" lIns="0" tIns="0" rIns="0" bIns="0" rtlCol="0" anchor="ctr"/>
          <a:lstStyle/>
          <a:p>
            <a:pPr indent="0" marL="0">
              <a:buNone/>
            </a:pPr>
            <a:r>
              <a:rPr lang="en-US" sz="2000" dirty="0">
                <a:solidFill>
                  <a:srgbClr val="19382F"/>
                </a:solidFill>
                <a:latin typeface="Apple SD Gothic Neo" pitchFamily="34" charset="0"/>
                <a:ea typeface="Apple SD Gothic Neo" pitchFamily="34" charset="-122"/>
                <a:cs typeface="Apple SD Gothic Neo" pitchFamily="34" charset="-120"/>
              </a:rPr>
              <a:t>30자 이상 + “1)” 포함</a:t>
            </a:r>
            <a:endParaRPr lang="en-US" sz="2000" dirty="0"/>
          </a:p>
        </p:txBody>
      </p:sp>
      <p:sp>
        <p:nvSpPr>
          <p:cNvPr id="24" name="Text 21"/>
          <p:cNvSpPr txBox="1"/>
          <p:nvPr/>
        </p:nvSpPr>
        <p:spPr>
          <a:xfrm>
            <a:off x="7040880" y="5303520"/>
            <a:ext cx="4206240" cy="411480"/>
          </a:xfrm>
          <a:prstGeom prst="rect">
            <a:avLst/>
          </a:prstGeom>
          <a:noFill/>
          <a:ln/>
        </p:spPr>
        <p:txBody>
          <a:bodyPr wrap="square" lIns="0" tIns="0" rIns="0" bIns="0" rtlCol="0" anchor="ctr"/>
          <a:lstStyle/>
          <a:p>
            <a:pPr indent="0" marL="0">
              <a:buNone/>
            </a:pPr>
            <a:r>
              <a:rPr lang="en-US" sz="2000" b="1" dirty="0">
                <a:solidFill>
                  <a:srgbClr val="B6503E"/>
                </a:solidFill>
                <a:latin typeface="Apple SD Gothic Neo" pitchFamily="34" charset="0"/>
                <a:ea typeface="Apple SD Gothic Neo" pitchFamily="34" charset="-122"/>
                <a:cs typeface="Apple SD Gothic Neo" pitchFamily="34" charset="-120"/>
              </a:rPr>
              <a:t>3회 실패해도 강제 합격</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0040"/>
            <a:ext cx="9144000" cy="274320"/>
          </a:xfrm>
          <a:prstGeom prst="rect">
            <a:avLst/>
          </a:prstGeom>
          <a:noFill/>
          <a:ln/>
        </p:spPr>
        <p:txBody>
          <a:bodyPr wrap="square" lIns="0" tIns="0" rIns="0" bIns="0" rtlCol="0" anchor="ctr"/>
          <a:lstStyle/>
          <a:p>
            <a:pPr indent="0" marL="0">
              <a:buNone/>
            </a:pPr>
            <a:r>
              <a:rPr lang="en-US" sz="1100" b="1" dirty="0">
                <a:solidFill>
                  <a:srgbClr val="16785C"/>
                </a:solidFill>
                <a:latin typeface="Apple SD Gothic Neo" pitchFamily="34" charset="0"/>
                <a:ea typeface="Apple SD Gothic Neo" pitchFamily="34" charset="-122"/>
                <a:cs typeface="Apple SD Gothic Neo" pitchFamily="34" charset="-120"/>
              </a:rPr>
              <a:t>02  개선 사항</a:t>
            </a:r>
            <a:endParaRPr lang="en-US" sz="1100" dirty="0"/>
          </a:p>
        </p:txBody>
      </p:sp>
      <p:sp>
        <p:nvSpPr>
          <p:cNvPr id="3" name="Text 1"/>
          <p:cNvSpPr txBox="1"/>
          <p:nvPr/>
        </p:nvSpPr>
        <p:spPr>
          <a:xfrm>
            <a:off x="594360" y="868680"/>
            <a:ext cx="10972800" cy="914400"/>
          </a:xfrm>
          <a:prstGeom prst="rect">
            <a:avLst/>
          </a:prstGeom>
          <a:noFill/>
          <a:ln/>
        </p:spPr>
        <p:txBody>
          <a:bodyPr wrap="square" lIns="0" tIns="0" rIns="0" bIns="0" rtlCol="0" anchor="ctr"/>
          <a:lstStyle/>
          <a:p>
            <a:pPr indent="0" marL="0">
              <a:buNone/>
            </a:pPr>
            <a:r>
              <a:rPr lang="en-US" sz="3200" b="1" dirty="0">
                <a:solidFill>
                  <a:srgbClr val="19382F"/>
                </a:solidFill>
                <a:latin typeface="Apple SD Gothic Neo" pitchFamily="34" charset="0"/>
                <a:ea typeface="Apple SD Gothic Neo" pitchFamily="34" charset="-122"/>
                <a:cs typeface="Apple SD Gothic Neo" pitchFamily="34" charset="-120"/>
              </a:rPr>
              <a:t>근거 수집부터 답변 출력까지 전 구간 개선</a:t>
            </a:r>
            <a:endParaRPr lang="en-US" sz="3200" dirty="0"/>
          </a:p>
        </p:txBody>
      </p:sp>
      <p:sp>
        <p:nvSpPr>
          <p:cNvPr id="4" name="Text 2"/>
          <p:cNvSpPr txBox="1"/>
          <p:nvPr/>
        </p:nvSpPr>
        <p:spPr>
          <a:xfrm>
            <a:off x="594360" y="6473952"/>
            <a:ext cx="731520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AI CAPSTONE  ·  김하연</a:t>
            </a:r>
            <a:endParaRPr lang="en-US" sz="900" dirty="0"/>
          </a:p>
        </p:txBody>
      </p:sp>
      <p:sp>
        <p:nvSpPr>
          <p:cNvPr id="5" name="Text 3"/>
          <p:cNvSpPr txBox="1"/>
          <p:nvPr/>
        </p:nvSpPr>
        <p:spPr>
          <a:xfrm>
            <a:off x="10835640" y="6473952"/>
            <a:ext cx="77724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03 / 10</a:t>
            </a:r>
            <a:endParaRPr lang="en-US" sz="900" dirty="0"/>
          </a:p>
        </p:txBody>
      </p:sp>
      <p:sp>
        <p:nvSpPr>
          <p:cNvPr id="7" name="Shape 4"/>
          <p:cNvSpPr/>
          <p:nvPr/>
        </p:nvSpPr>
        <p:spPr>
          <a:xfrm>
            <a:off x="640080" y="2176272"/>
            <a:ext cx="822960" cy="365760"/>
          </a:xfrm>
          <a:prstGeom prst="roundRect">
            <a:avLst>
              <a:gd name="adj" fmla="val 40000"/>
            </a:avLst>
          </a:prstGeom>
          <a:solidFill>
            <a:srgbClr val="EEF5F1"/>
          </a:solidFill>
          <a:ln w="12700">
            <a:solidFill>
              <a:srgbClr val="EEF5F1"/>
            </a:solidFill>
            <a:prstDash val="solid"/>
          </a:ln>
        </p:spPr>
        <p:txBody>
          <a:bodyPr/>
          <a:p/>
        </p:txBody>
      </p:sp>
      <p:sp>
        <p:nvSpPr>
          <p:cNvPr id="8" name="Text 5"/>
          <p:cNvSpPr txBox="1"/>
          <p:nvPr/>
        </p:nvSpPr>
        <p:spPr>
          <a:xfrm>
            <a:off x="749808" y="2176272"/>
            <a:ext cx="603504" cy="365760"/>
          </a:xfrm>
          <a:prstGeom prst="rect">
            <a:avLst/>
          </a:prstGeom>
          <a:noFill/>
          <a:ln/>
        </p:spPr>
        <p:txBody>
          <a:bodyPr wrap="square" lIns="0" tIns="0" rIns="0" bIns="0" rtlCol="0" anchor="ctr"/>
          <a:lstStyle/>
          <a:p>
            <a:pPr indent="0" marL="0">
              <a:buNone/>
            </a:pPr>
            <a:r>
              <a:rPr lang="en-US" sz="1200" b="1" dirty="0">
                <a:solidFill>
                  <a:srgbClr val="16785C"/>
                </a:solidFill>
                <a:latin typeface="Apple SD Gothic Neo" pitchFamily="34" charset="0"/>
                <a:ea typeface="Apple SD Gothic Neo" pitchFamily="34" charset="-122"/>
                <a:cs typeface="Apple SD Gothic Neo" pitchFamily="34" charset="-120"/>
              </a:rPr>
              <a:t>검증</a:t>
            </a:r>
            <a:endParaRPr lang="en-US" sz="1200" dirty="0"/>
          </a:p>
        </p:txBody>
      </p:sp>
      <p:sp>
        <p:nvSpPr>
          <p:cNvPr id="9" name="Text 6"/>
          <p:cNvSpPr txBox="1"/>
          <p:nvPr/>
        </p:nvSpPr>
        <p:spPr>
          <a:xfrm>
            <a:off x="1783080" y="2011680"/>
            <a:ext cx="2834640" cy="548640"/>
          </a:xfrm>
          <a:prstGeom prst="rect">
            <a:avLst/>
          </a:prstGeom>
          <a:noFill/>
          <a:ln/>
        </p:spPr>
        <p:txBody>
          <a:bodyPr wrap="square" lIns="0" tIns="0" rIns="0" bIns="0" rtlCol="0" anchor="ctr"/>
          <a:lstStyle/>
          <a:p>
            <a:pPr indent="0" marL="0">
              <a:buNone/>
            </a:pPr>
            <a:r>
              <a:rPr lang="en-US" sz="2000" dirty="0">
                <a:solidFill>
                  <a:srgbClr val="62746D"/>
                </a:solidFill>
                <a:latin typeface="Apple SD Gothic Neo" pitchFamily="34" charset="0"/>
                <a:ea typeface="Apple SD Gothic Neo" pitchFamily="34" charset="-122"/>
                <a:cs typeface="Apple SD Gothic Neo" pitchFamily="34" charset="-120"/>
              </a:rPr>
              <a:t>길이·번호 확인</a:t>
            </a:r>
            <a:endParaRPr lang="en-US" sz="2000" dirty="0"/>
          </a:p>
        </p:txBody>
      </p:sp>
      <p:sp>
        <p:nvSpPr>
          <p:cNvPr id="10" name="Shape 7"/>
          <p:cNvSpPr/>
          <p:nvPr/>
        </p:nvSpPr>
        <p:spPr>
          <a:xfrm>
            <a:off x="4572000" y="2286000"/>
            <a:ext cx="594360" cy="0"/>
          </a:xfrm>
          <a:prstGeom prst="line">
            <a:avLst/>
          </a:prstGeom>
          <a:noFill/>
          <a:ln w="20320">
            <a:solidFill>
              <a:srgbClr val="16785C"/>
            </a:solidFill>
            <a:prstDash val="solid"/>
            <a:tailEnd type="triangle"/>
          </a:ln>
        </p:spPr>
        <p:txBody>
          <a:bodyPr/>
          <a:p/>
        </p:txBody>
      </p:sp>
      <p:sp>
        <p:nvSpPr>
          <p:cNvPr id="11" name="Text 8"/>
          <p:cNvSpPr txBox="1"/>
          <p:nvPr/>
        </p:nvSpPr>
        <p:spPr>
          <a:xfrm>
            <a:off x="5486400" y="2011680"/>
            <a:ext cx="5943600" cy="548640"/>
          </a:xfrm>
          <a:prstGeom prst="rect">
            <a:avLst/>
          </a:prstGeom>
          <a:noFill/>
          <a:ln/>
        </p:spPr>
        <p:txBody>
          <a:bodyPr wrap="square" lIns="0" tIns="0" rIns="0" bIns="0" rtlCol="0" anchor="ctr"/>
          <a:lstStyle/>
          <a:p>
            <a:pPr indent="0" marL="0">
              <a:buNone/>
            </a:pPr>
            <a:r>
              <a:rPr lang="en-US" sz="2500" b="1" dirty="0">
                <a:solidFill>
                  <a:srgbClr val="16785C"/>
                </a:solidFill>
                <a:latin typeface="Apple SD Gothic Neo" pitchFamily="34" charset="0"/>
                <a:ea typeface="Apple SD Gothic Neo" pitchFamily="34" charset="-122"/>
                <a:cs typeface="Apple SD Gothic Neo" pitchFamily="34" charset="-120"/>
              </a:rPr>
              <a:t>시스템별 수치 대조</a:t>
            </a:r>
            <a:endParaRPr lang="en-US" sz="2500" dirty="0"/>
          </a:p>
        </p:txBody>
      </p:sp>
      <p:sp>
        <p:nvSpPr>
          <p:cNvPr id="12" name="Text 9"/>
          <p:cNvSpPr txBox="1"/>
          <p:nvPr/>
        </p:nvSpPr>
        <p:spPr>
          <a:xfrm>
            <a:off x="5486400" y="2596896"/>
            <a:ext cx="5943600" cy="365760"/>
          </a:xfrm>
          <a:prstGeom prst="rect">
            <a:avLst/>
          </a:prstGeom>
          <a:noFill/>
          <a:ln/>
        </p:spPr>
        <p:txBody>
          <a:bodyPr wrap="square" lIns="0" tIns="0" rIns="0" bIns="0" rtlCol="0" anchor="ctr"/>
          <a:lstStyle/>
          <a:p>
            <a:pPr indent="0" marL="0">
              <a:buNone/>
            </a:pPr>
            <a:r>
              <a:rPr lang="en-US" sz="1500" dirty="0">
                <a:solidFill>
                  <a:srgbClr val="62746D"/>
                </a:solidFill>
                <a:latin typeface="Apple SD Gothic Neo" pitchFamily="34" charset="0"/>
                <a:ea typeface="Apple SD Gothic Neo" pitchFamily="34" charset="-122"/>
                <a:cs typeface="Apple SD Gothic Neo" pitchFamily="34" charset="-120"/>
              </a:rPr>
              <a:t>불일치 사유 → 재작성 / 총 3회 실패 → 중단</a:t>
            </a:r>
            <a:endParaRPr lang="en-US" sz="1500" dirty="0"/>
          </a:p>
        </p:txBody>
      </p:sp>
      <p:sp>
        <p:nvSpPr>
          <p:cNvPr id="13" name="Shape 10"/>
          <p:cNvSpPr/>
          <p:nvPr/>
        </p:nvSpPr>
        <p:spPr>
          <a:xfrm>
            <a:off x="685800" y="3035808"/>
            <a:ext cx="10789920" cy="0"/>
          </a:xfrm>
          <a:prstGeom prst="line">
            <a:avLst/>
          </a:prstGeom>
          <a:noFill/>
          <a:ln w="20320">
            <a:solidFill>
              <a:srgbClr val="DDE7E1"/>
            </a:solidFill>
            <a:prstDash val="solid"/>
          </a:ln>
        </p:spPr>
        <p:txBody>
          <a:bodyPr/>
          <a:p/>
        </p:txBody>
      </p:sp>
      <p:sp>
        <p:nvSpPr>
          <p:cNvPr id="14" name="Shape 11"/>
          <p:cNvSpPr/>
          <p:nvPr/>
        </p:nvSpPr>
        <p:spPr>
          <a:xfrm>
            <a:off x="640080" y="3364992"/>
            <a:ext cx="822960" cy="365760"/>
          </a:xfrm>
          <a:prstGeom prst="roundRect">
            <a:avLst>
              <a:gd name="adj" fmla="val 40000"/>
            </a:avLst>
          </a:prstGeom>
          <a:solidFill>
            <a:srgbClr val="EEF5F1"/>
          </a:solidFill>
          <a:ln w="12700">
            <a:solidFill>
              <a:srgbClr val="EEF5F1"/>
            </a:solidFill>
            <a:prstDash val="solid"/>
          </a:ln>
        </p:spPr>
        <p:txBody>
          <a:bodyPr/>
          <a:p/>
        </p:txBody>
      </p:sp>
      <p:sp>
        <p:nvSpPr>
          <p:cNvPr id="15" name="Text 12"/>
          <p:cNvSpPr txBox="1"/>
          <p:nvPr/>
        </p:nvSpPr>
        <p:spPr>
          <a:xfrm>
            <a:off x="749808" y="3364992"/>
            <a:ext cx="603504" cy="365760"/>
          </a:xfrm>
          <a:prstGeom prst="rect">
            <a:avLst/>
          </a:prstGeom>
          <a:noFill/>
          <a:ln/>
        </p:spPr>
        <p:txBody>
          <a:bodyPr wrap="square" lIns="0" tIns="0" rIns="0" bIns="0" rtlCol="0" anchor="ctr"/>
          <a:lstStyle/>
          <a:p>
            <a:pPr indent="0" marL="0">
              <a:buNone/>
            </a:pPr>
            <a:r>
              <a:rPr lang="en-US" sz="1200" b="1" dirty="0">
                <a:solidFill>
                  <a:srgbClr val="16785C"/>
                </a:solidFill>
                <a:latin typeface="Apple SD Gothic Neo" pitchFamily="34" charset="0"/>
                <a:ea typeface="Apple SD Gothic Neo" pitchFamily="34" charset="-122"/>
                <a:cs typeface="Apple SD Gothic Neo" pitchFamily="34" charset="-120"/>
              </a:rPr>
              <a:t>검색</a:t>
            </a:r>
            <a:endParaRPr lang="en-US" sz="1200" dirty="0"/>
          </a:p>
        </p:txBody>
      </p:sp>
      <p:sp>
        <p:nvSpPr>
          <p:cNvPr id="16" name="Text 13"/>
          <p:cNvSpPr txBox="1"/>
          <p:nvPr/>
        </p:nvSpPr>
        <p:spPr>
          <a:xfrm>
            <a:off x="1783080" y="3200400"/>
            <a:ext cx="2834640" cy="548640"/>
          </a:xfrm>
          <a:prstGeom prst="rect">
            <a:avLst/>
          </a:prstGeom>
          <a:noFill/>
          <a:ln/>
        </p:spPr>
        <p:txBody>
          <a:bodyPr wrap="square" lIns="0" tIns="0" rIns="0" bIns="0" rtlCol="0" anchor="ctr"/>
          <a:lstStyle/>
          <a:p>
            <a:pPr indent="0" marL="0">
              <a:buNone/>
            </a:pPr>
            <a:r>
              <a:rPr lang="en-US" sz="2000" dirty="0">
                <a:solidFill>
                  <a:srgbClr val="62746D"/>
                </a:solidFill>
                <a:latin typeface="Apple SD Gothic Neo" pitchFamily="34" charset="0"/>
                <a:ea typeface="Apple SD Gothic Neo" pitchFamily="34" charset="-122"/>
                <a:cs typeface="Apple SD Gothic Neo" pitchFamily="34" charset="-120"/>
              </a:rPr>
              <a:t>키워드·기본값 선택</a:t>
            </a:r>
            <a:endParaRPr lang="en-US" sz="2000" dirty="0"/>
          </a:p>
        </p:txBody>
      </p:sp>
      <p:sp>
        <p:nvSpPr>
          <p:cNvPr id="17" name="Shape 14"/>
          <p:cNvSpPr/>
          <p:nvPr/>
        </p:nvSpPr>
        <p:spPr>
          <a:xfrm>
            <a:off x="4572000" y="3474720"/>
            <a:ext cx="594360" cy="0"/>
          </a:xfrm>
          <a:prstGeom prst="line">
            <a:avLst/>
          </a:prstGeom>
          <a:noFill/>
          <a:ln w="20320">
            <a:solidFill>
              <a:srgbClr val="16785C"/>
            </a:solidFill>
            <a:prstDash val="solid"/>
            <a:tailEnd type="triangle"/>
          </a:ln>
        </p:spPr>
        <p:txBody>
          <a:bodyPr/>
          <a:p/>
        </p:txBody>
      </p:sp>
      <p:sp>
        <p:nvSpPr>
          <p:cNvPr id="18" name="Text 15"/>
          <p:cNvSpPr txBox="1"/>
          <p:nvPr/>
        </p:nvSpPr>
        <p:spPr>
          <a:xfrm>
            <a:off x="5486400" y="3200400"/>
            <a:ext cx="5943600" cy="548640"/>
          </a:xfrm>
          <a:prstGeom prst="rect">
            <a:avLst/>
          </a:prstGeom>
          <a:noFill/>
          <a:ln/>
        </p:spPr>
        <p:txBody>
          <a:bodyPr wrap="square" lIns="0" tIns="0" rIns="0" bIns="0" rtlCol="0" anchor="ctr"/>
          <a:lstStyle/>
          <a:p>
            <a:pPr indent="0" marL="0">
              <a:buNone/>
            </a:pPr>
            <a:r>
              <a:rPr lang="en-US" sz="2500" b="1" dirty="0">
                <a:solidFill>
                  <a:srgbClr val="16785C"/>
                </a:solidFill>
                <a:latin typeface="Apple SD Gothic Neo" pitchFamily="34" charset="0"/>
                <a:ea typeface="Apple SD Gothic Neo" pitchFamily="34" charset="-122"/>
                <a:cs typeface="Apple SD Gothic Neo" pitchFamily="34" charset="-120"/>
              </a:rPr>
              <a:t>매뉴얼 의미 검색</a:t>
            </a:r>
            <a:endParaRPr lang="en-US" sz="2500" dirty="0"/>
          </a:p>
        </p:txBody>
      </p:sp>
      <p:sp>
        <p:nvSpPr>
          <p:cNvPr id="19" name="Text 16"/>
          <p:cNvSpPr txBox="1"/>
          <p:nvPr/>
        </p:nvSpPr>
        <p:spPr>
          <a:xfrm>
            <a:off x="5486400" y="3785616"/>
            <a:ext cx="5943600" cy="365760"/>
          </a:xfrm>
          <a:prstGeom prst="rect">
            <a:avLst/>
          </a:prstGeom>
          <a:noFill/>
          <a:ln/>
        </p:spPr>
        <p:txBody>
          <a:bodyPr wrap="square" lIns="0" tIns="0" rIns="0" bIns="0" rtlCol="0" anchor="ctr"/>
          <a:lstStyle/>
          <a:p>
            <a:pPr indent="0" marL="0">
              <a:buNone/>
            </a:pPr>
            <a:r>
              <a:rPr lang="en-US" sz="1500" dirty="0">
                <a:solidFill>
                  <a:srgbClr val="62746D"/>
                </a:solidFill>
                <a:latin typeface="Apple SD Gothic Neo" pitchFamily="34" charset="0"/>
                <a:ea typeface="Apple SD Gothic Neo" pitchFamily="34" charset="-122"/>
                <a:cs typeface="Apple SD Gothic Neo" pitchFamily="34" charset="-120"/>
              </a:rPr>
              <a:t>점수가 낮거나 후보 차이가 작으면 선택 보류</a:t>
            </a:r>
            <a:endParaRPr lang="en-US" sz="1500" dirty="0"/>
          </a:p>
        </p:txBody>
      </p:sp>
      <p:sp>
        <p:nvSpPr>
          <p:cNvPr id="20" name="Shape 17"/>
          <p:cNvSpPr/>
          <p:nvPr/>
        </p:nvSpPr>
        <p:spPr>
          <a:xfrm>
            <a:off x="685800" y="4224528"/>
            <a:ext cx="10789920" cy="0"/>
          </a:xfrm>
          <a:prstGeom prst="line">
            <a:avLst/>
          </a:prstGeom>
          <a:noFill/>
          <a:ln w="20320">
            <a:solidFill>
              <a:srgbClr val="DDE7E1"/>
            </a:solidFill>
            <a:prstDash val="solid"/>
          </a:ln>
        </p:spPr>
        <p:txBody>
          <a:bodyPr/>
          <a:p/>
        </p:txBody>
      </p:sp>
      <p:sp>
        <p:nvSpPr>
          <p:cNvPr id="21" name="Shape 18"/>
          <p:cNvSpPr/>
          <p:nvPr/>
        </p:nvSpPr>
        <p:spPr>
          <a:xfrm>
            <a:off x="640080" y="4553712"/>
            <a:ext cx="822960" cy="365760"/>
          </a:xfrm>
          <a:prstGeom prst="roundRect">
            <a:avLst>
              <a:gd name="adj" fmla="val 40000"/>
            </a:avLst>
          </a:prstGeom>
          <a:solidFill>
            <a:srgbClr val="EEF5F1"/>
          </a:solidFill>
          <a:ln w="12700">
            <a:solidFill>
              <a:srgbClr val="EEF5F1"/>
            </a:solidFill>
            <a:prstDash val="solid"/>
          </a:ln>
        </p:spPr>
        <p:txBody>
          <a:bodyPr/>
          <a:p/>
        </p:txBody>
      </p:sp>
      <p:sp>
        <p:nvSpPr>
          <p:cNvPr id="22" name="Text 19"/>
          <p:cNvSpPr txBox="1"/>
          <p:nvPr/>
        </p:nvSpPr>
        <p:spPr>
          <a:xfrm>
            <a:off x="749808" y="4553712"/>
            <a:ext cx="603504" cy="365760"/>
          </a:xfrm>
          <a:prstGeom prst="rect">
            <a:avLst/>
          </a:prstGeom>
          <a:noFill/>
          <a:ln/>
        </p:spPr>
        <p:txBody>
          <a:bodyPr wrap="square" lIns="0" tIns="0" rIns="0" bIns="0" rtlCol="0" anchor="ctr"/>
          <a:lstStyle/>
          <a:p>
            <a:pPr indent="0" marL="0">
              <a:buNone/>
            </a:pPr>
            <a:r>
              <a:rPr lang="en-US" sz="1200" b="1" dirty="0">
                <a:solidFill>
                  <a:srgbClr val="16785C"/>
                </a:solidFill>
                <a:latin typeface="Apple SD Gothic Neo" pitchFamily="34" charset="0"/>
                <a:ea typeface="Apple SD Gothic Neo" pitchFamily="34" charset="-122"/>
                <a:cs typeface="Apple SD Gothic Neo" pitchFamily="34" charset="-120"/>
              </a:rPr>
              <a:t>조사</a:t>
            </a:r>
            <a:endParaRPr lang="en-US" sz="1200" dirty="0"/>
          </a:p>
        </p:txBody>
      </p:sp>
      <p:sp>
        <p:nvSpPr>
          <p:cNvPr id="23" name="Text 20"/>
          <p:cNvSpPr txBox="1"/>
          <p:nvPr/>
        </p:nvSpPr>
        <p:spPr>
          <a:xfrm>
            <a:off x="1783080" y="4389120"/>
            <a:ext cx="2834640" cy="548640"/>
          </a:xfrm>
          <a:prstGeom prst="rect">
            <a:avLst/>
          </a:prstGeom>
          <a:noFill/>
          <a:ln/>
        </p:spPr>
        <p:txBody>
          <a:bodyPr wrap="square" lIns="0" tIns="0" rIns="0" bIns="0" rtlCol="0" anchor="ctr"/>
          <a:lstStyle/>
          <a:p>
            <a:pPr indent="0" marL="0">
              <a:buNone/>
            </a:pPr>
            <a:r>
              <a:rPr lang="en-US" sz="2000" dirty="0">
                <a:solidFill>
                  <a:srgbClr val="62746D"/>
                </a:solidFill>
                <a:latin typeface="Apple SD Gothic Neo" pitchFamily="34" charset="0"/>
                <a:ea typeface="Apple SD Gothic Neo" pitchFamily="34" charset="-122"/>
                <a:cs typeface="Apple SD Gothic Neo" pitchFamily="34" charset="-120"/>
              </a:rPr>
              <a:t>한 작업 실패 시 중단</a:t>
            </a:r>
            <a:endParaRPr lang="en-US" sz="2000" dirty="0"/>
          </a:p>
        </p:txBody>
      </p:sp>
      <p:sp>
        <p:nvSpPr>
          <p:cNvPr id="24" name="Shape 21"/>
          <p:cNvSpPr/>
          <p:nvPr/>
        </p:nvSpPr>
        <p:spPr>
          <a:xfrm>
            <a:off x="4572000" y="4663440"/>
            <a:ext cx="594360" cy="0"/>
          </a:xfrm>
          <a:prstGeom prst="line">
            <a:avLst/>
          </a:prstGeom>
          <a:noFill/>
          <a:ln w="20320">
            <a:solidFill>
              <a:srgbClr val="16785C"/>
            </a:solidFill>
            <a:prstDash val="solid"/>
            <a:tailEnd type="triangle"/>
          </a:ln>
        </p:spPr>
        <p:txBody>
          <a:bodyPr/>
          <a:p/>
        </p:txBody>
      </p:sp>
      <p:sp>
        <p:nvSpPr>
          <p:cNvPr id="25" name="Text 22"/>
          <p:cNvSpPr txBox="1"/>
          <p:nvPr/>
        </p:nvSpPr>
        <p:spPr>
          <a:xfrm>
            <a:off x="5486400" y="4389120"/>
            <a:ext cx="5943600" cy="548640"/>
          </a:xfrm>
          <a:prstGeom prst="rect">
            <a:avLst/>
          </a:prstGeom>
          <a:noFill/>
          <a:ln/>
        </p:spPr>
        <p:txBody>
          <a:bodyPr wrap="square" lIns="0" tIns="0" rIns="0" bIns="0" rtlCol="0" anchor="ctr"/>
          <a:lstStyle/>
          <a:p>
            <a:pPr indent="0" marL="0">
              <a:buNone/>
            </a:pPr>
            <a:r>
              <a:rPr lang="en-US" sz="2500" b="1" dirty="0">
                <a:solidFill>
                  <a:srgbClr val="16785C"/>
                </a:solidFill>
                <a:latin typeface="Apple SD Gothic Neo" pitchFamily="34" charset="0"/>
                <a:ea typeface="Apple SD Gothic Neo" pitchFamily="34" charset="-122"/>
                <a:cs typeface="Apple SD Gothic Neo" pitchFamily="34" charset="-120"/>
              </a:rPr>
              <a:t>성공한 자료 유지</a:t>
            </a:r>
            <a:endParaRPr lang="en-US" sz="2500" dirty="0"/>
          </a:p>
        </p:txBody>
      </p:sp>
      <p:sp>
        <p:nvSpPr>
          <p:cNvPr id="26" name="Text 23"/>
          <p:cNvSpPr txBox="1"/>
          <p:nvPr/>
        </p:nvSpPr>
        <p:spPr>
          <a:xfrm>
            <a:off x="5486400" y="4974336"/>
            <a:ext cx="5943600" cy="365760"/>
          </a:xfrm>
          <a:prstGeom prst="rect">
            <a:avLst/>
          </a:prstGeom>
          <a:noFill/>
          <a:ln/>
        </p:spPr>
        <p:txBody>
          <a:bodyPr wrap="square" lIns="0" tIns="0" rIns="0" bIns="0" rtlCol="0" anchor="ctr"/>
          <a:lstStyle/>
          <a:p>
            <a:pPr indent="0" marL="0">
              <a:buNone/>
            </a:pPr>
            <a:r>
              <a:rPr lang="en-US" sz="1500" dirty="0">
                <a:solidFill>
                  <a:srgbClr val="62746D"/>
                </a:solidFill>
                <a:latin typeface="Apple SD Gothic Neo" pitchFamily="34" charset="0"/>
                <a:ea typeface="Apple SD Gothic Neo" pitchFamily="34" charset="-122"/>
                <a:cs typeface="Apple SD Gothic Neo" pitchFamily="34" charset="-120"/>
              </a:rPr>
              <a:t>실패 대상 안내 / 근거 0건이면 작성 생략</a:t>
            </a:r>
            <a:endParaRPr lang="en-US" sz="1500" dirty="0"/>
          </a:p>
        </p:txBody>
      </p:sp>
      <p:sp>
        <p:nvSpPr>
          <p:cNvPr id="27" name="Text 24"/>
          <p:cNvSpPr txBox="1"/>
          <p:nvPr/>
        </p:nvSpPr>
        <p:spPr>
          <a:xfrm>
            <a:off x="685800" y="5852160"/>
            <a:ext cx="1371600" cy="320040"/>
          </a:xfrm>
          <a:prstGeom prst="rect">
            <a:avLst/>
          </a:prstGeom>
          <a:noFill/>
          <a:ln/>
        </p:spPr>
        <p:txBody>
          <a:bodyPr wrap="square" lIns="0" tIns="0" rIns="0" bIns="0" rtlCol="0" anchor="ctr"/>
          <a:lstStyle/>
          <a:p>
            <a:pPr indent="0" marL="0">
              <a:buNone/>
            </a:pPr>
            <a:r>
              <a:rPr lang="en-US" sz="1500" b="1" dirty="0">
                <a:solidFill>
                  <a:srgbClr val="16785C"/>
                </a:solidFill>
                <a:latin typeface="Apple SD Gothic Neo" pitchFamily="34" charset="0"/>
                <a:ea typeface="Apple SD Gothic Neo" pitchFamily="34" charset="-122"/>
                <a:cs typeface="Apple SD Gothic Neo" pitchFamily="34" charset="-120"/>
              </a:rPr>
              <a:t>추가 보완</a:t>
            </a:r>
            <a:endParaRPr lang="en-US" sz="1500" dirty="0"/>
          </a:p>
        </p:txBody>
      </p:sp>
      <p:sp>
        <p:nvSpPr>
          <p:cNvPr id="28" name="Text 25"/>
          <p:cNvSpPr txBox="1"/>
          <p:nvPr/>
        </p:nvSpPr>
        <p:spPr>
          <a:xfrm>
            <a:off x="2286000" y="5852160"/>
            <a:ext cx="9144000" cy="320040"/>
          </a:xfrm>
          <a:prstGeom prst="rect">
            <a:avLst/>
          </a:prstGeom>
          <a:noFill/>
          <a:ln/>
        </p:spPr>
        <p:txBody>
          <a:bodyPr wrap="square" lIns="0" tIns="0" rIns="0" bIns="0" rtlCol="0" anchor="ctr"/>
          <a:lstStyle/>
          <a:p>
            <a:pPr indent="0" marL="0">
              <a:buNone/>
            </a:pPr>
            <a:r>
              <a:rPr lang="en-US" sz="1700" dirty="0">
                <a:solidFill>
                  <a:srgbClr val="19382F"/>
                </a:solidFill>
                <a:latin typeface="Apple SD Gothic Neo" pitchFamily="34" charset="0"/>
                <a:ea typeface="Apple SD Gothic Neo" pitchFamily="34" charset="-122"/>
                <a:cs typeface="Apple SD Gothic Neo" pitchFamily="34" charset="-120"/>
              </a:rPr>
              <a:t>대상 시스템명 구분  ·  역할별 모듈 분리  ·  단위·회귀 테스트</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0040"/>
            <a:ext cx="9144000" cy="274320"/>
          </a:xfrm>
          <a:prstGeom prst="rect">
            <a:avLst/>
          </a:prstGeom>
          <a:noFill/>
          <a:ln/>
        </p:spPr>
        <p:txBody>
          <a:bodyPr wrap="square" lIns="0" tIns="0" rIns="0" bIns="0" rtlCol="0" anchor="ctr"/>
          <a:lstStyle/>
          <a:p>
            <a:pPr indent="0" marL="0">
              <a:buNone/>
            </a:pPr>
            <a:r>
              <a:rPr lang="en-US" sz="1100" b="1" dirty="0">
                <a:solidFill>
                  <a:srgbClr val="16785C"/>
                </a:solidFill>
                <a:latin typeface="Apple SD Gothic Neo" pitchFamily="34" charset="0"/>
                <a:ea typeface="Apple SD Gothic Neo" pitchFamily="34" charset="-122"/>
                <a:cs typeface="Apple SD Gothic Neo" pitchFamily="34" charset="-120"/>
              </a:rPr>
              <a:t>03  구조와 사용 기술</a:t>
            </a:r>
            <a:endParaRPr lang="en-US" sz="1100" dirty="0"/>
          </a:p>
        </p:txBody>
      </p:sp>
      <p:sp>
        <p:nvSpPr>
          <p:cNvPr id="3" name="Text 1"/>
          <p:cNvSpPr txBox="1"/>
          <p:nvPr/>
        </p:nvSpPr>
        <p:spPr>
          <a:xfrm>
            <a:off x="594360" y="868680"/>
            <a:ext cx="10972800" cy="914400"/>
          </a:xfrm>
          <a:prstGeom prst="rect">
            <a:avLst/>
          </a:prstGeom>
          <a:noFill/>
          <a:ln/>
        </p:spPr>
        <p:txBody>
          <a:bodyPr wrap="square" lIns="0" tIns="0" rIns="0" bIns="0" rtlCol="0" anchor="ctr"/>
          <a:lstStyle/>
          <a:p>
            <a:pPr indent="0" marL="0">
              <a:buNone/>
            </a:pPr>
            <a:r>
              <a:rPr lang="en-US" sz="3200" b="1" dirty="0">
                <a:solidFill>
                  <a:srgbClr val="19382F"/>
                </a:solidFill>
                <a:latin typeface="Apple SD Gothic Neo" pitchFamily="34" charset="0"/>
                <a:ea typeface="Apple SD Gothic Neo" pitchFamily="34" charset="-122"/>
                <a:cs typeface="Apple SD Gothic Neo" pitchFamily="34" charset="-120"/>
              </a:rPr>
              <a:t>근거 확인 및 실패 분기를 반영한 처리 흐름</a:t>
            </a:r>
            <a:endParaRPr lang="en-US" sz="3200" dirty="0"/>
          </a:p>
        </p:txBody>
      </p:sp>
      <p:sp>
        <p:nvSpPr>
          <p:cNvPr id="4" name="Text 2"/>
          <p:cNvSpPr txBox="1"/>
          <p:nvPr/>
        </p:nvSpPr>
        <p:spPr>
          <a:xfrm>
            <a:off x="594360" y="6473952"/>
            <a:ext cx="731520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AI CAPSTONE  ·  김하연</a:t>
            </a:r>
            <a:endParaRPr lang="en-US" sz="900" dirty="0"/>
          </a:p>
        </p:txBody>
      </p:sp>
      <p:sp>
        <p:nvSpPr>
          <p:cNvPr id="5" name="Text 3"/>
          <p:cNvSpPr txBox="1"/>
          <p:nvPr/>
        </p:nvSpPr>
        <p:spPr>
          <a:xfrm>
            <a:off x="10835640" y="6473952"/>
            <a:ext cx="77724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04 / 10</a:t>
            </a:r>
            <a:endParaRPr lang="en-US" sz="900" dirty="0"/>
          </a:p>
        </p:txBody>
      </p:sp>
      <p:sp>
        <p:nvSpPr>
          <p:cNvPr id="7" name="Shape 4"/>
          <p:cNvSpPr/>
          <p:nvPr/>
        </p:nvSpPr>
        <p:spPr>
          <a:xfrm>
            <a:off x="640080" y="2103120"/>
            <a:ext cx="1508760" cy="640080"/>
          </a:xfrm>
          <a:prstGeom prst="roundRect">
            <a:avLst>
              <a:gd name="adj" fmla="val 22857"/>
            </a:avLst>
          </a:prstGeom>
          <a:solidFill>
            <a:srgbClr val="EEF5F1"/>
          </a:solidFill>
          <a:ln w="12700">
            <a:solidFill>
              <a:srgbClr val="EEF5F1"/>
            </a:solidFill>
            <a:prstDash val="solid"/>
          </a:ln>
        </p:spPr>
        <p:txBody>
          <a:bodyPr/>
          <a:p/>
        </p:txBody>
      </p:sp>
      <p:sp>
        <p:nvSpPr>
          <p:cNvPr id="8" name="Text 5"/>
          <p:cNvSpPr txBox="1"/>
          <p:nvPr/>
        </p:nvSpPr>
        <p:spPr>
          <a:xfrm>
            <a:off x="749808" y="2157984"/>
            <a:ext cx="1289304" cy="530352"/>
          </a:xfrm>
          <a:prstGeom prst="rect">
            <a:avLst/>
          </a:prstGeom>
          <a:noFill/>
          <a:ln/>
        </p:spPr>
        <p:txBody>
          <a:bodyPr wrap="square" lIns="0" tIns="0" rIns="0" bIns="0" rtlCol="0" anchor="ctr"/>
          <a:lstStyle/>
          <a:p>
            <a:pPr indent="0" marL="0">
              <a:buNone/>
            </a:pPr>
            <a:r>
              <a:rPr lang="en-US" sz="1800" b="1" dirty="0">
                <a:solidFill>
                  <a:srgbClr val="19382F"/>
                </a:solidFill>
                <a:latin typeface="Apple SD Gothic Neo" pitchFamily="34" charset="0"/>
                <a:ea typeface="Apple SD Gothic Neo" pitchFamily="34" charset="-122"/>
                <a:cs typeface="Apple SD Gothic Neo" pitchFamily="34" charset="-120"/>
              </a:rPr>
              <a:t>질문·계획</a:t>
            </a:r>
            <a:endParaRPr lang="en-US" sz="1800" dirty="0"/>
          </a:p>
        </p:txBody>
      </p:sp>
      <p:sp>
        <p:nvSpPr>
          <p:cNvPr id="9" name="Shape 6"/>
          <p:cNvSpPr/>
          <p:nvPr/>
        </p:nvSpPr>
        <p:spPr>
          <a:xfrm>
            <a:off x="2606040" y="1828800"/>
            <a:ext cx="1737360" cy="640080"/>
          </a:xfrm>
          <a:prstGeom prst="roundRect">
            <a:avLst>
              <a:gd name="adj" fmla="val 22857"/>
            </a:avLst>
          </a:prstGeom>
          <a:solidFill>
            <a:srgbClr val="EEF5F1"/>
          </a:solidFill>
          <a:ln w="12700">
            <a:solidFill>
              <a:srgbClr val="EEF5F1"/>
            </a:solidFill>
            <a:prstDash val="solid"/>
          </a:ln>
        </p:spPr>
        <p:txBody>
          <a:bodyPr/>
          <a:p/>
        </p:txBody>
      </p:sp>
      <p:sp>
        <p:nvSpPr>
          <p:cNvPr id="10" name="Text 7"/>
          <p:cNvSpPr txBox="1"/>
          <p:nvPr/>
        </p:nvSpPr>
        <p:spPr>
          <a:xfrm>
            <a:off x="2715768" y="1883664"/>
            <a:ext cx="1517904" cy="530352"/>
          </a:xfrm>
          <a:prstGeom prst="rect">
            <a:avLst/>
          </a:prstGeom>
          <a:noFill/>
          <a:ln/>
        </p:spPr>
        <p:txBody>
          <a:bodyPr wrap="square" lIns="0" tIns="0" rIns="0" bIns="0" rtlCol="0" anchor="ctr"/>
          <a:lstStyle/>
          <a:p>
            <a:pPr indent="0" marL="0">
              <a:buNone/>
            </a:pPr>
            <a:r>
              <a:rPr lang="en-US" sz="1800" b="1" dirty="0">
                <a:solidFill>
                  <a:srgbClr val="19382F"/>
                </a:solidFill>
                <a:latin typeface="Apple SD Gothic Neo" pitchFamily="34" charset="0"/>
                <a:ea typeface="Apple SD Gothic Neo" pitchFamily="34" charset="-122"/>
                <a:cs typeface="Apple SD Gothic Neo" pitchFamily="34" charset="-120"/>
              </a:rPr>
              <a:t>모니터링</a:t>
            </a:r>
            <a:endParaRPr lang="en-US" sz="1800" dirty="0"/>
          </a:p>
        </p:txBody>
      </p:sp>
      <p:sp>
        <p:nvSpPr>
          <p:cNvPr id="11" name="Shape 8"/>
          <p:cNvSpPr/>
          <p:nvPr/>
        </p:nvSpPr>
        <p:spPr>
          <a:xfrm>
            <a:off x="2606040" y="2788920"/>
            <a:ext cx="1737360" cy="640080"/>
          </a:xfrm>
          <a:prstGeom prst="roundRect">
            <a:avLst>
              <a:gd name="adj" fmla="val 22857"/>
            </a:avLst>
          </a:prstGeom>
          <a:solidFill>
            <a:srgbClr val="EEF5F1"/>
          </a:solidFill>
          <a:ln w="12700">
            <a:solidFill>
              <a:srgbClr val="EEF5F1"/>
            </a:solidFill>
            <a:prstDash val="solid"/>
          </a:ln>
        </p:spPr>
        <p:txBody>
          <a:bodyPr/>
          <a:p/>
        </p:txBody>
      </p:sp>
      <p:sp>
        <p:nvSpPr>
          <p:cNvPr id="12" name="Text 9"/>
          <p:cNvSpPr txBox="1"/>
          <p:nvPr/>
        </p:nvSpPr>
        <p:spPr>
          <a:xfrm>
            <a:off x="2715768" y="2843784"/>
            <a:ext cx="1517904" cy="530352"/>
          </a:xfrm>
          <a:prstGeom prst="rect">
            <a:avLst/>
          </a:prstGeom>
          <a:noFill/>
          <a:ln/>
        </p:spPr>
        <p:txBody>
          <a:bodyPr wrap="square" lIns="0" tIns="0" rIns="0" bIns="0" rtlCol="0" anchor="ctr"/>
          <a:lstStyle/>
          <a:p>
            <a:pPr indent="0" marL="0">
              <a:buNone/>
            </a:pPr>
            <a:r>
              <a:rPr lang="en-US" sz="1800" b="1" dirty="0">
                <a:solidFill>
                  <a:srgbClr val="19382F"/>
                </a:solidFill>
                <a:latin typeface="Apple SD Gothic Neo" pitchFamily="34" charset="0"/>
                <a:ea typeface="Apple SD Gothic Neo" pitchFamily="34" charset="-122"/>
                <a:cs typeface="Apple SD Gothic Neo" pitchFamily="34" charset="-120"/>
              </a:rPr>
              <a:t>매뉴얼 검색</a:t>
            </a:r>
            <a:endParaRPr lang="en-US" sz="1800" dirty="0"/>
          </a:p>
        </p:txBody>
      </p:sp>
      <p:sp>
        <p:nvSpPr>
          <p:cNvPr id="13" name="Shape 10"/>
          <p:cNvSpPr/>
          <p:nvPr/>
        </p:nvSpPr>
        <p:spPr>
          <a:xfrm>
            <a:off x="4846320" y="2286000"/>
            <a:ext cx="1508760" cy="640080"/>
          </a:xfrm>
          <a:prstGeom prst="roundRect">
            <a:avLst>
              <a:gd name="adj" fmla="val 22857"/>
            </a:avLst>
          </a:prstGeom>
          <a:solidFill>
            <a:srgbClr val="A4DAC2"/>
          </a:solidFill>
          <a:ln w="12700">
            <a:solidFill>
              <a:srgbClr val="A4DAC2"/>
            </a:solidFill>
            <a:prstDash val="solid"/>
          </a:ln>
        </p:spPr>
        <p:txBody>
          <a:bodyPr/>
          <a:p/>
        </p:txBody>
      </p:sp>
      <p:sp>
        <p:nvSpPr>
          <p:cNvPr id="14" name="Text 11"/>
          <p:cNvSpPr txBox="1"/>
          <p:nvPr/>
        </p:nvSpPr>
        <p:spPr>
          <a:xfrm>
            <a:off x="4956048" y="2340864"/>
            <a:ext cx="1289304" cy="530352"/>
          </a:xfrm>
          <a:prstGeom prst="rect">
            <a:avLst/>
          </a:prstGeom>
          <a:noFill/>
          <a:ln/>
        </p:spPr>
        <p:txBody>
          <a:bodyPr wrap="square" lIns="0" tIns="0" rIns="0" bIns="0" rtlCol="0" anchor="ctr"/>
          <a:lstStyle/>
          <a:p>
            <a:pPr indent="0" marL="0">
              <a:buNone/>
            </a:pPr>
            <a:r>
              <a:rPr lang="en-US" sz="1800" b="1" dirty="0">
                <a:solidFill>
                  <a:srgbClr val="19382F"/>
                </a:solidFill>
                <a:latin typeface="Apple SD Gothic Neo" pitchFamily="34" charset="0"/>
                <a:ea typeface="Apple SD Gothic Neo" pitchFamily="34" charset="-122"/>
                <a:cs typeface="Apple SD Gothic Neo" pitchFamily="34" charset="-120"/>
              </a:rPr>
              <a:t>근거 확인</a:t>
            </a:r>
            <a:endParaRPr lang="en-US" sz="1800" dirty="0"/>
          </a:p>
        </p:txBody>
      </p:sp>
      <p:sp>
        <p:nvSpPr>
          <p:cNvPr id="15" name="Shape 12"/>
          <p:cNvSpPr/>
          <p:nvPr/>
        </p:nvSpPr>
        <p:spPr>
          <a:xfrm>
            <a:off x="6858000" y="2286000"/>
            <a:ext cx="1508760" cy="640080"/>
          </a:xfrm>
          <a:prstGeom prst="roundRect">
            <a:avLst>
              <a:gd name="adj" fmla="val 22857"/>
            </a:avLst>
          </a:prstGeom>
          <a:solidFill>
            <a:srgbClr val="EEF5F1"/>
          </a:solidFill>
          <a:ln w="12700">
            <a:solidFill>
              <a:srgbClr val="EEF5F1"/>
            </a:solidFill>
            <a:prstDash val="solid"/>
          </a:ln>
        </p:spPr>
        <p:txBody>
          <a:bodyPr/>
          <a:p/>
        </p:txBody>
      </p:sp>
      <p:sp>
        <p:nvSpPr>
          <p:cNvPr id="16" name="Text 13"/>
          <p:cNvSpPr txBox="1"/>
          <p:nvPr/>
        </p:nvSpPr>
        <p:spPr>
          <a:xfrm>
            <a:off x="6967728" y="2340864"/>
            <a:ext cx="1289304" cy="530352"/>
          </a:xfrm>
          <a:prstGeom prst="rect">
            <a:avLst/>
          </a:prstGeom>
          <a:noFill/>
          <a:ln/>
        </p:spPr>
        <p:txBody>
          <a:bodyPr wrap="square" lIns="0" tIns="0" rIns="0" bIns="0" rtlCol="0" anchor="ctr"/>
          <a:lstStyle/>
          <a:p>
            <a:pPr indent="0" marL="0">
              <a:buNone/>
            </a:pPr>
            <a:r>
              <a:rPr lang="en-US" sz="1800" b="1" dirty="0">
                <a:solidFill>
                  <a:srgbClr val="19382F"/>
                </a:solidFill>
                <a:latin typeface="Apple SD Gothic Neo" pitchFamily="34" charset="0"/>
                <a:ea typeface="Apple SD Gothic Neo" pitchFamily="34" charset="-122"/>
                <a:cs typeface="Apple SD Gothic Neo" pitchFamily="34" charset="-120"/>
              </a:rPr>
              <a:t>답변 작성</a:t>
            </a:r>
            <a:endParaRPr lang="en-US" sz="1800" dirty="0"/>
          </a:p>
        </p:txBody>
      </p:sp>
      <p:sp>
        <p:nvSpPr>
          <p:cNvPr id="17" name="Shape 14"/>
          <p:cNvSpPr/>
          <p:nvPr/>
        </p:nvSpPr>
        <p:spPr>
          <a:xfrm>
            <a:off x="8869680" y="2286000"/>
            <a:ext cx="1508760" cy="640080"/>
          </a:xfrm>
          <a:prstGeom prst="roundRect">
            <a:avLst>
              <a:gd name="adj" fmla="val 22857"/>
            </a:avLst>
          </a:prstGeom>
          <a:solidFill>
            <a:srgbClr val="A4DAC2"/>
          </a:solidFill>
          <a:ln w="12700">
            <a:solidFill>
              <a:srgbClr val="A4DAC2"/>
            </a:solidFill>
            <a:prstDash val="solid"/>
          </a:ln>
        </p:spPr>
        <p:txBody>
          <a:bodyPr/>
          <a:p/>
        </p:txBody>
      </p:sp>
      <p:sp>
        <p:nvSpPr>
          <p:cNvPr id="18" name="Text 15"/>
          <p:cNvSpPr txBox="1"/>
          <p:nvPr/>
        </p:nvSpPr>
        <p:spPr>
          <a:xfrm>
            <a:off x="8979408" y="2340864"/>
            <a:ext cx="1289304" cy="530352"/>
          </a:xfrm>
          <a:prstGeom prst="rect">
            <a:avLst/>
          </a:prstGeom>
          <a:noFill/>
          <a:ln/>
        </p:spPr>
        <p:txBody>
          <a:bodyPr wrap="square" lIns="0" tIns="0" rIns="0" bIns="0" rtlCol="0" anchor="ctr"/>
          <a:lstStyle/>
          <a:p>
            <a:pPr indent="0" marL="0">
              <a:buNone/>
            </a:pPr>
            <a:r>
              <a:rPr lang="en-US" sz="1800" b="1" dirty="0">
                <a:solidFill>
                  <a:srgbClr val="19382F"/>
                </a:solidFill>
                <a:latin typeface="Apple SD Gothic Neo" pitchFamily="34" charset="0"/>
                <a:ea typeface="Apple SD Gothic Neo" pitchFamily="34" charset="-122"/>
                <a:cs typeface="Apple SD Gothic Neo" pitchFamily="34" charset="-120"/>
              </a:rPr>
              <a:t>수치 검증</a:t>
            </a:r>
            <a:endParaRPr lang="en-US" sz="1800" dirty="0"/>
          </a:p>
        </p:txBody>
      </p:sp>
      <p:sp>
        <p:nvSpPr>
          <p:cNvPr id="19" name="Shape 16"/>
          <p:cNvSpPr/>
          <p:nvPr/>
        </p:nvSpPr>
        <p:spPr>
          <a:xfrm>
            <a:off x="10835640" y="2286000"/>
            <a:ext cx="777240" cy="640080"/>
          </a:xfrm>
          <a:prstGeom prst="roundRect">
            <a:avLst>
              <a:gd name="adj" fmla="val 22857"/>
            </a:avLst>
          </a:prstGeom>
          <a:solidFill>
            <a:srgbClr val="EEF5F1"/>
          </a:solidFill>
          <a:ln w="12700">
            <a:solidFill>
              <a:srgbClr val="EEF5F1"/>
            </a:solidFill>
            <a:prstDash val="solid"/>
          </a:ln>
        </p:spPr>
        <p:txBody>
          <a:bodyPr/>
          <a:p/>
        </p:txBody>
      </p:sp>
      <p:sp>
        <p:nvSpPr>
          <p:cNvPr id="20" name="Text 17"/>
          <p:cNvSpPr txBox="1"/>
          <p:nvPr/>
        </p:nvSpPr>
        <p:spPr>
          <a:xfrm>
            <a:off x="10945368" y="2340864"/>
            <a:ext cx="557784" cy="530352"/>
          </a:xfrm>
          <a:prstGeom prst="rect">
            <a:avLst/>
          </a:prstGeom>
          <a:noFill/>
          <a:ln/>
        </p:spPr>
        <p:txBody>
          <a:bodyPr wrap="square" lIns="0" tIns="0" rIns="0" bIns="0" rtlCol="0" anchor="ctr"/>
          <a:lstStyle/>
          <a:p>
            <a:pPr indent="0" marL="0">
              <a:buNone/>
            </a:pPr>
            <a:r>
              <a:rPr lang="en-US" sz="1800" b="1" dirty="0">
                <a:solidFill>
                  <a:srgbClr val="19382F"/>
                </a:solidFill>
                <a:latin typeface="Apple SD Gothic Neo" pitchFamily="34" charset="0"/>
                <a:ea typeface="Apple SD Gothic Neo" pitchFamily="34" charset="-122"/>
                <a:cs typeface="Apple SD Gothic Neo" pitchFamily="34" charset="-120"/>
              </a:rPr>
              <a:t>응답</a:t>
            </a:r>
            <a:endParaRPr lang="en-US" sz="1800" dirty="0"/>
          </a:p>
        </p:txBody>
      </p:sp>
      <p:sp>
        <p:nvSpPr>
          <p:cNvPr id="21" name="Shape 18"/>
          <p:cNvSpPr/>
          <p:nvPr/>
        </p:nvSpPr>
        <p:spPr>
          <a:xfrm>
            <a:off x="2194560" y="2423160"/>
            <a:ext cx="182880" cy="0"/>
          </a:xfrm>
          <a:prstGeom prst="line">
            <a:avLst/>
          </a:prstGeom>
          <a:noFill/>
          <a:ln w="20320">
            <a:solidFill>
              <a:srgbClr val="B8C5BE"/>
            </a:solidFill>
            <a:prstDash val="solid"/>
          </a:ln>
        </p:spPr>
        <p:txBody>
          <a:bodyPr/>
          <a:p/>
        </p:txBody>
      </p:sp>
      <p:sp>
        <p:nvSpPr>
          <p:cNvPr id="22" name="Shape 19"/>
          <p:cNvSpPr/>
          <p:nvPr/>
        </p:nvSpPr>
        <p:spPr>
          <a:xfrm>
            <a:off x="2377440" y="2148840"/>
            <a:ext cx="0" cy="960120"/>
          </a:xfrm>
          <a:prstGeom prst="line">
            <a:avLst/>
          </a:prstGeom>
          <a:noFill/>
          <a:ln w="20320">
            <a:solidFill>
              <a:srgbClr val="B8C5BE"/>
            </a:solidFill>
            <a:prstDash val="solid"/>
          </a:ln>
        </p:spPr>
        <p:txBody>
          <a:bodyPr/>
          <a:p/>
        </p:txBody>
      </p:sp>
      <p:sp>
        <p:nvSpPr>
          <p:cNvPr id="23" name="Shape 20"/>
          <p:cNvSpPr/>
          <p:nvPr/>
        </p:nvSpPr>
        <p:spPr>
          <a:xfrm>
            <a:off x="2377440" y="2148840"/>
            <a:ext cx="182880" cy="0"/>
          </a:xfrm>
          <a:prstGeom prst="line">
            <a:avLst/>
          </a:prstGeom>
          <a:noFill/>
          <a:ln w="20320">
            <a:solidFill>
              <a:srgbClr val="B8C5BE"/>
            </a:solidFill>
            <a:prstDash val="solid"/>
            <a:tailEnd type="triangle"/>
          </a:ln>
        </p:spPr>
        <p:txBody>
          <a:bodyPr/>
          <a:p/>
        </p:txBody>
      </p:sp>
      <p:sp>
        <p:nvSpPr>
          <p:cNvPr id="24" name="Shape 21"/>
          <p:cNvSpPr/>
          <p:nvPr/>
        </p:nvSpPr>
        <p:spPr>
          <a:xfrm>
            <a:off x="2377440" y="3108960"/>
            <a:ext cx="182880" cy="0"/>
          </a:xfrm>
          <a:prstGeom prst="line">
            <a:avLst/>
          </a:prstGeom>
          <a:noFill/>
          <a:ln w="20320">
            <a:solidFill>
              <a:srgbClr val="B8C5BE"/>
            </a:solidFill>
            <a:prstDash val="solid"/>
            <a:tailEnd type="triangle"/>
          </a:ln>
        </p:spPr>
        <p:txBody>
          <a:bodyPr/>
          <a:p/>
        </p:txBody>
      </p:sp>
      <p:sp>
        <p:nvSpPr>
          <p:cNvPr id="25" name="Shape 22"/>
          <p:cNvSpPr/>
          <p:nvPr/>
        </p:nvSpPr>
        <p:spPr>
          <a:xfrm>
            <a:off x="4389120" y="2194560"/>
            <a:ext cx="365760" cy="274320"/>
          </a:xfrm>
          <a:prstGeom prst="line">
            <a:avLst/>
          </a:prstGeom>
          <a:noFill/>
          <a:ln w="20320">
            <a:solidFill>
              <a:srgbClr val="B8C5BE"/>
            </a:solidFill>
            <a:prstDash val="solid"/>
            <a:tailEnd type="triangle"/>
          </a:ln>
        </p:spPr>
        <p:txBody>
          <a:bodyPr/>
          <a:p/>
        </p:txBody>
      </p:sp>
      <p:sp>
        <p:nvSpPr>
          <p:cNvPr id="26" name="Shape 23"/>
          <p:cNvSpPr/>
          <p:nvPr/>
        </p:nvSpPr>
        <p:spPr>
          <a:xfrm>
            <a:off x="4389120" y="3063240"/>
            <a:ext cx="365760" cy="-274320"/>
          </a:xfrm>
          <a:prstGeom prst="line">
            <a:avLst/>
          </a:prstGeom>
          <a:noFill/>
          <a:ln w="20320">
            <a:solidFill>
              <a:srgbClr val="B8C5BE"/>
            </a:solidFill>
            <a:prstDash val="solid"/>
            <a:tailEnd type="triangle"/>
          </a:ln>
        </p:spPr>
        <p:txBody>
          <a:bodyPr/>
          <a:p/>
        </p:txBody>
      </p:sp>
      <p:sp>
        <p:nvSpPr>
          <p:cNvPr id="27" name="Shape 24"/>
          <p:cNvSpPr/>
          <p:nvPr/>
        </p:nvSpPr>
        <p:spPr>
          <a:xfrm>
            <a:off x="6400800" y="2606040"/>
            <a:ext cx="365760" cy="0"/>
          </a:xfrm>
          <a:prstGeom prst="line">
            <a:avLst/>
          </a:prstGeom>
          <a:noFill/>
          <a:ln w="20320">
            <a:solidFill>
              <a:srgbClr val="B8C5BE"/>
            </a:solidFill>
            <a:prstDash val="solid"/>
            <a:tailEnd type="triangle"/>
          </a:ln>
        </p:spPr>
        <p:txBody>
          <a:bodyPr/>
          <a:p/>
        </p:txBody>
      </p:sp>
      <p:sp>
        <p:nvSpPr>
          <p:cNvPr id="28" name="Shape 25"/>
          <p:cNvSpPr/>
          <p:nvPr/>
        </p:nvSpPr>
        <p:spPr>
          <a:xfrm>
            <a:off x="8412480" y="2606040"/>
            <a:ext cx="365760" cy="0"/>
          </a:xfrm>
          <a:prstGeom prst="line">
            <a:avLst/>
          </a:prstGeom>
          <a:noFill/>
          <a:ln w="20320">
            <a:solidFill>
              <a:srgbClr val="B8C5BE"/>
            </a:solidFill>
            <a:prstDash val="solid"/>
            <a:tailEnd type="triangle"/>
          </a:ln>
        </p:spPr>
        <p:txBody>
          <a:bodyPr/>
          <a:p/>
        </p:txBody>
      </p:sp>
      <p:sp>
        <p:nvSpPr>
          <p:cNvPr id="29" name="Shape 26"/>
          <p:cNvSpPr/>
          <p:nvPr/>
        </p:nvSpPr>
        <p:spPr>
          <a:xfrm>
            <a:off x="10424160" y="2606040"/>
            <a:ext cx="320040" cy="0"/>
          </a:xfrm>
          <a:prstGeom prst="line">
            <a:avLst/>
          </a:prstGeom>
          <a:noFill/>
          <a:ln w="20320">
            <a:solidFill>
              <a:srgbClr val="B8C5BE"/>
            </a:solidFill>
            <a:prstDash val="solid"/>
            <a:tailEnd type="triangle"/>
          </a:ln>
        </p:spPr>
        <p:txBody>
          <a:bodyPr/>
          <a:p/>
        </p:txBody>
      </p:sp>
      <p:sp>
        <p:nvSpPr>
          <p:cNvPr id="30" name="Text 27"/>
          <p:cNvSpPr txBox="1"/>
          <p:nvPr/>
        </p:nvSpPr>
        <p:spPr>
          <a:xfrm>
            <a:off x="10424160" y="1938528"/>
            <a:ext cx="411480" cy="228600"/>
          </a:xfrm>
          <a:prstGeom prst="rect">
            <a:avLst/>
          </a:prstGeom>
          <a:noFill/>
          <a:ln/>
        </p:spPr>
        <p:txBody>
          <a:bodyPr wrap="square" lIns="0" tIns="0" rIns="0" bIns="0" rtlCol="0" anchor="ctr"/>
          <a:lstStyle/>
          <a:p>
            <a:pPr indent="0" marL="0">
              <a:buNone/>
            </a:pPr>
            <a:r>
              <a:rPr lang="en-US" sz="1000" dirty="0">
                <a:solidFill>
                  <a:srgbClr val="16785C"/>
                </a:solidFill>
                <a:latin typeface="Apple SD Gothic Neo" pitchFamily="34" charset="0"/>
                <a:ea typeface="Apple SD Gothic Neo" pitchFamily="34" charset="-122"/>
                <a:cs typeface="Apple SD Gothic Neo" pitchFamily="34" charset="-120"/>
              </a:rPr>
              <a:t>통과</a:t>
            </a:r>
            <a:endParaRPr lang="en-US" sz="1000" dirty="0"/>
          </a:p>
        </p:txBody>
      </p:sp>
      <p:sp>
        <p:nvSpPr>
          <p:cNvPr id="31" name="Shape 28"/>
          <p:cNvSpPr/>
          <p:nvPr/>
        </p:nvSpPr>
        <p:spPr>
          <a:xfrm>
            <a:off x="5596128" y="2971800"/>
            <a:ext cx="0" cy="594360"/>
          </a:xfrm>
          <a:prstGeom prst="line">
            <a:avLst/>
          </a:prstGeom>
          <a:noFill/>
          <a:ln w="20320">
            <a:solidFill>
              <a:srgbClr val="B6503E"/>
            </a:solidFill>
            <a:prstDash val="solid"/>
            <a:tailEnd type="triangle"/>
          </a:ln>
        </p:spPr>
        <p:txBody>
          <a:bodyPr/>
          <a:p/>
        </p:txBody>
      </p:sp>
      <p:sp>
        <p:nvSpPr>
          <p:cNvPr id="32" name="Shape 29"/>
          <p:cNvSpPr/>
          <p:nvPr/>
        </p:nvSpPr>
        <p:spPr>
          <a:xfrm>
            <a:off x="4572000" y="3657600"/>
            <a:ext cx="2834640" cy="365760"/>
          </a:xfrm>
          <a:prstGeom prst="roundRect">
            <a:avLst>
              <a:gd name="adj" fmla="val 40000"/>
            </a:avLst>
          </a:prstGeom>
          <a:solidFill>
            <a:srgbClr val="FAEEEA"/>
          </a:solidFill>
          <a:ln w="12700">
            <a:solidFill>
              <a:srgbClr val="FAEEEA"/>
            </a:solidFill>
            <a:prstDash val="solid"/>
          </a:ln>
        </p:spPr>
        <p:txBody>
          <a:bodyPr/>
          <a:p/>
        </p:txBody>
      </p:sp>
      <p:sp>
        <p:nvSpPr>
          <p:cNvPr id="33" name="Text 30"/>
          <p:cNvSpPr txBox="1"/>
          <p:nvPr/>
        </p:nvSpPr>
        <p:spPr>
          <a:xfrm>
            <a:off x="4681728" y="3657600"/>
            <a:ext cx="2615184" cy="365760"/>
          </a:xfrm>
          <a:prstGeom prst="rect">
            <a:avLst/>
          </a:prstGeom>
          <a:noFill/>
          <a:ln/>
        </p:spPr>
        <p:txBody>
          <a:bodyPr wrap="square" lIns="0" tIns="0" rIns="0" bIns="0" rtlCol="0" anchor="ctr"/>
          <a:lstStyle/>
          <a:p>
            <a:pPr indent="0" marL="0">
              <a:buNone/>
            </a:pPr>
            <a:r>
              <a:rPr lang="en-US" sz="1200" b="1" dirty="0">
                <a:solidFill>
                  <a:srgbClr val="B6503E"/>
                </a:solidFill>
                <a:latin typeface="Apple SD Gothic Neo" pitchFamily="34" charset="0"/>
                <a:ea typeface="Apple SD Gothic Neo" pitchFamily="34" charset="-122"/>
                <a:cs typeface="Apple SD Gothic Neo" pitchFamily="34" charset="-120"/>
              </a:rPr>
              <a:t>근거 0건 → 작성 생략</a:t>
            </a:r>
            <a:endParaRPr lang="en-US" sz="1200" dirty="0"/>
          </a:p>
        </p:txBody>
      </p:sp>
      <p:sp>
        <p:nvSpPr>
          <p:cNvPr id="34" name="Shape 31"/>
          <p:cNvSpPr/>
          <p:nvPr/>
        </p:nvSpPr>
        <p:spPr>
          <a:xfrm>
            <a:off x="9646920" y="2971800"/>
            <a:ext cx="0" cy="411480"/>
          </a:xfrm>
          <a:prstGeom prst="line">
            <a:avLst/>
          </a:prstGeom>
          <a:noFill/>
          <a:ln w="20320">
            <a:solidFill>
              <a:srgbClr val="16785C"/>
            </a:solidFill>
            <a:prstDash val="solid"/>
          </a:ln>
        </p:spPr>
        <p:txBody>
          <a:bodyPr/>
          <a:p/>
        </p:txBody>
      </p:sp>
      <p:sp>
        <p:nvSpPr>
          <p:cNvPr id="35" name="Shape 32"/>
          <p:cNvSpPr/>
          <p:nvPr/>
        </p:nvSpPr>
        <p:spPr>
          <a:xfrm>
            <a:off x="7589520" y="3383280"/>
            <a:ext cx="2057400" cy="0"/>
          </a:xfrm>
          <a:prstGeom prst="line">
            <a:avLst/>
          </a:prstGeom>
          <a:noFill/>
          <a:ln w="20320">
            <a:solidFill>
              <a:srgbClr val="16785C"/>
            </a:solidFill>
            <a:prstDash val="solid"/>
          </a:ln>
        </p:spPr>
        <p:txBody>
          <a:bodyPr/>
          <a:p/>
        </p:txBody>
      </p:sp>
      <p:sp>
        <p:nvSpPr>
          <p:cNvPr id="36" name="Shape 33"/>
          <p:cNvSpPr/>
          <p:nvPr/>
        </p:nvSpPr>
        <p:spPr>
          <a:xfrm>
            <a:off x="7589520" y="3383280"/>
            <a:ext cx="0" cy="-365760"/>
          </a:xfrm>
          <a:prstGeom prst="line">
            <a:avLst/>
          </a:prstGeom>
          <a:noFill/>
          <a:ln w="20320">
            <a:solidFill>
              <a:srgbClr val="16785C"/>
            </a:solidFill>
            <a:prstDash val="solid"/>
            <a:tailEnd type="triangle"/>
          </a:ln>
        </p:spPr>
        <p:txBody>
          <a:bodyPr/>
          <a:p/>
        </p:txBody>
      </p:sp>
      <p:sp>
        <p:nvSpPr>
          <p:cNvPr id="37" name="Text 34"/>
          <p:cNvSpPr txBox="1"/>
          <p:nvPr/>
        </p:nvSpPr>
        <p:spPr>
          <a:xfrm>
            <a:off x="7680960" y="3584448"/>
            <a:ext cx="2743200" cy="320040"/>
          </a:xfrm>
          <a:prstGeom prst="rect">
            <a:avLst/>
          </a:prstGeom>
          <a:noFill/>
          <a:ln/>
        </p:spPr>
        <p:txBody>
          <a:bodyPr wrap="square" lIns="0" tIns="0" rIns="0" bIns="0" rtlCol="0" anchor="ctr"/>
          <a:lstStyle/>
          <a:p>
            <a:pPr indent="0" marL="0">
              <a:buNone/>
            </a:pPr>
            <a:r>
              <a:rPr lang="en-US" sz="1300" b="1" dirty="0">
                <a:solidFill>
                  <a:srgbClr val="16785C"/>
                </a:solidFill>
                <a:latin typeface="Apple SD Gothic Neo" pitchFamily="34" charset="0"/>
                <a:ea typeface="Apple SD Gothic Neo" pitchFamily="34" charset="-122"/>
                <a:cs typeface="Apple SD Gothic Neo" pitchFamily="34" charset="-120"/>
              </a:rPr>
              <a:t>반려 → 재작성</a:t>
            </a:r>
            <a:endParaRPr lang="en-US" sz="1300" dirty="0"/>
          </a:p>
        </p:txBody>
      </p:sp>
      <p:sp>
        <p:nvSpPr>
          <p:cNvPr id="38" name="Text 35"/>
          <p:cNvSpPr txBox="1"/>
          <p:nvPr/>
        </p:nvSpPr>
        <p:spPr>
          <a:xfrm>
            <a:off x="8503920" y="4069080"/>
            <a:ext cx="3108960" cy="320040"/>
          </a:xfrm>
          <a:prstGeom prst="rect">
            <a:avLst/>
          </a:prstGeom>
          <a:noFill/>
          <a:ln/>
        </p:spPr>
        <p:txBody>
          <a:bodyPr wrap="square" lIns="0" tIns="0" rIns="0" bIns="0" rtlCol="0" anchor="ctr"/>
          <a:lstStyle/>
          <a:p>
            <a:pPr indent="0" marL="0">
              <a:buNone/>
            </a:pPr>
            <a:r>
              <a:rPr lang="en-US" sz="1300" b="1" dirty="0">
                <a:solidFill>
                  <a:srgbClr val="B6503E"/>
                </a:solidFill>
                <a:latin typeface="Apple SD Gothic Neo" pitchFamily="34" charset="0"/>
                <a:ea typeface="Apple SD Gothic Neo" pitchFamily="34" charset="-122"/>
                <a:cs typeface="Apple SD Gothic Neo" pitchFamily="34" charset="-120"/>
              </a:rPr>
              <a:t>총 3회 실패 → 실패 안내</a:t>
            </a:r>
            <a:endParaRPr lang="en-US" sz="1300" dirty="0"/>
          </a:p>
        </p:txBody>
      </p:sp>
      <p:sp>
        <p:nvSpPr>
          <p:cNvPr id="39" name="Text 36"/>
          <p:cNvSpPr txBox="1"/>
          <p:nvPr/>
        </p:nvSpPr>
        <p:spPr>
          <a:xfrm>
            <a:off x="685800" y="4617720"/>
            <a:ext cx="3200400" cy="365760"/>
          </a:xfrm>
          <a:prstGeom prst="rect">
            <a:avLst/>
          </a:prstGeom>
          <a:noFill/>
          <a:ln/>
        </p:spPr>
        <p:txBody>
          <a:bodyPr wrap="square" lIns="0" tIns="0" rIns="0" bIns="0" rtlCol="0" anchor="ctr"/>
          <a:lstStyle/>
          <a:p>
            <a:pPr indent="0" marL="0">
              <a:buNone/>
            </a:pPr>
            <a:r>
              <a:rPr lang="en-US" sz="1800" b="1" dirty="0">
                <a:solidFill>
                  <a:srgbClr val="16785C"/>
                </a:solidFill>
                <a:latin typeface="Apple SD Gothic Neo" pitchFamily="34" charset="0"/>
                <a:ea typeface="Apple SD Gothic Neo" pitchFamily="34" charset="-122"/>
                <a:cs typeface="Apple SD Gothic Neo" pitchFamily="34" charset="-120"/>
              </a:rPr>
              <a:t>Multi-Agent</a:t>
            </a:r>
            <a:endParaRPr lang="en-US" sz="1800" dirty="0"/>
          </a:p>
        </p:txBody>
      </p:sp>
      <p:sp>
        <p:nvSpPr>
          <p:cNvPr id="40" name="Text 37"/>
          <p:cNvSpPr txBox="1"/>
          <p:nvPr/>
        </p:nvSpPr>
        <p:spPr>
          <a:xfrm>
            <a:off x="685800" y="5120640"/>
            <a:ext cx="3383280" cy="594360"/>
          </a:xfrm>
          <a:prstGeom prst="rect">
            <a:avLst/>
          </a:prstGeom>
          <a:noFill/>
          <a:ln/>
        </p:spPr>
        <p:txBody>
          <a:bodyPr wrap="square" lIns="0" tIns="0" rIns="0" bIns="0" rtlCol="0" anchor="ctr"/>
          <a:lstStyle/>
          <a:p>
            <a:pPr indent="0" marL="0">
              <a:buNone/>
            </a:pPr>
            <a:r>
              <a:rPr lang="en-US" sz="1500" dirty="0">
                <a:solidFill>
                  <a:srgbClr val="19382F"/>
                </a:solidFill>
                <a:latin typeface="Apple SD Gothic Neo" pitchFamily="34" charset="0"/>
                <a:ea typeface="Apple SD Gothic Neo" pitchFamily="34" charset="-122"/>
                <a:cs typeface="Apple SD Gothic Neo" pitchFamily="34" charset="-120"/>
              </a:rPr>
              <a:t>조사 서브그래프 2개</a:t>
            </a:r>
            <a:endParaRPr lang="en-US" sz="1500" dirty="0"/>
          </a:p>
          <a:p>
            <a:pPr indent="0" marL="0">
              <a:buNone/>
            </a:pPr>
            <a:r>
              <a:rPr lang="en-US" sz="1500" dirty="0">
                <a:solidFill>
                  <a:srgbClr val="19382F"/>
                </a:solidFill>
                <a:latin typeface="Apple SD Gothic Neo" pitchFamily="34" charset="0"/>
                <a:ea typeface="Apple SD Gothic Neo" pitchFamily="34" charset="-122"/>
                <a:cs typeface="Apple SD Gothic Neo" pitchFamily="34" charset="-120"/>
              </a:rPr>
              <a:t>독립 LLM 추론·협상은 아님</a:t>
            </a:r>
            <a:endParaRPr lang="en-US" sz="1500" dirty="0"/>
          </a:p>
        </p:txBody>
      </p:sp>
      <p:sp>
        <p:nvSpPr>
          <p:cNvPr id="41" name="Text 38"/>
          <p:cNvSpPr txBox="1"/>
          <p:nvPr/>
        </p:nvSpPr>
        <p:spPr>
          <a:xfrm>
            <a:off x="4389120" y="4617720"/>
            <a:ext cx="3291840" cy="365760"/>
          </a:xfrm>
          <a:prstGeom prst="rect">
            <a:avLst/>
          </a:prstGeom>
          <a:noFill/>
          <a:ln/>
        </p:spPr>
        <p:txBody>
          <a:bodyPr wrap="square" lIns="0" tIns="0" rIns="0" bIns="0" rtlCol="0" anchor="ctr"/>
          <a:lstStyle/>
          <a:p>
            <a:pPr indent="0" marL="0">
              <a:buNone/>
            </a:pPr>
            <a:r>
              <a:rPr lang="en-US" sz="1800" b="1" dirty="0">
                <a:solidFill>
                  <a:srgbClr val="16785C"/>
                </a:solidFill>
                <a:latin typeface="Apple SD Gothic Neo" pitchFamily="34" charset="0"/>
                <a:ea typeface="Apple SD Gothic Neo" pitchFamily="34" charset="-122"/>
                <a:cs typeface="Apple SD Gothic Neo" pitchFamily="34" charset="-120"/>
              </a:rPr>
              <a:t>MCP · RAG</a:t>
            </a:r>
            <a:endParaRPr lang="en-US" sz="1800" dirty="0"/>
          </a:p>
        </p:txBody>
      </p:sp>
      <p:sp>
        <p:nvSpPr>
          <p:cNvPr id="42" name="Text 39"/>
          <p:cNvSpPr txBox="1"/>
          <p:nvPr/>
        </p:nvSpPr>
        <p:spPr>
          <a:xfrm>
            <a:off x="4389120" y="5120640"/>
            <a:ext cx="3383280" cy="594360"/>
          </a:xfrm>
          <a:prstGeom prst="rect">
            <a:avLst/>
          </a:prstGeom>
          <a:noFill/>
          <a:ln/>
        </p:spPr>
        <p:txBody>
          <a:bodyPr wrap="square" lIns="0" tIns="0" rIns="0" bIns="0" rtlCol="0" anchor="ctr"/>
          <a:lstStyle/>
          <a:p>
            <a:pPr indent="0" marL="0">
              <a:buNone/>
            </a:pPr>
            <a:r>
              <a:rPr lang="en-US" sz="1500" dirty="0">
                <a:solidFill>
                  <a:srgbClr val="19382F"/>
                </a:solidFill>
                <a:latin typeface="Apple SD Gothic Neo" pitchFamily="34" charset="0"/>
                <a:ea typeface="Apple SD Gothic Neo" pitchFamily="34" charset="-122"/>
                <a:cs typeface="Apple SD Gothic Neo" pitchFamily="34" charset="-120"/>
              </a:rPr>
              <a:t>도구 연결 → 의미 검색</a:t>
            </a:r>
            <a:endParaRPr lang="en-US" sz="1500" dirty="0"/>
          </a:p>
          <a:p>
            <a:pPr indent="0" marL="0">
              <a:buNone/>
            </a:pPr>
            <a:r>
              <a:rPr lang="en-US" sz="1500" dirty="0">
                <a:solidFill>
                  <a:srgbClr val="19382F"/>
                </a:solidFill>
                <a:latin typeface="Apple SD Gothic Neo" pitchFamily="34" charset="0"/>
                <a:ea typeface="Apple SD Gothic Neo" pitchFamily="34" charset="-122"/>
                <a:cs typeface="Apple SD Gothic Neo" pitchFamily="34" charset="-120"/>
              </a:rPr>
              <a:t>선택한 본문으로 답변 작성</a:t>
            </a:r>
            <a:endParaRPr lang="en-US" sz="1500" dirty="0"/>
          </a:p>
        </p:txBody>
      </p:sp>
      <p:sp>
        <p:nvSpPr>
          <p:cNvPr id="43" name="Text 40"/>
          <p:cNvSpPr txBox="1"/>
          <p:nvPr/>
        </p:nvSpPr>
        <p:spPr>
          <a:xfrm>
            <a:off x="8092440" y="4617720"/>
            <a:ext cx="3474720" cy="365760"/>
          </a:xfrm>
          <a:prstGeom prst="rect">
            <a:avLst/>
          </a:prstGeom>
          <a:noFill/>
          <a:ln/>
        </p:spPr>
        <p:txBody>
          <a:bodyPr wrap="square" lIns="0" tIns="0" rIns="0" bIns="0" rtlCol="0" anchor="ctr"/>
          <a:lstStyle/>
          <a:p>
            <a:pPr indent="0" marL="0">
              <a:buNone/>
            </a:pPr>
            <a:r>
              <a:rPr lang="en-US" sz="1800" b="1" dirty="0">
                <a:solidFill>
                  <a:srgbClr val="16785C"/>
                </a:solidFill>
                <a:latin typeface="Apple SD Gothic Neo" pitchFamily="34" charset="0"/>
                <a:ea typeface="Apple SD Gothic Neo" pitchFamily="34" charset="-122"/>
                <a:cs typeface="Apple SD Gothic Neo" pitchFamily="34" charset="-120"/>
              </a:rPr>
              <a:t>모듈화 · 의존성 주입</a:t>
            </a:r>
            <a:endParaRPr lang="en-US" sz="1800" dirty="0"/>
          </a:p>
        </p:txBody>
      </p:sp>
      <p:sp>
        <p:nvSpPr>
          <p:cNvPr id="44" name="Text 41"/>
          <p:cNvSpPr txBox="1"/>
          <p:nvPr/>
        </p:nvSpPr>
        <p:spPr>
          <a:xfrm>
            <a:off x="8092440" y="5120640"/>
            <a:ext cx="3474720" cy="594360"/>
          </a:xfrm>
          <a:prstGeom prst="rect">
            <a:avLst/>
          </a:prstGeom>
          <a:noFill/>
          <a:ln/>
        </p:spPr>
        <p:txBody>
          <a:bodyPr wrap="square" lIns="0" tIns="0" rIns="0" bIns="0" rtlCol="0" anchor="ctr"/>
          <a:lstStyle/>
          <a:p>
            <a:pPr indent="0" marL="0">
              <a:buNone/>
            </a:pPr>
            <a:r>
              <a:rPr lang="en-US" sz="1500" dirty="0">
                <a:solidFill>
                  <a:srgbClr val="19382F"/>
                </a:solidFill>
                <a:latin typeface="Apple SD Gothic Neo" pitchFamily="34" charset="0"/>
                <a:ea typeface="Apple SD Gothic Neo" pitchFamily="34" charset="-122"/>
                <a:cs typeface="Apple SD Gothic Neo" pitchFamily="34" charset="-120"/>
              </a:rPr>
              <a:t>역할 분리 · 테스트 도구 교체</a:t>
            </a:r>
            <a:endParaRPr lang="en-US" sz="1500" dirty="0"/>
          </a:p>
          <a:p>
            <a:pPr indent="0" marL="0">
              <a:buNone/>
            </a:pPr>
            <a:r>
              <a:rPr lang="en-US" sz="1500" dirty="0">
                <a:solidFill>
                  <a:srgbClr val="19382F"/>
                </a:solidFill>
                <a:latin typeface="Apple SD Gothic Neo" pitchFamily="34" charset="0"/>
                <a:ea typeface="Apple SD Gothic Neo" pitchFamily="34" charset="-122"/>
                <a:cs typeface="Apple SD Gothic Neo" pitchFamily="34" charset="-120"/>
              </a:rPr>
              <a:t>단위·회귀 테스트 포함 6종</a:t>
            </a:r>
            <a:endParaRPr lang="en-US" sz="1500" dirty="0"/>
          </a:p>
        </p:txBody>
      </p:sp>
      <p:sp>
        <p:nvSpPr>
          <p:cNvPr id="45" name="Text 42"/>
          <p:cNvSpPr txBox="1"/>
          <p:nvPr/>
        </p:nvSpPr>
        <p:spPr>
          <a:xfrm>
            <a:off x="685800" y="6080760"/>
            <a:ext cx="10881360" cy="228600"/>
          </a:xfrm>
          <a:prstGeom prst="rect">
            <a:avLst/>
          </a:prstGeom>
          <a:noFill/>
          <a:ln/>
        </p:spPr>
        <p:txBody>
          <a:bodyPr wrap="square" lIns="0" tIns="0" rIns="0" bIns="0" rtlCol="0" anchor="ctr"/>
          <a:lstStyle/>
          <a:p>
            <a:pPr indent="0" marL="0">
              <a:buNone/>
            </a:pPr>
            <a:r>
              <a:rPr lang="en-US" sz="1100" dirty="0">
                <a:solidFill>
                  <a:srgbClr val="62746D"/>
                </a:solidFill>
                <a:latin typeface="Apple SD Gothic Neo" pitchFamily="34" charset="0"/>
                <a:ea typeface="Apple SD Gothic Neo" pitchFamily="34" charset="-122"/>
                <a:cs typeface="Apple SD Gothic Neo" pitchFamily="34" charset="-120"/>
              </a:rPr>
              <a:t>제공 기반: LangGraph·서버·세션  |  직접 개선: 조사 분리·검색·검증·실패 분기  |  LangSmith: 실행 추적만 확인</a:t>
            </a:r>
            <a:endParaRPr lang="en-US" sz="1000" dirty="0"/>
          </a:p>
        </p:txBody>
      </p:sp>
      <p:sp>
        <p:nvSpPr>
          <p:cNvPr id="46" name="TextBox 45"/>
          <p:cNvSpPr txBox="1"/>
          <p:nvPr/>
        </p:nvSpPr>
        <p:spPr>
          <a:xfrm>
            <a:off x="685800" y="6272784"/>
            <a:ext cx="10881360" cy="182880"/>
          </a:xfrm>
          <a:prstGeom prst="rect">
            <a:avLst/>
          </a:prstGeom>
          <a:noFill/>
        </p:spPr>
        <p:txBody>
          <a:bodyPr wrap="square" lIns="0" rIns="0" tIns="0" bIns="0">
            <a:spAutoFit/>
          </a:bodyPr>
          <a:lstStyle/>
          <a:p>
            <a:r>
              <a:rPr sz="1100" b="0">
                <a:solidFill>
                  <a:srgbClr val="62746D"/>
                </a:solidFill>
                <a:latin typeface="Apple SD Gothic Neo"/>
              </a:rPr>
              <a:t>요약도: route · gate · replan_check · analysis · finalize 생략 (전체 노드는 부록 A-6)</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0040"/>
            <a:ext cx="9144000" cy="274320"/>
          </a:xfrm>
          <a:prstGeom prst="rect">
            <a:avLst/>
          </a:prstGeom>
          <a:noFill/>
          <a:ln/>
        </p:spPr>
        <p:txBody>
          <a:bodyPr wrap="square" lIns="0" tIns="0" rIns="0" bIns="0" rtlCol="0" anchor="ctr"/>
          <a:lstStyle/>
          <a:p>
            <a:pPr indent="0" marL="0">
              <a:buNone/>
            </a:pPr>
            <a:r>
              <a:rPr lang="en-US" sz="1100" b="1" dirty="0">
                <a:solidFill>
                  <a:srgbClr val="16785C"/>
                </a:solidFill>
                <a:latin typeface="Apple SD Gothic Neo" pitchFamily="34" charset="0"/>
                <a:ea typeface="Apple SD Gothic Neo" pitchFamily="34" charset="-122"/>
                <a:cs typeface="Apple SD Gothic Neo" pitchFamily="34" charset="-120"/>
              </a:rPr>
              <a:t>04  최종 실행 화면</a:t>
            </a:r>
            <a:endParaRPr lang="en-US" sz="1100" dirty="0"/>
          </a:p>
        </p:txBody>
      </p:sp>
      <p:sp>
        <p:nvSpPr>
          <p:cNvPr id="3" name="Text 1"/>
          <p:cNvSpPr txBox="1"/>
          <p:nvPr/>
        </p:nvSpPr>
        <p:spPr>
          <a:xfrm>
            <a:off x="594360" y="868680"/>
            <a:ext cx="10972800" cy="914400"/>
          </a:xfrm>
          <a:prstGeom prst="rect">
            <a:avLst/>
          </a:prstGeom>
          <a:noFill/>
          <a:ln/>
        </p:spPr>
        <p:txBody>
          <a:bodyPr wrap="square" lIns="0" tIns="0" rIns="0" bIns="0" rtlCol="0" anchor="ctr"/>
          <a:lstStyle/>
          <a:p>
            <a:pPr indent="0" marL="0">
              <a:buNone/>
            </a:pPr>
            <a:r>
              <a:rPr lang="en-US" sz="3200" b="1" dirty="0">
                <a:solidFill>
                  <a:srgbClr val="19382F"/>
                </a:solidFill>
                <a:latin typeface="Apple SD Gothic Neo" pitchFamily="34" charset="0"/>
                <a:ea typeface="Apple SD Gothic Neo" pitchFamily="34" charset="-122"/>
                <a:cs typeface="Apple SD Gothic Neo" pitchFamily="34" charset="-120"/>
              </a:rPr>
              <a:t>최종 답변과 확인 근거를 함께 제공</a:t>
            </a:r>
            <a:endParaRPr lang="en-US" sz="3200" dirty="0"/>
          </a:p>
        </p:txBody>
      </p:sp>
      <p:sp>
        <p:nvSpPr>
          <p:cNvPr id="4" name="Text 2"/>
          <p:cNvSpPr txBox="1"/>
          <p:nvPr/>
        </p:nvSpPr>
        <p:spPr>
          <a:xfrm>
            <a:off x="594360" y="6473952"/>
            <a:ext cx="731520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AI CAPSTONE  ·  김하연</a:t>
            </a:r>
            <a:endParaRPr lang="en-US" sz="900" dirty="0"/>
          </a:p>
        </p:txBody>
      </p:sp>
      <p:sp>
        <p:nvSpPr>
          <p:cNvPr id="5" name="Text 3"/>
          <p:cNvSpPr txBox="1"/>
          <p:nvPr/>
        </p:nvSpPr>
        <p:spPr>
          <a:xfrm>
            <a:off x="10835640" y="6473952"/>
            <a:ext cx="77724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05 / 10</a:t>
            </a:r>
            <a:endParaRPr lang="en-US" sz="900" dirty="0"/>
          </a:p>
        </p:txBody>
      </p:sp>
      <p:sp>
        <p:nvSpPr>
          <p:cNvPr id="8" name="Shape 4"/>
          <p:cNvSpPr/>
          <p:nvPr/>
        </p:nvSpPr>
        <p:spPr>
          <a:xfrm>
            <a:off x="7818120" y="2011680"/>
            <a:ext cx="548640" cy="365760"/>
          </a:xfrm>
          <a:prstGeom prst="roundRect">
            <a:avLst>
              <a:gd name="adj" fmla="val 40000"/>
            </a:avLst>
          </a:prstGeom>
          <a:solidFill>
            <a:srgbClr val="EEF5F1"/>
          </a:solidFill>
          <a:ln w="12700">
            <a:solidFill>
              <a:srgbClr val="EEF5F1"/>
            </a:solidFill>
            <a:prstDash val="solid"/>
          </a:ln>
        </p:spPr>
        <p:txBody>
          <a:bodyPr/>
          <a:p/>
        </p:txBody>
      </p:sp>
      <p:sp>
        <p:nvSpPr>
          <p:cNvPr id="9" name="Text 5"/>
          <p:cNvSpPr txBox="1"/>
          <p:nvPr/>
        </p:nvSpPr>
        <p:spPr>
          <a:xfrm>
            <a:off x="7927848" y="2011680"/>
            <a:ext cx="329184" cy="365760"/>
          </a:xfrm>
          <a:prstGeom prst="rect">
            <a:avLst/>
          </a:prstGeom>
          <a:noFill/>
          <a:ln/>
        </p:spPr>
        <p:txBody>
          <a:bodyPr wrap="square" lIns="0" tIns="0" rIns="0" bIns="0" rtlCol="0" anchor="ctr"/>
          <a:lstStyle/>
          <a:p>
            <a:pPr indent="0" marL="0">
              <a:buNone/>
            </a:pPr>
            <a:r>
              <a:rPr lang="en-US" sz="1200" b="1" dirty="0">
                <a:solidFill>
                  <a:srgbClr val="16785C"/>
                </a:solidFill>
                <a:latin typeface="Apple SD Gothic Neo" pitchFamily="34" charset="0"/>
                <a:ea typeface="Apple SD Gothic Neo" pitchFamily="34" charset="-122"/>
                <a:cs typeface="Apple SD Gothic Neo" pitchFamily="34" charset="-120"/>
              </a:rPr>
              <a:t>01</a:t>
            </a:r>
            <a:endParaRPr lang="en-US" sz="1200" dirty="0"/>
          </a:p>
        </p:txBody>
      </p:sp>
      <p:sp>
        <p:nvSpPr>
          <p:cNvPr id="10" name="Text 6"/>
          <p:cNvSpPr txBox="1"/>
          <p:nvPr/>
        </p:nvSpPr>
        <p:spPr>
          <a:xfrm>
            <a:off x="8595360" y="1975104"/>
            <a:ext cx="2926080" cy="457200"/>
          </a:xfrm>
          <a:prstGeom prst="rect">
            <a:avLst/>
          </a:prstGeom>
          <a:noFill/>
          <a:ln/>
        </p:spPr>
        <p:txBody>
          <a:bodyPr wrap="square" lIns="0" tIns="0" rIns="0" bIns="0" rtlCol="0" anchor="ctr"/>
          <a:lstStyle/>
          <a:p>
            <a:pPr indent="0" marL="0">
              <a:buNone/>
            </a:pPr>
            <a:r>
              <a:rPr lang="en-US" sz="2300" b="1" dirty="0">
                <a:solidFill>
                  <a:srgbClr val="16785C"/>
                </a:solidFill>
                <a:latin typeface="Apple SD Gothic Neo" pitchFamily="34" charset="0"/>
                <a:ea typeface="Apple SD Gothic Neo" pitchFamily="34" charset="-122"/>
                <a:cs typeface="Apple SD Gothic Neo" pitchFamily="34" charset="-120"/>
              </a:rPr>
              <a:t>최종 답변</a:t>
            </a:r>
            <a:endParaRPr lang="en-US" sz="2300" dirty="0"/>
          </a:p>
        </p:txBody>
      </p:sp>
      <p:sp>
        <p:nvSpPr>
          <p:cNvPr id="11" name="Text 7"/>
          <p:cNvSpPr txBox="1"/>
          <p:nvPr/>
        </p:nvSpPr>
        <p:spPr>
          <a:xfrm>
            <a:off x="7863840" y="2532888"/>
            <a:ext cx="3657600" cy="365760"/>
          </a:xfrm>
          <a:prstGeom prst="rect">
            <a:avLst/>
          </a:prstGeom>
          <a:noFill/>
          <a:ln/>
        </p:spPr>
        <p:txBody>
          <a:bodyPr wrap="square" lIns="0" tIns="0" rIns="0" bIns="0" rtlCol="0" anchor="ctr"/>
          <a:lstStyle/>
          <a:p>
            <a:pPr indent="0" marL="0">
              <a:buNone/>
            </a:pPr>
            <a:r>
              <a:rPr lang="en-US" sz="1600" dirty="0">
                <a:solidFill>
                  <a:srgbClr val="62746D"/>
                </a:solidFill>
                <a:latin typeface="Apple SD Gothic Neo" pitchFamily="34" charset="0"/>
                <a:ea typeface="Apple SD Gothic Neo" pitchFamily="34" charset="-122"/>
                <a:cs typeface="Apple SD Gothic Neo" pitchFamily="34" charset="-120"/>
              </a:rPr>
              <a:t>초안 비공개, 검증 후 제공</a:t>
            </a:r>
            <a:endParaRPr lang="en-US" sz="1600" dirty="0"/>
          </a:p>
        </p:txBody>
      </p:sp>
      <p:sp>
        <p:nvSpPr>
          <p:cNvPr id="12" name="Shape 8"/>
          <p:cNvSpPr/>
          <p:nvPr/>
        </p:nvSpPr>
        <p:spPr>
          <a:xfrm>
            <a:off x="7818120" y="3154680"/>
            <a:ext cx="548640" cy="365760"/>
          </a:xfrm>
          <a:prstGeom prst="roundRect">
            <a:avLst>
              <a:gd name="adj" fmla="val 40000"/>
            </a:avLst>
          </a:prstGeom>
          <a:solidFill>
            <a:srgbClr val="EEF5F1"/>
          </a:solidFill>
          <a:ln w="12700">
            <a:solidFill>
              <a:srgbClr val="EEF5F1"/>
            </a:solidFill>
            <a:prstDash val="solid"/>
          </a:ln>
        </p:spPr>
        <p:txBody>
          <a:bodyPr/>
          <a:p/>
        </p:txBody>
      </p:sp>
      <p:sp>
        <p:nvSpPr>
          <p:cNvPr id="13" name="Text 9"/>
          <p:cNvSpPr txBox="1"/>
          <p:nvPr/>
        </p:nvSpPr>
        <p:spPr>
          <a:xfrm>
            <a:off x="7927848" y="3154680"/>
            <a:ext cx="329184" cy="365760"/>
          </a:xfrm>
          <a:prstGeom prst="rect">
            <a:avLst/>
          </a:prstGeom>
          <a:noFill/>
          <a:ln/>
        </p:spPr>
        <p:txBody>
          <a:bodyPr wrap="square" lIns="0" tIns="0" rIns="0" bIns="0" rtlCol="0" anchor="ctr"/>
          <a:lstStyle/>
          <a:p>
            <a:pPr indent="0" marL="0">
              <a:buNone/>
            </a:pPr>
            <a:r>
              <a:rPr lang="en-US" sz="1200" b="1" dirty="0">
                <a:solidFill>
                  <a:srgbClr val="16785C"/>
                </a:solidFill>
                <a:latin typeface="Apple SD Gothic Neo" pitchFamily="34" charset="0"/>
                <a:ea typeface="Apple SD Gothic Neo" pitchFamily="34" charset="-122"/>
                <a:cs typeface="Apple SD Gothic Neo" pitchFamily="34" charset="-120"/>
              </a:rPr>
              <a:t>02</a:t>
            </a:r>
            <a:endParaRPr lang="en-US" sz="1200" dirty="0"/>
          </a:p>
        </p:txBody>
      </p:sp>
      <p:sp>
        <p:nvSpPr>
          <p:cNvPr id="14" name="Text 10"/>
          <p:cNvSpPr txBox="1"/>
          <p:nvPr/>
        </p:nvSpPr>
        <p:spPr>
          <a:xfrm>
            <a:off x="8595360" y="3118104"/>
            <a:ext cx="2926080" cy="457200"/>
          </a:xfrm>
          <a:prstGeom prst="rect">
            <a:avLst/>
          </a:prstGeom>
          <a:noFill/>
          <a:ln/>
        </p:spPr>
        <p:txBody>
          <a:bodyPr wrap="square" lIns="0" tIns="0" rIns="0" bIns="0" rtlCol="0" anchor="ctr"/>
          <a:lstStyle/>
          <a:p>
            <a:pPr indent="0" marL="0">
              <a:buNone/>
            </a:pPr>
            <a:r>
              <a:rPr lang="en-US" sz="2300" b="1" dirty="0">
                <a:solidFill>
                  <a:srgbClr val="16785C"/>
                </a:solidFill>
                <a:latin typeface="Apple SD Gothic Neo" pitchFamily="34" charset="0"/>
                <a:ea typeface="Apple SD Gothic Neo" pitchFamily="34" charset="-122"/>
                <a:cs typeface="Apple SD Gothic Neo" pitchFamily="34" charset="-120"/>
              </a:rPr>
              <a:t>수집값 ↔ 답변값</a:t>
            </a:r>
            <a:endParaRPr lang="en-US" sz="2300" dirty="0"/>
          </a:p>
        </p:txBody>
      </p:sp>
      <p:sp>
        <p:nvSpPr>
          <p:cNvPr id="15" name="Text 11"/>
          <p:cNvSpPr txBox="1"/>
          <p:nvPr/>
        </p:nvSpPr>
        <p:spPr>
          <a:xfrm>
            <a:off x="7863840" y="3675888"/>
            <a:ext cx="3657600" cy="365760"/>
          </a:xfrm>
          <a:prstGeom prst="rect">
            <a:avLst/>
          </a:prstGeom>
          <a:noFill/>
          <a:ln/>
        </p:spPr>
        <p:txBody>
          <a:bodyPr wrap="square" lIns="0" tIns="0" rIns="0" bIns="0" rtlCol="0" anchor="ctr"/>
          <a:lstStyle/>
          <a:p>
            <a:pPr indent="0" marL="0">
              <a:buNone/>
            </a:pPr>
            <a:r>
              <a:rPr lang="en-US" sz="1600" dirty="0">
                <a:solidFill>
                  <a:srgbClr val="62746D"/>
                </a:solidFill>
                <a:latin typeface="Apple SD Gothic Neo" pitchFamily="34" charset="0"/>
                <a:ea typeface="Apple SD Gothic Neo" pitchFamily="34" charset="-122"/>
                <a:cs typeface="Apple SD Gothic Neo" pitchFamily="34" charset="-120"/>
              </a:rPr>
              <a:t>시스템별 수치를 나란히 대조</a:t>
            </a:r>
            <a:endParaRPr lang="en-US" sz="1600" dirty="0"/>
          </a:p>
        </p:txBody>
      </p:sp>
      <p:sp>
        <p:nvSpPr>
          <p:cNvPr id="16" name="Shape 12"/>
          <p:cNvSpPr/>
          <p:nvPr/>
        </p:nvSpPr>
        <p:spPr>
          <a:xfrm>
            <a:off x="7818120" y="4297680"/>
            <a:ext cx="548640" cy="365760"/>
          </a:xfrm>
          <a:prstGeom prst="roundRect">
            <a:avLst>
              <a:gd name="adj" fmla="val 40000"/>
            </a:avLst>
          </a:prstGeom>
          <a:solidFill>
            <a:srgbClr val="EEF5F1"/>
          </a:solidFill>
          <a:ln w="12700">
            <a:solidFill>
              <a:srgbClr val="EEF5F1"/>
            </a:solidFill>
            <a:prstDash val="solid"/>
          </a:ln>
        </p:spPr>
        <p:txBody>
          <a:bodyPr/>
          <a:p/>
        </p:txBody>
      </p:sp>
      <p:sp>
        <p:nvSpPr>
          <p:cNvPr id="17" name="Text 13"/>
          <p:cNvSpPr txBox="1"/>
          <p:nvPr/>
        </p:nvSpPr>
        <p:spPr>
          <a:xfrm>
            <a:off x="7927848" y="4297680"/>
            <a:ext cx="329184" cy="365760"/>
          </a:xfrm>
          <a:prstGeom prst="rect">
            <a:avLst/>
          </a:prstGeom>
          <a:noFill/>
          <a:ln/>
        </p:spPr>
        <p:txBody>
          <a:bodyPr wrap="square" lIns="0" tIns="0" rIns="0" bIns="0" rtlCol="0" anchor="ctr"/>
          <a:lstStyle/>
          <a:p>
            <a:pPr indent="0" marL="0">
              <a:buNone/>
            </a:pPr>
            <a:r>
              <a:rPr lang="en-US" sz="1200" b="1" dirty="0">
                <a:solidFill>
                  <a:srgbClr val="16785C"/>
                </a:solidFill>
                <a:latin typeface="Apple SD Gothic Neo" pitchFamily="34" charset="0"/>
                <a:ea typeface="Apple SD Gothic Neo" pitchFamily="34" charset="-122"/>
                <a:cs typeface="Apple SD Gothic Neo" pitchFamily="34" charset="-120"/>
              </a:rPr>
              <a:t>03</a:t>
            </a:r>
            <a:endParaRPr lang="en-US" sz="1200" dirty="0"/>
          </a:p>
        </p:txBody>
      </p:sp>
      <p:sp>
        <p:nvSpPr>
          <p:cNvPr id="18" name="Text 14"/>
          <p:cNvSpPr txBox="1"/>
          <p:nvPr/>
        </p:nvSpPr>
        <p:spPr>
          <a:xfrm>
            <a:off x="8595360" y="4261104"/>
            <a:ext cx="2926080" cy="457200"/>
          </a:xfrm>
          <a:prstGeom prst="rect">
            <a:avLst/>
          </a:prstGeom>
          <a:noFill/>
          <a:ln/>
        </p:spPr>
        <p:txBody>
          <a:bodyPr wrap="square" lIns="0" tIns="0" rIns="0" bIns="0" rtlCol="0" anchor="ctr"/>
          <a:lstStyle/>
          <a:p>
            <a:pPr indent="0" marL="0">
              <a:buNone/>
            </a:pPr>
            <a:r>
              <a:rPr lang="en-US" sz="2300" b="1" dirty="0">
                <a:solidFill>
                  <a:srgbClr val="16785C"/>
                </a:solidFill>
                <a:latin typeface="Apple SD Gothic Neo" pitchFamily="34" charset="0"/>
                <a:ea typeface="Apple SD Gothic Neo" pitchFamily="34" charset="-122"/>
                <a:cs typeface="Apple SD Gothic Neo" pitchFamily="34" charset="-120"/>
              </a:rPr>
              <a:t>검증 범위</a:t>
            </a:r>
            <a:endParaRPr lang="en-US" sz="2300" dirty="0"/>
          </a:p>
        </p:txBody>
      </p:sp>
      <p:sp>
        <p:nvSpPr>
          <p:cNvPr id="19" name="Text 15"/>
          <p:cNvSpPr txBox="1"/>
          <p:nvPr/>
        </p:nvSpPr>
        <p:spPr>
          <a:xfrm>
            <a:off x="7863840" y="4818888"/>
            <a:ext cx="3657600" cy="365760"/>
          </a:xfrm>
          <a:prstGeom prst="rect">
            <a:avLst/>
          </a:prstGeom>
          <a:noFill/>
          <a:ln/>
        </p:spPr>
        <p:txBody>
          <a:bodyPr wrap="square" lIns="0" tIns="0" rIns="0" bIns="0" rtlCol="0" anchor="ctr"/>
          <a:lstStyle/>
          <a:p>
            <a:pPr indent="0" marL="0">
              <a:buNone/>
            </a:pPr>
            <a:r>
              <a:rPr lang="en-US" sz="1600" dirty="0">
                <a:solidFill>
                  <a:srgbClr val="62746D"/>
                </a:solidFill>
                <a:latin typeface="Apple SD Gothic Neo" pitchFamily="34" charset="0"/>
                <a:ea typeface="Apple SD Gothic Neo" pitchFamily="34" charset="-122"/>
                <a:cs typeface="Apple SD Gothic Neo" pitchFamily="34" charset="-120"/>
              </a:rPr>
              <a:t>확인한 항목과 한계를 명시</a:t>
            </a:r>
            <a:endParaRPr lang="en-US" sz="1600" dirty="0"/>
          </a:p>
        </p:txBody>
      </p:sp>
      <p:sp>
        <p:nvSpPr>
          <p:cNvPr id="20" name="Text 16"/>
          <p:cNvSpPr txBox="1"/>
          <p:nvPr/>
        </p:nvSpPr>
        <p:spPr>
          <a:xfrm>
            <a:off x="7863840" y="5760720"/>
            <a:ext cx="3657600" cy="457200"/>
          </a:xfrm>
          <a:prstGeom prst="rect">
            <a:avLst/>
          </a:prstGeom>
          <a:noFill/>
          <a:ln/>
        </p:spPr>
        <p:txBody>
          <a:bodyPr wrap="square" lIns="0" tIns="0" rIns="0" bIns="0" rtlCol="0" anchor="ctr"/>
          <a:lstStyle/>
          <a:p>
            <a:pPr indent="0" marL="0">
              <a:buNone/>
            </a:pPr>
            <a:r>
              <a:rPr lang="en-US" sz="1100" dirty="0">
                <a:solidFill>
                  <a:srgbClr val="62746D"/>
                </a:solidFill>
                <a:latin typeface="Apple SD Gothic Neo" pitchFamily="34" charset="0"/>
                <a:ea typeface="Apple SD Gothic Neo" pitchFamily="34" charset="-122"/>
                <a:cs typeface="Apple SD Gothic Neo" pitchFamily="34" charset="-120"/>
              </a:rPr>
              <a:t>모의 작성 모델 · 교육용 모니터링 샘플</a:t>
            </a:r>
            <a:endParaRPr lang="en-US" sz="1100" dirty="0"/>
          </a:p>
          <a:p>
            <a:pPr indent="0" marL="0">
              <a:buNone/>
            </a:pPr>
            <a:r>
              <a:rPr lang="en-US" sz="1100" dirty="0">
                <a:solidFill>
                  <a:srgbClr val="62746D"/>
                </a:solidFill>
                <a:latin typeface="Apple SD Gothic Neo" pitchFamily="34" charset="0"/>
                <a:ea typeface="Apple SD Gothic Neo" pitchFamily="34" charset="-122"/>
                <a:cs typeface="Apple SD Gothic Neo" pitchFamily="34" charset="-120"/>
              </a:rPr>
              <a:t>실제 MCP·로컬 임베딩 연결 · 2026-10-21</a:t>
            </a:r>
            <a:endParaRPr lang="en-US" sz="1100" dirty="0"/>
          </a:p>
        </p:txBody>
      </p:sp>
      <p:pic>
        <p:nvPicPr>
          <p:cNvPr id="21" name="Picture 20" descr="ppt_정상진단.gif"/>
          <p:cNvPicPr>
            <a:picLocks noChangeAspect="1"/>
          </p:cNvPicPr>
          <p:nvPr/>
        </p:nvPicPr>
        <p:blipFill>
          <a:blip r:embed="rId4"/>
          <a:stretch>
            <a:fillRect/>
          </a:stretch>
        </p:blipFill>
        <p:spPr>
          <a:xfrm>
            <a:off x="1280160" y="1783080"/>
            <a:ext cx="5376672" cy="4608576"/>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0040"/>
            <a:ext cx="9144000" cy="274320"/>
          </a:xfrm>
          <a:prstGeom prst="rect">
            <a:avLst/>
          </a:prstGeom>
          <a:noFill/>
        </p:spPr>
        <p:txBody>
          <a:bodyPr wrap="square" lIns="0" rIns="0" tIns="0" bIns="0" anchor="t">
            <a:spAutoFit/>
          </a:bodyPr>
          <a:lstStyle/>
          <a:p>
            <a:r>
              <a:rPr sz="1100" b="1">
                <a:solidFill>
                  <a:srgbClr val="16785C"/>
                </a:solidFill>
                <a:latin typeface="Apple SD Gothic Neo"/>
              </a:rPr>
              <a:t>05  화면 개선</a:t>
            </a:r>
          </a:p>
        </p:txBody>
      </p:sp>
      <p:sp>
        <p:nvSpPr>
          <p:cNvPr id="3" name="TextBox 2"/>
          <p:cNvSpPr txBox="1"/>
          <p:nvPr/>
        </p:nvSpPr>
        <p:spPr>
          <a:xfrm>
            <a:off x="594360" y="868680"/>
            <a:ext cx="10972800" cy="914400"/>
          </a:xfrm>
          <a:prstGeom prst="rect">
            <a:avLst/>
          </a:prstGeom>
          <a:noFill/>
        </p:spPr>
        <p:txBody>
          <a:bodyPr wrap="square" lIns="0" rIns="0" tIns="0" bIns="0" anchor="t">
            <a:spAutoFit/>
          </a:bodyPr>
          <a:lstStyle/>
          <a:p>
            <a:r>
              <a:rPr sz="3200" b="1">
                <a:solidFill>
                  <a:srgbClr val="19382F"/>
                </a:solidFill>
                <a:latin typeface="Apple SD Gothic Neo"/>
              </a:rPr>
              <a:t>근거 확인 중심의 화면 개선</a:t>
            </a:r>
          </a:p>
        </p:txBody>
      </p:sp>
      <p:sp>
        <p:nvSpPr>
          <p:cNvPr id="4" name="TextBox 3"/>
          <p:cNvSpPr txBox="1"/>
          <p:nvPr/>
        </p:nvSpPr>
        <p:spPr>
          <a:xfrm>
            <a:off x="594360" y="6473952"/>
            <a:ext cx="7315200" cy="164592"/>
          </a:xfrm>
          <a:prstGeom prst="rect">
            <a:avLst/>
          </a:prstGeom>
          <a:noFill/>
        </p:spPr>
        <p:txBody>
          <a:bodyPr wrap="square" lIns="0" rIns="0" tIns="0" bIns="0" anchor="t">
            <a:spAutoFit/>
          </a:bodyPr>
          <a:lstStyle/>
          <a:p>
            <a:r>
              <a:rPr sz="900" b="0">
                <a:solidFill>
                  <a:srgbClr val="62746D"/>
                </a:solidFill>
                <a:latin typeface="Apple SD Gothic Neo"/>
              </a:rPr>
              <a:t>AI CAPSTONE  ·  김하연</a:t>
            </a:r>
          </a:p>
        </p:txBody>
      </p:sp>
      <p:pic>
        <p:nvPicPr>
          <p:cNvPr id="5" name="Picture 4" descr="화면설명_주석.png"/>
          <p:cNvPicPr>
            <a:picLocks noChangeAspect="1"/>
          </p:cNvPicPr>
          <p:nvPr/>
        </p:nvPicPr>
        <p:blipFill>
          <a:blip r:embed="rId2"/>
          <a:stretch>
            <a:fillRect/>
          </a:stretch>
        </p:blipFill>
        <p:spPr>
          <a:xfrm>
            <a:off x="640080" y="1783080"/>
            <a:ext cx="4379976" cy="4608576"/>
          </a:xfrm>
          <a:prstGeom prst="rect">
            <a:avLst/>
          </a:prstGeom>
        </p:spPr>
      </p:pic>
      <p:sp>
        <p:nvSpPr>
          <p:cNvPr id="6" name="Rounded Rectangle 5"/>
          <p:cNvSpPr/>
          <p:nvPr/>
        </p:nvSpPr>
        <p:spPr>
          <a:xfrm>
            <a:off x="5349240" y="1874519"/>
            <a:ext cx="548640" cy="365760"/>
          </a:xfrm>
          <a:prstGeom prst="roundRect">
            <a:avLst>
              <a:gd name="adj" fmla="val 50000"/>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49240" y="1874519"/>
            <a:ext cx="548640" cy="365760"/>
          </a:xfrm>
          <a:prstGeom prst="rect">
            <a:avLst/>
          </a:prstGeom>
          <a:noFill/>
        </p:spPr>
        <p:txBody>
          <a:bodyPr wrap="square" lIns="0" rIns="0" tIns="0" bIns="0" anchor="ctr">
            <a:spAutoFit/>
          </a:bodyPr>
          <a:lstStyle/>
          <a:p>
            <a:pPr algn="ctr"/>
            <a:r>
              <a:rPr sz="1200" b="1">
                <a:solidFill>
                  <a:srgbClr val="16785C"/>
                </a:solidFill>
                <a:latin typeface="Apple SD Gothic Neo"/>
              </a:rPr>
              <a:t>01</a:t>
            </a:r>
          </a:p>
        </p:txBody>
      </p:sp>
      <p:sp>
        <p:nvSpPr>
          <p:cNvPr id="8" name="TextBox 7"/>
          <p:cNvSpPr txBox="1"/>
          <p:nvPr/>
        </p:nvSpPr>
        <p:spPr>
          <a:xfrm>
            <a:off x="6080760" y="1847088"/>
            <a:ext cx="3200400" cy="320040"/>
          </a:xfrm>
          <a:prstGeom prst="rect">
            <a:avLst/>
          </a:prstGeom>
          <a:noFill/>
        </p:spPr>
        <p:txBody>
          <a:bodyPr wrap="square" lIns="0" rIns="0" tIns="0" bIns="0" anchor="t">
            <a:spAutoFit/>
          </a:bodyPr>
          <a:lstStyle/>
          <a:p>
            <a:r>
              <a:rPr sz="1800" b="1">
                <a:solidFill>
                  <a:srgbClr val="16785C"/>
                </a:solidFill>
                <a:latin typeface="Apple SD Gothic Neo"/>
              </a:rPr>
              <a:t>진행 단계</a:t>
            </a:r>
          </a:p>
        </p:txBody>
      </p:sp>
      <p:sp>
        <p:nvSpPr>
          <p:cNvPr id="9" name="TextBox 8"/>
          <p:cNvSpPr txBox="1"/>
          <p:nvPr/>
        </p:nvSpPr>
        <p:spPr>
          <a:xfrm>
            <a:off x="6080760" y="2185415"/>
            <a:ext cx="3246120" cy="411480"/>
          </a:xfrm>
          <a:prstGeom prst="rect">
            <a:avLst/>
          </a:prstGeom>
          <a:noFill/>
        </p:spPr>
        <p:txBody>
          <a:bodyPr wrap="square" lIns="0" rIns="0" tIns="0" bIns="0" anchor="t">
            <a:spAutoFit/>
          </a:bodyPr>
          <a:lstStyle/>
          <a:p>
            <a:r>
              <a:rPr sz="1250" b="0">
                <a:solidFill>
                  <a:srgbClr val="62746D"/>
                </a:solidFill>
                <a:latin typeface="Apple SD Gothic Neo"/>
              </a:rPr>
              <a:t>처리 중인 작업을 단계별로 표시</a:t>
            </a:r>
          </a:p>
        </p:txBody>
      </p:sp>
      <p:sp>
        <p:nvSpPr>
          <p:cNvPr id="10" name="Rounded Rectangle 9"/>
          <p:cNvSpPr/>
          <p:nvPr/>
        </p:nvSpPr>
        <p:spPr>
          <a:xfrm>
            <a:off x="5349240" y="2679191"/>
            <a:ext cx="548640" cy="365760"/>
          </a:xfrm>
          <a:prstGeom prst="roundRect">
            <a:avLst>
              <a:gd name="adj" fmla="val 50000"/>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49240" y="2679191"/>
            <a:ext cx="548640" cy="365760"/>
          </a:xfrm>
          <a:prstGeom prst="rect">
            <a:avLst/>
          </a:prstGeom>
          <a:noFill/>
        </p:spPr>
        <p:txBody>
          <a:bodyPr wrap="square" lIns="0" rIns="0" tIns="0" bIns="0" anchor="ctr">
            <a:spAutoFit/>
          </a:bodyPr>
          <a:lstStyle/>
          <a:p>
            <a:pPr algn="ctr"/>
            <a:r>
              <a:rPr sz="1200" b="1">
                <a:solidFill>
                  <a:srgbClr val="16785C"/>
                </a:solidFill>
                <a:latin typeface="Apple SD Gothic Neo"/>
              </a:rPr>
              <a:t>02</a:t>
            </a:r>
          </a:p>
        </p:txBody>
      </p:sp>
      <p:sp>
        <p:nvSpPr>
          <p:cNvPr id="12" name="TextBox 11"/>
          <p:cNvSpPr txBox="1"/>
          <p:nvPr/>
        </p:nvSpPr>
        <p:spPr>
          <a:xfrm>
            <a:off x="6080760" y="2651760"/>
            <a:ext cx="3200400" cy="320040"/>
          </a:xfrm>
          <a:prstGeom prst="rect">
            <a:avLst/>
          </a:prstGeom>
          <a:noFill/>
        </p:spPr>
        <p:txBody>
          <a:bodyPr wrap="square" lIns="0" rIns="0" tIns="0" bIns="0" anchor="t">
            <a:spAutoFit/>
          </a:bodyPr>
          <a:lstStyle/>
          <a:p>
            <a:r>
              <a:rPr sz="1800" b="1">
                <a:solidFill>
                  <a:srgbClr val="16785C"/>
                </a:solidFill>
                <a:latin typeface="Apple SD Gothic Neo"/>
              </a:rPr>
              <a:t>수집값 ↔ 답변값</a:t>
            </a:r>
          </a:p>
        </p:txBody>
      </p:sp>
      <p:sp>
        <p:nvSpPr>
          <p:cNvPr id="13" name="TextBox 12"/>
          <p:cNvSpPr txBox="1"/>
          <p:nvPr/>
        </p:nvSpPr>
        <p:spPr>
          <a:xfrm>
            <a:off x="6080760" y="2990087"/>
            <a:ext cx="3246120" cy="411480"/>
          </a:xfrm>
          <a:prstGeom prst="rect">
            <a:avLst/>
          </a:prstGeom>
          <a:noFill/>
        </p:spPr>
        <p:txBody>
          <a:bodyPr wrap="square" lIns="0" rIns="0" tIns="0" bIns="0" anchor="t">
            <a:spAutoFit/>
          </a:bodyPr>
          <a:lstStyle/>
          <a:p>
            <a:r>
              <a:rPr sz="1250" b="0">
                <a:solidFill>
                  <a:srgbClr val="62746D"/>
                </a:solidFill>
                <a:latin typeface="Apple SD Gothic Neo"/>
              </a:rPr>
              <a:t>수집값과 답변값을 직접 비교</a:t>
            </a:r>
          </a:p>
        </p:txBody>
      </p:sp>
      <p:sp>
        <p:nvSpPr>
          <p:cNvPr id="14" name="Rounded Rectangle 13"/>
          <p:cNvSpPr/>
          <p:nvPr/>
        </p:nvSpPr>
        <p:spPr>
          <a:xfrm>
            <a:off x="5349240" y="3483863"/>
            <a:ext cx="548640" cy="365760"/>
          </a:xfrm>
          <a:prstGeom prst="roundRect">
            <a:avLst>
              <a:gd name="adj" fmla="val 50000"/>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49240" y="3483863"/>
            <a:ext cx="548640" cy="365760"/>
          </a:xfrm>
          <a:prstGeom prst="rect">
            <a:avLst/>
          </a:prstGeom>
          <a:noFill/>
        </p:spPr>
        <p:txBody>
          <a:bodyPr wrap="square" lIns="0" rIns="0" tIns="0" bIns="0" anchor="ctr">
            <a:spAutoFit/>
          </a:bodyPr>
          <a:lstStyle/>
          <a:p>
            <a:pPr algn="ctr"/>
            <a:r>
              <a:rPr sz="1200" b="1">
                <a:solidFill>
                  <a:srgbClr val="16785C"/>
                </a:solidFill>
                <a:latin typeface="Apple SD Gothic Neo"/>
              </a:rPr>
              <a:t>03</a:t>
            </a:r>
          </a:p>
        </p:txBody>
      </p:sp>
      <p:sp>
        <p:nvSpPr>
          <p:cNvPr id="16" name="TextBox 15"/>
          <p:cNvSpPr txBox="1"/>
          <p:nvPr/>
        </p:nvSpPr>
        <p:spPr>
          <a:xfrm>
            <a:off x="6080760" y="3456432"/>
            <a:ext cx="3200400" cy="320040"/>
          </a:xfrm>
          <a:prstGeom prst="rect">
            <a:avLst/>
          </a:prstGeom>
          <a:noFill/>
        </p:spPr>
        <p:txBody>
          <a:bodyPr wrap="square" lIns="0" rIns="0" tIns="0" bIns="0" anchor="t">
            <a:spAutoFit/>
          </a:bodyPr>
          <a:lstStyle/>
          <a:p>
            <a:r>
              <a:rPr sz="1800" b="1">
                <a:solidFill>
                  <a:srgbClr val="16785C"/>
                </a:solidFill>
                <a:latin typeface="Apple SD Gothic Neo"/>
              </a:rPr>
              <a:t>검색 후보 · 유사도</a:t>
            </a:r>
          </a:p>
        </p:txBody>
      </p:sp>
      <p:sp>
        <p:nvSpPr>
          <p:cNvPr id="17" name="TextBox 16"/>
          <p:cNvSpPr txBox="1"/>
          <p:nvPr/>
        </p:nvSpPr>
        <p:spPr>
          <a:xfrm>
            <a:off x="6080760" y="3794759"/>
            <a:ext cx="3246120" cy="411480"/>
          </a:xfrm>
          <a:prstGeom prst="rect">
            <a:avLst/>
          </a:prstGeom>
          <a:noFill/>
        </p:spPr>
        <p:txBody>
          <a:bodyPr wrap="square" lIns="0" rIns="0" tIns="0" bIns="0" anchor="t">
            <a:spAutoFit/>
          </a:bodyPr>
          <a:lstStyle/>
          <a:p>
            <a:r>
              <a:rPr sz="1250" b="0">
                <a:solidFill>
                  <a:srgbClr val="62746D"/>
                </a:solidFill>
                <a:latin typeface="Apple SD Gothic Neo"/>
              </a:rPr>
              <a:t>선택된 매뉴얼과 유사도 점수 확인</a:t>
            </a:r>
          </a:p>
        </p:txBody>
      </p:sp>
      <p:sp>
        <p:nvSpPr>
          <p:cNvPr id="18" name="Rounded Rectangle 17"/>
          <p:cNvSpPr/>
          <p:nvPr/>
        </p:nvSpPr>
        <p:spPr>
          <a:xfrm>
            <a:off x="5349240" y="4288536"/>
            <a:ext cx="548640" cy="365760"/>
          </a:xfrm>
          <a:prstGeom prst="roundRect">
            <a:avLst>
              <a:gd name="adj" fmla="val 50000"/>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49240" y="4288536"/>
            <a:ext cx="548640" cy="365760"/>
          </a:xfrm>
          <a:prstGeom prst="rect">
            <a:avLst/>
          </a:prstGeom>
          <a:noFill/>
        </p:spPr>
        <p:txBody>
          <a:bodyPr wrap="square" lIns="0" rIns="0" tIns="0" bIns="0" anchor="ctr">
            <a:spAutoFit/>
          </a:bodyPr>
          <a:lstStyle/>
          <a:p>
            <a:pPr algn="ctr"/>
            <a:r>
              <a:rPr sz="1200" b="1">
                <a:solidFill>
                  <a:srgbClr val="16785C"/>
                </a:solidFill>
                <a:latin typeface="Apple SD Gothic Neo"/>
              </a:rPr>
              <a:t>04</a:t>
            </a:r>
          </a:p>
        </p:txBody>
      </p:sp>
      <p:sp>
        <p:nvSpPr>
          <p:cNvPr id="20" name="TextBox 19"/>
          <p:cNvSpPr txBox="1"/>
          <p:nvPr/>
        </p:nvSpPr>
        <p:spPr>
          <a:xfrm>
            <a:off x="6080760" y="4261103"/>
            <a:ext cx="3200400" cy="320040"/>
          </a:xfrm>
          <a:prstGeom prst="rect">
            <a:avLst/>
          </a:prstGeom>
          <a:noFill/>
        </p:spPr>
        <p:txBody>
          <a:bodyPr wrap="square" lIns="0" rIns="0" tIns="0" bIns="0" anchor="t">
            <a:spAutoFit/>
          </a:bodyPr>
          <a:lstStyle/>
          <a:p>
            <a:r>
              <a:rPr sz="1800" b="1">
                <a:solidFill>
                  <a:srgbClr val="16785C"/>
                </a:solidFill>
                <a:latin typeface="Apple SD Gothic Neo"/>
              </a:rPr>
              <a:t>상태 구분</a:t>
            </a:r>
          </a:p>
        </p:txBody>
      </p:sp>
      <p:sp>
        <p:nvSpPr>
          <p:cNvPr id="21" name="TextBox 20"/>
          <p:cNvSpPr txBox="1"/>
          <p:nvPr/>
        </p:nvSpPr>
        <p:spPr>
          <a:xfrm>
            <a:off x="6080760" y="4599431"/>
            <a:ext cx="3246120" cy="411480"/>
          </a:xfrm>
          <a:prstGeom prst="rect">
            <a:avLst/>
          </a:prstGeom>
          <a:noFill/>
        </p:spPr>
        <p:txBody>
          <a:bodyPr wrap="square" lIns="0" rIns="0" tIns="0" bIns="0" anchor="t">
            <a:spAutoFit/>
          </a:bodyPr>
          <a:lstStyle/>
          <a:p>
            <a:r>
              <a:rPr sz="1250" b="0">
                <a:solidFill>
                  <a:srgbClr val="62746D"/>
                </a:solidFill>
                <a:latin typeface="Apple SD Gothic Neo"/>
              </a:rPr>
              <a:t>정상 · 검증 실패 · 자료 부족 상태를 구분하여 안내</a:t>
            </a:r>
          </a:p>
        </p:txBody>
      </p:sp>
      <p:sp>
        <p:nvSpPr>
          <p:cNvPr id="22" name="Rounded Rectangle 21"/>
          <p:cNvSpPr/>
          <p:nvPr/>
        </p:nvSpPr>
        <p:spPr>
          <a:xfrm>
            <a:off x="5349240" y="5093208"/>
            <a:ext cx="548640" cy="365760"/>
          </a:xfrm>
          <a:prstGeom prst="roundRect">
            <a:avLst>
              <a:gd name="adj" fmla="val 50000"/>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49240" y="5093208"/>
            <a:ext cx="548640" cy="365760"/>
          </a:xfrm>
          <a:prstGeom prst="rect">
            <a:avLst/>
          </a:prstGeom>
          <a:noFill/>
        </p:spPr>
        <p:txBody>
          <a:bodyPr wrap="square" lIns="0" rIns="0" tIns="0" bIns="0" anchor="ctr">
            <a:spAutoFit/>
          </a:bodyPr>
          <a:lstStyle/>
          <a:p>
            <a:pPr algn="ctr"/>
            <a:r>
              <a:rPr sz="1200" b="1">
                <a:solidFill>
                  <a:srgbClr val="16785C"/>
                </a:solidFill>
                <a:latin typeface="Apple SD Gothic Neo"/>
              </a:rPr>
              <a:t>05</a:t>
            </a:r>
          </a:p>
        </p:txBody>
      </p:sp>
      <p:sp>
        <p:nvSpPr>
          <p:cNvPr id="24" name="TextBox 23"/>
          <p:cNvSpPr txBox="1"/>
          <p:nvPr/>
        </p:nvSpPr>
        <p:spPr>
          <a:xfrm>
            <a:off x="6080760" y="5065776"/>
            <a:ext cx="3200400" cy="320040"/>
          </a:xfrm>
          <a:prstGeom prst="rect">
            <a:avLst/>
          </a:prstGeom>
          <a:noFill/>
        </p:spPr>
        <p:txBody>
          <a:bodyPr wrap="square" lIns="0" rIns="0" tIns="0" bIns="0" anchor="t">
            <a:spAutoFit/>
          </a:bodyPr>
          <a:lstStyle/>
          <a:p>
            <a:r>
              <a:rPr sz="1800" b="1">
                <a:solidFill>
                  <a:srgbClr val="16785C"/>
                </a:solidFill>
                <a:latin typeface="Apple SD Gothic Neo"/>
              </a:rPr>
              <a:t>초안 비공개</a:t>
            </a:r>
          </a:p>
        </p:txBody>
      </p:sp>
      <p:sp>
        <p:nvSpPr>
          <p:cNvPr id="25" name="TextBox 24"/>
          <p:cNvSpPr txBox="1"/>
          <p:nvPr/>
        </p:nvSpPr>
        <p:spPr>
          <a:xfrm>
            <a:off x="6080760" y="5404104"/>
            <a:ext cx="3246120" cy="411480"/>
          </a:xfrm>
          <a:prstGeom prst="rect">
            <a:avLst/>
          </a:prstGeom>
          <a:noFill/>
        </p:spPr>
        <p:txBody>
          <a:bodyPr wrap="square" lIns="0" rIns="0" tIns="0" bIns="0" anchor="t">
            <a:spAutoFit/>
          </a:bodyPr>
          <a:lstStyle/>
          <a:p>
            <a:r>
              <a:rPr sz="1250" b="0">
                <a:solidFill>
                  <a:srgbClr val="62746D"/>
                </a:solidFill>
                <a:latin typeface="Apple SD Gothic Neo"/>
              </a:rPr>
              <a:t>검증 전 초안 비공개</a:t>
            </a:r>
          </a:p>
        </p:txBody>
      </p:sp>
      <p:sp>
        <p:nvSpPr>
          <p:cNvPr id="26" name="TextBox 25"/>
          <p:cNvSpPr txBox="1"/>
          <p:nvPr/>
        </p:nvSpPr>
        <p:spPr>
          <a:xfrm>
            <a:off x="5349240" y="5943600"/>
            <a:ext cx="4023360" cy="274320"/>
          </a:xfrm>
          <a:prstGeom prst="rect">
            <a:avLst/>
          </a:prstGeom>
          <a:noFill/>
        </p:spPr>
        <p:txBody>
          <a:bodyPr wrap="square" lIns="0" rIns="0" tIns="0" bIns="0" anchor="t">
            <a:spAutoFit/>
          </a:bodyPr>
          <a:lstStyle/>
          <a:p>
            <a:r>
              <a:rPr sz="1100" b="0">
                <a:solidFill>
                  <a:srgbClr val="62746D"/>
                </a:solidFill>
                <a:latin typeface="Apple SD Gothic Neo"/>
              </a:rPr>
              <a:t>제공받은 Vue 화면을 근거 확인 중심으로 개선 · 모의 작성 모델</a:t>
            </a:r>
          </a:p>
        </p:txBody>
      </p:sp>
      <p:sp>
        <p:nvSpPr>
          <p:cNvPr id="27" name="TextBox 26"/>
          <p:cNvSpPr txBox="1"/>
          <p:nvPr/>
        </p:nvSpPr>
        <p:spPr>
          <a:xfrm>
            <a:off x="9418320" y="1874519"/>
            <a:ext cx="2194560" cy="228600"/>
          </a:xfrm>
          <a:prstGeom prst="rect">
            <a:avLst/>
          </a:prstGeom>
          <a:noFill/>
        </p:spPr>
        <p:txBody>
          <a:bodyPr wrap="square" lIns="0" rIns="0" tIns="0" bIns="0" anchor="t">
            <a:spAutoFit/>
          </a:bodyPr>
          <a:lstStyle/>
          <a:p>
            <a:r>
              <a:rPr sz="1100" b="1">
                <a:solidFill>
                  <a:srgbClr val="B04A3A"/>
                </a:solidFill>
                <a:latin typeface="Apple SD Gothic Neo"/>
              </a:rPr>
              <a:t>검증 실패</a:t>
            </a:r>
          </a:p>
        </p:txBody>
      </p:sp>
      <p:pic>
        <p:nvPicPr>
          <p:cNvPr id="28" name="Picture 27" descr="최종점검_검증실패.png"/>
          <p:cNvPicPr>
            <a:picLocks noChangeAspect="1"/>
          </p:cNvPicPr>
          <p:nvPr/>
        </p:nvPicPr>
        <p:blipFill>
          <a:blip r:embed="rId3"/>
          <a:stretch>
            <a:fillRect/>
          </a:stretch>
        </p:blipFill>
        <p:spPr>
          <a:xfrm>
            <a:off x="9418320" y="2148840"/>
            <a:ext cx="2240280" cy="1261872"/>
          </a:xfrm>
          <a:prstGeom prst="rect">
            <a:avLst/>
          </a:prstGeom>
        </p:spPr>
      </p:pic>
      <p:sp>
        <p:nvSpPr>
          <p:cNvPr id="29" name="TextBox 28"/>
          <p:cNvSpPr txBox="1"/>
          <p:nvPr/>
        </p:nvSpPr>
        <p:spPr>
          <a:xfrm>
            <a:off x="9418320" y="3703320"/>
            <a:ext cx="2194560" cy="228600"/>
          </a:xfrm>
          <a:prstGeom prst="rect">
            <a:avLst/>
          </a:prstGeom>
          <a:noFill/>
        </p:spPr>
        <p:txBody>
          <a:bodyPr wrap="square" lIns="0" rIns="0" tIns="0" bIns="0" anchor="t">
            <a:spAutoFit/>
          </a:bodyPr>
          <a:lstStyle/>
          <a:p>
            <a:r>
              <a:rPr sz="1100" b="1">
                <a:solidFill>
                  <a:srgbClr val="B04A3A"/>
                </a:solidFill>
                <a:latin typeface="Apple SD Gothic Neo"/>
              </a:rPr>
              <a:t>자료 부족 · 검증 불가</a:t>
            </a:r>
          </a:p>
        </p:txBody>
      </p:sp>
      <p:pic>
        <p:nvPicPr>
          <p:cNvPr id="30" name="Picture 29" descr="최종점검_자료부족.png"/>
          <p:cNvPicPr>
            <a:picLocks noChangeAspect="1"/>
          </p:cNvPicPr>
          <p:nvPr/>
        </p:nvPicPr>
        <p:blipFill>
          <a:blip r:embed="rId4"/>
          <a:stretch>
            <a:fillRect/>
          </a:stretch>
        </p:blipFill>
        <p:spPr>
          <a:xfrm>
            <a:off x="9418320" y="3977639"/>
            <a:ext cx="2240280" cy="1261872"/>
          </a:xfrm>
          <a:prstGeom prst="rect">
            <a:avLst/>
          </a:prstGeom>
        </p:spPr>
      </p:pic>
      <p:sp>
        <p:nvSpPr>
          <p:cNvPr id="31" name="TextBox 30"/>
          <p:cNvSpPr txBox="1"/>
          <p:nvPr/>
        </p:nvSpPr>
        <p:spPr>
          <a:xfrm>
            <a:off x="10835640" y="6473952"/>
            <a:ext cx="777240" cy="164592"/>
          </a:xfrm>
          <a:prstGeom prst="rect">
            <a:avLst/>
          </a:prstGeom>
          <a:noFill/>
        </p:spPr>
        <p:txBody>
          <a:bodyPr wrap="none" lIns="0" rIns="0" tIns="0" bIns="0">
            <a:spAutoFit/>
          </a:bodyPr>
          <a:lstStyle/>
          <a:p>
            <a:r>
              <a:rPr sz="900">
                <a:solidFill>
                  <a:srgbClr val="62746D"/>
                </a:solidFill>
                <a:latin typeface="Apple SD Gothic Neo"/>
              </a:rPr>
              <a:t>06 / 10</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0040"/>
            <a:ext cx="9144000" cy="274320"/>
          </a:xfrm>
          <a:prstGeom prst="rect">
            <a:avLst/>
          </a:prstGeom>
          <a:noFill/>
          <a:ln/>
        </p:spPr>
        <p:txBody>
          <a:bodyPr wrap="square" lIns="0" tIns="0" rIns="0" bIns="0" rtlCol="0" anchor="ctr"/>
          <a:lstStyle/>
          <a:p>
            <a:pPr indent="0" marL="0">
              <a:buNone/>
            </a:pPr>
            <a:r>
              <a:rPr lang="en-US" sz="1100" b="1" dirty="0">
                <a:solidFill>
                  <a:srgbClr val="16785C"/>
                </a:solidFill>
                <a:latin typeface="Apple SD Gothic Neo" pitchFamily="34" charset="0"/>
                <a:ea typeface="Apple SD Gothic Neo" pitchFamily="34" charset="-122"/>
                <a:cs typeface="Apple SD Gothic Neo" pitchFamily="34" charset="-120"/>
              </a:rPr>
              <a:t>06  개선 전후 실행 화면</a:t>
            </a:r>
            <a:endParaRPr lang="en-US" sz="1100" dirty="0"/>
          </a:p>
        </p:txBody>
      </p:sp>
      <p:sp>
        <p:nvSpPr>
          <p:cNvPr id="3" name="Text 1"/>
          <p:cNvSpPr txBox="1"/>
          <p:nvPr/>
        </p:nvSpPr>
        <p:spPr>
          <a:xfrm>
            <a:off x="594360" y="868680"/>
            <a:ext cx="10972800" cy="914400"/>
          </a:xfrm>
          <a:prstGeom prst="rect">
            <a:avLst/>
          </a:prstGeom>
          <a:noFill/>
          <a:ln/>
        </p:spPr>
        <p:txBody>
          <a:bodyPr wrap="square" lIns="0" tIns="0" rIns="0" bIns="0" rtlCol="0" anchor="ctr"/>
          <a:lstStyle/>
          <a:p>
            <a:pPr indent="0" marL="0">
              <a:buNone/>
            </a:pPr>
            <a:r>
              <a:rPr lang="en-US" sz="3200" b="1" dirty="0">
                <a:solidFill>
                  <a:srgbClr val="19382F"/>
                </a:solidFill>
                <a:latin typeface="Apple SD Gothic Neo" pitchFamily="34" charset="0"/>
                <a:ea typeface="Apple SD Gothic Neo" pitchFamily="34" charset="-122"/>
                <a:cs typeface="Apple SD Gothic Neo" pitchFamily="34" charset="-120"/>
              </a:rPr>
              <a:t>동일 오류 조건에서 오답 통과 대신 실패 안내</a:t>
            </a:r>
            <a:endParaRPr lang="en-US" sz="3200" dirty="0"/>
          </a:p>
        </p:txBody>
      </p:sp>
      <p:sp>
        <p:nvSpPr>
          <p:cNvPr id="4" name="Text 2"/>
          <p:cNvSpPr txBox="1"/>
          <p:nvPr/>
        </p:nvSpPr>
        <p:spPr>
          <a:xfrm>
            <a:off x="594360" y="6473952"/>
            <a:ext cx="731520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AI CAPSTONE  ·  김하연</a:t>
            </a:r>
            <a:endParaRPr lang="en-US" sz="900" dirty="0"/>
          </a:p>
        </p:txBody>
      </p:sp>
      <p:sp>
        <p:nvSpPr>
          <p:cNvPr id="5" name="Text 3"/>
          <p:cNvSpPr txBox="1"/>
          <p:nvPr/>
        </p:nvSpPr>
        <p:spPr>
          <a:xfrm>
            <a:off x="10835640" y="6473952"/>
            <a:ext cx="77724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07 / 10</a:t>
            </a:r>
            <a:endParaRPr lang="en-US" sz="900" dirty="0"/>
          </a:p>
        </p:txBody>
      </p:sp>
      <p:sp>
        <p:nvSpPr>
          <p:cNvPr id="7" name="Shape 4"/>
          <p:cNvSpPr/>
          <p:nvPr/>
        </p:nvSpPr>
        <p:spPr>
          <a:xfrm>
            <a:off x="640080" y="1965960"/>
            <a:ext cx="1051560" cy="365760"/>
          </a:xfrm>
          <a:prstGeom prst="roundRect">
            <a:avLst>
              <a:gd name="adj" fmla="val 40000"/>
            </a:avLst>
          </a:prstGeom>
          <a:solidFill>
            <a:srgbClr val="FAEEEA"/>
          </a:solidFill>
          <a:ln w="12700">
            <a:solidFill>
              <a:srgbClr val="FAEEEA"/>
            </a:solidFill>
            <a:prstDash val="solid"/>
          </a:ln>
        </p:spPr>
        <p:txBody>
          <a:bodyPr/>
          <a:p/>
        </p:txBody>
      </p:sp>
      <p:sp>
        <p:nvSpPr>
          <p:cNvPr id="8" name="Text 5"/>
          <p:cNvSpPr txBox="1"/>
          <p:nvPr/>
        </p:nvSpPr>
        <p:spPr>
          <a:xfrm>
            <a:off x="749808" y="1965960"/>
            <a:ext cx="832104" cy="365760"/>
          </a:xfrm>
          <a:prstGeom prst="rect">
            <a:avLst/>
          </a:prstGeom>
          <a:noFill/>
          <a:ln/>
        </p:spPr>
        <p:txBody>
          <a:bodyPr wrap="square" lIns="0" tIns="0" rIns="0" bIns="0" rtlCol="0" anchor="ctr"/>
          <a:lstStyle/>
          <a:p>
            <a:pPr indent="0" marL="0">
              <a:buNone/>
            </a:pPr>
            <a:r>
              <a:rPr lang="en-US" sz="1200" b="1" dirty="0">
                <a:solidFill>
                  <a:srgbClr val="B6503E"/>
                </a:solidFill>
                <a:latin typeface="Apple SD Gothic Neo" pitchFamily="34" charset="0"/>
                <a:ea typeface="Apple SD Gothic Neo" pitchFamily="34" charset="-122"/>
                <a:cs typeface="Apple SD Gothic Neo" pitchFamily="34" charset="-120"/>
              </a:rPr>
              <a:t>BEFORE</a:t>
            </a:r>
            <a:endParaRPr lang="en-US" sz="1200" dirty="0"/>
          </a:p>
        </p:txBody>
      </p:sp>
      <p:sp>
        <p:nvSpPr>
          <p:cNvPr id="9" name="Text 6"/>
          <p:cNvSpPr txBox="1"/>
          <p:nvPr/>
        </p:nvSpPr>
        <p:spPr>
          <a:xfrm>
            <a:off x="1920240" y="1920240"/>
            <a:ext cx="3749040" cy="457200"/>
          </a:xfrm>
          <a:prstGeom prst="rect">
            <a:avLst/>
          </a:prstGeom>
          <a:noFill/>
          <a:ln/>
        </p:spPr>
        <p:txBody>
          <a:bodyPr wrap="square" lIns="0" tIns="0" rIns="0" bIns="0" rtlCol="0" anchor="ctr"/>
          <a:lstStyle/>
          <a:p>
            <a:pPr indent="0" marL="0">
              <a:buNone/>
            </a:pPr>
            <a:r>
              <a:rPr lang="en-US" sz="2500" b="1" dirty="0">
                <a:solidFill>
                  <a:srgbClr val="B6503E"/>
                </a:solidFill>
                <a:latin typeface="Apple SD Gothic Neo" pitchFamily="34" charset="0"/>
                <a:ea typeface="Apple SD Gothic Neo" pitchFamily="34" charset="-122"/>
                <a:cs typeface="Apple SD Gothic Neo" pitchFamily="34" charset="-120"/>
              </a:rPr>
              <a:t>틀린 수치도 통과</a:t>
            </a:r>
            <a:endParaRPr lang="en-US" sz="2500" dirty="0"/>
          </a:p>
        </p:txBody>
      </p:sp>
      <p:sp>
        <p:nvSpPr>
          <p:cNvPr id="10" name="Shape 7"/>
          <p:cNvSpPr/>
          <p:nvPr/>
        </p:nvSpPr>
        <p:spPr>
          <a:xfrm>
            <a:off x="6355080" y="1965960"/>
            <a:ext cx="960120" cy="365760"/>
          </a:xfrm>
          <a:prstGeom prst="roundRect">
            <a:avLst>
              <a:gd name="adj" fmla="val 40000"/>
            </a:avLst>
          </a:prstGeom>
          <a:solidFill>
            <a:srgbClr val="EEF5F1"/>
          </a:solidFill>
          <a:ln w="12700">
            <a:solidFill>
              <a:srgbClr val="EEF5F1"/>
            </a:solidFill>
            <a:prstDash val="solid"/>
          </a:ln>
        </p:spPr>
        <p:txBody>
          <a:bodyPr/>
          <a:p/>
        </p:txBody>
      </p:sp>
      <p:sp>
        <p:nvSpPr>
          <p:cNvPr id="11" name="Text 8"/>
          <p:cNvSpPr txBox="1"/>
          <p:nvPr/>
        </p:nvSpPr>
        <p:spPr>
          <a:xfrm>
            <a:off x="6464808" y="1965960"/>
            <a:ext cx="740664" cy="365760"/>
          </a:xfrm>
          <a:prstGeom prst="rect">
            <a:avLst/>
          </a:prstGeom>
          <a:noFill/>
          <a:ln/>
        </p:spPr>
        <p:txBody>
          <a:bodyPr wrap="square" lIns="0" tIns="0" rIns="0" bIns="0" rtlCol="0" anchor="ctr"/>
          <a:lstStyle/>
          <a:p>
            <a:pPr indent="0" marL="0">
              <a:buNone/>
            </a:pPr>
            <a:r>
              <a:rPr lang="en-US" sz="1200" b="1" dirty="0">
                <a:solidFill>
                  <a:srgbClr val="16785C"/>
                </a:solidFill>
                <a:latin typeface="Apple SD Gothic Neo" pitchFamily="34" charset="0"/>
                <a:ea typeface="Apple SD Gothic Neo" pitchFamily="34" charset="-122"/>
                <a:cs typeface="Apple SD Gothic Neo" pitchFamily="34" charset="-120"/>
              </a:rPr>
              <a:t>AFTER</a:t>
            </a:r>
            <a:endParaRPr lang="en-US" sz="1200" dirty="0"/>
          </a:p>
        </p:txBody>
      </p:sp>
      <p:sp>
        <p:nvSpPr>
          <p:cNvPr id="12" name="Text 9"/>
          <p:cNvSpPr txBox="1"/>
          <p:nvPr/>
        </p:nvSpPr>
        <p:spPr>
          <a:xfrm>
            <a:off x="7543800" y="1920240"/>
            <a:ext cx="3977640" cy="457200"/>
          </a:xfrm>
          <a:prstGeom prst="rect">
            <a:avLst/>
          </a:prstGeom>
          <a:noFill/>
          <a:ln/>
        </p:spPr>
        <p:txBody>
          <a:bodyPr wrap="square" lIns="0" tIns="0" rIns="0" bIns="0" rtlCol="0" anchor="ctr"/>
          <a:lstStyle/>
          <a:p>
            <a:pPr indent="0" marL="0">
              <a:buNone/>
            </a:pPr>
            <a:r>
              <a:rPr lang="en-US" sz="2500" b="1" dirty="0">
                <a:solidFill>
                  <a:srgbClr val="16785C"/>
                </a:solidFill>
                <a:latin typeface="Apple SD Gothic Neo" pitchFamily="34" charset="0"/>
                <a:ea typeface="Apple SD Gothic Neo" pitchFamily="34" charset="-122"/>
                <a:cs typeface="Apple SD Gothic Neo" pitchFamily="34" charset="-120"/>
              </a:rPr>
              <a:t>수집값과 다르면 차단</a:t>
            </a:r>
            <a:endParaRPr lang="en-US" sz="2500" dirty="0"/>
          </a:p>
        </p:txBody>
      </p:sp>
      <p:sp>
        <p:nvSpPr>
          <p:cNvPr id="15" name="Text 10"/>
          <p:cNvSpPr txBox="1"/>
          <p:nvPr/>
        </p:nvSpPr>
        <p:spPr>
          <a:xfrm>
            <a:off x="731520" y="5166360"/>
            <a:ext cx="5029200" cy="457200"/>
          </a:xfrm>
          <a:prstGeom prst="rect">
            <a:avLst/>
          </a:prstGeom>
          <a:noFill/>
          <a:ln/>
        </p:spPr>
        <p:txBody>
          <a:bodyPr wrap="square" lIns="0" tIns="0" rIns="0" bIns="0" rtlCol="0" anchor="ctr"/>
          <a:lstStyle/>
          <a:p>
            <a:pPr indent="0" marL="0">
              <a:buNone/>
            </a:pPr>
            <a:r>
              <a:rPr lang="en-US" sz="1900" dirty="0">
                <a:solidFill>
                  <a:srgbClr val="62746D"/>
                </a:solidFill>
                <a:latin typeface="Apple SD Gothic Neo" pitchFamily="34" charset="0"/>
                <a:ea typeface="Apple SD Gothic Neo" pitchFamily="34" charset="-122"/>
                <a:cs typeface="Apple SD Gothic Neo" pitchFamily="34" charset="-120"/>
              </a:rPr>
              <a:t>검사 기준: 길이·번호</a:t>
            </a:r>
            <a:endParaRPr lang="en-US" sz="1900" dirty="0"/>
          </a:p>
        </p:txBody>
      </p:sp>
      <p:sp>
        <p:nvSpPr>
          <p:cNvPr id="16" name="Text 11"/>
          <p:cNvSpPr txBox="1"/>
          <p:nvPr/>
        </p:nvSpPr>
        <p:spPr>
          <a:xfrm>
            <a:off x="6400800" y="5166360"/>
            <a:ext cx="5120640" cy="457200"/>
          </a:xfrm>
          <a:prstGeom prst="rect">
            <a:avLst/>
          </a:prstGeom>
          <a:noFill/>
          <a:ln/>
        </p:spPr>
        <p:txBody>
          <a:bodyPr wrap="square" lIns="0" tIns="0" rIns="0" bIns="0" rtlCol="0" anchor="ctr"/>
          <a:lstStyle/>
          <a:p>
            <a:pPr indent="0" marL="0">
              <a:buNone/>
            </a:pPr>
            <a:r>
              <a:rPr lang="en-US" sz="1900" b="1" dirty="0">
                <a:solidFill>
                  <a:srgbClr val="16785C"/>
                </a:solidFill>
                <a:latin typeface="Apple SD Gothic Neo" pitchFamily="34" charset="0"/>
                <a:ea typeface="Apple SD Gothic Neo" pitchFamily="34" charset="-122"/>
                <a:cs typeface="Apple SD Gothic Neo" pitchFamily="34" charset="-120"/>
              </a:rPr>
              <a:t>총 3회 실패 → 사유와 실제 수집값 제공</a:t>
            </a:r>
            <a:endParaRPr lang="en-US" sz="1900" dirty="0"/>
          </a:p>
        </p:txBody>
      </p:sp>
      <p:sp>
        <p:nvSpPr>
          <p:cNvPr id="17" name="Text 12"/>
          <p:cNvSpPr txBox="1"/>
          <p:nvPr/>
        </p:nvSpPr>
        <p:spPr>
          <a:xfrm>
            <a:off x="685800" y="5989320"/>
            <a:ext cx="10881360" cy="320040"/>
          </a:xfrm>
          <a:prstGeom prst="rect">
            <a:avLst/>
          </a:prstGeom>
          <a:noFill/>
          <a:ln/>
        </p:spPr>
        <p:txBody>
          <a:bodyPr wrap="square" lIns="0" tIns="0" rIns="0" bIns="0" rtlCol="0" anchor="ctr"/>
          <a:lstStyle/>
          <a:p>
            <a:pPr indent="0" marL="0">
              <a:buNone/>
            </a:pPr>
            <a:r>
              <a:rPr lang="en-US" sz="1200" dirty="0">
                <a:solidFill>
                  <a:srgbClr val="62746D"/>
                </a:solidFill>
                <a:latin typeface="Apple SD Gothic Neo" pitchFamily="34" charset="0"/>
                <a:ea typeface="Apple SD Gothic Neo" pitchFamily="34" charset="-122"/>
                <a:cs typeface="Apple SD Gothic Neo" pitchFamily="34" charset="-120"/>
              </a:rPr>
              <a:t>같은 질문 + CPU 수치에 15%p 오류 주입 · 모의 모델 재현 · 실행별 모니터링 수치에는 변동이 있음</a:t>
            </a:r>
            <a:endParaRPr lang="en-US" sz="1200" dirty="0"/>
          </a:p>
        </p:txBody>
      </p:sp>
      <p:pic>
        <p:nvPicPr>
          <p:cNvPr id="18" name="Picture 17" descr="ppt_개선전.gif"/>
          <p:cNvPicPr>
            <a:picLocks noChangeAspect="1"/>
          </p:cNvPicPr>
          <p:nvPr/>
        </p:nvPicPr>
        <p:blipFill>
          <a:blip r:embed="rId5"/>
          <a:stretch>
            <a:fillRect/>
          </a:stretch>
        </p:blipFill>
        <p:spPr>
          <a:xfrm>
            <a:off x="640080" y="2743200"/>
            <a:ext cx="5166360" cy="2309362"/>
          </a:xfrm>
          <a:prstGeom prst="rect">
            <a:avLst/>
          </a:prstGeom>
        </p:spPr>
      </p:pic>
      <p:pic>
        <p:nvPicPr>
          <p:cNvPr id="19" name="Picture 18" descr="ppt_개선후.gif"/>
          <p:cNvPicPr>
            <a:picLocks noChangeAspect="1"/>
          </p:cNvPicPr>
          <p:nvPr/>
        </p:nvPicPr>
        <p:blipFill>
          <a:blip r:embed="rId6"/>
          <a:stretch>
            <a:fillRect/>
          </a:stretch>
        </p:blipFill>
        <p:spPr>
          <a:xfrm>
            <a:off x="6355080" y="2743200"/>
            <a:ext cx="5166360" cy="2309362"/>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0040"/>
            <a:ext cx="9144000" cy="274320"/>
          </a:xfrm>
          <a:prstGeom prst="rect">
            <a:avLst/>
          </a:prstGeom>
          <a:noFill/>
          <a:ln/>
        </p:spPr>
        <p:txBody>
          <a:bodyPr wrap="square" lIns="0" tIns="0" rIns="0" bIns="0" rtlCol="0" anchor="ctr"/>
          <a:lstStyle/>
          <a:p>
            <a:pPr indent="0" marL="0">
              <a:buNone/>
            </a:pPr>
            <a:r>
              <a:rPr lang="en-US" sz="1100" b="1" dirty="0">
                <a:solidFill>
                  <a:srgbClr val="16785C"/>
                </a:solidFill>
                <a:latin typeface="Apple SD Gothic Neo" pitchFamily="34" charset="0"/>
                <a:ea typeface="Apple SD Gothic Neo" pitchFamily="34" charset="-122"/>
                <a:cs typeface="Apple SD Gothic Neo" pitchFamily="34" charset="-120"/>
              </a:rPr>
              <a:t>07  평가 결과</a:t>
            </a:r>
            <a:endParaRPr lang="en-US" sz="1100" dirty="0"/>
          </a:p>
        </p:txBody>
      </p:sp>
      <p:sp>
        <p:nvSpPr>
          <p:cNvPr id="3" name="Text 1"/>
          <p:cNvSpPr txBox="1"/>
          <p:nvPr/>
        </p:nvSpPr>
        <p:spPr>
          <a:xfrm>
            <a:off x="594360" y="868680"/>
            <a:ext cx="10972800" cy="914400"/>
          </a:xfrm>
          <a:prstGeom prst="rect">
            <a:avLst/>
          </a:prstGeom>
          <a:noFill/>
          <a:ln/>
        </p:spPr>
        <p:txBody>
          <a:bodyPr wrap="square" lIns="0" tIns="0" rIns="0" bIns="0" rtlCol="0" anchor="ctr"/>
          <a:lstStyle/>
          <a:p>
            <a:pPr indent="0" marL="0">
              <a:buNone/>
            </a:pPr>
            <a:r>
              <a:rPr lang="en-US" sz="3200" b="1" dirty="0">
                <a:solidFill>
                  <a:srgbClr val="19382F"/>
                </a:solidFill>
                <a:latin typeface="Apple SD Gothic Neo" pitchFamily="34" charset="0"/>
                <a:ea typeface="Apple SD Gothic Neo" pitchFamily="34" charset="-122"/>
                <a:cs typeface="Apple SD Gothic Neo" pitchFamily="34" charset="-120"/>
              </a:rPr>
              <a:t>자체 평가 기준 오류 차단 및 매뉴얼 선택 개선</a:t>
            </a:r>
            <a:endParaRPr lang="en-US" sz="3200" dirty="0"/>
          </a:p>
        </p:txBody>
      </p:sp>
      <p:sp>
        <p:nvSpPr>
          <p:cNvPr id="4" name="Text 2"/>
          <p:cNvSpPr txBox="1"/>
          <p:nvPr/>
        </p:nvSpPr>
        <p:spPr>
          <a:xfrm>
            <a:off x="594360" y="6473952"/>
            <a:ext cx="731520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AI CAPSTONE  ·  김하연</a:t>
            </a:r>
            <a:endParaRPr lang="en-US" sz="900" dirty="0"/>
          </a:p>
        </p:txBody>
      </p:sp>
      <p:sp>
        <p:nvSpPr>
          <p:cNvPr id="5" name="Text 3"/>
          <p:cNvSpPr txBox="1"/>
          <p:nvPr/>
        </p:nvSpPr>
        <p:spPr>
          <a:xfrm>
            <a:off x="10835640" y="6473952"/>
            <a:ext cx="77724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08 / 10</a:t>
            </a:r>
            <a:endParaRPr lang="en-US" sz="900" dirty="0"/>
          </a:p>
        </p:txBody>
      </p:sp>
      <p:sp>
        <p:nvSpPr>
          <p:cNvPr id="7" name="Text 4"/>
          <p:cNvSpPr txBox="1"/>
          <p:nvPr/>
        </p:nvSpPr>
        <p:spPr>
          <a:xfrm>
            <a:off x="640080" y="1965960"/>
            <a:ext cx="5212080" cy="411480"/>
          </a:xfrm>
          <a:prstGeom prst="rect">
            <a:avLst/>
          </a:prstGeom>
          <a:noFill/>
          <a:ln/>
        </p:spPr>
        <p:txBody>
          <a:bodyPr wrap="square" lIns="0" tIns="0" rIns="0" bIns="0" rtlCol="0" anchor="ctr"/>
          <a:lstStyle/>
          <a:p>
            <a:pPr indent="0" marL="0">
              <a:buNone/>
            </a:pPr>
            <a:r>
              <a:rPr lang="en-US" sz="2300" b="1" dirty="0">
                <a:solidFill>
                  <a:srgbClr val="16785C"/>
                </a:solidFill>
                <a:latin typeface="Apple SD Gothic Neo" pitchFamily="34" charset="0"/>
                <a:ea typeface="Apple SD Gothic Neo" pitchFamily="34" charset="-122"/>
                <a:cs typeface="Apple SD Gothic Neo" pitchFamily="34" charset="-120"/>
              </a:rPr>
              <a:t>오류 답변 차단</a:t>
            </a:r>
            <a:endParaRPr lang="en-US" sz="2300" dirty="0"/>
          </a:p>
        </p:txBody>
      </p:sp>
      <p:sp>
        <p:nvSpPr>
          <p:cNvPr id="8" name="Text 5"/>
          <p:cNvSpPr txBox="1"/>
          <p:nvPr/>
        </p:nvSpPr>
        <p:spPr>
          <a:xfrm>
            <a:off x="640080" y="2606040"/>
            <a:ext cx="5212080" cy="731520"/>
          </a:xfrm>
          <a:prstGeom prst="rect">
            <a:avLst/>
          </a:prstGeom>
          <a:noFill/>
          <a:ln/>
        </p:spPr>
        <p:txBody>
          <a:bodyPr wrap="square" lIns="0" tIns="0" rIns="0" bIns="0" rtlCol="0" anchor="ctr"/>
          <a:lstStyle/>
          <a:p>
            <a:pPr indent="0" marL="0">
              <a:buNone/>
            </a:pPr>
            <a:r>
              <a:rPr lang="en-US" sz="4000" b="1" dirty="0">
                <a:solidFill>
                  <a:srgbClr val="19382F"/>
                </a:solidFill>
                <a:latin typeface="Apple SD Gothic Neo" pitchFamily="34" charset="0"/>
                <a:ea typeface="Apple SD Gothic Neo" pitchFamily="34" charset="-122"/>
                <a:cs typeface="Apple SD Gothic Neo" pitchFamily="34" charset="-120"/>
              </a:rPr>
              <a:t>2/9 → 9/9</a:t>
            </a:r>
            <a:endParaRPr lang="en-US" sz="4000" dirty="0"/>
          </a:p>
        </p:txBody>
      </p:sp>
      <p:graphicFrame>
        <p:nvGraphicFramePr>
          <p:cNvPr id="9" name="Chart 0" descr=""/>
          <p:cNvGraphicFramePr/>
          <p:nvPr/>
        </p:nvGraphicFramePr>
        <p:xfrm>
          <a:off x="566928" y="3520440"/>
          <a:ext cx="5303520" cy="1600200"/>
        </p:xfrm>
        <a:graphic xmlns:a="http://schemas.openxmlformats.org/drawingml/2006/main">
          <a:graphicData uri="http://schemas.openxmlformats.org/drawingml/2006/chart">
            <c:chart xmlns:c="http://schemas.openxmlformats.org/drawingml/2006/chart" r:id="rId1"/>
          </a:graphicData>
        </a:graphic>
      </p:graphicFrame>
      <p:sp>
        <p:nvSpPr>
          <p:cNvPr id="10" name="Text 6"/>
          <p:cNvSpPr txBox="1"/>
          <p:nvPr/>
        </p:nvSpPr>
        <p:spPr>
          <a:xfrm>
            <a:off x="640080" y="5212080"/>
            <a:ext cx="5303520" cy="365760"/>
          </a:xfrm>
          <a:prstGeom prst="rect">
            <a:avLst/>
          </a:prstGeom>
          <a:noFill/>
          <a:ln/>
        </p:spPr>
        <p:txBody>
          <a:bodyPr wrap="square" lIns="0" tIns="0" rIns="0" bIns="0" rtlCol="0" anchor="ctr"/>
          <a:lstStyle/>
          <a:p>
            <a:pPr indent="0" marL="0">
              <a:buNone/>
            </a:pPr>
            <a:r>
              <a:rPr lang="en-US" sz="1400" dirty="0">
                <a:solidFill>
                  <a:srgbClr val="62746D"/>
                </a:solidFill>
                <a:latin typeface="Apple SD Gothic Neo" pitchFamily="34" charset="0"/>
                <a:ea typeface="Apple SD Gothic Neo" pitchFamily="34" charset="-122"/>
                <a:cs typeface="Apple SD Gothic Neo" pitchFamily="34" charset="-120"/>
              </a:rPr>
              <a:t>정상 답변 8/8 유지 · 동일 17개 입력</a:t>
            </a:r>
            <a:endParaRPr lang="en-US" sz="1400" dirty="0"/>
          </a:p>
        </p:txBody>
      </p:sp>
      <p:sp>
        <p:nvSpPr>
          <p:cNvPr id="11" name="Text 7"/>
          <p:cNvSpPr txBox="1"/>
          <p:nvPr/>
        </p:nvSpPr>
        <p:spPr>
          <a:xfrm>
            <a:off x="6309360" y="1965960"/>
            <a:ext cx="5212080" cy="411480"/>
          </a:xfrm>
          <a:prstGeom prst="rect">
            <a:avLst/>
          </a:prstGeom>
          <a:noFill/>
          <a:ln/>
        </p:spPr>
        <p:txBody>
          <a:bodyPr wrap="square" lIns="0" tIns="0" rIns="0" bIns="0" rtlCol="0" anchor="ctr"/>
          <a:lstStyle/>
          <a:p>
            <a:pPr indent="0" marL="0">
              <a:buNone/>
            </a:pPr>
            <a:r>
              <a:rPr lang="en-US" sz="2300" b="1" dirty="0">
                <a:solidFill>
                  <a:srgbClr val="16785C"/>
                </a:solidFill>
                <a:latin typeface="Apple SD Gothic Neo" pitchFamily="34" charset="0"/>
                <a:ea typeface="Apple SD Gothic Neo" pitchFamily="34" charset="-122"/>
                <a:cs typeface="Apple SD Gothic Neo" pitchFamily="34" charset="-120"/>
              </a:rPr>
              <a:t>매뉴얼 선택 기대 일치</a:t>
            </a:r>
            <a:endParaRPr lang="en-US" sz="2300" dirty="0"/>
          </a:p>
        </p:txBody>
      </p:sp>
      <p:sp>
        <p:nvSpPr>
          <p:cNvPr id="12" name="Text 8"/>
          <p:cNvSpPr txBox="1"/>
          <p:nvPr/>
        </p:nvSpPr>
        <p:spPr>
          <a:xfrm>
            <a:off x="6309360" y="2606040"/>
            <a:ext cx="5212080" cy="731520"/>
          </a:xfrm>
          <a:prstGeom prst="rect">
            <a:avLst/>
          </a:prstGeom>
          <a:noFill/>
          <a:ln/>
        </p:spPr>
        <p:txBody>
          <a:bodyPr wrap="square" lIns="0" tIns="0" rIns="0" bIns="0" rtlCol="0" anchor="ctr"/>
          <a:lstStyle/>
          <a:p>
            <a:pPr indent="0" marL="0">
              <a:buNone/>
            </a:pPr>
            <a:r>
              <a:rPr lang="en-US" sz="4000" b="1" dirty="0">
                <a:solidFill>
                  <a:srgbClr val="19382F"/>
                </a:solidFill>
                <a:latin typeface="Apple SD Gothic Neo" pitchFamily="34" charset="0"/>
                <a:ea typeface="Apple SD Gothic Neo" pitchFamily="34" charset="-122"/>
                <a:cs typeface="Apple SD Gothic Neo" pitchFamily="34" charset="-120"/>
              </a:rPr>
              <a:t>6/14 → 12/14</a:t>
            </a:r>
            <a:endParaRPr lang="en-US" sz="4000" dirty="0"/>
          </a:p>
        </p:txBody>
      </p:sp>
      <p:graphicFrame>
        <p:nvGraphicFramePr>
          <p:cNvPr id="13" name="Chart 1" descr=""/>
          <p:cNvGraphicFramePr/>
          <p:nvPr/>
        </p:nvGraphicFramePr>
        <p:xfrm>
          <a:off x="6236208" y="3520440"/>
          <a:ext cx="5303520" cy="1600200"/>
        </p:xfrm>
        <a:graphic xmlns:a="http://schemas.openxmlformats.org/drawingml/2006/main">
          <a:graphicData uri="http://schemas.openxmlformats.org/drawingml/2006/chart">
            <c:chart xmlns:c="http://schemas.openxmlformats.org/drawingml/2006/chart" r:id="rId2"/>
          </a:graphicData>
        </a:graphic>
      </p:graphicFrame>
      <p:sp>
        <p:nvSpPr>
          <p:cNvPr id="14" name="Text 9"/>
          <p:cNvSpPr txBox="1"/>
          <p:nvPr/>
        </p:nvSpPr>
        <p:spPr>
          <a:xfrm>
            <a:off x="6309360" y="5212080"/>
            <a:ext cx="5303520" cy="365760"/>
          </a:xfrm>
          <a:prstGeom prst="rect">
            <a:avLst/>
          </a:prstGeom>
          <a:noFill/>
          <a:ln/>
        </p:spPr>
        <p:txBody>
          <a:bodyPr wrap="square" lIns="0" tIns="0" rIns="0" bIns="0" rtlCol="0" anchor="ctr"/>
          <a:lstStyle/>
          <a:p>
            <a:pPr indent="0" marL="0">
              <a:buNone/>
            </a:pPr>
            <a:r>
              <a:rPr lang="en-US" sz="1400" dirty="0">
                <a:solidFill>
                  <a:srgbClr val="62746D"/>
                </a:solidFill>
                <a:latin typeface="Apple SD Gothic Neo" pitchFamily="34" charset="0"/>
                <a:ea typeface="Apple SD Gothic Neo" pitchFamily="34" charset="-122"/>
                <a:cs typeface="Apple SD Gothic Neo" pitchFamily="34" charset="-120"/>
              </a:rPr>
              <a:t>장애 12개 + 무관 질문 2개</a:t>
            </a:r>
            <a:endParaRPr lang="en-US" sz="1400" dirty="0"/>
          </a:p>
        </p:txBody>
      </p:sp>
      <p:sp>
        <p:nvSpPr>
          <p:cNvPr id="15" name="Shape 10"/>
          <p:cNvSpPr/>
          <p:nvPr/>
        </p:nvSpPr>
        <p:spPr>
          <a:xfrm>
            <a:off x="640080" y="5806440"/>
            <a:ext cx="10881360" cy="457200"/>
          </a:xfrm>
          <a:prstGeom prst="roundRect">
            <a:avLst>
              <a:gd name="adj" fmla="val 32000"/>
            </a:avLst>
          </a:prstGeom>
          <a:solidFill>
            <a:srgbClr val="EEF5F1"/>
          </a:solidFill>
          <a:ln w="12700">
            <a:solidFill>
              <a:srgbClr val="EEF5F1"/>
            </a:solidFill>
            <a:prstDash val="solid"/>
          </a:ln>
        </p:spPr>
        <p:txBody>
          <a:bodyPr/>
          <a:p/>
        </p:txBody>
      </p:sp>
      <p:sp>
        <p:nvSpPr>
          <p:cNvPr id="16" name="Text 11"/>
          <p:cNvSpPr txBox="1"/>
          <p:nvPr/>
        </p:nvSpPr>
        <p:spPr>
          <a:xfrm>
            <a:off x="822960" y="5852160"/>
            <a:ext cx="10515600" cy="320040"/>
          </a:xfrm>
          <a:prstGeom prst="rect">
            <a:avLst/>
          </a:prstGeom>
          <a:noFill/>
          <a:ln/>
        </p:spPr>
        <p:txBody>
          <a:bodyPr wrap="square" lIns="0" tIns="0" rIns="0" bIns="0" rtlCol="0" anchor="ctr"/>
          <a:lstStyle/>
          <a:p>
            <a:pPr indent="0" marL="0">
              <a:buNone/>
            </a:pPr>
            <a:r>
              <a:rPr lang="en-US" sz="1200" dirty="0">
                <a:solidFill>
                  <a:srgbClr val="62746D"/>
                </a:solidFill>
                <a:latin typeface="Apple SD Gothic Neo" pitchFamily="34" charset="0"/>
                <a:ea typeface="Apple SD Gothic Neo" pitchFamily="34" charset="-122"/>
                <a:cs typeface="Apple SD Gothic Neo" pitchFamily="34" charset="-120"/>
              </a:rPr>
              <a:t>소규모 자체 평가  |  Ollama 최신 비교: 작성 시도 1.0 → 1.0회, 42.6 → 43.3초 — 속도 향상 주장 안 함</a:t>
            </a:r>
            <a:endParaRPr lang="en-US" sz="1200"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0040"/>
            <a:ext cx="9144000" cy="274320"/>
          </a:xfrm>
          <a:prstGeom prst="rect">
            <a:avLst/>
          </a:prstGeom>
          <a:noFill/>
        </p:spPr>
        <p:txBody>
          <a:bodyPr wrap="square" lIns="0" rIns="0" tIns="0" bIns="0">
            <a:spAutoFit/>
          </a:bodyPr>
          <a:lstStyle/>
          <a:p>
            <a:r>
              <a:rPr sz="1100" b="1">
                <a:solidFill>
                  <a:srgbClr val="16785C"/>
                </a:solidFill>
                <a:latin typeface="Apple SD Gothic Neo"/>
              </a:rPr>
              <a:t>08  비용·성능 측정과 기술 선택</a:t>
            </a:r>
          </a:p>
        </p:txBody>
      </p:sp>
      <p:sp>
        <p:nvSpPr>
          <p:cNvPr id="3" name="TextBox 2"/>
          <p:cNvSpPr txBox="1"/>
          <p:nvPr/>
        </p:nvSpPr>
        <p:spPr>
          <a:xfrm>
            <a:off x="594360" y="868680"/>
            <a:ext cx="10972800" cy="914400"/>
          </a:xfrm>
          <a:prstGeom prst="rect">
            <a:avLst/>
          </a:prstGeom>
          <a:noFill/>
        </p:spPr>
        <p:txBody>
          <a:bodyPr wrap="square" lIns="0" rIns="0" tIns="0" bIns="0">
            <a:spAutoFit/>
          </a:bodyPr>
          <a:lstStyle/>
          <a:p>
            <a:r>
              <a:rPr sz="3200" b="1">
                <a:solidFill>
                  <a:srgbClr val="19382F"/>
                </a:solidFill>
                <a:latin typeface="Apple SD Gothic Neo"/>
              </a:rPr>
              <a:t>측정 결과 및 기술 선택 근거</a:t>
            </a:r>
          </a:p>
        </p:txBody>
      </p:sp>
      <p:sp>
        <p:nvSpPr>
          <p:cNvPr id="4" name="TextBox 3"/>
          <p:cNvSpPr txBox="1"/>
          <p:nvPr/>
        </p:nvSpPr>
        <p:spPr>
          <a:xfrm>
            <a:off x="640080" y="1645920"/>
            <a:ext cx="5212080" cy="274320"/>
          </a:xfrm>
          <a:prstGeom prst="rect">
            <a:avLst/>
          </a:prstGeom>
          <a:noFill/>
        </p:spPr>
        <p:txBody>
          <a:bodyPr wrap="square" lIns="0" rIns="0" tIns="0" bIns="0">
            <a:spAutoFit/>
          </a:bodyPr>
          <a:lstStyle/>
          <a:p>
            <a:r>
              <a:rPr sz="1400" b="1">
                <a:solidFill>
                  <a:srgbClr val="62746D"/>
                </a:solidFill>
                <a:latin typeface="Apple SD Gothic Neo"/>
              </a:rPr>
              <a:t>측정 결과 (전 → 후)</a:t>
            </a:r>
          </a:p>
        </p:txBody>
      </p:sp>
      <p:sp>
        <p:nvSpPr>
          <p:cNvPr id="5" name="TextBox 4"/>
          <p:cNvSpPr txBox="1"/>
          <p:nvPr/>
        </p:nvSpPr>
        <p:spPr>
          <a:xfrm>
            <a:off x="6309360" y="1645920"/>
            <a:ext cx="5212080" cy="274320"/>
          </a:xfrm>
          <a:prstGeom prst="rect">
            <a:avLst/>
          </a:prstGeom>
          <a:noFill/>
        </p:spPr>
        <p:txBody>
          <a:bodyPr wrap="square" lIns="0" rIns="0" tIns="0" bIns="0">
            <a:spAutoFit/>
          </a:bodyPr>
          <a:lstStyle/>
          <a:p>
            <a:r>
              <a:rPr sz="1400" b="1">
                <a:solidFill>
                  <a:srgbClr val="62746D"/>
                </a:solidFill>
                <a:latin typeface="Apple SD Gothic Neo"/>
              </a:rPr>
              <a:t>기술 선택 이유와 한계</a:t>
            </a:r>
          </a:p>
        </p:txBody>
      </p:sp>
      <p:sp>
        <p:nvSpPr>
          <p:cNvPr id="8" name="TextBox 7"/>
          <p:cNvSpPr txBox="1"/>
          <p:nvPr/>
        </p:nvSpPr>
        <p:spPr>
          <a:xfrm>
            <a:off x="640080" y="1645920"/>
            <a:ext cx="5212080" cy="274320"/>
          </a:xfrm>
          <a:prstGeom prst="rect">
            <a:avLst/>
          </a:prstGeom>
          <a:noFill/>
        </p:spPr>
        <p:txBody>
          <a:bodyPr wrap="square" lIns="0" rIns="0" tIns="0" bIns="0">
            <a:spAutoFit/>
          </a:bodyPr>
          <a:lstStyle/>
          <a:p>
            <a:r>
              <a:rPr sz="1400" b="1">
                <a:solidFill>
                  <a:srgbClr val="62746D"/>
                </a:solidFill>
                <a:latin typeface="Apple SD Gothic Neo"/>
              </a:rPr>
              <a:t>측정 결과 (전 → 후)</a:t>
            </a:r>
          </a:p>
        </p:txBody>
      </p:sp>
      <p:sp>
        <p:nvSpPr>
          <p:cNvPr id="9" name="TextBox 8"/>
          <p:cNvSpPr txBox="1"/>
          <p:nvPr/>
        </p:nvSpPr>
        <p:spPr>
          <a:xfrm>
            <a:off x="6309360" y="1645920"/>
            <a:ext cx="5212080" cy="274320"/>
          </a:xfrm>
          <a:prstGeom prst="rect">
            <a:avLst/>
          </a:prstGeom>
          <a:noFill/>
        </p:spPr>
        <p:txBody>
          <a:bodyPr wrap="square" lIns="0" rIns="0" tIns="0" bIns="0">
            <a:spAutoFit/>
          </a:bodyPr>
          <a:lstStyle/>
          <a:p>
            <a:r>
              <a:rPr sz="1400" b="1">
                <a:solidFill>
                  <a:srgbClr val="62746D"/>
                </a:solidFill>
                <a:latin typeface="Apple SD Gothic Neo"/>
              </a:rPr>
              <a:t>기술 선택 이유와 한계</a:t>
            </a:r>
          </a:p>
        </p:txBody>
      </p:sp>
      <p:sp>
        <p:nvSpPr>
          <p:cNvPr id="10" name="TextBox 9"/>
          <p:cNvSpPr txBox="1"/>
          <p:nvPr/>
        </p:nvSpPr>
        <p:spPr>
          <a:xfrm>
            <a:off x="594360" y="6473952"/>
            <a:ext cx="7315200" cy="164592"/>
          </a:xfrm>
          <a:prstGeom prst="rect">
            <a:avLst/>
          </a:prstGeom>
          <a:noFill/>
        </p:spPr>
        <p:txBody>
          <a:bodyPr wrap="square" lIns="0" rIns="0" tIns="0" bIns="0">
            <a:spAutoFit/>
          </a:bodyPr>
          <a:lstStyle/>
          <a:p>
            <a:r>
              <a:rPr sz="900" b="0">
                <a:solidFill>
                  <a:srgbClr val="62746D"/>
                </a:solidFill>
                <a:latin typeface="Apple SD Gothic Neo"/>
              </a:rPr>
              <a:t>AI CAPSTONE  ·  김하연</a:t>
            </a:r>
          </a:p>
        </p:txBody>
      </p:sp>
      <p:sp>
        <p:nvSpPr>
          <p:cNvPr id="11" name="TextBox 10"/>
          <p:cNvSpPr txBox="1"/>
          <p:nvPr/>
        </p:nvSpPr>
        <p:spPr>
          <a:xfrm>
            <a:off x="10835640" y="6473952"/>
            <a:ext cx="777240" cy="164592"/>
          </a:xfrm>
          <a:prstGeom prst="rect">
            <a:avLst/>
          </a:prstGeom>
          <a:noFill/>
        </p:spPr>
        <p:txBody>
          <a:bodyPr wrap="square" lIns="0" rIns="0" tIns="0" bIns="0">
            <a:spAutoFit/>
          </a:bodyPr>
          <a:lstStyle/>
          <a:p>
            <a:r>
              <a:rPr sz="900" b="0">
                <a:solidFill>
                  <a:srgbClr val="62746D"/>
                </a:solidFill>
                <a:latin typeface="Apple SD Gothic Neo"/>
              </a:rPr>
              <a:t>09 / 10</a:t>
            </a:r>
          </a:p>
        </p:txBody>
      </p:sp>
      <p:sp>
        <p:nvSpPr>
          <p:cNvPr id="12" name="TextBox 11"/>
          <p:cNvSpPr txBox="1"/>
          <p:nvPr/>
        </p:nvSpPr>
        <p:spPr>
          <a:xfrm>
            <a:off x="640080" y="1645920"/>
            <a:ext cx="5212080" cy="274320"/>
          </a:xfrm>
          <a:prstGeom prst="rect">
            <a:avLst/>
          </a:prstGeom>
          <a:noFill/>
        </p:spPr>
        <p:txBody>
          <a:bodyPr wrap="square" lIns="0" rIns="0" tIns="0" bIns="0">
            <a:spAutoFit/>
          </a:bodyPr>
          <a:lstStyle/>
          <a:p>
            <a:r>
              <a:rPr sz="1400" b="1">
                <a:solidFill>
                  <a:srgbClr val="62746D"/>
                </a:solidFill>
                <a:latin typeface="Apple SD Gothic Neo"/>
              </a:rPr>
              <a:t>측정 결과 (전 → 후)</a:t>
            </a:r>
          </a:p>
        </p:txBody>
      </p:sp>
      <p:sp>
        <p:nvSpPr>
          <p:cNvPr id="13" name="TextBox 12"/>
          <p:cNvSpPr txBox="1"/>
          <p:nvPr/>
        </p:nvSpPr>
        <p:spPr>
          <a:xfrm>
            <a:off x="6309360" y="1645920"/>
            <a:ext cx="5212080" cy="274320"/>
          </a:xfrm>
          <a:prstGeom prst="rect">
            <a:avLst/>
          </a:prstGeom>
          <a:noFill/>
        </p:spPr>
        <p:txBody>
          <a:bodyPr wrap="square" lIns="0" rIns="0" tIns="0" bIns="0">
            <a:spAutoFit/>
          </a:bodyPr>
          <a:lstStyle/>
          <a:p>
            <a:r>
              <a:rPr sz="1400" b="1">
                <a:solidFill>
                  <a:srgbClr val="62746D"/>
                </a:solidFill>
                <a:latin typeface="Apple SD Gothic Neo"/>
              </a:rPr>
              <a:t>기술 선택 이유와 한계</a:t>
            </a:r>
          </a:p>
        </p:txBody>
      </p:sp>
      <p:sp>
        <p:nvSpPr>
          <p:cNvPr id="14" name="TextBox 13"/>
          <p:cNvSpPr txBox="1"/>
          <p:nvPr/>
        </p:nvSpPr>
        <p:spPr>
          <a:xfrm>
            <a:off x="640080" y="1965960"/>
            <a:ext cx="3657600" cy="274320"/>
          </a:xfrm>
          <a:prstGeom prst="rect">
            <a:avLst/>
          </a:prstGeom>
          <a:noFill/>
        </p:spPr>
        <p:txBody>
          <a:bodyPr wrap="square" lIns="0" rIns="0" tIns="0" bIns="0">
            <a:spAutoFit/>
          </a:bodyPr>
          <a:lstStyle/>
          <a:p>
            <a:r>
              <a:rPr sz="1400" b="1">
                <a:solidFill>
                  <a:srgbClr val="16785C"/>
                </a:solidFill>
                <a:latin typeface="Apple SD Gothic Neo"/>
              </a:rPr>
              <a:t>작성 모델 호출 생략 (근거 0건)</a:t>
            </a:r>
          </a:p>
        </p:txBody>
      </p:sp>
      <p:sp>
        <p:nvSpPr>
          <p:cNvPr id="15" name="Rounded Rectangle 14"/>
          <p:cNvSpPr/>
          <p:nvPr/>
        </p:nvSpPr>
        <p:spPr>
          <a:xfrm>
            <a:off x="4343400" y="1938528"/>
            <a:ext cx="1508760" cy="292608"/>
          </a:xfrm>
          <a:prstGeom prst="roundRect">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a:solidFill>
                  <a:srgbClr val="16785C"/>
                </a:solidFill>
                <a:latin typeface="Apple SD Gothic Neo"/>
              </a:rPr>
              <a:t>13배 이상 단축</a:t>
            </a:r>
          </a:p>
        </p:txBody>
      </p:sp>
      <p:sp>
        <p:nvSpPr>
          <p:cNvPr id="16" name="TextBox 15"/>
          <p:cNvSpPr txBox="1"/>
          <p:nvPr/>
        </p:nvSpPr>
        <p:spPr>
          <a:xfrm>
            <a:off x="640080" y="2313432"/>
            <a:ext cx="320040" cy="274320"/>
          </a:xfrm>
          <a:prstGeom prst="rect">
            <a:avLst/>
          </a:prstGeom>
          <a:noFill/>
        </p:spPr>
        <p:txBody>
          <a:bodyPr wrap="square" lIns="0" rIns="0" tIns="0" bIns="0" anchor="ctr">
            <a:spAutoFit/>
          </a:bodyPr>
          <a:lstStyle/>
          <a:p>
            <a:r>
              <a:rPr sz="1200" b="1">
                <a:solidFill>
                  <a:srgbClr val="62746D"/>
                </a:solidFill>
                <a:latin typeface="Apple SD Gothic Neo"/>
              </a:rPr>
              <a:t>전</a:t>
            </a:r>
          </a:p>
        </p:txBody>
      </p:sp>
      <p:sp>
        <p:nvSpPr>
          <p:cNvPr id="17" name="Rectangle 16"/>
          <p:cNvSpPr/>
          <p:nvPr/>
        </p:nvSpPr>
        <p:spPr>
          <a:xfrm>
            <a:off x="1005840" y="2313432"/>
            <a:ext cx="2743200" cy="274320"/>
          </a:xfrm>
          <a:prstGeom prst="rect">
            <a:avLst/>
          </a:prstGeom>
          <a:solidFill>
            <a:srgbClr val="B7C4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58768" y="2313432"/>
            <a:ext cx="1737360" cy="274320"/>
          </a:xfrm>
          <a:prstGeom prst="rect">
            <a:avLst/>
          </a:prstGeom>
          <a:noFill/>
        </p:spPr>
        <p:txBody>
          <a:bodyPr wrap="square" lIns="0" rIns="0" tIns="0" bIns="0" anchor="ctr">
            <a:spAutoFit/>
          </a:bodyPr>
          <a:lstStyle/>
          <a:p>
            <a:r>
              <a:rPr sz="1500" b="1">
                <a:solidFill>
                  <a:srgbClr val="19382F"/>
                </a:solidFill>
                <a:latin typeface="Apple SD Gothic Neo"/>
              </a:rPr>
              <a:t>36.6초</a:t>
            </a:r>
          </a:p>
        </p:txBody>
      </p:sp>
      <p:sp>
        <p:nvSpPr>
          <p:cNvPr id="19" name="TextBox 18"/>
          <p:cNvSpPr txBox="1"/>
          <p:nvPr/>
        </p:nvSpPr>
        <p:spPr>
          <a:xfrm>
            <a:off x="640080" y="2660903"/>
            <a:ext cx="320040" cy="274320"/>
          </a:xfrm>
          <a:prstGeom prst="rect">
            <a:avLst/>
          </a:prstGeom>
          <a:noFill/>
        </p:spPr>
        <p:txBody>
          <a:bodyPr wrap="square" lIns="0" rIns="0" tIns="0" bIns="0" anchor="ctr">
            <a:spAutoFit/>
          </a:bodyPr>
          <a:lstStyle/>
          <a:p>
            <a:r>
              <a:rPr sz="1200" b="1">
                <a:solidFill>
                  <a:srgbClr val="62746D"/>
                </a:solidFill>
                <a:latin typeface="Apple SD Gothic Neo"/>
              </a:rPr>
              <a:t>후</a:t>
            </a:r>
          </a:p>
        </p:txBody>
      </p:sp>
      <p:sp>
        <p:nvSpPr>
          <p:cNvPr id="20" name="Rectangle 19"/>
          <p:cNvSpPr/>
          <p:nvPr/>
        </p:nvSpPr>
        <p:spPr>
          <a:xfrm>
            <a:off x="1005840" y="2660903"/>
            <a:ext cx="202367" cy="274320"/>
          </a:xfrm>
          <a:prstGeom prst="rect">
            <a:avLst/>
          </a:prstGeom>
          <a:solidFill>
            <a:srgbClr val="2E9E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317935" y="2660903"/>
            <a:ext cx="1737360" cy="274320"/>
          </a:xfrm>
          <a:prstGeom prst="rect">
            <a:avLst/>
          </a:prstGeom>
          <a:noFill/>
        </p:spPr>
        <p:txBody>
          <a:bodyPr wrap="square" lIns="0" rIns="0" tIns="0" bIns="0" anchor="ctr">
            <a:spAutoFit/>
          </a:bodyPr>
          <a:lstStyle/>
          <a:p>
            <a:r>
              <a:rPr sz="1500" b="1">
                <a:solidFill>
                  <a:srgbClr val="19382F"/>
                </a:solidFill>
                <a:latin typeface="Apple SD Gothic Neo"/>
              </a:rPr>
              <a:t>1.2~2.7초</a:t>
            </a:r>
          </a:p>
        </p:txBody>
      </p:sp>
      <p:sp>
        <p:nvSpPr>
          <p:cNvPr id="22" name="TextBox 21"/>
          <p:cNvSpPr txBox="1"/>
          <p:nvPr/>
        </p:nvSpPr>
        <p:spPr>
          <a:xfrm>
            <a:off x="640080" y="2990088"/>
            <a:ext cx="5212080" cy="182880"/>
          </a:xfrm>
          <a:prstGeom prst="rect">
            <a:avLst/>
          </a:prstGeom>
          <a:noFill/>
        </p:spPr>
        <p:txBody>
          <a:bodyPr wrap="square" lIns="0" rIns="0" tIns="0" bIns="0">
            <a:spAutoFit/>
          </a:bodyPr>
          <a:lstStyle/>
          <a:p>
            <a:r>
              <a:rPr sz="1100" b="0">
                <a:solidFill>
                  <a:srgbClr val="62746D"/>
                </a:solidFill>
                <a:latin typeface="Apple SD Gothic Neo"/>
              </a:rPr>
              <a:t>단일 질문 실측 · 작성 호출 1회 → 0회</a:t>
            </a:r>
          </a:p>
        </p:txBody>
      </p:sp>
      <p:sp>
        <p:nvSpPr>
          <p:cNvPr id="23" name="TextBox 22"/>
          <p:cNvSpPr txBox="1"/>
          <p:nvPr/>
        </p:nvSpPr>
        <p:spPr>
          <a:xfrm>
            <a:off x="640080" y="3246120"/>
            <a:ext cx="3657600" cy="274320"/>
          </a:xfrm>
          <a:prstGeom prst="rect">
            <a:avLst/>
          </a:prstGeom>
          <a:noFill/>
        </p:spPr>
        <p:txBody>
          <a:bodyPr wrap="square" lIns="0" rIns="0" tIns="0" bIns="0">
            <a:spAutoFit/>
          </a:bodyPr>
          <a:lstStyle/>
          <a:p>
            <a:r>
              <a:rPr sz="1400" b="1">
                <a:solidFill>
                  <a:srgbClr val="16785C"/>
                </a:solidFill>
                <a:latin typeface="Apple SD Gothic Neo"/>
              </a:rPr>
              <a:t>병렬 조사 (모니터링 3건)</a:t>
            </a:r>
          </a:p>
        </p:txBody>
      </p:sp>
      <p:sp>
        <p:nvSpPr>
          <p:cNvPr id="24" name="Rounded Rectangle 23"/>
          <p:cNvSpPr/>
          <p:nvPr/>
        </p:nvSpPr>
        <p:spPr>
          <a:xfrm>
            <a:off x="4343400" y="3218688"/>
            <a:ext cx="1508760" cy="292608"/>
          </a:xfrm>
          <a:prstGeom prst="roundRect">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a:solidFill>
                  <a:srgbClr val="16785C"/>
                </a:solidFill>
                <a:latin typeface="Apple SD Gothic Neo"/>
              </a:rPr>
              <a:t>약 2.9배 단축</a:t>
            </a:r>
          </a:p>
        </p:txBody>
      </p:sp>
      <p:sp>
        <p:nvSpPr>
          <p:cNvPr id="25" name="TextBox 24"/>
          <p:cNvSpPr txBox="1"/>
          <p:nvPr/>
        </p:nvSpPr>
        <p:spPr>
          <a:xfrm>
            <a:off x="640080" y="3593591"/>
            <a:ext cx="320040" cy="274320"/>
          </a:xfrm>
          <a:prstGeom prst="rect">
            <a:avLst/>
          </a:prstGeom>
          <a:noFill/>
        </p:spPr>
        <p:txBody>
          <a:bodyPr wrap="square" lIns="0" rIns="0" tIns="0" bIns="0" anchor="ctr">
            <a:spAutoFit/>
          </a:bodyPr>
          <a:lstStyle/>
          <a:p>
            <a:r>
              <a:rPr sz="1200" b="1">
                <a:solidFill>
                  <a:srgbClr val="62746D"/>
                </a:solidFill>
                <a:latin typeface="Apple SD Gothic Neo"/>
              </a:rPr>
              <a:t>전</a:t>
            </a:r>
          </a:p>
        </p:txBody>
      </p:sp>
      <p:sp>
        <p:nvSpPr>
          <p:cNvPr id="26" name="Rectangle 25"/>
          <p:cNvSpPr/>
          <p:nvPr/>
        </p:nvSpPr>
        <p:spPr>
          <a:xfrm>
            <a:off x="1005840" y="3593591"/>
            <a:ext cx="2743200" cy="274320"/>
          </a:xfrm>
          <a:prstGeom prst="rect">
            <a:avLst/>
          </a:prstGeom>
          <a:solidFill>
            <a:srgbClr val="B7C4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858768" y="3593591"/>
            <a:ext cx="1737360" cy="274320"/>
          </a:xfrm>
          <a:prstGeom prst="rect">
            <a:avLst/>
          </a:prstGeom>
          <a:noFill/>
        </p:spPr>
        <p:txBody>
          <a:bodyPr wrap="square" lIns="0" rIns="0" tIns="0" bIns="0" anchor="ctr">
            <a:spAutoFit/>
          </a:bodyPr>
          <a:lstStyle/>
          <a:p>
            <a:r>
              <a:rPr sz="1500" b="1">
                <a:solidFill>
                  <a:srgbClr val="19382F"/>
                </a:solidFill>
                <a:latin typeface="Apple SD Gothic Neo"/>
              </a:rPr>
              <a:t>1.07초</a:t>
            </a:r>
          </a:p>
        </p:txBody>
      </p:sp>
      <p:sp>
        <p:nvSpPr>
          <p:cNvPr id="28" name="TextBox 27"/>
          <p:cNvSpPr txBox="1"/>
          <p:nvPr/>
        </p:nvSpPr>
        <p:spPr>
          <a:xfrm>
            <a:off x="640080" y="3941063"/>
            <a:ext cx="320040" cy="274320"/>
          </a:xfrm>
          <a:prstGeom prst="rect">
            <a:avLst/>
          </a:prstGeom>
          <a:noFill/>
        </p:spPr>
        <p:txBody>
          <a:bodyPr wrap="square" lIns="0" rIns="0" tIns="0" bIns="0" anchor="ctr">
            <a:spAutoFit/>
          </a:bodyPr>
          <a:lstStyle/>
          <a:p>
            <a:r>
              <a:rPr sz="1200" b="1">
                <a:solidFill>
                  <a:srgbClr val="62746D"/>
                </a:solidFill>
                <a:latin typeface="Apple SD Gothic Neo"/>
              </a:rPr>
              <a:t>후</a:t>
            </a:r>
          </a:p>
        </p:txBody>
      </p:sp>
      <p:sp>
        <p:nvSpPr>
          <p:cNvPr id="29" name="Rectangle 28"/>
          <p:cNvSpPr/>
          <p:nvPr/>
        </p:nvSpPr>
        <p:spPr>
          <a:xfrm>
            <a:off x="1005840" y="3941063"/>
            <a:ext cx="922945" cy="274320"/>
          </a:xfrm>
          <a:prstGeom prst="rect">
            <a:avLst/>
          </a:prstGeom>
          <a:solidFill>
            <a:srgbClr val="2E9E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038513" y="3941063"/>
            <a:ext cx="1737360" cy="274320"/>
          </a:xfrm>
          <a:prstGeom prst="rect">
            <a:avLst/>
          </a:prstGeom>
          <a:noFill/>
        </p:spPr>
        <p:txBody>
          <a:bodyPr wrap="square" lIns="0" rIns="0" tIns="0" bIns="0" anchor="ctr">
            <a:spAutoFit/>
          </a:bodyPr>
          <a:lstStyle/>
          <a:p>
            <a:r>
              <a:rPr sz="1500" b="1">
                <a:solidFill>
                  <a:srgbClr val="19382F"/>
                </a:solidFill>
                <a:latin typeface="Apple SD Gothic Neo"/>
              </a:rPr>
              <a:t>0.36초</a:t>
            </a:r>
          </a:p>
        </p:txBody>
      </p:sp>
      <p:sp>
        <p:nvSpPr>
          <p:cNvPr id="31" name="TextBox 30"/>
          <p:cNvSpPr txBox="1"/>
          <p:nvPr/>
        </p:nvSpPr>
        <p:spPr>
          <a:xfrm>
            <a:off x="640080" y="4270248"/>
            <a:ext cx="5212080" cy="182880"/>
          </a:xfrm>
          <a:prstGeom prst="rect">
            <a:avLst/>
          </a:prstGeom>
          <a:noFill/>
        </p:spPr>
        <p:txBody>
          <a:bodyPr wrap="square" lIns="0" rIns="0" tIns="0" bIns="0">
            <a:spAutoFit/>
          </a:bodyPr>
          <a:lstStyle/>
          <a:p>
            <a:r>
              <a:rPr sz="1100" b="0">
                <a:solidFill>
                  <a:srgbClr val="62746D"/>
                </a:solidFill>
                <a:latin typeface="Apple SD Gothic Neo"/>
              </a:rPr>
              <a:t>제공 구조 측정 · 작업당 0.35초는 모의 지연</a:t>
            </a:r>
          </a:p>
        </p:txBody>
      </p:sp>
      <p:sp>
        <p:nvSpPr>
          <p:cNvPr id="32" name="TextBox 31"/>
          <p:cNvSpPr txBox="1"/>
          <p:nvPr/>
        </p:nvSpPr>
        <p:spPr>
          <a:xfrm>
            <a:off x="640080" y="4526279"/>
            <a:ext cx="3657600" cy="274320"/>
          </a:xfrm>
          <a:prstGeom prst="rect">
            <a:avLst/>
          </a:prstGeom>
          <a:noFill/>
        </p:spPr>
        <p:txBody>
          <a:bodyPr wrap="square" lIns="0" rIns="0" tIns="0" bIns="0">
            <a:spAutoFit/>
          </a:bodyPr>
          <a:lstStyle/>
          <a:p>
            <a:r>
              <a:rPr sz="1400" b="1">
                <a:solidFill>
                  <a:srgbClr val="16785C"/>
                </a:solidFill>
                <a:latin typeface="Apple SD Gothic Neo"/>
              </a:rPr>
              <a:t>모델 분리 비용 (fast/quality)</a:t>
            </a:r>
          </a:p>
        </p:txBody>
      </p:sp>
      <p:sp>
        <p:nvSpPr>
          <p:cNvPr id="33" name="Rounded Rectangle 32"/>
          <p:cNvSpPr/>
          <p:nvPr/>
        </p:nvSpPr>
        <p:spPr>
          <a:xfrm>
            <a:off x="4343400" y="4498847"/>
            <a:ext cx="1508760" cy="292608"/>
          </a:xfrm>
          <a:prstGeom prst="roundRect">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a:solidFill>
                  <a:srgbClr val="16785C"/>
                </a:solidFill>
                <a:latin typeface="Apple SD Gothic Neo"/>
              </a:rPr>
              <a:t>약 59% 절감</a:t>
            </a:r>
          </a:p>
        </p:txBody>
      </p:sp>
      <p:sp>
        <p:nvSpPr>
          <p:cNvPr id="34" name="TextBox 33"/>
          <p:cNvSpPr txBox="1"/>
          <p:nvPr/>
        </p:nvSpPr>
        <p:spPr>
          <a:xfrm>
            <a:off x="640080" y="4873751"/>
            <a:ext cx="320040" cy="274320"/>
          </a:xfrm>
          <a:prstGeom prst="rect">
            <a:avLst/>
          </a:prstGeom>
          <a:noFill/>
        </p:spPr>
        <p:txBody>
          <a:bodyPr wrap="square" lIns="0" rIns="0" tIns="0" bIns="0" anchor="ctr">
            <a:spAutoFit/>
          </a:bodyPr>
          <a:lstStyle/>
          <a:p>
            <a:r>
              <a:rPr sz="1200" b="1">
                <a:solidFill>
                  <a:srgbClr val="62746D"/>
                </a:solidFill>
                <a:latin typeface="Apple SD Gothic Neo"/>
              </a:rPr>
              <a:t>전</a:t>
            </a:r>
          </a:p>
        </p:txBody>
      </p:sp>
      <p:sp>
        <p:nvSpPr>
          <p:cNvPr id="35" name="Rectangle 34"/>
          <p:cNvSpPr/>
          <p:nvPr/>
        </p:nvSpPr>
        <p:spPr>
          <a:xfrm>
            <a:off x="1005840" y="4873751"/>
            <a:ext cx="2743200" cy="274320"/>
          </a:xfrm>
          <a:prstGeom prst="rect">
            <a:avLst/>
          </a:prstGeom>
          <a:solidFill>
            <a:srgbClr val="B7C4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858768" y="4873751"/>
            <a:ext cx="1737360" cy="274320"/>
          </a:xfrm>
          <a:prstGeom prst="rect">
            <a:avLst/>
          </a:prstGeom>
          <a:noFill/>
        </p:spPr>
        <p:txBody>
          <a:bodyPr wrap="square" lIns="0" rIns="0" tIns="0" bIns="0" anchor="ctr">
            <a:spAutoFit/>
          </a:bodyPr>
          <a:lstStyle/>
          <a:p>
            <a:r>
              <a:rPr sz="1500" b="1">
                <a:solidFill>
                  <a:srgbClr val="19382F"/>
                </a:solidFill>
                <a:latin typeface="Apple SD Gothic Neo"/>
              </a:rPr>
              <a:t>$0.0067</a:t>
            </a:r>
          </a:p>
        </p:txBody>
      </p:sp>
      <p:sp>
        <p:nvSpPr>
          <p:cNvPr id="37" name="TextBox 36"/>
          <p:cNvSpPr txBox="1"/>
          <p:nvPr/>
        </p:nvSpPr>
        <p:spPr>
          <a:xfrm>
            <a:off x="640080" y="5221223"/>
            <a:ext cx="320040" cy="274320"/>
          </a:xfrm>
          <a:prstGeom prst="rect">
            <a:avLst/>
          </a:prstGeom>
          <a:noFill/>
        </p:spPr>
        <p:txBody>
          <a:bodyPr wrap="square" lIns="0" rIns="0" tIns="0" bIns="0" anchor="ctr">
            <a:spAutoFit/>
          </a:bodyPr>
          <a:lstStyle/>
          <a:p>
            <a:r>
              <a:rPr sz="1200" b="1">
                <a:solidFill>
                  <a:srgbClr val="62746D"/>
                </a:solidFill>
                <a:latin typeface="Apple SD Gothic Neo"/>
              </a:rPr>
              <a:t>후</a:t>
            </a:r>
          </a:p>
        </p:txBody>
      </p:sp>
      <p:sp>
        <p:nvSpPr>
          <p:cNvPr id="38" name="Rectangle 37"/>
          <p:cNvSpPr/>
          <p:nvPr/>
        </p:nvSpPr>
        <p:spPr>
          <a:xfrm>
            <a:off x="1005840" y="5221223"/>
            <a:ext cx="1131004" cy="274320"/>
          </a:xfrm>
          <a:prstGeom prst="rect">
            <a:avLst/>
          </a:prstGeom>
          <a:solidFill>
            <a:srgbClr val="2E9E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246572" y="5221223"/>
            <a:ext cx="1737360" cy="274320"/>
          </a:xfrm>
          <a:prstGeom prst="rect">
            <a:avLst/>
          </a:prstGeom>
          <a:noFill/>
        </p:spPr>
        <p:txBody>
          <a:bodyPr wrap="square" lIns="0" rIns="0" tIns="0" bIns="0" anchor="ctr">
            <a:spAutoFit/>
          </a:bodyPr>
          <a:lstStyle/>
          <a:p>
            <a:r>
              <a:rPr sz="1500" b="1">
                <a:solidFill>
                  <a:srgbClr val="19382F"/>
                </a:solidFill>
                <a:latin typeface="Apple SD Gothic Neo"/>
              </a:rPr>
              <a:t>$0.0027</a:t>
            </a:r>
          </a:p>
        </p:txBody>
      </p:sp>
      <p:sp>
        <p:nvSpPr>
          <p:cNvPr id="40" name="TextBox 39"/>
          <p:cNvSpPr txBox="1"/>
          <p:nvPr/>
        </p:nvSpPr>
        <p:spPr>
          <a:xfrm>
            <a:off x="640080" y="5550407"/>
            <a:ext cx="5212080" cy="182880"/>
          </a:xfrm>
          <a:prstGeom prst="rect">
            <a:avLst/>
          </a:prstGeom>
          <a:noFill/>
        </p:spPr>
        <p:txBody>
          <a:bodyPr wrap="square" lIns="0" rIns="0" tIns="0" bIns="0">
            <a:spAutoFit/>
          </a:bodyPr>
          <a:lstStyle/>
          <a:p>
            <a:r>
              <a:rPr sz="1100" b="0">
                <a:solidFill>
                  <a:srgbClr val="62746D"/>
                </a:solidFill>
                <a:latin typeface="Apple SD Gothic Neo"/>
              </a:rPr>
              <a:t>글자 수 기반 추정 · 제공 구조 측정</a:t>
            </a:r>
          </a:p>
        </p:txBody>
      </p:sp>
      <p:sp>
        <p:nvSpPr>
          <p:cNvPr id="41" name="Rectangle 40"/>
          <p:cNvSpPr/>
          <p:nvPr/>
        </p:nvSpPr>
        <p:spPr>
          <a:xfrm>
            <a:off x="6309360" y="2011680"/>
            <a:ext cx="5212080" cy="329184"/>
          </a:xfrm>
          <a:prstGeom prst="rect">
            <a:avLst/>
          </a:prstGeom>
          <a:solidFill>
            <a:srgbClr val="193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19088" y="2011680"/>
            <a:ext cx="1261872" cy="329184"/>
          </a:xfrm>
          <a:prstGeom prst="rect">
            <a:avLst/>
          </a:prstGeom>
          <a:noFill/>
        </p:spPr>
        <p:txBody>
          <a:bodyPr wrap="square" lIns="0" rIns="0" tIns="0" bIns="0" anchor="ctr">
            <a:spAutoFit/>
          </a:bodyPr>
          <a:lstStyle/>
          <a:p>
            <a:r>
              <a:rPr sz="1200" b="1">
                <a:solidFill>
                  <a:srgbClr val="FFFFFF"/>
                </a:solidFill>
                <a:latin typeface="Apple SD Gothic Neo"/>
              </a:rPr>
              <a:t>기술</a:t>
            </a:r>
          </a:p>
        </p:txBody>
      </p:sp>
      <p:sp>
        <p:nvSpPr>
          <p:cNvPr id="43" name="TextBox 42"/>
          <p:cNvSpPr txBox="1"/>
          <p:nvPr/>
        </p:nvSpPr>
        <p:spPr>
          <a:xfrm>
            <a:off x="7836407" y="2011680"/>
            <a:ext cx="1764791" cy="329184"/>
          </a:xfrm>
          <a:prstGeom prst="rect">
            <a:avLst/>
          </a:prstGeom>
          <a:noFill/>
        </p:spPr>
        <p:txBody>
          <a:bodyPr wrap="square" lIns="0" rIns="0" tIns="0" bIns="0" anchor="ctr">
            <a:spAutoFit/>
          </a:bodyPr>
          <a:lstStyle/>
          <a:p>
            <a:r>
              <a:rPr sz="1200" b="1">
                <a:solidFill>
                  <a:srgbClr val="FFFFFF"/>
                </a:solidFill>
                <a:latin typeface="Apple SD Gothic Neo"/>
              </a:rPr>
              <a:t>선택 이유</a:t>
            </a:r>
          </a:p>
        </p:txBody>
      </p:sp>
      <p:sp>
        <p:nvSpPr>
          <p:cNvPr id="44" name="TextBox 43"/>
          <p:cNvSpPr txBox="1"/>
          <p:nvPr/>
        </p:nvSpPr>
        <p:spPr>
          <a:xfrm>
            <a:off x="9756648" y="2011680"/>
            <a:ext cx="1764791" cy="329184"/>
          </a:xfrm>
          <a:prstGeom prst="rect">
            <a:avLst/>
          </a:prstGeom>
          <a:noFill/>
        </p:spPr>
        <p:txBody>
          <a:bodyPr wrap="square" lIns="0" rIns="0" tIns="0" bIns="0" anchor="ctr">
            <a:spAutoFit/>
          </a:bodyPr>
          <a:lstStyle/>
          <a:p>
            <a:r>
              <a:rPr sz="1200" b="1">
                <a:solidFill>
                  <a:srgbClr val="FFFFFF"/>
                </a:solidFill>
                <a:latin typeface="Apple SD Gothic Neo"/>
              </a:rPr>
              <a:t>한계</a:t>
            </a:r>
          </a:p>
        </p:txBody>
      </p:sp>
      <p:sp>
        <p:nvSpPr>
          <p:cNvPr id="45" name="Rectangle 44"/>
          <p:cNvSpPr/>
          <p:nvPr/>
        </p:nvSpPr>
        <p:spPr>
          <a:xfrm>
            <a:off x="6309360" y="2340864"/>
            <a:ext cx="5212080" cy="822960"/>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19088" y="2340864"/>
            <a:ext cx="1188720" cy="822960"/>
          </a:xfrm>
          <a:prstGeom prst="rect">
            <a:avLst/>
          </a:prstGeom>
          <a:noFill/>
        </p:spPr>
        <p:txBody>
          <a:bodyPr wrap="square" lIns="0" rIns="0" tIns="0" bIns="0" anchor="ctr">
            <a:spAutoFit/>
          </a:bodyPr>
          <a:lstStyle/>
          <a:p>
            <a:r>
              <a:rPr sz="1500" b="1">
                <a:solidFill>
                  <a:srgbClr val="16785C"/>
                </a:solidFill>
                <a:latin typeface="Apple SD Gothic Neo"/>
              </a:rPr>
              <a:t>의미 기반 검색</a:t>
            </a:r>
          </a:p>
        </p:txBody>
      </p:sp>
      <p:sp>
        <p:nvSpPr>
          <p:cNvPr id="47" name="TextBox 46"/>
          <p:cNvSpPr txBox="1"/>
          <p:nvPr/>
        </p:nvSpPr>
        <p:spPr>
          <a:xfrm>
            <a:off x="7836407" y="2340864"/>
            <a:ext cx="1691639" cy="822960"/>
          </a:xfrm>
          <a:prstGeom prst="rect">
            <a:avLst/>
          </a:prstGeom>
          <a:noFill/>
        </p:spPr>
        <p:txBody>
          <a:bodyPr wrap="square" lIns="0" rIns="0" tIns="0" bIns="0" anchor="ctr">
            <a:spAutoFit/>
          </a:bodyPr>
          <a:lstStyle/>
          <a:p>
            <a:r>
              <a:rPr sz="1300" b="0">
                <a:solidFill>
                  <a:srgbClr val="19382F"/>
                </a:solidFill>
                <a:latin typeface="Apple SD Gothic Neo"/>
              </a:rPr>
              <a:t>키워드는 표현이 다르면 놓침</a:t>
            </a:r>
          </a:p>
        </p:txBody>
      </p:sp>
      <p:sp>
        <p:nvSpPr>
          <p:cNvPr id="48" name="TextBox 47"/>
          <p:cNvSpPr txBox="1"/>
          <p:nvPr/>
        </p:nvSpPr>
        <p:spPr>
          <a:xfrm>
            <a:off x="9756648" y="2340864"/>
            <a:ext cx="1691639" cy="822960"/>
          </a:xfrm>
          <a:prstGeom prst="rect">
            <a:avLst/>
          </a:prstGeom>
          <a:noFill/>
        </p:spPr>
        <p:txBody>
          <a:bodyPr wrap="square" lIns="0" rIns="0" tIns="0" bIns="0" anchor="ctr">
            <a:spAutoFit/>
          </a:bodyPr>
          <a:lstStyle/>
          <a:p>
            <a:r>
              <a:rPr sz="1300" b="0">
                <a:solidFill>
                  <a:srgbClr val="B6503E"/>
                </a:solidFill>
                <a:latin typeface="Apple SD Gothic Neo"/>
              </a:rPr>
              <a:t>임베딩 자원 · 지연</a:t>
            </a:r>
          </a:p>
        </p:txBody>
      </p:sp>
      <p:sp>
        <p:nvSpPr>
          <p:cNvPr id="49" name="Rectangle 48"/>
          <p:cNvSpPr/>
          <p:nvPr/>
        </p:nvSpPr>
        <p:spPr>
          <a:xfrm>
            <a:off x="6309360" y="3154680"/>
            <a:ext cx="5212080" cy="8229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19088" y="3154680"/>
            <a:ext cx="1188720" cy="822960"/>
          </a:xfrm>
          <a:prstGeom prst="rect">
            <a:avLst/>
          </a:prstGeom>
          <a:noFill/>
        </p:spPr>
        <p:txBody>
          <a:bodyPr wrap="square" lIns="0" rIns="0" tIns="0" bIns="0" anchor="ctr">
            <a:spAutoFit/>
          </a:bodyPr>
          <a:lstStyle/>
          <a:p>
            <a:r>
              <a:rPr sz="1500" b="1">
                <a:solidFill>
                  <a:srgbClr val="16785C"/>
                </a:solidFill>
                <a:latin typeface="Apple SD Gothic Neo"/>
              </a:rPr>
              <a:t>규칙 기반 검증</a:t>
            </a:r>
          </a:p>
        </p:txBody>
      </p:sp>
      <p:sp>
        <p:nvSpPr>
          <p:cNvPr id="51" name="TextBox 50"/>
          <p:cNvSpPr txBox="1"/>
          <p:nvPr/>
        </p:nvSpPr>
        <p:spPr>
          <a:xfrm>
            <a:off x="7836407" y="3154680"/>
            <a:ext cx="1691639" cy="822960"/>
          </a:xfrm>
          <a:prstGeom prst="rect">
            <a:avLst/>
          </a:prstGeom>
          <a:noFill/>
        </p:spPr>
        <p:txBody>
          <a:bodyPr wrap="square" lIns="0" rIns="0" tIns="0" bIns="0" anchor="ctr">
            <a:spAutoFit/>
          </a:bodyPr>
          <a:lstStyle/>
          <a:p>
            <a:r>
              <a:rPr sz="1300" b="0">
                <a:solidFill>
                  <a:srgbClr val="19382F"/>
                </a:solidFill>
                <a:latin typeface="Apple SD Gothic Neo"/>
              </a:rPr>
              <a:t>판정이 명확 · 재현 가능</a:t>
            </a:r>
          </a:p>
        </p:txBody>
      </p:sp>
      <p:sp>
        <p:nvSpPr>
          <p:cNvPr id="52" name="TextBox 51"/>
          <p:cNvSpPr txBox="1"/>
          <p:nvPr/>
        </p:nvSpPr>
        <p:spPr>
          <a:xfrm>
            <a:off x="9756648" y="3154680"/>
            <a:ext cx="1691639" cy="822960"/>
          </a:xfrm>
          <a:prstGeom prst="rect">
            <a:avLst/>
          </a:prstGeom>
          <a:noFill/>
        </p:spPr>
        <p:txBody>
          <a:bodyPr wrap="square" lIns="0" rIns="0" tIns="0" bIns="0" anchor="ctr">
            <a:spAutoFit/>
          </a:bodyPr>
          <a:lstStyle/>
          <a:p>
            <a:r>
              <a:rPr sz="1300" b="0">
                <a:solidFill>
                  <a:srgbClr val="B6503E"/>
                </a:solidFill>
                <a:latin typeface="Apple SD Gothic Neo"/>
              </a:rPr>
              <a:t>새 표현 누락 가능</a:t>
            </a:r>
          </a:p>
        </p:txBody>
      </p:sp>
      <p:sp>
        <p:nvSpPr>
          <p:cNvPr id="53" name="Rectangle 52"/>
          <p:cNvSpPr/>
          <p:nvPr/>
        </p:nvSpPr>
        <p:spPr>
          <a:xfrm>
            <a:off x="6309360" y="3968496"/>
            <a:ext cx="5212080" cy="822960"/>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419088" y="3968496"/>
            <a:ext cx="1188720" cy="822960"/>
          </a:xfrm>
          <a:prstGeom prst="rect">
            <a:avLst/>
          </a:prstGeom>
          <a:noFill/>
        </p:spPr>
        <p:txBody>
          <a:bodyPr wrap="square" lIns="0" rIns="0" tIns="0" bIns="0" anchor="ctr">
            <a:spAutoFit/>
          </a:bodyPr>
          <a:lstStyle/>
          <a:p>
            <a:r>
              <a:rPr sz="1500" b="1">
                <a:solidFill>
                  <a:srgbClr val="16785C"/>
                </a:solidFill>
                <a:latin typeface="Apple SD Gothic Neo"/>
              </a:rPr>
              <a:t>초안 비공개</a:t>
            </a:r>
          </a:p>
        </p:txBody>
      </p:sp>
      <p:sp>
        <p:nvSpPr>
          <p:cNvPr id="55" name="TextBox 54"/>
          <p:cNvSpPr txBox="1"/>
          <p:nvPr/>
        </p:nvSpPr>
        <p:spPr>
          <a:xfrm>
            <a:off x="7836407" y="3968496"/>
            <a:ext cx="1691639" cy="822960"/>
          </a:xfrm>
          <a:prstGeom prst="rect">
            <a:avLst/>
          </a:prstGeom>
          <a:noFill/>
        </p:spPr>
        <p:txBody>
          <a:bodyPr wrap="square" lIns="0" rIns="0" tIns="0" bIns="0" anchor="ctr">
            <a:spAutoFit/>
          </a:bodyPr>
          <a:lstStyle/>
          <a:p>
            <a:r>
              <a:rPr sz="1300" b="0">
                <a:solidFill>
                  <a:srgbClr val="19382F"/>
                </a:solidFill>
                <a:latin typeface="Apple SD Gothic Neo"/>
              </a:rPr>
              <a:t>틀린 수치 노출 방지</a:t>
            </a:r>
          </a:p>
        </p:txBody>
      </p:sp>
      <p:sp>
        <p:nvSpPr>
          <p:cNvPr id="56" name="TextBox 55"/>
          <p:cNvSpPr txBox="1"/>
          <p:nvPr/>
        </p:nvSpPr>
        <p:spPr>
          <a:xfrm>
            <a:off x="9756648" y="3968496"/>
            <a:ext cx="1691639" cy="822960"/>
          </a:xfrm>
          <a:prstGeom prst="rect">
            <a:avLst/>
          </a:prstGeom>
          <a:noFill/>
        </p:spPr>
        <p:txBody>
          <a:bodyPr wrap="square" lIns="0" rIns="0" tIns="0" bIns="0" anchor="ctr">
            <a:spAutoFit/>
          </a:bodyPr>
          <a:lstStyle/>
          <a:p>
            <a:r>
              <a:rPr sz="1300" b="0">
                <a:solidFill>
                  <a:srgbClr val="B6503E"/>
                </a:solidFill>
                <a:latin typeface="Apple SD Gothic Neo"/>
              </a:rPr>
              <a:t>답변 대기 · 토큰 스트리밍 포기</a:t>
            </a:r>
          </a:p>
        </p:txBody>
      </p:sp>
      <p:sp>
        <p:nvSpPr>
          <p:cNvPr id="57" name="Rectangle 56"/>
          <p:cNvSpPr/>
          <p:nvPr/>
        </p:nvSpPr>
        <p:spPr>
          <a:xfrm>
            <a:off x="6309360" y="4782312"/>
            <a:ext cx="5212080" cy="8229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419088" y="4782312"/>
            <a:ext cx="1188720" cy="822960"/>
          </a:xfrm>
          <a:prstGeom prst="rect">
            <a:avLst/>
          </a:prstGeom>
          <a:noFill/>
        </p:spPr>
        <p:txBody>
          <a:bodyPr wrap="square" lIns="0" rIns="0" tIns="0" bIns="0" anchor="ctr">
            <a:spAutoFit/>
          </a:bodyPr>
          <a:lstStyle/>
          <a:p>
            <a:r>
              <a:rPr sz="1500" b="1">
                <a:solidFill>
                  <a:srgbClr val="16785C"/>
                </a:solidFill>
                <a:latin typeface="Apple SD Gothic Neo"/>
              </a:rPr>
              <a:t>서브그래프 · 모듈화</a:t>
            </a:r>
          </a:p>
        </p:txBody>
      </p:sp>
      <p:sp>
        <p:nvSpPr>
          <p:cNvPr id="59" name="TextBox 58"/>
          <p:cNvSpPr txBox="1"/>
          <p:nvPr/>
        </p:nvSpPr>
        <p:spPr>
          <a:xfrm>
            <a:off x="7836407" y="4782312"/>
            <a:ext cx="1691639" cy="822960"/>
          </a:xfrm>
          <a:prstGeom prst="rect">
            <a:avLst/>
          </a:prstGeom>
          <a:noFill/>
        </p:spPr>
        <p:txBody>
          <a:bodyPr wrap="square" lIns="0" rIns="0" tIns="0" bIns="0" anchor="ctr">
            <a:spAutoFit/>
          </a:bodyPr>
          <a:lstStyle/>
          <a:p>
            <a:r>
              <a:rPr sz="1300" b="0">
                <a:solidFill>
                  <a:srgbClr val="19382F"/>
                </a:solidFill>
                <a:latin typeface="Apple SD Gothic Neo"/>
              </a:rPr>
              <a:t>부분 실패 격리 · 테스트 용이</a:t>
            </a:r>
          </a:p>
        </p:txBody>
      </p:sp>
      <p:sp>
        <p:nvSpPr>
          <p:cNvPr id="60" name="TextBox 59"/>
          <p:cNvSpPr txBox="1"/>
          <p:nvPr/>
        </p:nvSpPr>
        <p:spPr>
          <a:xfrm>
            <a:off x="9756648" y="4782312"/>
            <a:ext cx="1691639" cy="822960"/>
          </a:xfrm>
          <a:prstGeom prst="rect">
            <a:avLst/>
          </a:prstGeom>
          <a:noFill/>
        </p:spPr>
        <p:txBody>
          <a:bodyPr wrap="square" lIns="0" rIns="0" tIns="0" bIns="0" anchor="ctr">
            <a:spAutoFit/>
          </a:bodyPr>
          <a:lstStyle/>
          <a:p>
            <a:r>
              <a:rPr sz="1300" b="0">
                <a:solidFill>
                  <a:srgbClr val="B6503E"/>
                </a:solidFill>
                <a:latin typeface="Apple SD Gothic Neo"/>
              </a:rPr>
              <a:t>속도 이득 없음</a:t>
            </a:r>
          </a:p>
        </p:txBody>
      </p:sp>
      <p:sp>
        <p:nvSpPr>
          <p:cNvPr id="61" name="Rectangle 60"/>
          <p:cNvSpPr/>
          <p:nvPr/>
        </p:nvSpPr>
        <p:spPr>
          <a:xfrm>
            <a:off x="6309360" y="5596128"/>
            <a:ext cx="5212080" cy="13716"/>
          </a:xfrm>
          <a:prstGeom prst="rect">
            <a:avLst/>
          </a:prstGeom>
          <a:solidFill>
            <a:srgbClr val="B7C4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640080" y="5852160"/>
            <a:ext cx="10881360" cy="411480"/>
          </a:xfrm>
          <a:prstGeom prst="rect">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822960" y="5852160"/>
            <a:ext cx="10515600" cy="411480"/>
          </a:xfrm>
          <a:prstGeom prst="rect">
            <a:avLst/>
          </a:prstGeom>
          <a:noFill/>
        </p:spPr>
        <p:txBody>
          <a:bodyPr wrap="square" lIns="0" rIns="0" tIns="0" bIns="0" anchor="ctr">
            <a:spAutoFit/>
          </a:bodyPr>
          <a:lstStyle/>
          <a:p>
            <a:r>
              <a:rPr sz="1200" b="0">
                <a:solidFill>
                  <a:srgbClr val="62746D"/>
                </a:solidFill>
                <a:latin typeface="Apple SD Gothic Neo"/>
              </a:rPr>
              <a:t>비용은 글자 수 기반 추정  |  프롬프트 압축·요약은 미적용  |  fast/quality 모델 분리와 병렬 구조는 제공 기반을 측정한 것</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102F27"/>
        </a:solidFill>
      </p:bgPr>
    </p:bg>
    <p:spTree>
      <p:nvGrpSpPr>
        <p:cNvPr id="1" name=""/>
        <p:cNvGrpSpPr/>
        <p:nvPr/>
      </p:nvGrpSpPr>
      <p:grpSpPr>
        <a:xfrm>
          <a:off x="0" y="0"/>
          <a:ext cx="0" cy="0"/>
          <a:chOff x="0" y="0"/>
          <a:chExt cx="0" cy="0"/>
        </a:xfrm>
      </p:grpSpPr>
      <p:sp>
        <p:nvSpPr>
          <p:cNvPr id="2" name="Text 0"/>
          <p:cNvSpPr txBox="1"/>
          <p:nvPr/>
        </p:nvSpPr>
        <p:spPr>
          <a:xfrm>
            <a:off x="594360" y="320040"/>
            <a:ext cx="9144000" cy="274320"/>
          </a:xfrm>
          <a:prstGeom prst="rect">
            <a:avLst/>
          </a:prstGeom>
          <a:noFill/>
          <a:ln/>
        </p:spPr>
        <p:txBody>
          <a:bodyPr wrap="square" lIns="0" tIns="0" rIns="0" bIns="0" rtlCol="0" anchor="ctr"/>
          <a:lstStyle/>
          <a:p>
            <a:pPr indent="0" marL="0">
              <a:buNone/>
            </a:pPr>
            <a:r>
              <a:rPr lang="en-US" sz="1100" b="1" dirty="0">
                <a:solidFill>
                  <a:srgbClr val="A4DAC2"/>
                </a:solidFill>
                <a:latin typeface="Apple SD Gothic Neo" pitchFamily="34" charset="0"/>
                <a:ea typeface="Apple SD Gothic Neo" pitchFamily="34" charset="-122"/>
                <a:cs typeface="Apple SD Gothic Neo" pitchFamily="34" charset="-120"/>
              </a:rPr>
              <a:t>09  한계와 트레이드오프</a:t>
            </a:r>
            <a:endParaRPr lang="en-US" sz="1100" dirty="0"/>
          </a:p>
        </p:txBody>
      </p:sp>
      <p:sp>
        <p:nvSpPr>
          <p:cNvPr id="3" name="Text 1"/>
          <p:cNvSpPr txBox="1"/>
          <p:nvPr/>
        </p:nvSpPr>
        <p:spPr>
          <a:xfrm>
            <a:off x="594360" y="868680"/>
            <a:ext cx="10972800" cy="914400"/>
          </a:xfrm>
          <a:prstGeom prst="rect">
            <a:avLst/>
          </a:prstGeom>
          <a:noFill/>
          <a:ln/>
        </p:spPr>
        <p:txBody>
          <a:bodyPr wrap="square" lIns="0" tIns="0" rIns="0" bIns="0" rtlCol="0" anchor="ctr"/>
          <a:lstStyle/>
          <a:p>
            <a:pPr indent="0" marL="0">
              <a:buNone/>
            </a:pPr>
            <a:r>
              <a:rPr lang="en-US" sz="3200" b="1" dirty="0">
                <a:solidFill>
                  <a:srgbClr val="FFFFFF"/>
                </a:solidFill>
                <a:latin typeface="Apple SD Gothic Neo" pitchFamily="34" charset="0"/>
                <a:ea typeface="Apple SD Gothic Neo" pitchFamily="34" charset="-122"/>
                <a:cs typeface="Apple SD Gothic Neo" pitchFamily="34" charset="-120"/>
              </a:rPr>
              <a:t>검증 통과가 답변 전체의 정확성을 보장하지 않음</a:t>
            </a:r>
            <a:endParaRPr lang="en-US" sz="3200" dirty="0"/>
          </a:p>
        </p:txBody>
      </p:sp>
      <p:sp>
        <p:nvSpPr>
          <p:cNvPr id="4" name="Text 2"/>
          <p:cNvSpPr txBox="1"/>
          <p:nvPr/>
        </p:nvSpPr>
        <p:spPr>
          <a:xfrm>
            <a:off x="594360" y="6473952"/>
            <a:ext cx="7315200" cy="164592"/>
          </a:xfrm>
          <a:prstGeom prst="rect">
            <a:avLst/>
          </a:prstGeom>
          <a:noFill/>
          <a:ln/>
        </p:spPr>
        <p:txBody>
          <a:bodyPr wrap="square" lIns="0" tIns="0" rIns="0" bIns="0" rtlCol="0" anchor="ctr"/>
          <a:lstStyle/>
          <a:p>
            <a:pPr indent="0" marL="0">
              <a:buNone/>
            </a:pPr>
            <a:r>
              <a:rPr lang="en-US" sz="900" dirty="0">
                <a:solidFill>
                  <a:srgbClr val="A4DAC2"/>
                </a:solidFill>
                <a:latin typeface="Apple SD Gothic Neo" pitchFamily="34" charset="0"/>
                <a:ea typeface="Apple SD Gothic Neo" pitchFamily="34" charset="-122"/>
                <a:cs typeface="Apple SD Gothic Neo" pitchFamily="34" charset="-120"/>
              </a:rPr>
              <a:t>AI CAPSTONE  ·  김하연</a:t>
            </a:r>
            <a:endParaRPr lang="en-US" sz="900" dirty="0"/>
          </a:p>
        </p:txBody>
      </p:sp>
      <p:sp>
        <p:nvSpPr>
          <p:cNvPr id="5" name="Text 3"/>
          <p:cNvSpPr txBox="1"/>
          <p:nvPr/>
        </p:nvSpPr>
        <p:spPr>
          <a:xfrm>
            <a:off x="10835640" y="6473952"/>
            <a:ext cx="777240" cy="164592"/>
          </a:xfrm>
          <a:prstGeom prst="rect">
            <a:avLst/>
          </a:prstGeom>
          <a:noFill/>
          <a:ln/>
        </p:spPr>
        <p:txBody>
          <a:bodyPr wrap="square" lIns="0" tIns="0" rIns="0" bIns="0" rtlCol="0" anchor="ctr"/>
          <a:lstStyle/>
          <a:p>
            <a:pPr indent="0" marL="0">
              <a:buNone/>
            </a:pPr>
            <a:r>
              <a:rPr lang="en-US" sz="900" dirty="0">
                <a:solidFill>
                  <a:srgbClr val="A4DAC2"/>
                </a:solidFill>
                <a:latin typeface="Apple SD Gothic Neo" pitchFamily="34" charset="0"/>
                <a:ea typeface="Apple SD Gothic Neo" pitchFamily="34" charset="-122"/>
                <a:cs typeface="Apple SD Gothic Neo" pitchFamily="34" charset="-120"/>
              </a:rPr>
              <a:t>10 / 10</a:t>
            </a:r>
            <a:endParaRPr lang="en-US" sz="900" dirty="0"/>
          </a:p>
        </p:txBody>
      </p:sp>
      <p:sp>
        <p:nvSpPr>
          <p:cNvPr id="7" name="Text 4"/>
          <p:cNvSpPr txBox="1"/>
          <p:nvPr/>
        </p:nvSpPr>
        <p:spPr>
          <a:xfrm>
            <a:off x="685800" y="2011680"/>
            <a:ext cx="1828800" cy="411480"/>
          </a:xfrm>
          <a:prstGeom prst="rect">
            <a:avLst/>
          </a:prstGeom>
          <a:noFill/>
          <a:ln/>
        </p:spPr>
        <p:txBody>
          <a:bodyPr wrap="square" lIns="0" tIns="0" rIns="0" bIns="0" rtlCol="0" anchor="ctr"/>
          <a:lstStyle/>
          <a:p>
            <a:pPr indent="0" marL="0">
              <a:buNone/>
            </a:pPr>
            <a:r>
              <a:rPr lang="en-US" sz="1800" b="1" dirty="0">
                <a:solidFill>
                  <a:srgbClr val="A4DAC2"/>
                </a:solidFill>
                <a:latin typeface="Apple SD Gothic Neo" pitchFamily="34" charset="0"/>
                <a:ea typeface="Apple SD Gothic Neo" pitchFamily="34" charset="-122"/>
                <a:cs typeface="Apple SD Gothic Neo" pitchFamily="34" charset="-120"/>
              </a:rPr>
              <a:t>검증 범위</a:t>
            </a:r>
            <a:endParaRPr lang="en-US" sz="1800" dirty="0"/>
          </a:p>
        </p:txBody>
      </p:sp>
      <p:sp>
        <p:nvSpPr>
          <p:cNvPr id="8" name="Text 5"/>
          <p:cNvSpPr txBox="1"/>
          <p:nvPr/>
        </p:nvSpPr>
        <p:spPr>
          <a:xfrm>
            <a:off x="2834640" y="2011680"/>
            <a:ext cx="4114800" cy="457200"/>
          </a:xfrm>
          <a:prstGeom prst="rect">
            <a:avLst/>
          </a:prstGeom>
          <a:noFill/>
          <a:ln/>
        </p:spPr>
        <p:txBody>
          <a:bodyPr wrap="square" lIns="0" tIns="0" rIns="0" bIns="0" rtlCol="0" anchor="ctr"/>
          <a:lstStyle/>
          <a:p>
            <a:pPr indent="0" marL="0">
              <a:buNone/>
            </a:pPr>
            <a:r>
              <a:rPr lang="en-US" sz="2000" dirty="0">
                <a:solidFill>
                  <a:srgbClr val="FFFFFF"/>
                </a:solidFill>
                <a:latin typeface="Apple SD Gothic Neo" pitchFamily="34" charset="0"/>
                <a:ea typeface="Apple SD Gothic Neo" pitchFamily="34" charset="-122"/>
                <a:cs typeface="Apple SD Gothic Neo" pitchFamily="34" charset="-120"/>
              </a:rPr>
              <a:t>시스템명·CPU·메모리만 대조</a:t>
            </a:r>
            <a:endParaRPr lang="en-US" sz="2000" dirty="0"/>
          </a:p>
        </p:txBody>
      </p:sp>
      <p:sp>
        <p:nvSpPr>
          <p:cNvPr id="9" name="Text 6"/>
          <p:cNvSpPr txBox="1"/>
          <p:nvPr/>
        </p:nvSpPr>
        <p:spPr>
          <a:xfrm>
            <a:off x="7086600" y="2011680"/>
            <a:ext cx="457200" cy="457200"/>
          </a:xfrm>
          <a:prstGeom prst="rect">
            <a:avLst/>
          </a:prstGeom>
          <a:noFill/>
          <a:ln/>
        </p:spPr>
        <p:txBody>
          <a:bodyPr wrap="square" lIns="0" tIns="0" rIns="0" bIns="0" rtlCol="0" anchor="ctr"/>
          <a:lstStyle/>
          <a:p>
            <a:pPr indent="0" marL="0">
              <a:buNone/>
            </a:pPr>
            <a:r>
              <a:rPr lang="en-US" sz="2200" dirty="0">
                <a:solidFill>
                  <a:srgbClr val="A4DAC2"/>
                </a:solidFill>
                <a:latin typeface="Apple SD Gothic Neo" pitchFamily="34" charset="0"/>
                <a:ea typeface="Apple SD Gothic Neo" pitchFamily="34" charset="-122"/>
                <a:cs typeface="Apple SD Gothic Neo" pitchFamily="34" charset="-120"/>
              </a:rPr>
              <a:t>↔</a:t>
            </a:r>
            <a:endParaRPr lang="en-US" sz="2200" dirty="0"/>
          </a:p>
        </p:txBody>
      </p:sp>
      <p:sp>
        <p:nvSpPr>
          <p:cNvPr id="10" name="Text 7"/>
          <p:cNvSpPr txBox="1"/>
          <p:nvPr/>
        </p:nvSpPr>
        <p:spPr>
          <a:xfrm>
            <a:off x="7863840" y="2011680"/>
            <a:ext cx="3657600" cy="548640"/>
          </a:xfrm>
          <a:prstGeom prst="rect">
            <a:avLst/>
          </a:prstGeom>
          <a:noFill/>
          <a:ln/>
        </p:spPr>
        <p:txBody>
          <a:bodyPr wrap="square" lIns="0" tIns="0" rIns="0" bIns="0" rtlCol="0" anchor="ctr"/>
          <a:lstStyle/>
          <a:p>
            <a:pPr indent="0" marL="0">
              <a:buNone/>
            </a:pPr>
            <a:r>
              <a:rPr lang="en-US" sz="1700" dirty="0">
                <a:solidFill>
                  <a:srgbClr val="A4DAC2"/>
                </a:solidFill>
                <a:latin typeface="Apple SD Gothic Neo" pitchFamily="34" charset="0"/>
                <a:ea typeface="Apple SD Gothic Neo" pitchFamily="34" charset="-122"/>
                <a:cs typeface="Apple SD Gothic Neo" pitchFamily="34" charset="-120"/>
              </a:rPr>
              <a:t>원인 설명·권장 조치는 미검증</a:t>
            </a:r>
            <a:endParaRPr lang="en-US" sz="1700" dirty="0"/>
          </a:p>
        </p:txBody>
      </p:sp>
      <p:sp>
        <p:nvSpPr>
          <p:cNvPr id="11" name="Text 8"/>
          <p:cNvSpPr txBox="1"/>
          <p:nvPr/>
        </p:nvSpPr>
        <p:spPr>
          <a:xfrm>
            <a:off x="685800" y="3063240"/>
            <a:ext cx="1828800" cy="411480"/>
          </a:xfrm>
          <a:prstGeom prst="rect">
            <a:avLst/>
          </a:prstGeom>
          <a:noFill/>
          <a:ln/>
        </p:spPr>
        <p:txBody>
          <a:bodyPr wrap="square" lIns="0" tIns="0" rIns="0" bIns="0" rtlCol="0" anchor="ctr"/>
          <a:lstStyle/>
          <a:p>
            <a:pPr indent="0" marL="0">
              <a:buNone/>
            </a:pPr>
            <a:r>
              <a:rPr lang="en-US" sz="1800" b="1" dirty="0">
                <a:solidFill>
                  <a:srgbClr val="A4DAC2"/>
                </a:solidFill>
                <a:latin typeface="Apple SD Gothic Neo" pitchFamily="34" charset="0"/>
                <a:ea typeface="Apple SD Gothic Neo" pitchFamily="34" charset="-122"/>
                <a:cs typeface="Apple SD Gothic Neo" pitchFamily="34" charset="-120"/>
              </a:rPr>
              <a:t>표현과 평가</a:t>
            </a:r>
            <a:endParaRPr lang="en-US" sz="1800" dirty="0"/>
          </a:p>
        </p:txBody>
      </p:sp>
      <p:sp>
        <p:nvSpPr>
          <p:cNvPr id="12" name="Text 9"/>
          <p:cNvSpPr txBox="1"/>
          <p:nvPr/>
        </p:nvSpPr>
        <p:spPr>
          <a:xfrm>
            <a:off x="2834640" y="3063240"/>
            <a:ext cx="4114800" cy="457200"/>
          </a:xfrm>
          <a:prstGeom prst="rect">
            <a:avLst/>
          </a:prstGeom>
          <a:noFill/>
          <a:ln/>
        </p:spPr>
        <p:txBody>
          <a:bodyPr wrap="square" lIns="0" tIns="0" rIns="0" bIns="0" rtlCol="0" anchor="ctr"/>
          <a:lstStyle/>
          <a:p>
            <a:pPr indent="0" marL="0">
              <a:buNone/>
            </a:pPr>
            <a:r>
              <a:rPr lang="en-US" sz="2000" dirty="0">
                <a:solidFill>
                  <a:srgbClr val="FFFFFF"/>
                </a:solidFill>
                <a:latin typeface="Apple SD Gothic Neo" pitchFamily="34" charset="0"/>
                <a:ea typeface="Apple SD Gothic Neo" pitchFamily="34" charset="-122"/>
                <a:cs typeface="Apple SD Gothic Neo" pitchFamily="34" charset="-120"/>
              </a:rPr>
              <a:t>명확한 규칙, 재현 가능한 판정</a:t>
            </a:r>
            <a:endParaRPr lang="en-US" sz="2000" dirty="0"/>
          </a:p>
        </p:txBody>
      </p:sp>
      <p:sp>
        <p:nvSpPr>
          <p:cNvPr id="13" name="Text 10"/>
          <p:cNvSpPr txBox="1"/>
          <p:nvPr/>
        </p:nvSpPr>
        <p:spPr>
          <a:xfrm>
            <a:off x="7086600" y="3063240"/>
            <a:ext cx="457200" cy="457200"/>
          </a:xfrm>
          <a:prstGeom prst="rect">
            <a:avLst/>
          </a:prstGeom>
          <a:noFill/>
          <a:ln/>
        </p:spPr>
        <p:txBody>
          <a:bodyPr wrap="square" lIns="0" tIns="0" rIns="0" bIns="0" rtlCol="0" anchor="ctr"/>
          <a:lstStyle/>
          <a:p>
            <a:pPr indent="0" marL="0">
              <a:buNone/>
            </a:pPr>
            <a:r>
              <a:rPr lang="en-US" sz="2200" dirty="0">
                <a:solidFill>
                  <a:srgbClr val="A4DAC2"/>
                </a:solidFill>
                <a:latin typeface="Apple SD Gothic Neo" pitchFamily="34" charset="0"/>
                <a:ea typeface="Apple SD Gothic Neo" pitchFamily="34" charset="-122"/>
                <a:cs typeface="Apple SD Gothic Neo" pitchFamily="34" charset="-120"/>
              </a:rPr>
              <a:t>↔</a:t>
            </a:r>
            <a:endParaRPr lang="en-US" sz="2200" dirty="0"/>
          </a:p>
        </p:txBody>
      </p:sp>
      <p:sp>
        <p:nvSpPr>
          <p:cNvPr id="14" name="Text 11"/>
          <p:cNvSpPr txBox="1"/>
          <p:nvPr/>
        </p:nvSpPr>
        <p:spPr>
          <a:xfrm>
            <a:off x="7863840" y="3063240"/>
            <a:ext cx="3657600" cy="548640"/>
          </a:xfrm>
          <a:prstGeom prst="rect">
            <a:avLst/>
          </a:prstGeom>
          <a:noFill/>
          <a:ln/>
        </p:spPr>
        <p:txBody>
          <a:bodyPr wrap="square" lIns="0" tIns="0" rIns="0" bIns="0" rtlCol="0" anchor="ctr"/>
          <a:lstStyle/>
          <a:p>
            <a:pPr indent="0" marL="0">
              <a:buNone/>
            </a:pPr>
            <a:r>
              <a:rPr lang="en-US" sz="1700" dirty="0">
                <a:solidFill>
                  <a:srgbClr val="A4DAC2"/>
                </a:solidFill>
                <a:latin typeface="Apple SD Gothic Neo" pitchFamily="34" charset="0"/>
                <a:ea typeface="Apple SD Gothic Neo" pitchFamily="34" charset="-122"/>
                <a:cs typeface="Apple SD Gothic Neo" pitchFamily="34" charset="-120"/>
              </a:rPr>
              <a:t>새 표현 누락 · 자체 평가의 낙관 가능성</a:t>
            </a:r>
            <a:endParaRPr lang="en-US" sz="1700" dirty="0"/>
          </a:p>
        </p:txBody>
      </p:sp>
      <p:sp>
        <p:nvSpPr>
          <p:cNvPr id="15" name="Text 12"/>
          <p:cNvSpPr txBox="1"/>
          <p:nvPr/>
        </p:nvSpPr>
        <p:spPr>
          <a:xfrm>
            <a:off x="685800" y="4114800"/>
            <a:ext cx="1828800" cy="411480"/>
          </a:xfrm>
          <a:prstGeom prst="rect">
            <a:avLst/>
          </a:prstGeom>
          <a:noFill/>
          <a:ln/>
        </p:spPr>
        <p:txBody>
          <a:bodyPr wrap="square" lIns="0" tIns="0" rIns="0" bIns="0" rtlCol="0" anchor="ctr"/>
          <a:lstStyle/>
          <a:p>
            <a:pPr indent="0" marL="0">
              <a:buNone/>
            </a:pPr>
            <a:r>
              <a:rPr lang="en-US" sz="1800" b="1" dirty="0">
                <a:solidFill>
                  <a:srgbClr val="A4DAC2"/>
                </a:solidFill>
                <a:latin typeface="Apple SD Gothic Neo" pitchFamily="34" charset="0"/>
                <a:ea typeface="Apple SD Gothic Neo" pitchFamily="34" charset="-122"/>
                <a:cs typeface="Apple SD Gothic Neo" pitchFamily="34" charset="-120"/>
              </a:rPr>
              <a:t>사용 경험</a:t>
            </a:r>
            <a:endParaRPr lang="en-US" sz="1800" dirty="0"/>
          </a:p>
        </p:txBody>
      </p:sp>
      <p:sp>
        <p:nvSpPr>
          <p:cNvPr id="16" name="Text 13"/>
          <p:cNvSpPr txBox="1"/>
          <p:nvPr/>
        </p:nvSpPr>
        <p:spPr>
          <a:xfrm>
            <a:off x="2834640" y="4114800"/>
            <a:ext cx="4114800" cy="457200"/>
          </a:xfrm>
          <a:prstGeom prst="rect">
            <a:avLst/>
          </a:prstGeom>
          <a:noFill/>
          <a:ln/>
        </p:spPr>
        <p:txBody>
          <a:bodyPr wrap="square" lIns="0" tIns="0" rIns="0" bIns="0" rtlCol="0" anchor="ctr"/>
          <a:lstStyle/>
          <a:p>
            <a:pPr indent="0" marL="0">
              <a:buNone/>
            </a:pPr>
            <a:r>
              <a:rPr lang="en-US" sz="2000" dirty="0">
                <a:solidFill>
                  <a:srgbClr val="FFFFFF"/>
                </a:solidFill>
                <a:latin typeface="Apple SD Gothic Neo" pitchFamily="34" charset="0"/>
                <a:ea typeface="Apple SD Gothic Neo" pitchFamily="34" charset="-122"/>
                <a:cs typeface="Apple SD Gothic Neo" pitchFamily="34" charset="-120"/>
              </a:rPr>
              <a:t>초안 비공개 · 의미 기반 검색</a:t>
            </a:r>
            <a:endParaRPr lang="en-US" sz="2000" dirty="0"/>
          </a:p>
        </p:txBody>
      </p:sp>
      <p:sp>
        <p:nvSpPr>
          <p:cNvPr id="17" name="Text 14"/>
          <p:cNvSpPr txBox="1"/>
          <p:nvPr/>
        </p:nvSpPr>
        <p:spPr>
          <a:xfrm>
            <a:off x="7086600" y="4114800"/>
            <a:ext cx="457200" cy="457200"/>
          </a:xfrm>
          <a:prstGeom prst="rect">
            <a:avLst/>
          </a:prstGeom>
          <a:noFill/>
          <a:ln/>
        </p:spPr>
        <p:txBody>
          <a:bodyPr wrap="square" lIns="0" tIns="0" rIns="0" bIns="0" rtlCol="0" anchor="ctr"/>
          <a:lstStyle/>
          <a:p>
            <a:pPr indent="0" marL="0">
              <a:buNone/>
            </a:pPr>
            <a:r>
              <a:rPr lang="en-US" sz="2200" dirty="0">
                <a:solidFill>
                  <a:srgbClr val="A4DAC2"/>
                </a:solidFill>
                <a:latin typeface="Apple SD Gothic Neo" pitchFamily="34" charset="0"/>
                <a:ea typeface="Apple SD Gothic Neo" pitchFamily="34" charset="-122"/>
                <a:cs typeface="Apple SD Gothic Neo" pitchFamily="34" charset="-120"/>
              </a:rPr>
              <a:t>↔</a:t>
            </a:r>
            <a:endParaRPr lang="en-US" sz="2200" dirty="0"/>
          </a:p>
        </p:txBody>
      </p:sp>
      <p:sp>
        <p:nvSpPr>
          <p:cNvPr id="18" name="Text 15"/>
          <p:cNvSpPr txBox="1"/>
          <p:nvPr/>
        </p:nvSpPr>
        <p:spPr>
          <a:xfrm>
            <a:off x="7863840" y="4114800"/>
            <a:ext cx="3657600" cy="548640"/>
          </a:xfrm>
          <a:prstGeom prst="rect">
            <a:avLst/>
          </a:prstGeom>
          <a:noFill/>
          <a:ln/>
        </p:spPr>
        <p:txBody>
          <a:bodyPr wrap="square" lIns="0" tIns="0" rIns="0" bIns="0" rtlCol="0" anchor="ctr"/>
          <a:lstStyle/>
          <a:p>
            <a:pPr indent="0" marL="0">
              <a:buNone/>
            </a:pPr>
            <a:r>
              <a:rPr lang="en-US" sz="1700" dirty="0">
                <a:solidFill>
                  <a:srgbClr val="A4DAC2"/>
                </a:solidFill>
                <a:latin typeface="Apple SD Gothic Neo" pitchFamily="34" charset="0"/>
                <a:ea typeface="Apple SD Gothic Neo" pitchFamily="34" charset="-122"/>
                <a:cs typeface="Apple SD Gothic Neo" pitchFamily="34" charset="-120"/>
              </a:rPr>
              <a:t>최종 답변 대기 · 임베딩 자원과 지연</a:t>
            </a:r>
            <a:endParaRPr lang="en-US" sz="1700" dirty="0"/>
          </a:p>
        </p:txBody>
      </p:sp>
      <p:sp>
        <p:nvSpPr>
          <p:cNvPr id="19" name="Text 16"/>
          <p:cNvSpPr txBox="1"/>
          <p:nvPr/>
        </p:nvSpPr>
        <p:spPr>
          <a:xfrm>
            <a:off x="685800" y="5440680"/>
            <a:ext cx="10881360" cy="548640"/>
          </a:xfrm>
          <a:prstGeom prst="rect">
            <a:avLst/>
          </a:prstGeom>
          <a:noFill/>
          <a:ln/>
        </p:spPr>
        <p:txBody>
          <a:bodyPr wrap="square" lIns="0" tIns="0" rIns="0" bIns="0" rtlCol="0" anchor="ctr"/>
          <a:lstStyle/>
          <a:p>
            <a:pPr indent="0" marL="0">
              <a:buNone/>
            </a:pPr>
            <a:r>
              <a:rPr lang="en-US" sz="2700" b="1" dirty="0">
                <a:solidFill>
                  <a:srgbClr val="FFFFFF"/>
                </a:solidFill>
                <a:latin typeface="Apple SD Gothic Neo" pitchFamily="34" charset="0"/>
                <a:ea typeface="Apple SD Gothic Neo" pitchFamily="34" charset="-122"/>
                <a:cs typeface="Apple SD Gothic Neo" pitchFamily="34" charset="-120"/>
              </a:rPr>
              <a:t>확인 범위를 명시하고, 근거가 부족하면 응답을 중단하는 방향으로 개선</a:t>
            </a:r>
            <a:endParaRPr lang="en-US" sz="2700" dirty="0"/>
          </a:p>
        </p:txBody>
      </p:sp>
      <p:sp>
        <p:nvSpPr>
          <p:cNvPr id="20" name="Text 17"/>
          <p:cNvSpPr txBox="1"/>
          <p:nvPr/>
        </p:nvSpPr>
        <p:spPr>
          <a:xfrm>
            <a:off x="685800" y="6080760"/>
            <a:ext cx="10881360" cy="274320"/>
          </a:xfrm>
          <a:prstGeom prst="rect">
            <a:avLst/>
          </a:prstGeom>
          <a:noFill/>
          <a:ln/>
        </p:spPr>
        <p:txBody>
          <a:bodyPr wrap="square" lIns="0" tIns="0" rIns="0" bIns="0" rtlCol="0" anchor="ctr"/>
          <a:lstStyle/>
          <a:p>
            <a:pPr indent="0" marL="0">
              <a:buNone/>
            </a:pPr>
            <a:r>
              <a:rPr lang="en-US" sz="1400" dirty="0">
                <a:solidFill>
                  <a:srgbClr val="A4DAC2"/>
                </a:solidFill>
                <a:latin typeface="Apple SD Gothic Neo" pitchFamily="34" charset="0"/>
                <a:ea typeface="Apple SD Gothic Neo" pitchFamily="34" charset="-122"/>
                <a:cs typeface="Apple SD Gothic Neo" pitchFamily="34" charset="-120"/>
              </a:rPr>
              <a:t>다음 단계: 독립 평가셋 · 구조화된 수치 출력 · 불분명한 대상은 되묻기</a:t>
            </a:r>
            <a:endParaRPr lang="en-US" sz="1400" dirty="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02F27"/>
        </a:solidFill>
        <a:effectLst/>
      </p:bgPr>
    </p:bg>
    <p:spTree>
      <p:nvGrpSpPr>
        <p:cNvPr id="1" name=""/>
        <p:cNvGrpSpPr/>
        <p:nvPr/>
      </p:nvGrpSpPr>
      <p:grpSpPr/>
      <p:sp>
        <p:nvSpPr>
          <p:cNvPr id="2" name="TextBox 1"/>
          <p:cNvSpPr txBox="1"/>
          <p:nvPr/>
        </p:nvSpPr>
        <p:spPr>
          <a:xfrm>
            <a:off x="594360" y="320040"/>
            <a:ext cx="9144000" cy="274320"/>
          </a:xfrm>
          <a:prstGeom prst="rect">
            <a:avLst/>
          </a:prstGeom>
          <a:noFill/>
        </p:spPr>
        <p:txBody>
          <a:bodyPr wrap="square" lIns="0" rIns="0" tIns="0" bIns="0">
            <a:spAutoFit/>
          </a:bodyPr>
          <a:lstStyle/>
          <a:p>
            <a:r>
              <a:rPr sz="1100" b="1">
                <a:solidFill>
                  <a:srgbClr val="A4DAC2"/>
                </a:solidFill>
                <a:latin typeface="Apple SD Gothic Neo"/>
              </a:rPr>
              <a:t>부록</a:t>
            </a:r>
          </a:p>
        </p:txBody>
      </p:sp>
      <p:sp>
        <p:nvSpPr>
          <p:cNvPr id="3" name="TextBox 2"/>
          <p:cNvSpPr txBox="1"/>
          <p:nvPr/>
        </p:nvSpPr>
        <p:spPr>
          <a:xfrm>
            <a:off x="594360" y="868680"/>
            <a:ext cx="10972800" cy="914400"/>
          </a:xfrm>
          <a:prstGeom prst="rect">
            <a:avLst/>
          </a:prstGeom>
          <a:noFill/>
        </p:spPr>
        <p:txBody>
          <a:bodyPr wrap="square" lIns="0" rIns="0" tIns="0" bIns="0">
            <a:spAutoFit/>
          </a:bodyPr>
          <a:lstStyle/>
          <a:p>
            <a:r>
              <a:rPr sz="3200" b="1">
                <a:solidFill>
                  <a:srgbClr val="FFFFFF"/>
                </a:solidFill>
                <a:latin typeface="Apple SD Gothic Neo"/>
              </a:rPr>
              <a:t>부록</a:t>
            </a:r>
          </a:p>
        </p:txBody>
      </p:sp>
      <p:sp>
        <p:nvSpPr>
          <p:cNvPr id="4" name="TextBox 3"/>
          <p:cNvSpPr txBox="1"/>
          <p:nvPr/>
        </p:nvSpPr>
        <p:spPr>
          <a:xfrm>
            <a:off x="594360" y="6473952"/>
            <a:ext cx="7315200" cy="164592"/>
          </a:xfrm>
          <a:prstGeom prst="rect">
            <a:avLst/>
          </a:prstGeom>
          <a:noFill/>
        </p:spPr>
        <p:txBody>
          <a:bodyPr wrap="square" lIns="0" rIns="0" tIns="0" bIns="0">
            <a:spAutoFit/>
          </a:bodyPr>
          <a:lstStyle/>
          <a:p>
            <a:r>
              <a:rPr sz="900" b="0">
                <a:solidFill>
                  <a:srgbClr val="A4DAC2"/>
                </a:solidFill>
                <a:latin typeface="Apple SD Gothic Neo"/>
              </a:rPr>
              <a:t>AI CAPSTONE  ·  김하연</a:t>
            </a:r>
          </a:p>
        </p:txBody>
      </p:sp>
      <p:sp>
        <p:nvSpPr>
          <p:cNvPr id="5" name="TextBox 4"/>
          <p:cNvSpPr txBox="1"/>
          <p:nvPr/>
        </p:nvSpPr>
        <p:spPr>
          <a:xfrm>
            <a:off x="10835640" y="6473952"/>
            <a:ext cx="777240" cy="164592"/>
          </a:xfrm>
          <a:prstGeom prst="rect">
            <a:avLst/>
          </a:prstGeom>
          <a:noFill/>
        </p:spPr>
        <p:txBody>
          <a:bodyPr wrap="square" lIns="0" rIns="0" tIns="0" bIns="0">
            <a:spAutoFit/>
          </a:bodyPr>
          <a:lstStyle/>
          <a:p>
            <a:r>
              <a:rPr sz="900" b="0">
                <a:solidFill>
                  <a:srgbClr val="A4DAC2"/>
                </a:solidFill>
                <a:latin typeface="Apple SD Gothic Neo"/>
              </a:rPr>
              <a:t/>
            </a:r>
          </a:p>
        </p:txBody>
      </p:sp>
      <p:sp>
        <p:nvSpPr>
          <p:cNvPr id="6" name="TextBox 5"/>
          <p:cNvSpPr txBox="1"/>
          <p:nvPr/>
        </p:nvSpPr>
        <p:spPr>
          <a:xfrm>
            <a:off x="685800" y="2148840"/>
            <a:ext cx="10058400" cy="457200"/>
          </a:xfrm>
          <a:prstGeom prst="rect">
            <a:avLst/>
          </a:prstGeom>
          <a:noFill/>
        </p:spPr>
        <p:txBody>
          <a:bodyPr wrap="square" lIns="0" rIns="0" tIns="0" bIns="0">
            <a:spAutoFit/>
          </a:bodyPr>
          <a:lstStyle/>
          <a:p>
            <a:r>
              <a:rPr sz="1700" b="0">
                <a:solidFill>
                  <a:srgbClr val="A4DAC2"/>
                </a:solidFill>
                <a:latin typeface="Apple SD Gothic Neo"/>
              </a:rPr>
              <a:t>발표는 앞 장(10/10)에서 마칩니다. 아래는 질의응답과 결과 확인용 근거 자료입니다.</a:t>
            </a:r>
          </a:p>
        </p:txBody>
      </p:sp>
      <p:sp>
        <p:nvSpPr>
          <p:cNvPr id="7" name="TextBox 6"/>
          <p:cNvSpPr txBox="1"/>
          <p:nvPr/>
        </p:nvSpPr>
        <p:spPr>
          <a:xfrm>
            <a:off x="685800" y="2880360"/>
            <a:ext cx="822960" cy="365760"/>
          </a:xfrm>
          <a:prstGeom prst="rect">
            <a:avLst/>
          </a:prstGeom>
          <a:noFill/>
        </p:spPr>
        <p:txBody>
          <a:bodyPr wrap="square" lIns="0" rIns="0" tIns="0" bIns="0">
            <a:spAutoFit/>
          </a:bodyPr>
          <a:lstStyle/>
          <a:p>
            <a:r>
              <a:rPr sz="2000" b="1">
                <a:solidFill>
                  <a:srgbClr val="A4DAC2"/>
                </a:solidFill>
                <a:latin typeface="Apple SD Gothic Neo"/>
              </a:rPr>
              <a:t>A-1</a:t>
            </a:r>
          </a:p>
        </p:txBody>
      </p:sp>
      <p:sp>
        <p:nvSpPr>
          <p:cNvPr id="8" name="TextBox 7"/>
          <p:cNvSpPr txBox="1"/>
          <p:nvPr/>
        </p:nvSpPr>
        <p:spPr>
          <a:xfrm>
            <a:off x="1600200" y="2880360"/>
            <a:ext cx="4754880" cy="365760"/>
          </a:xfrm>
          <a:prstGeom prst="rect">
            <a:avLst/>
          </a:prstGeom>
          <a:noFill/>
        </p:spPr>
        <p:txBody>
          <a:bodyPr wrap="square" lIns="0" rIns="0" tIns="0" bIns="0">
            <a:spAutoFit/>
          </a:bodyPr>
          <a:lstStyle/>
          <a:p>
            <a:r>
              <a:rPr sz="2000" b="1">
                <a:solidFill>
                  <a:srgbClr val="FFFFFF"/>
                </a:solidFill>
                <a:latin typeface="Apple SD Gothic Neo"/>
              </a:rPr>
              <a:t>기술 요소 15개와 구현 위치</a:t>
            </a:r>
          </a:p>
        </p:txBody>
      </p:sp>
      <p:sp>
        <p:nvSpPr>
          <p:cNvPr id="9" name="TextBox 8"/>
          <p:cNvSpPr txBox="1"/>
          <p:nvPr/>
        </p:nvSpPr>
        <p:spPr>
          <a:xfrm>
            <a:off x="6400800" y="2926079"/>
            <a:ext cx="5120640" cy="365760"/>
          </a:xfrm>
          <a:prstGeom prst="rect">
            <a:avLst/>
          </a:prstGeom>
          <a:noFill/>
        </p:spPr>
        <p:txBody>
          <a:bodyPr wrap="square" lIns="0" rIns="0" tIns="0" bIns="0">
            <a:spAutoFit/>
          </a:bodyPr>
          <a:lstStyle/>
          <a:p>
            <a:r>
              <a:rPr sz="1500" b="0">
                <a:solidFill>
                  <a:srgbClr val="A4DAC2"/>
                </a:solidFill>
                <a:latin typeface="Apple SD Gothic Neo"/>
              </a:rPr>
              <a:t>제공 기반 · 직접 구현 · 측정 구분</a:t>
            </a:r>
          </a:p>
        </p:txBody>
      </p:sp>
      <p:sp>
        <p:nvSpPr>
          <p:cNvPr id="10" name="TextBox 9"/>
          <p:cNvSpPr txBox="1"/>
          <p:nvPr/>
        </p:nvSpPr>
        <p:spPr>
          <a:xfrm>
            <a:off x="685800" y="3502152"/>
            <a:ext cx="822960" cy="365760"/>
          </a:xfrm>
          <a:prstGeom prst="rect">
            <a:avLst/>
          </a:prstGeom>
          <a:noFill/>
        </p:spPr>
        <p:txBody>
          <a:bodyPr wrap="square" lIns="0" rIns="0" tIns="0" bIns="0">
            <a:spAutoFit/>
          </a:bodyPr>
          <a:lstStyle/>
          <a:p>
            <a:r>
              <a:rPr sz="2000" b="1">
                <a:solidFill>
                  <a:srgbClr val="A4DAC2"/>
                </a:solidFill>
                <a:latin typeface="Apple SD Gothic Neo"/>
              </a:rPr>
              <a:t>A-2</a:t>
            </a:r>
          </a:p>
        </p:txBody>
      </p:sp>
      <p:sp>
        <p:nvSpPr>
          <p:cNvPr id="11" name="TextBox 10"/>
          <p:cNvSpPr txBox="1"/>
          <p:nvPr/>
        </p:nvSpPr>
        <p:spPr>
          <a:xfrm>
            <a:off x="1600200" y="3502152"/>
            <a:ext cx="4754880" cy="365760"/>
          </a:xfrm>
          <a:prstGeom prst="rect">
            <a:avLst/>
          </a:prstGeom>
          <a:noFill/>
        </p:spPr>
        <p:txBody>
          <a:bodyPr wrap="square" lIns="0" rIns="0" tIns="0" bIns="0">
            <a:spAutoFit/>
          </a:bodyPr>
          <a:lstStyle/>
          <a:p>
            <a:r>
              <a:rPr sz="2000" b="1">
                <a:solidFill>
                  <a:srgbClr val="FFFFFF"/>
                </a:solidFill>
                <a:latin typeface="Apple SD Gothic Neo"/>
              </a:rPr>
              <a:t>설계 결정 15개 (ADR)</a:t>
            </a:r>
          </a:p>
        </p:txBody>
      </p:sp>
      <p:sp>
        <p:nvSpPr>
          <p:cNvPr id="12" name="TextBox 11"/>
          <p:cNvSpPr txBox="1"/>
          <p:nvPr/>
        </p:nvSpPr>
        <p:spPr>
          <a:xfrm>
            <a:off x="6400800" y="3547872"/>
            <a:ext cx="5120640" cy="365760"/>
          </a:xfrm>
          <a:prstGeom prst="rect">
            <a:avLst/>
          </a:prstGeom>
          <a:noFill/>
        </p:spPr>
        <p:txBody>
          <a:bodyPr wrap="square" lIns="0" rIns="0" tIns="0" bIns="0">
            <a:spAutoFit/>
          </a:bodyPr>
          <a:lstStyle/>
          <a:p>
            <a:r>
              <a:rPr sz="1500" b="0">
                <a:solidFill>
                  <a:srgbClr val="A4DAC2"/>
                </a:solidFill>
                <a:latin typeface="Apple SD Gothic Neo"/>
              </a:rPr>
              <a:t>결정 구분과 비용·한계</a:t>
            </a:r>
          </a:p>
        </p:txBody>
      </p:sp>
      <p:sp>
        <p:nvSpPr>
          <p:cNvPr id="13" name="TextBox 12"/>
          <p:cNvSpPr txBox="1"/>
          <p:nvPr/>
        </p:nvSpPr>
        <p:spPr>
          <a:xfrm>
            <a:off x="685800" y="4123944"/>
            <a:ext cx="822960" cy="365760"/>
          </a:xfrm>
          <a:prstGeom prst="rect">
            <a:avLst/>
          </a:prstGeom>
          <a:noFill/>
        </p:spPr>
        <p:txBody>
          <a:bodyPr wrap="square" lIns="0" rIns="0" tIns="0" bIns="0">
            <a:spAutoFit/>
          </a:bodyPr>
          <a:lstStyle/>
          <a:p>
            <a:r>
              <a:rPr sz="2000" b="1">
                <a:solidFill>
                  <a:srgbClr val="A4DAC2"/>
                </a:solidFill>
                <a:latin typeface="Apple SD Gothic Neo"/>
              </a:rPr>
              <a:t>A-3</a:t>
            </a:r>
          </a:p>
        </p:txBody>
      </p:sp>
      <p:sp>
        <p:nvSpPr>
          <p:cNvPr id="14" name="TextBox 13"/>
          <p:cNvSpPr txBox="1"/>
          <p:nvPr/>
        </p:nvSpPr>
        <p:spPr>
          <a:xfrm>
            <a:off x="1600200" y="4123944"/>
            <a:ext cx="4754880" cy="365760"/>
          </a:xfrm>
          <a:prstGeom prst="rect">
            <a:avLst/>
          </a:prstGeom>
          <a:noFill/>
        </p:spPr>
        <p:txBody>
          <a:bodyPr wrap="square" lIns="0" rIns="0" tIns="0" bIns="0">
            <a:spAutoFit/>
          </a:bodyPr>
          <a:lstStyle/>
          <a:p>
            <a:r>
              <a:rPr sz="2000" b="1">
                <a:solidFill>
                  <a:srgbClr val="FFFFFF"/>
                </a:solidFill>
                <a:latin typeface="Apple SD Gothic Neo"/>
              </a:rPr>
              <a:t>평가 방법과 결과</a:t>
            </a:r>
          </a:p>
        </p:txBody>
      </p:sp>
      <p:sp>
        <p:nvSpPr>
          <p:cNvPr id="15" name="TextBox 14"/>
          <p:cNvSpPr txBox="1"/>
          <p:nvPr/>
        </p:nvSpPr>
        <p:spPr>
          <a:xfrm>
            <a:off x="6400800" y="4169663"/>
            <a:ext cx="5120640" cy="365760"/>
          </a:xfrm>
          <a:prstGeom prst="rect">
            <a:avLst/>
          </a:prstGeom>
          <a:noFill/>
        </p:spPr>
        <p:txBody>
          <a:bodyPr wrap="square" lIns="0" rIns="0" tIns="0" bIns="0">
            <a:spAutoFit/>
          </a:bodyPr>
          <a:lstStyle/>
          <a:p>
            <a:r>
              <a:rPr sz="1500" b="0">
                <a:solidFill>
                  <a:srgbClr val="A4DAC2"/>
                </a:solidFill>
                <a:latin typeface="Apple SD Gothic Neo"/>
              </a:rPr>
              <a:t>평가셋별 전후 수치와 해석상 주의</a:t>
            </a:r>
          </a:p>
        </p:txBody>
      </p:sp>
      <p:sp>
        <p:nvSpPr>
          <p:cNvPr id="16" name="TextBox 15"/>
          <p:cNvSpPr txBox="1"/>
          <p:nvPr/>
        </p:nvSpPr>
        <p:spPr>
          <a:xfrm>
            <a:off x="685800" y="4745736"/>
            <a:ext cx="822960" cy="365760"/>
          </a:xfrm>
          <a:prstGeom prst="rect">
            <a:avLst/>
          </a:prstGeom>
          <a:noFill/>
        </p:spPr>
        <p:txBody>
          <a:bodyPr wrap="square" lIns="0" rIns="0" tIns="0" bIns="0">
            <a:spAutoFit/>
          </a:bodyPr>
          <a:lstStyle/>
          <a:p>
            <a:r>
              <a:rPr sz="2000" b="1">
                <a:solidFill>
                  <a:srgbClr val="A4DAC2"/>
                </a:solidFill>
                <a:latin typeface="Apple SD Gothic Neo"/>
              </a:rPr>
              <a:t>A-4</a:t>
            </a:r>
          </a:p>
        </p:txBody>
      </p:sp>
      <p:sp>
        <p:nvSpPr>
          <p:cNvPr id="17" name="TextBox 16"/>
          <p:cNvSpPr txBox="1"/>
          <p:nvPr/>
        </p:nvSpPr>
        <p:spPr>
          <a:xfrm>
            <a:off x="1600200" y="4745736"/>
            <a:ext cx="4754880" cy="365760"/>
          </a:xfrm>
          <a:prstGeom prst="rect">
            <a:avLst/>
          </a:prstGeom>
          <a:noFill/>
        </p:spPr>
        <p:txBody>
          <a:bodyPr wrap="square" lIns="0" rIns="0" tIns="0" bIns="0">
            <a:spAutoFit/>
          </a:bodyPr>
          <a:lstStyle/>
          <a:p>
            <a:r>
              <a:rPr sz="2000" b="1">
                <a:solidFill>
                  <a:srgbClr val="FFFFFF"/>
                </a:solidFill>
                <a:latin typeface="Apple SD Gothic Neo"/>
              </a:rPr>
              <a:t>검증 규칙과 실패 처리</a:t>
            </a:r>
          </a:p>
        </p:txBody>
      </p:sp>
      <p:sp>
        <p:nvSpPr>
          <p:cNvPr id="18" name="TextBox 17"/>
          <p:cNvSpPr txBox="1"/>
          <p:nvPr/>
        </p:nvSpPr>
        <p:spPr>
          <a:xfrm>
            <a:off x="6400800" y="4791455"/>
            <a:ext cx="5120640" cy="365760"/>
          </a:xfrm>
          <a:prstGeom prst="rect">
            <a:avLst/>
          </a:prstGeom>
          <a:noFill/>
        </p:spPr>
        <p:txBody>
          <a:bodyPr wrap="square" lIns="0" rIns="0" tIns="0" bIns="0">
            <a:spAutoFit/>
          </a:bodyPr>
          <a:lstStyle/>
          <a:p>
            <a:r>
              <a:rPr sz="1500" b="0">
                <a:solidFill>
                  <a:srgbClr val="A4DAC2"/>
                </a:solidFill>
                <a:latin typeface="Apple SD Gothic Neo"/>
              </a:rPr>
              <a:t>읽는 표현 · 제외 규칙 · 종료 조건</a:t>
            </a:r>
          </a:p>
        </p:txBody>
      </p:sp>
      <p:sp>
        <p:nvSpPr>
          <p:cNvPr id="19" name="TextBox 18"/>
          <p:cNvSpPr txBox="1"/>
          <p:nvPr/>
        </p:nvSpPr>
        <p:spPr>
          <a:xfrm>
            <a:off x="685800" y="5367528"/>
            <a:ext cx="822960" cy="365760"/>
          </a:xfrm>
          <a:prstGeom prst="rect">
            <a:avLst/>
          </a:prstGeom>
          <a:noFill/>
        </p:spPr>
        <p:txBody>
          <a:bodyPr wrap="square" lIns="0" rIns="0" tIns="0" bIns="0">
            <a:spAutoFit/>
          </a:bodyPr>
          <a:lstStyle/>
          <a:p>
            <a:r>
              <a:rPr sz="2000" b="1">
                <a:solidFill>
                  <a:srgbClr val="A4DAC2"/>
                </a:solidFill>
                <a:latin typeface="Apple SD Gothic Neo"/>
              </a:rPr>
              <a:t>A-5</a:t>
            </a:r>
          </a:p>
        </p:txBody>
      </p:sp>
      <p:sp>
        <p:nvSpPr>
          <p:cNvPr id="20" name="TextBox 19"/>
          <p:cNvSpPr txBox="1"/>
          <p:nvPr/>
        </p:nvSpPr>
        <p:spPr>
          <a:xfrm>
            <a:off x="1600200" y="5367528"/>
            <a:ext cx="4754880" cy="365760"/>
          </a:xfrm>
          <a:prstGeom prst="rect">
            <a:avLst/>
          </a:prstGeom>
          <a:noFill/>
        </p:spPr>
        <p:txBody>
          <a:bodyPr wrap="square" lIns="0" rIns="0" tIns="0" bIns="0">
            <a:spAutoFit/>
          </a:bodyPr>
          <a:lstStyle/>
          <a:p>
            <a:r>
              <a:rPr sz="2000" b="1">
                <a:solidFill>
                  <a:srgbClr val="FFFFFF"/>
                </a:solidFill>
                <a:latin typeface="Apple SD Gothic Neo"/>
              </a:rPr>
              <a:t>재현 방법과 근거 자료</a:t>
            </a:r>
          </a:p>
        </p:txBody>
      </p:sp>
      <p:sp>
        <p:nvSpPr>
          <p:cNvPr id="21" name="TextBox 20"/>
          <p:cNvSpPr txBox="1"/>
          <p:nvPr/>
        </p:nvSpPr>
        <p:spPr>
          <a:xfrm>
            <a:off x="6400800" y="5413248"/>
            <a:ext cx="5120640" cy="365760"/>
          </a:xfrm>
          <a:prstGeom prst="rect">
            <a:avLst/>
          </a:prstGeom>
          <a:noFill/>
        </p:spPr>
        <p:txBody>
          <a:bodyPr wrap="square" lIns="0" rIns="0" tIns="0" bIns="0">
            <a:spAutoFit/>
          </a:bodyPr>
          <a:lstStyle/>
          <a:p>
            <a:r>
              <a:rPr sz="1500" b="0">
                <a:solidFill>
                  <a:srgbClr val="A4DAC2"/>
                </a:solidFill>
                <a:latin typeface="Apple SD Gothic Neo"/>
              </a:rPr>
              <a:t>저장소 · 실행 명령 · 근거 파일</a:t>
            </a:r>
          </a:p>
        </p:txBody>
      </p:sp>
      <p:sp>
        <p:nvSpPr>
          <p:cNvPr id="22" name="TextBox 21"/>
          <p:cNvSpPr txBox="1"/>
          <p:nvPr/>
        </p:nvSpPr>
        <p:spPr>
          <a:xfrm>
            <a:off x="685800" y="5989320"/>
            <a:ext cx="822960" cy="365760"/>
          </a:xfrm>
          <a:prstGeom prst="rect">
            <a:avLst/>
          </a:prstGeom>
          <a:noFill/>
        </p:spPr>
        <p:txBody>
          <a:bodyPr wrap="square" lIns="0" rIns="0" tIns="0" bIns="0">
            <a:spAutoFit/>
          </a:bodyPr>
          <a:lstStyle/>
          <a:p>
            <a:r>
              <a:rPr sz="2000" b="1">
                <a:solidFill>
                  <a:srgbClr val="A4DAC2"/>
                </a:solidFill>
                <a:latin typeface="Apple SD Gothic Neo"/>
              </a:rPr>
              <a:t>A-6</a:t>
            </a:r>
          </a:p>
        </p:txBody>
      </p:sp>
      <p:sp>
        <p:nvSpPr>
          <p:cNvPr id="23" name="TextBox 22"/>
          <p:cNvSpPr txBox="1"/>
          <p:nvPr/>
        </p:nvSpPr>
        <p:spPr>
          <a:xfrm>
            <a:off x="1600200" y="5989320"/>
            <a:ext cx="4754880" cy="365760"/>
          </a:xfrm>
          <a:prstGeom prst="rect">
            <a:avLst/>
          </a:prstGeom>
          <a:noFill/>
        </p:spPr>
        <p:txBody>
          <a:bodyPr wrap="square" lIns="0" rIns="0" tIns="0" bIns="0">
            <a:spAutoFit/>
          </a:bodyPr>
          <a:lstStyle/>
          <a:p>
            <a:r>
              <a:rPr sz="2000" b="1">
                <a:solidFill>
                  <a:srgbClr val="FFFFFF"/>
                </a:solidFill>
                <a:latin typeface="Apple SD Gothic Neo"/>
              </a:rPr>
              <a:t>전체 처리 흐름 (노드 단위)</a:t>
            </a:r>
          </a:p>
        </p:txBody>
      </p:sp>
      <p:sp>
        <p:nvSpPr>
          <p:cNvPr id="24" name="TextBox 23"/>
          <p:cNvSpPr txBox="1"/>
          <p:nvPr/>
        </p:nvSpPr>
        <p:spPr>
          <a:xfrm>
            <a:off x="6400800" y="6035040"/>
            <a:ext cx="5120640" cy="365760"/>
          </a:xfrm>
          <a:prstGeom prst="rect">
            <a:avLst/>
          </a:prstGeom>
          <a:noFill/>
        </p:spPr>
        <p:txBody>
          <a:bodyPr wrap="square" lIns="0" rIns="0" tIns="0" bIns="0">
            <a:spAutoFit/>
          </a:bodyPr>
          <a:lstStyle/>
          <a:p>
            <a:r>
              <a:rPr sz="1500" b="0">
                <a:solidFill>
                  <a:srgbClr val="A4DAC2"/>
                </a:solidFill>
                <a:latin typeface="Apple SD Gothic Neo"/>
              </a:rPr>
              <a:t>제공 · 직접 추가 노드와 종료 경로</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0040"/>
            <a:ext cx="9144000" cy="274320"/>
          </a:xfrm>
          <a:prstGeom prst="rect">
            <a:avLst/>
          </a:prstGeom>
          <a:noFill/>
        </p:spPr>
        <p:txBody>
          <a:bodyPr wrap="square" lIns="0" rIns="0" tIns="0" bIns="0">
            <a:spAutoFit/>
          </a:bodyPr>
          <a:lstStyle/>
          <a:p>
            <a:r>
              <a:rPr sz="1100" b="1">
                <a:solidFill>
                  <a:srgbClr val="16785C"/>
                </a:solidFill>
                <a:latin typeface="Apple SD Gothic Neo"/>
              </a:rPr>
              <a:t>부록 A-1  기술 요소 대응</a:t>
            </a:r>
          </a:p>
        </p:txBody>
      </p:sp>
      <p:sp>
        <p:nvSpPr>
          <p:cNvPr id="3" name="TextBox 2"/>
          <p:cNvSpPr txBox="1"/>
          <p:nvPr/>
        </p:nvSpPr>
        <p:spPr>
          <a:xfrm>
            <a:off x="594360" y="868680"/>
            <a:ext cx="10972800" cy="914400"/>
          </a:xfrm>
          <a:prstGeom prst="rect">
            <a:avLst/>
          </a:prstGeom>
          <a:noFill/>
        </p:spPr>
        <p:txBody>
          <a:bodyPr wrap="square" lIns="0" rIns="0" tIns="0" bIns="0">
            <a:spAutoFit/>
          </a:bodyPr>
          <a:lstStyle/>
          <a:p>
            <a:r>
              <a:rPr sz="3200" b="1">
                <a:solidFill>
                  <a:srgbClr val="19382F"/>
                </a:solidFill>
                <a:latin typeface="Apple SD Gothic Neo"/>
              </a:rPr>
              <a:t>기술 요소 15개와 구현 위치</a:t>
            </a:r>
          </a:p>
        </p:txBody>
      </p:sp>
      <p:sp>
        <p:nvSpPr>
          <p:cNvPr id="4" name="TextBox 3"/>
          <p:cNvSpPr txBox="1"/>
          <p:nvPr/>
        </p:nvSpPr>
        <p:spPr>
          <a:xfrm>
            <a:off x="594360" y="6473952"/>
            <a:ext cx="7315200" cy="164592"/>
          </a:xfrm>
          <a:prstGeom prst="rect">
            <a:avLst/>
          </a:prstGeom>
          <a:noFill/>
        </p:spPr>
        <p:txBody>
          <a:bodyPr wrap="square" lIns="0" rIns="0" tIns="0" bIns="0">
            <a:spAutoFit/>
          </a:bodyPr>
          <a:lstStyle/>
          <a:p>
            <a:r>
              <a:rPr sz="900" b="0">
                <a:solidFill>
                  <a:srgbClr val="62746D"/>
                </a:solidFill>
                <a:latin typeface="Apple SD Gothic Neo"/>
              </a:rPr>
              <a:t>AI CAPSTONE  ·  김하연</a:t>
            </a:r>
          </a:p>
        </p:txBody>
      </p:sp>
      <p:sp>
        <p:nvSpPr>
          <p:cNvPr id="5" name="TextBox 4"/>
          <p:cNvSpPr txBox="1"/>
          <p:nvPr/>
        </p:nvSpPr>
        <p:spPr>
          <a:xfrm>
            <a:off x="10835640" y="6473952"/>
            <a:ext cx="777240" cy="164592"/>
          </a:xfrm>
          <a:prstGeom prst="rect">
            <a:avLst/>
          </a:prstGeom>
          <a:noFill/>
        </p:spPr>
        <p:txBody>
          <a:bodyPr wrap="square" lIns="0" rIns="0" tIns="0" bIns="0">
            <a:spAutoFit/>
          </a:bodyPr>
          <a:lstStyle/>
          <a:p>
            <a:r>
              <a:rPr sz="900" b="0">
                <a:solidFill>
                  <a:srgbClr val="62746D"/>
                </a:solidFill>
                <a:latin typeface="Apple SD Gothic Neo"/>
              </a:rPr>
              <a:t>A-1 / A-6</a:t>
            </a:r>
          </a:p>
        </p:txBody>
      </p:sp>
      <p:sp>
        <p:nvSpPr>
          <p:cNvPr id="6" name="Rectangle 5"/>
          <p:cNvSpPr/>
          <p:nvPr/>
        </p:nvSpPr>
        <p:spPr>
          <a:xfrm>
            <a:off x="640080" y="1645920"/>
            <a:ext cx="10881360" cy="292608"/>
          </a:xfrm>
          <a:prstGeom prst="rect">
            <a:avLst/>
          </a:prstGeom>
          <a:solidFill>
            <a:srgbClr val="193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19" y="1645920"/>
            <a:ext cx="2697480" cy="292608"/>
          </a:xfrm>
          <a:prstGeom prst="rect">
            <a:avLst/>
          </a:prstGeom>
          <a:noFill/>
        </p:spPr>
        <p:txBody>
          <a:bodyPr wrap="square" lIns="0" rIns="0" tIns="0" bIns="0" anchor="ctr">
            <a:spAutoFit/>
          </a:bodyPr>
          <a:lstStyle/>
          <a:p>
            <a:r>
              <a:rPr sz="1150" b="1">
                <a:solidFill>
                  <a:srgbClr val="FFFFFF"/>
                </a:solidFill>
                <a:latin typeface="Apple SD Gothic Neo"/>
              </a:rPr>
              <a:t>요소</a:t>
            </a:r>
          </a:p>
        </p:txBody>
      </p:sp>
      <p:sp>
        <p:nvSpPr>
          <p:cNvPr id="8" name="TextBox 7"/>
          <p:cNvSpPr txBox="1"/>
          <p:nvPr/>
        </p:nvSpPr>
        <p:spPr>
          <a:xfrm>
            <a:off x="3566160" y="1645920"/>
            <a:ext cx="1600200" cy="292608"/>
          </a:xfrm>
          <a:prstGeom prst="rect">
            <a:avLst/>
          </a:prstGeom>
          <a:noFill/>
        </p:spPr>
        <p:txBody>
          <a:bodyPr wrap="square" lIns="0" rIns="0" tIns="0" bIns="0" anchor="ctr">
            <a:spAutoFit/>
          </a:bodyPr>
          <a:lstStyle/>
          <a:p>
            <a:r>
              <a:rPr sz="1150" b="1">
                <a:solidFill>
                  <a:srgbClr val="FFFFFF"/>
                </a:solidFill>
                <a:latin typeface="Apple SD Gothic Neo"/>
              </a:rPr>
              <a:t>구분</a:t>
            </a:r>
          </a:p>
        </p:txBody>
      </p:sp>
      <p:sp>
        <p:nvSpPr>
          <p:cNvPr id="9" name="TextBox 8"/>
          <p:cNvSpPr txBox="1"/>
          <p:nvPr/>
        </p:nvSpPr>
        <p:spPr>
          <a:xfrm>
            <a:off x="5303519" y="1645920"/>
            <a:ext cx="6172200" cy="292608"/>
          </a:xfrm>
          <a:prstGeom prst="rect">
            <a:avLst/>
          </a:prstGeom>
          <a:noFill/>
        </p:spPr>
        <p:txBody>
          <a:bodyPr wrap="square" lIns="0" rIns="0" tIns="0" bIns="0" anchor="ctr">
            <a:spAutoFit/>
          </a:bodyPr>
          <a:lstStyle/>
          <a:p>
            <a:r>
              <a:rPr sz="1150" b="1">
                <a:solidFill>
                  <a:srgbClr val="FFFFFF"/>
                </a:solidFill>
                <a:latin typeface="Apple SD Gothic Neo"/>
              </a:rPr>
              <a:t>구현 위치 · 근거</a:t>
            </a:r>
          </a:p>
        </p:txBody>
      </p:sp>
      <p:sp>
        <p:nvSpPr>
          <p:cNvPr id="10" name="Rectangle 9"/>
          <p:cNvSpPr/>
          <p:nvPr/>
        </p:nvSpPr>
        <p:spPr>
          <a:xfrm>
            <a:off x="640080" y="1938528"/>
            <a:ext cx="10881360" cy="2880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19" y="1938528"/>
            <a:ext cx="2697480" cy="288036"/>
          </a:xfrm>
          <a:prstGeom prst="rect">
            <a:avLst/>
          </a:prstGeom>
          <a:noFill/>
        </p:spPr>
        <p:txBody>
          <a:bodyPr wrap="square" lIns="0" rIns="0" tIns="0" bIns="0" anchor="ctr">
            <a:spAutoFit/>
          </a:bodyPr>
          <a:lstStyle/>
          <a:p>
            <a:r>
              <a:rPr sz="1150" b="1">
                <a:solidFill>
                  <a:srgbClr val="19382F"/>
                </a:solidFill>
                <a:latin typeface="Apple SD Gothic Neo"/>
              </a:rPr>
              <a:t>ADR</a:t>
            </a:r>
          </a:p>
        </p:txBody>
      </p:sp>
      <p:sp>
        <p:nvSpPr>
          <p:cNvPr id="12" name="TextBox 11"/>
          <p:cNvSpPr txBox="1"/>
          <p:nvPr/>
        </p:nvSpPr>
        <p:spPr>
          <a:xfrm>
            <a:off x="3566160" y="1938528"/>
            <a:ext cx="1600200" cy="288036"/>
          </a:xfrm>
          <a:prstGeom prst="rect">
            <a:avLst/>
          </a:prstGeom>
          <a:noFill/>
        </p:spPr>
        <p:txBody>
          <a:bodyPr wrap="square" lIns="0" rIns="0" tIns="0" bIns="0" anchor="ctr">
            <a:spAutoFit/>
          </a:bodyPr>
          <a:lstStyle/>
          <a:p>
            <a:r>
              <a:rPr sz="1150" b="1">
                <a:solidFill>
                  <a:srgbClr val="16785C"/>
                </a:solidFill>
                <a:latin typeface="Apple SD Gothic Neo"/>
              </a:rPr>
              <a:t>직접</a:t>
            </a:r>
          </a:p>
        </p:txBody>
      </p:sp>
      <p:sp>
        <p:nvSpPr>
          <p:cNvPr id="13" name="TextBox 12"/>
          <p:cNvSpPr txBox="1"/>
          <p:nvPr/>
        </p:nvSpPr>
        <p:spPr>
          <a:xfrm>
            <a:off x="5303519" y="1938528"/>
            <a:ext cx="6172200" cy="288036"/>
          </a:xfrm>
          <a:prstGeom prst="rect">
            <a:avLst/>
          </a:prstGeom>
          <a:noFill/>
        </p:spPr>
        <p:txBody>
          <a:bodyPr wrap="square" lIns="0" rIns="0" tIns="0" bIns="0" anchor="ctr">
            <a:spAutoFit/>
          </a:bodyPr>
          <a:lstStyle/>
          <a:p>
            <a:r>
              <a:rPr sz="1150" b="0">
                <a:solidFill>
                  <a:srgbClr val="19382F"/>
                </a:solidFill>
                <a:latin typeface="Apple SD Gothic Neo"/>
              </a:rPr>
              <a:t>doc/ADR.md · 설계 결정 15개</a:t>
            </a:r>
          </a:p>
        </p:txBody>
      </p:sp>
      <p:sp>
        <p:nvSpPr>
          <p:cNvPr id="14" name="Rectangle 13"/>
          <p:cNvSpPr/>
          <p:nvPr/>
        </p:nvSpPr>
        <p:spPr>
          <a:xfrm>
            <a:off x="640080" y="2226564"/>
            <a:ext cx="10881360" cy="2880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2226564"/>
            <a:ext cx="2697480" cy="288036"/>
          </a:xfrm>
          <a:prstGeom prst="rect">
            <a:avLst/>
          </a:prstGeom>
          <a:noFill/>
        </p:spPr>
        <p:txBody>
          <a:bodyPr wrap="square" lIns="0" rIns="0" tIns="0" bIns="0" anchor="ctr">
            <a:spAutoFit/>
          </a:bodyPr>
          <a:lstStyle/>
          <a:p>
            <a:r>
              <a:rPr sz="1150" b="1">
                <a:solidFill>
                  <a:srgbClr val="19382F"/>
                </a:solidFill>
                <a:latin typeface="Apple SD Gothic Neo"/>
              </a:rPr>
              <a:t>FastAPI · SSE 백엔드</a:t>
            </a:r>
          </a:p>
        </p:txBody>
      </p:sp>
      <p:sp>
        <p:nvSpPr>
          <p:cNvPr id="16" name="TextBox 15"/>
          <p:cNvSpPr txBox="1"/>
          <p:nvPr/>
        </p:nvSpPr>
        <p:spPr>
          <a:xfrm>
            <a:off x="3566160" y="2226564"/>
            <a:ext cx="1600200" cy="288036"/>
          </a:xfrm>
          <a:prstGeom prst="rect">
            <a:avLst/>
          </a:prstGeom>
          <a:noFill/>
        </p:spPr>
        <p:txBody>
          <a:bodyPr wrap="square" lIns="0" rIns="0" tIns="0" bIns="0" anchor="ctr">
            <a:spAutoFit/>
          </a:bodyPr>
          <a:lstStyle/>
          <a:p>
            <a:r>
              <a:rPr sz="1150" b="1">
                <a:solidFill>
                  <a:srgbClr val="62746D"/>
                </a:solidFill>
                <a:latin typeface="Apple SD Gothic Neo"/>
              </a:rPr>
              <a:t>제공</a:t>
            </a:r>
          </a:p>
        </p:txBody>
      </p:sp>
      <p:sp>
        <p:nvSpPr>
          <p:cNvPr id="17" name="TextBox 16"/>
          <p:cNvSpPr txBox="1"/>
          <p:nvPr/>
        </p:nvSpPr>
        <p:spPr>
          <a:xfrm>
            <a:off x="5303519" y="2226564"/>
            <a:ext cx="6172200" cy="288036"/>
          </a:xfrm>
          <a:prstGeom prst="rect">
            <a:avLst/>
          </a:prstGeom>
          <a:noFill/>
        </p:spPr>
        <p:txBody>
          <a:bodyPr wrap="square" lIns="0" rIns="0" tIns="0" bIns="0" anchor="ctr">
            <a:spAutoFit/>
          </a:bodyPr>
          <a:lstStyle/>
          <a:p>
            <a:r>
              <a:rPr sz="1150" b="0">
                <a:solidFill>
                  <a:srgbClr val="19382F"/>
                </a:solidFill>
                <a:latin typeface="Apple SD Gothic Neo"/>
              </a:rPr>
              <a:t>server.py · /chat, /chat/stream, /health</a:t>
            </a:r>
          </a:p>
        </p:txBody>
      </p:sp>
      <p:sp>
        <p:nvSpPr>
          <p:cNvPr id="18" name="Rectangle 17"/>
          <p:cNvSpPr/>
          <p:nvPr/>
        </p:nvSpPr>
        <p:spPr>
          <a:xfrm>
            <a:off x="640080" y="2514600"/>
            <a:ext cx="10881360" cy="2880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514600"/>
            <a:ext cx="2697480" cy="288036"/>
          </a:xfrm>
          <a:prstGeom prst="rect">
            <a:avLst/>
          </a:prstGeom>
          <a:noFill/>
        </p:spPr>
        <p:txBody>
          <a:bodyPr wrap="square" lIns="0" rIns="0" tIns="0" bIns="0" anchor="ctr">
            <a:spAutoFit/>
          </a:bodyPr>
          <a:lstStyle/>
          <a:p>
            <a:r>
              <a:rPr sz="1150" b="1">
                <a:solidFill>
                  <a:srgbClr val="19382F"/>
                </a:solidFill>
                <a:latin typeface="Apple SD Gothic Neo"/>
              </a:rPr>
              <a:t>MCP Server</a:t>
            </a:r>
          </a:p>
        </p:txBody>
      </p:sp>
      <p:sp>
        <p:nvSpPr>
          <p:cNvPr id="20" name="TextBox 19"/>
          <p:cNvSpPr txBox="1"/>
          <p:nvPr/>
        </p:nvSpPr>
        <p:spPr>
          <a:xfrm>
            <a:off x="3566160" y="2514600"/>
            <a:ext cx="1600200" cy="288036"/>
          </a:xfrm>
          <a:prstGeom prst="rect">
            <a:avLst/>
          </a:prstGeom>
          <a:noFill/>
        </p:spPr>
        <p:txBody>
          <a:bodyPr wrap="square" lIns="0" rIns="0" tIns="0" bIns="0" anchor="ctr">
            <a:spAutoFit/>
          </a:bodyPr>
          <a:lstStyle/>
          <a:p>
            <a:r>
              <a:rPr sz="1150" b="1">
                <a:solidFill>
                  <a:srgbClr val="62746D"/>
                </a:solidFill>
                <a:latin typeface="Apple SD Gothic Neo"/>
              </a:rPr>
              <a:t>제공 + 직접</a:t>
            </a:r>
          </a:p>
        </p:txBody>
      </p:sp>
      <p:sp>
        <p:nvSpPr>
          <p:cNvPr id="21" name="TextBox 20"/>
          <p:cNvSpPr txBox="1"/>
          <p:nvPr/>
        </p:nvSpPr>
        <p:spPr>
          <a:xfrm>
            <a:off x="5303519" y="2514600"/>
            <a:ext cx="6172200" cy="288036"/>
          </a:xfrm>
          <a:prstGeom prst="rect">
            <a:avLst/>
          </a:prstGeom>
          <a:noFill/>
        </p:spPr>
        <p:txBody>
          <a:bodyPr wrap="square" lIns="0" rIns="0" tIns="0" bIns="0" anchor="ctr">
            <a:spAutoFit/>
          </a:bodyPr>
          <a:lstStyle/>
          <a:p>
            <a:r>
              <a:rPr sz="1150" b="0">
                <a:solidFill>
                  <a:srgbClr val="19382F"/>
                </a:solidFill>
                <a:latin typeface="Apple SD Gothic Neo"/>
              </a:rPr>
              <a:t>모니터링·매뉴얼 제공 / 검색 도구 직접 추가</a:t>
            </a:r>
          </a:p>
        </p:txBody>
      </p:sp>
      <p:sp>
        <p:nvSpPr>
          <p:cNvPr id="22" name="Rectangle 21"/>
          <p:cNvSpPr/>
          <p:nvPr/>
        </p:nvSpPr>
        <p:spPr>
          <a:xfrm>
            <a:off x="640080" y="2802636"/>
            <a:ext cx="10881360" cy="2880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19" y="2802636"/>
            <a:ext cx="2697480" cy="288036"/>
          </a:xfrm>
          <a:prstGeom prst="rect">
            <a:avLst/>
          </a:prstGeom>
          <a:noFill/>
        </p:spPr>
        <p:txBody>
          <a:bodyPr wrap="square" lIns="0" rIns="0" tIns="0" bIns="0" anchor="ctr">
            <a:spAutoFit/>
          </a:bodyPr>
          <a:lstStyle/>
          <a:p>
            <a:r>
              <a:rPr sz="1150" b="1">
                <a:solidFill>
                  <a:srgbClr val="19382F"/>
                </a:solidFill>
                <a:latin typeface="Apple SD Gothic Neo"/>
              </a:rPr>
              <a:t>SSE 프론트엔드</a:t>
            </a:r>
          </a:p>
        </p:txBody>
      </p:sp>
      <p:sp>
        <p:nvSpPr>
          <p:cNvPr id="24" name="TextBox 23"/>
          <p:cNvSpPr txBox="1"/>
          <p:nvPr/>
        </p:nvSpPr>
        <p:spPr>
          <a:xfrm>
            <a:off x="3566160" y="2802636"/>
            <a:ext cx="1600200" cy="288036"/>
          </a:xfrm>
          <a:prstGeom prst="rect">
            <a:avLst/>
          </a:prstGeom>
          <a:noFill/>
        </p:spPr>
        <p:txBody>
          <a:bodyPr wrap="square" lIns="0" rIns="0" tIns="0" bIns="0" anchor="ctr">
            <a:spAutoFit/>
          </a:bodyPr>
          <a:lstStyle/>
          <a:p>
            <a:r>
              <a:rPr sz="1150" b="1">
                <a:solidFill>
                  <a:srgbClr val="62746D"/>
                </a:solidFill>
                <a:latin typeface="Apple SD Gothic Neo"/>
              </a:rPr>
              <a:t>제공 + 직접</a:t>
            </a:r>
          </a:p>
        </p:txBody>
      </p:sp>
      <p:sp>
        <p:nvSpPr>
          <p:cNvPr id="25" name="TextBox 24"/>
          <p:cNvSpPr txBox="1"/>
          <p:nvPr/>
        </p:nvSpPr>
        <p:spPr>
          <a:xfrm>
            <a:off x="5303519" y="2802636"/>
            <a:ext cx="6172200" cy="288036"/>
          </a:xfrm>
          <a:prstGeom prst="rect">
            <a:avLst/>
          </a:prstGeom>
          <a:noFill/>
        </p:spPr>
        <p:txBody>
          <a:bodyPr wrap="square" lIns="0" rIns="0" tIns="0" bIns="0" anchor="ctr">
            <a:spAutoFit/>
          </a:bodyPr>
          <a:lstStyle/>
          <a:p>
            <a:r>
              <a:rPr sz="1150" b="0">
                <a:solidFill>
                  <a:srgbClr val="19382F"/>
                </a:solidFill>
                <a:latin typeface="Apple SD Gothic Neo"/>
              </a:rPr>
              <a:t>Vue EventSource 제공 / 근거 표시 화면 직접 개선</a:t>
            </a:r>
          </a:p>
        </p:txBody>
      </p:sp>
      <p:sp>
        <p:nvSpPr>
          <p:cNvPr id="26" name="Rectangle 25"/>
          <p:cNvSpPr/>
          <p:nvPr/>
        </p:nvSpPr>
        <p:spPr>
          <a:xfrm>
            <a:off x="640080" y="3090672"/>
            <a:ext cx="10881360" cy="2880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19" y="3090672"/>
            <a:ext cx="2697480" cy="288036"/>
          </a:xfrm>
          <a:prstGeom prst="rect">
            <a:avLst/>
          </a:prstGeom>
          <a:noFill/>
        </p:spPr>
        <p:txBody>
          <a:bodyPr wrap="square" lIns="0" rIns="0" tIns="0" bIns="0" anchor="ctr">
            <a:spAutoFit/>
          </a:bodyPr>
          <a:lstStyle/>
          <a:p>
            <a:r>
              <a:rPr sz="1150" b="1">
                <a:solidFill>
                  <a:srgbClr val="19382F"/>
                </a:solidFill>
                <a:latin typeface="Apple SD Gothic Neo"/>
              </a:rPr>
              <a:t>Multi-Agent Streaming</a:t>
            </a:r>
          </a:p>
        </p:txBody>
      </p:sp>
      <p:sp>
        <p:nvSpPr>
          <p:cNvPr id="28" name="TextBox 27"/>
          <p:cNvSpPr txBox="1"/>
          <p:nvPr/>
        </p:nvSpPr>
        <p:spPr>
          <a:xfrm>
            <a:off x="3566160" y="3090672"/>
            <a:ext cx="1600200" cy="288036"/>
          </a:xfrm>
          <a:prstGeom prst="rect">
            <a:avLst/>
          </a:prstGeom>
          <a:noFill/>
        </p:spPr>
        <p:txBody>
          <a:bodyPr wrap="square" lIns="0" rIns="0" tIns="0" bIns="0" anchor="ctr">
            <a:spAutoFit/>
          </a:bodyPr>
          <a:lstStyle/>
          <a:p>
            <a:r>
              <a:rPr sz="1150" b="1">
                <a:solidFill>
                  <a:srgbClr val="B6503E"/>
                </a:solidFill>
                <a:latin typeface="Apple SD Gothic Neo"/>
              </a:rPr>
              <a:t>트레이드오프</a:t>
            </a:r>
          </a:p>
        </p:txBody>
      </p:sp>
      <p:sp>
        <p:nvSpPr>
          <p:cNvPr id="29" name="TextBox 28"/>
          <p:cNvSpPr txBox="1"/>
          <p:nvPr/>
        </p:nvSpPr>
        <p:spPr>
          <a:xfrm>
            <a:off x="5303519" y="3090672"/>
            <a:ext cx="6172200" cy="288036"/>
          </a:xfrm>
          <a:prstGeom prst="rect">
            <a:avLst/>
          </a:prstGeom>
          <a:noFill/>
        </p:spPr>
        <p:txBody>
          <a:bodyPr wrap="square" lIns="0" rIns="0" tIns="0" bIns="0" anchor="ctr">
            <a:spAutoFit/>
          </a:bodyPr>
          <a:lstStyle/>
          <a:p>
            <a:r>
              <a:rPr sz="1150" b="0">
                <a:solidFill>
                  <a:srgbClr val="19382F"/>
                </a:solidFill>
                <a:latin typeface="Apple SD Gothic Neo"/>
              </a:rPr>
              <a:t>진행 이벤트만 전송, 초안 토큰은 차단 (ADR-04)</a:t>
            </a:r>
          </a:p>
        </p:txBody>
      </p:sp>
      <p:sp>
        <p:nvSpPr>
          <p:cNvPr id="30" name="Rectangle 29"/>
          <p:cNvSpPr/>
          <p:nvPr/>
        </p:nvSpPr>
        <p:spPr>
          <a:xfrm>
            <a:off x="640080" y="3378708"/>
            <a:ext cx="10881360" cy="2880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1519" y="3378708"/>
            <a:ext cx="2697480" cy="288036"/>
          </a:xfrm>
          <a:prstGeom prst="rect">
            <a:avLst/>
          </a:prstGeom>
          <a:noFill/>
        </p:spPr>
        <p:txBody>
          <a:bodyPr wrap="square" lIns="0" rIns="0" tIns="0" bIns="0" anchor="ctr">
            <a:spAutoFit/>
          </a:bodyPr>
          <a:lstStyle/>
          <a:p>
            <a:r>
              <a:rPr sz="1150" b="1">
                <a:solidFill>
                  <a:srgbClr val="19382F"/>
                </a:solidFill>
                <a:latin typeface="Apple SD Gothic Neo"/>
              </a:rPr>
              <a:t>Query Routing · Dynamic Planning</a:t>
            </a:r>
          </a:p>
        </p:txBody>
      </p:sp>
      <p:sp>
        <p:nvSpPr>
          <p:cNvPr id="32" name="TextBox 31"/>
          <p:cNvSpPr txBox="1"/>
          <p:nvPr/>
        </p:nvSpPr>
        <p:spPr>
          <a:xfrm>
            <a:off x="3566160" y="3378708"/>
            <a:ext cx="1600200" cy="288036"/>
          </a:xfrm>
          <a:prstGeom prst="rect">
            <a:avLst/>
          </a:prstGeom>
          <a:noFill/>
        </p:spPr>
        <p:txBody>
          <a:bodyPr wrap="square" lIns="0" rIns="0" tIns="0" bIns="0" anchor="ctr">
            <a:spAutoFit/>
          </a:bodyPr>
          <a:lstStyle/>
          <a:p>
            <a:r>
              <a:rPr sz="1150" b="1">
                <a:solidFill>
                  <a:srgbClr val="62746D"/>
                </a:solidFill>
                <a:latin typeface="Apple SD Gothic Neo"/>
              </a:rPr>
              <a:t>제공</a:t>
            </a:r>
          </a:p>
        </p:txBody>
      </p:sp>
      <p:sp>
        <p:nvSpPr>
          <p:cNvPr id="33" name="TextBox 32"/>
          <p:cNvSpPr txBox="1"/>
          <p:nvPr/>
        </p:nvSpPr>
        <p:spPr>
          <a:xfrm>
            <a:off x="5303519" y="3378708"/>
            <a:ext cx="6172200" cy="288036"/>
          </a:xfrm>
          <a:prstGeom prst="rect">
            <a:avLst/>
          </a:prstGeom>
          <a:noFill/>
        </p:spPr>
        <p:txBody>
          <a:bodyPr wrap="square" lIns="0" rIns="0" tIns="0" bIns="0" anchor="ctr">
            <a:spAutoFit/>
          </a:bodyPr>
          <a:lstStyle/>
          <a:p>
            <a:r>
              <a:rPr sz="1150" b="0">
                <a:solidFill>
                  <a:srgbClr val="19382F"/>
                </a:solidFill>
                <a:latin typeface="Apple SD Gothic Neo"/>
              </a:rPr>
              <a:t>route · plan · replan_check 노드</a:t>
            </a:r>
          </a:p>
        </p:txBody>
      </p:sp>
      <p:sp>
        <p:nvSpPr>
          <p:cNvPr id="34" name="Rectangle 33"/>
          <p:cNvSpPr/>
          <p:nvPr/>
        </p:nvSpPr>
        <p:spPr>
          <a:xfrm>
            <a:off x="640080" y="3666744"/>
            <a:ext cx="10881360" cy="2880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19" y="3666744"/>
            <a:ext cx="2697480" cy="288036"/>
          </a:xfrm>
          <a:prstGeom prst="rect">
            <a:avLst/>
          </a:prstGeom>
          <a:noFill/>
        </p:spPr>
        <p:txBody>
          <a:bodyPr wrap="square" lIns="0" rIns="0" tIns="0" bIns="0" anchor="ctr">
            <a:spAutoFit/>
          </a:bodyPr>
          <a:lstStyle/>
          <a:p>
            <a:r>
              <a:rPr sz="1150" b="1">
                <a:solidFill>
                  <a:srgbClr val="19382F"/>
                </a:solidFill>
                <a:latin typeface="Apple SD Gothic Neo"/>
              </a:rPr>
              <a:t>Validator</a:t>
            </a:r>
          </a:p>
        </p:txBody>
      </p:sp>
      <p:sp>
        <p:nvSpPr>
          <p:cNvPr id="36" name="TextBox 35"/>
          <p:cNvSpPr txBox="1"/>
          <p:nvPr/>
        </p:nvSpPr>
        <p:spPr>
          <a:xfrm>
            <a:off x="3566160" y="3666744"/>
            <a:ext cx="1600200" cy="288036"/>
          </a:xfrm>
          <a:prstGeom prst="rect">
            <a:avLst/>
          </a:prstGeom>
          <a:noFill/>
        </p:spPr>
        <p:txBody>
          <a:bodyPr wrap="square" lIns="0" rIns="0" tIns="0" bIns="0" anchor="ctr">
            <a:spAutoFit/>
          </a:bodyPr>
          <a:lstStyle/>
          <a:p>
            <a:r>
              <a:rPr sz="1150" b="1">
                <a:solidFill>
                  <a:srgbClr val="16785C"/>
                </a:solidFill>
                <a:latin typeface="Apple SD Gothic Neo"/>
              </a:rPr>
              <a:t>직접</a:t>
            </a:r>
          </a:p>
        </p:txBody>
      </p:sp>
      <p:sp>
        <p:nvSpPr>
          <p:cNvPr id="37" name="TextBox 36"/>
          <p:cNvSpPr txBox="1"/>
          <p:nvPr/>
        </p:nvSpPr>
        <p:spPr>
          <a:xfrm>
            <a:off x="5303519" y="3666744"/>
            <a:ext cx="6172200" cy="288036"/>
          </a:xfrm>
          <a:prstGeom prst="rect">
            <a:avLst/>
          </a:prstGeom>
          <a:noFill/>
        </p:spPr>
        <p:txBody>
          <a:bodyPr wrap="square" lIns="0" rIns="0" tIns="0" bIns="0" anchor="ctr">
            <a:spAutoFit/>
          </a:bodyPr>
          <a:lstStyle/>
          <a:p>
            <a:r>
              <a:rPr sz="1150" b="0">
                <a:solidFill>
                  <a:srgbClr val="19382F"/>
                </a:solidFill>
                <a:latin typeface="Apple SD Gothic Neo"/>
              </a:rPr>
              <a:t>agent/verifier.py · validate · finalize_failed</a:t>
            </a:r>
          </a:p>
        </p:txBody>
      </p:sp>
      <p:sp>
        <p:nvSpPr>
          <p:cNvPr id="38" name="Rectangle 37"/>
          <p:cNvSpPr/>
          <p:nvPr/>
        </p:nvSpPr>
        <p:spPr>
          <a:xfrm>
            <a:off x="640080" y="3954780"/>
            <a:ext cx="10881360" cy="2880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31519" y="3954780"/>
            <a:ext cx="2697480" cy="288036"/>
          </a:xfrm>
          <a:prstGeom prst="rect">
            <a:avLst/>
          </a:prstGeom>
          <a:noFill/>
        </p:spPr>
        <p:txBody>
          <a:bodyPr wrap="square" lIns="0" rIns="0" tIns="0" bIns="0" anchor="ctr">
            <a:spAutoFit/>
          </a:bodyPr>
          <a:lstStyle/>
          <a:p>
            <a:r>
              <a:rPr sz="1150" b="1">
                <a:solidFill>
                  <a:srgbClr val="19382F"/>
                </a:solidFill>
                <a:latin typeface="Apple SD Gothic Neo"/>
              </a:rPr>
              <a:t>Error Handling</a:t>
            </a:r>
          </a:p>
        </p:txBody>
      </p:sp>
      <p:sp>
        <p:nvSpPr>
          <p:cNvPr id="40" name="TextBox 39"/>
          <p:cNvSpPr txBox="1"/>
          <p:nvPr/>
        </p:nvSpPr>
        <p:spPr>
          <a:xfrm>
            <a:off x="3566160" y="3954780"/>
            <a:ext cx="1600200" cy="288036"/>
          </a:xfrm>
          <a:prstGeom prst="rect">
            <a:avLst/>
          </a:prstGeom>
          <a:noFill/>
        </p:spPr>
        <p:txBody>
          <a:bodyPr wrap="square" lIns="0" rIns="0" tIns="0" bIns="0" anchor="ctr">
            <a:spAutoFit/>
          </a:bodyPr>
          <a:lstStyle/>
          <a:p>
            <a:r>
              <a:rPr sz="1150" b="1">
                <a:solidFill>
                  <a:srgbClr val="62746D"/>
                </a:solidFill>
                <a:latin typeface="Apple SD Gothic Neo"/>
              </a:rPr>
              <a:t>제공 + 직접</a:t>
            </a:r>
          </a:p>
        </p:txBody>
      </p:sp>
      <p:sp>
        <p:nvSpPr>
          <p:cNvPr id="41" name="TextBox 40"/>
          <p:cNvSpPr txBox="1"/>
          <p:nvPr/>
        </p:nvSpPr>
        <p:spPr>
          <a:xfrm>
            <a:off x="5303519" y="3954780"/>
            <a:ext cx="6172200" cy="288036"/>
          </a:xfrm>
          <a:prstGeom prst="rect">
            <a:avLst/>
          </a:prstGeom>
          <a:noFill/>
        </p:spPr>
        <p:txBody>
          <a:bodyPr wrap="square" lIns="0" rIns="0" tIns="0" bIns="0" anchor="ctr">
            <a:spAutoFit/>
          </a:bodyPr>
          <a:lstStyle/>
          <a:p>
            <a:r>
              <a:rPr sz="1150" b="0">
                <a:solidFill>
                  <a:srgbClr val="19382F"/>
                </a:solidFill>
                <a:latin typeface="Apple SD Gothic Neo"/>
              </a:rPr>
              <a:t>재시도·타임아웃 제공 / 실패 격리·검증 실패 종료 직접</a:t>
            </a:r>
          </a:p>
        </p:txBody>
      </p:sp>
      <p:sp>
        <p:nvSpPr>
          <p:cNvPr id="42" name="Rectangle 41"/>
          <p:cNvSpPr/>
          <p:nvPr/>
        </p:nvSpPr>
        <p:spPr>
          <a:xfrm>
            <a:off x="640080" y="4242816"/>
            <a:ext cx="10881360" cy="2880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31519" y="4242816"/>
            <a:ext cx="2697480" cy="288036"/>
          </a:xfrm>
          <a:prstGeom prst="rect">
            <a:avLst/>
          </a:prstGeom>
          <a:noFill/>
        </p:spPr>
        <p:txBody>
          <a:bodyPr wrap="square" lIns="0" rIns="0" tIns="0" bIns="0" anchor="ctr">
            <a:spAutoFit/>
          </a:bodyPr>
          <a:lstStyle/>
          <a:p>
            <a:r>
              <a:rPr sz="1150" b="1">
                <a:solidFill>
                  <a:srgbClr val="19382F"/>
                </a:solidFill>
                <a:latin typeface="Apple SD Gothic Neo"/>
              </a:rPr>
              <a:t>Cost Optimization</a:t>
            </a:r>
          </a:p>
        </p:txBody>
      </p:sp>
      <p:sp>
        <p:nvSpPr>
          <p:cNvPr id="44" name="TextBox 43"/>
          <p:cNvSpPr txBox="1"/>
          <p:nvPr/>
        </p:nvSpPr>
        <p:spPr>
          <a:xfrm>
            <a:off x="3566160" y="4242816"/>
            <a:ext cx="1600200" cy="288036"/>
          </a:xfrm>
          <a:prstGeom prst="rect">
            <a:avLst/>
          </a:prstGeom>
          <a:noFill/>
        </p:spPr>
        <p:txBody>
          <a:bodyPr wrap="square" lIns="0" rIns="0" tIns="0" bIns="0" anchor="ctr">
            <a:spAutoFit/>
          </a:bodyPr>
          <a:lstStyle/>
          <a:p>
            <a:r>
              <a:rPr sz="1150" b="1">
                <a:solidFill>
                  <a:srgbClr val="62746D"/>
                </a:solidFill>
                <a:latin typeface="Apple SD Gothic Neo"/>
              </a:rPr>
              <a:t>제공 + 직접</a:t>
            </a:r>
          </a:p>
        </p:txBody>
      </p:sp>
      <p:sp>
        <p:nvSpPr>
          <p:cNvPr id="45" name="TextBox 44"/>
          <p:cNvSpPr txBox="1"/>
          <p:nvPr/>
        </p:nvSpPr>
        <p:spPr>
          <a:xfrm>
            <a:off x="5303519" y="4242816"/>
            <a:ext cx="6172200" cy="288036"/>
          </a:xfrm>
          <a:prstGeom prst="rect">
            <a:avLst/>
          </a:prstGeom>
          <a:noFill/>
        </p:spPr>
        <p:txBody>
          <a:bodyPr wrap="square" lIns="0" rIns="0" tIns="0" bIns="0" anchor="ctr">
            <a:spAutoFit/>
          </a:bodyPr>
          <a:lstStyle/>
          <a:p>
            <a:r>
              <a:rPr sz="1150" b="0">
                <a:solidFill>
                  <a:srgbClr val="19382F"/>
                </a:solidFill>
                <a:latin typeface="Apple SD Gothic Neo"/>
              </a:rPr>
              <a:t>fast/quality 분리 제공 / 근거 0건 시 작성 생략 직접</a:t>
            </a:r>
          </a:p>
        </p:txBody>
      </p:sp>
      <p:sp>
        <p:nvSpPr>
          <p:cNvPr id="46" name="Rectangle 45"/>
          <p:cNvSpPr/>
          <p:nvPr/>
        </p:nvSpPr>
        <p:spPr>
          <a:xfrm>
            <a:off x="640080" y="4530852"/>
            <a:ext cx="10881360" cy="2880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31519" y="4530852"/>
            <a:ext cx="2697480" cy="288036"/>
          </a:xfrm>
          <a:prstGeom prst="rect">
            <a:avLst/>
          </a:prstGeom>
          <a:noFill/>
        </p:spPr>
        <p:txBody>
          <a:bodyPr wrap="square" lIns="0" rIns="0" tIns="0" bIns="0" anchor="ctr">
            <a:spAutoFit/>
          </a:bodyPr>
          <a:lstStyle/>
          <a:p>
            <a:r>
              <a:rPr sz="1150" b="1">
                <a:solidFill>
                  <a:srgbClr val="19382F"/>
                </a:solidFill>
                <a:latin typeface="Apple SD Gothic Neo"/>
              </a:rPr>
              <a:t>동시 실행</a:t>
            </a:r>
          </a:p>
        </p:txBody>
      </p:sp>
      <p:sp>
        <p:nvSpPr>
          <p:cNvPr id="48" name="TextBox 47"/>
          <p:cNvSpPr txBox="1"/>
          <p:nvPr/>
        </p:nvSpPr>
        <p:spPr>
          <a:xfrm>
            <a:off x="3566160" y="4530852"/>
            <a:ext cx="1600200" cy="288036"/>
          </a:xfrm>
          <a:prstGeom prst="rect">
            <a:avLst/>
          </a:prstGeom>
          <a:noFill/>
        </p:spPr>
        <p:txBody>
          <a:bodyPr wrap="square" lIns="0" rIns="0" tIns="0" bIns="0" anchor="ctr">
            <a:spAutoFit/>
          </a:bodyPr>
          <a:lstStyle/>
          <a:p>
            <a:r>
              <a:rPr sz="1150" b="1">
                <a:solidFill>
                  <a:srgbClr val="62746D"/>
                </a:solidFill>
                <a:latin typeface="Apple SD Gothic Neo"/>
              </a:rPr>
              <a:t>제공 · 측정</a:t>
            </a:r>
          </a:p>
        </p:txBody>
      </p:sp>
      <p:sp>
        <p:nvSpPr>
          <p:cNvPr id="49" name="TextBox 48"/>
          <p:cNvSpPr txBox="1"/>
          <p:nvPr/>
        </p:nvSpPr>
        <p:spPr>
          <a:xfrm>
            <a:off x="5303519" y="4530852"/>
            <a:ext cx="6172200" cy="288036"/>
          </a:xfrm>
          <a:prstGeom prst="rect">
            <a:avLst/>
          </a:prstGeom>
          <a:noFill/>
        </p:spPr>
        <p:txBody>
          <a:bodyPr wrap="square" lIns="0" rIns="0" tIns="0" bIns="0" anchor="ctr">
            <a:spAutoFit/>
          </a:bodyPr>
          <a:lstStyle/>
          <a:p>
            <a:r>
              <a:rPr sz="1150" b="0">
                <a:solidFill>
                  <a:srgbClr val="19382F"/>
                </a:solidFill>
                <a:latin typeface="Apple SD Gothic Neo"/>
              </a:rPr>
              <a:t>asyncio.gather · 직렬 1.07초 → 병렬 0.36초</a:t>
            </a:r>
          </a:p>
        </p:txBody>
      </p:sp>
      <p:sp>
        <p:nvSpPr>
          <p:cNvPr id="50" name="Rectangle 49"/>
          <p:cNvSpPr/>
          <p:nvPr/>
        </p:nvSpPr>
        <p:spPr>
          <a:xfrm>
            <a:off x="640080" y="4818888"/>
            <a:ext cx="10881360" cy="2880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31519" y="4818888"/>
            <a:ext cx="2697480" cy="288036"/>
          </a:xfrm>
          <a:prstGeom prst="rect">
            <a:avLst/>
          </a:prstGeom>
          <a:noFill/>
        </p:spPr>
        <p:txBody>
          <a:bodyPr wrap="square" lIns="0" rIns="0" tIns="0" bIns="0" anchor="ctr">
            <a:spAutoFit/>
          </a:bodyPr>
          <a:lstStyle/>
          <a:p>
            <a:r>
              <a:rPr sz="1150" b="1">
                <a:solidFill>
                  <a:srgbClr val="19382F"/>
                </a:solidFill>
                <a:latin typeface="Apple SD Gothic Neo"/>
              </a:rPr>
              <a:t>Stateless Session</a:t>
            </a:r>
          </a:p>
        </p:txBody>
      </p:sp>
      <p:sp>
        <p:nvSpPr>
          <p:cNvPr id="52" name="TextBox 51"/>
          <p:cNvSpPr txBox="1"/>
          <p:nvPr/>
        </p:nvSpPr>
        <p:spPr>
          <a:xfrm>
            <a:off x="3566160" y="4818888"/>
            <a:ext cx="1600200" cy="288036"/>
          </a:xfrm>
          <a:prstGeom prst="rect">
            <a:avLst/>
          </a:prstGeom>
          <a:noFill/>
        </p:spPr>
        <p:txBody>
          <a:bodyPr wrap="square" lIns="0" rIns="0" tIns="0" bIns="0" anchor="ctr">
            <a:spAutoFit/>
          </a:bodyPr>
          <a:lstStyle/>
          <a:p>
            <a:r>
              <a:rPr sz="1150" b="1">
                <a:solidFill>
                  <a:srgbClr val="62746D"/>
                </a:solidFill>
                <a:latin typeface="Apple SD Gothic Neo"/>
              </a:rPr>
              <a:t>제공</a:t>
            </a:r>
          </a:p>
        </p:txBody>
      </p:sp>
      <p:sp>
        <p:nvSpPr>
          <p:cNvPr id="53" name="TextBox 52"/>
          <p:cNvSpPr txBox="1"/>
          <p:nvPr/>
        </p:nvSpPr>
        <p:spPr>
          <a:xfrm>
            <a:off x="5303519" y="4818888"/>
            <a:ext cx="6172200" cy="288036"/>
          </a:xfrm>
          <a:prstGeom prst="rect">
            <a:avLst/>
          </a:prstGeom>
          <a:noFill/>
        </p:spPr>
        <p:txBody>
          <a:bodyPr wrap="square" lIns="0" rIns="0" tIns="0" bIns="0" anchor="ctr">
            <a:spAutoFit/>
          </a:bodyPr>
          <a:lstStyle/>
          <a:p>
            <a:r>
              <a:rPr sz="1150" b="0">
                <a:solidFill>
                  <a:srgbClr val="19382F"/>
                </a:solidFill>
                <a:latin typeface="Apple SD Gothic Neo"/>
              </a:rPr>
              <a:t>SQLite thread_id 세션</a:t>
            </a:r>
          </a:p>
        </p:txBody>
      </p:sp>
      <p:sp>
        <p:nvSpPr>
          <p:cNvPr id="54" name="Rectangle 53"/>
          <p:cNvSpPr/>
          <p:nvPr/>
        </p:nvSpPr>
        <p:spPr>
          <a:xfrm>
            <a:off x="640080" y="5106924"/>
            <a:ext cx="10881360" cy="2880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31519" y="5106924"/>
            <a:ext cx="2697480" cy="288036"/>
          </a:xfrm>
          <a:prstGeom prst="rect">
            <a:avLst/>
          </a:prstGeom>
          <a:noFill/>
        </p:spPr>
        <p:txBody>
          <a:bodyPr wrap="square" lIns="0" rIns="0" tIns="0" bIns="0" anchor="ctr">
            <a:spAutoFit/>
          </a:bodyPr>
          <a:lstStyle/>
          <a:p>
            <a:r>
              <a:rPr sz="1150" b="1">
                <a:solidFill>
                  <a:srgbClr val="19382F"/>
                </a:solidFill>
                <a:latin typeface="Apple SD Gothic Neo"/>
              </a:rPr>
              <a:t>모듈화</a:t>
            </a:r>
          </a:p>
        </p:txBody>
      </p:sp>
      <p:sp>
        <p:nvSpPr>
          <p:cNvPr id="56" name="TextBox 55"/>
          <p:cNvSpPr txBox="1"/>
          <p:nvPr/>
        </p:nvSpPr>
        <p:spPr>
          <a:xfrm>
            <a:off x="3566160" y="5106924"/>
            <a:ext cx="1600200" cy="288036"/>
          </a:xfrm>
          <a:prstGeom prst="rect">
            <a:avLst/>
          </a:prstGeom>
          <a:noFill/>
        </p:spPr>
        <p:txBody>
          <a:bodyPr wrap="square" lIns="0" rIns="0" tIns="0" bIns="0" anchor="ctr">
            <a:spAutoFit/>
          </a:bodyPr>
          <a:lstStyle/>
          <a:p>
            <a:r>
              <a:rPr sz="1150" b="1">
                <a:solidFill>
                  <a:srgbClr val="16785C"/>
                </a:solidFill>
                <a:latin typeface="Apple SD Gothic Neo"/>
              </a:rPr>
              <a:t>직접</a:t>
            </a:r>
          </a:p>
        </p:txBody>
      </p:sp>
      <p:sp>
        <p:nvSpPr>
          <p:cNvPr id="57" name="TextBox 56"/>
          <p:cNvSpPr txBox="1"/>
          <p:nvPr/>
        </p:nvSpPr>
        <p:spPr>
          <a:xfrm>
            <a:off x="5303519" y="5106924"/>
            <a:ext cx="6172200" cy="288036"/>
          </a:xfrm>
          <a:prstGeom prst="rect">
            <a:avLst/>
          </a:prstGeom>
          <a:noFill/>
        </p:spPr>
        <p:txBody>
          <a:bodyPr wrap="square" lIns="0" rIns="0" tIns="0" bIns="0" anchor="ctr">
            <a:spAutoFit/>
          </a:bodyPr>
          <a:lstStyle/>
          <a:p>
            <a:r>
              <a:rPr sz="1150" b="0">
                <a:solidFill>
                  <a:srgbClr val="19382F"/>
                </a:solidFill>
                <a:latin typeface="Apple SD Gothic Neo"/>
              </a:rPr>
              <a:t>graph.py 425줄 → 58줄, nodes/ 6개 모듈</a:t>
            </a:r>
          </a:p>
        </p:txBody>
      </p:sp>
      <p:sp>
        <p:nvSpPr>
          <p:cNvPr id="58" name="Rectangle 57"/>
          <p:cNvSpPr/>
          <p:nvPr/>
        </p:nvSpPr>
        <p:spPr>
          <a:xfrm>
            <a:off x="640080" y="5394960"/>
            <a:ext cx="10881360" cy="2880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31519" y="5394960"/>
            <a:ext cx="2697480" cy="288036"/>
          </a:xfrm>
          <a:prstGeom prst="rect">
            <a:avLst/>
          </a:prstGeom>
          <a:noFill/>
        </p:spPr>
        <p:txBody>
          <a:bodyPr wrap="square" lIns="0" rIns="0" tIns="0" bIns="0" anchor="ctr">
            <a:spAutoFit/>
          </a:bodyPr>
          <a:lstStyle/>
          <a:p>
            <a:r>
              <a:rPr sz="1150" b="1">
                <a:solidFill>
                  <a:srgbClr val="19382F"/>
                </a:solidFill>
                <a:latin typeface="Apple SD Gothic Neo"/>
              </a:rPr>
              <a:t>Multi-Agent 통합</a:t>
            </a:r>
          </a:p>
        </p:txBody>
      </p:sp>
      <p:sp>
        <p:nvSpPr>
          <p:cNvPr id="60" name="TextBox 59"/>
          <p:cNvSpPr txBox="1"/>
          <p:nvPr/>
        </p:nvSpPr>
        <p:spPr>
          <a:xfrm>
            <a:off x="3566160" y="5394960"/>
            <a:ext cx="1600200" cy="288036"/>
          </a:xfrm>
          <a:prstGeom prst="rect">
            <a:avLst/>
          </a:prstGeom>
          <a:noFill/>
        </p:spPr>
        <p:txBody>
          <a:bodyPr wrap="square" lIns="0" rIns="0" tIns="0" bIns="0" anchor="ctr">
            <a:spAutoFit/>
          </a:bodyPr>
          <a:lstStyle/>
          <a:p>
            <a:r>
              <a:rPr sz="1150" b="1">
                <a:solidFill>
                  <a:srgbClr val="16785C"/>
                </a:solidFill>
                <a:latin typeface="Apple SD Gothic Neo"/>
              </a:rPr>
              <a:t>직접 (얕은 형태)</a:t>
            </a:r>
          </a:p>
        </p:txBody>
      </p:sp>
      <p:sp>
        <p:nvSpPr>
          <p:cNvPr id="61" name="TextBox 60"/>
          <p:cNvSpPr txBox="1"/>
          <p:nvPr/>
        </p:nvSpPr>
        <p:spPr>
          <a:xfrm>
            <a:off x="5303519" y="5394960"/>
            <a:ext cx="6172200" cy="288036"/>
          </a:xfrm>
          <a:prstGeom prst="rect">
            <a:avLst/>
          </a:prstGeom>
          <a:noFill/>
        </p:spPr>
        <p:txBody>
          <a:bodyPr wrap="square" lIns="0" rIns="0" tIns="0" bIns="0" anchor="ctr">
            <a:spAutoFit/>
          </a:bodyPr>
          <a:lstStyle/>
          <a:p>
            <a:r>
              <a:rPr sz="1150" b="0">
                <a:solidFill>
                  <a:srgbClr val="19382F"/>
                </a:solidFill>
                <a:latin typeface="Apple SD Gothic Neo"/>
              </a:rPr>
              <a:t>서브그래프 2개 · LLM 판단·협상 없음</a:t>
            </a:r>
          </a:p>
        </p:txBody>
      </p:sp>
      <p:sp>
        <p:nvSpPr>
          <p:cNvPr id="62" name="Rectangle 61"/>
          <p:cNvSpPr/>
          <p:nvPr/>
        </p:nvSpPr>
        <p:spPr>
          <a:xfrm>
            <a:off x="640080" y="5682996"/>
            <a:ext cx="10881360" cy="2880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31519" y="5682996"/>
            <a:ext cx="2697480" cy="288036"/>
          </a:xfrm>
          <a:prstGeom prst="rect">
            <a:avLst/>
          </a:prstGeom>
          <a:noFill/>
        </p:spPr>
        <p:txBody>
          <a:bodyPr wrap="square" lIns="0" rIns="0" tIns="0" bIns="0" anchor="ctr">
            <a:spAutoFit/>
          </a:bodyPr>
          <a:lstStyle/>
          <a:p>
            <a:r>
              <a:rPr sz="1150" b="1">
                <a:solidFill>
                  <a:srgbClr val="19382F"/>
                </a:solidFill>
                <a:latin typeface="Apple SD Gothic Neo"/>
              </a:rPr>
              <a:t>Observability (LangSmith)</a:t>
            </a:r>
          </a:p>
        </p:txBody>
      </p:sp>
      <p:sp>
        <p:nvSpPr>
          <p:cNvPr id="64" name="TextBox 63"/>
          <p:cNvSpPr txBox="1"/>
          <p:nvPr/>
        </p:nvSpPr>
        <p:spPr>
          <a:xfrm>
            <a:off x="3566160" y="5682996"/>
            <a:ext cx="1600200" cy="288036"/>
          </a:xfrm>
          <a:prstGeom prst="rect">
            <a:avLst/>
          </a:prstGeom>
          <a:noFill/>
        </p:spPr>
        <p:txBody>
          <a:bodyPr wrap="square" lIns="0" rIns="0" tIns="0" bIns="0" anchor="ctr">
            <a:spAutoFit/>
          </a:bodyPr>
          <a:lstStyle/>
          <a:p>
            <a:r>
              <a:rPr sz="1150" b="1">
                <a:solidFill>
                  <a:srgbClr val="16785C"/>
                </a:solidFill>
                <a:latin typeface="Apple SD Gothic Neo"/>
              </a:rPr>
              <a:t>직접 활용</a:t>
            </a:r>
          </a:p>
        </p:txBody>
      </p:sp>
      <p:sp>
        <p:nvSpPr>
          <p:cNvPr id="65" name="TextBox 64"/>
          <p:cNvSpPr txBox="1"/>
          <p:nvPr/>
        </p:nvSpPr>
        <p:spPr>
          <a:xfrm>
            <a:off x="5303519" y="5682996"/>
            <a:ext cx="6172200" cy="288036"/>
          </a:xfrm>
          <a:prstGeom prst="rect">
            <a:avLst/>
          </a:prstGeom>
          <a:noFill/>
        </p:spPr>
        <p:txBody>
          <a:bodyPr wrap="square" lIns="0" rIns="0" tIns="0" bIns="0" anchor="ctr">
            <a:spAutoFit/>
          </a:bodyPr>
          <a:lstStyle/>
          <a:p>
            <a:r>
              <a:rPr sz="1150" b="0">
                <a:solidFill>
                  <a:srgbClr val="19382F"/>
                </a:solidFill>
                <a:latin typeface="Apple SD Gothic Neo"/>
              </a:rPr>
              <a:t>추적 1회 실행, 59개 run 확인 · 비교 평가는 미수행</a:t>
            </a:r>
          </a:p>
        </p:txBody>
      </p:sp>
      <p:sp>
        <p:nvSpPr>
          <p:cNvPr id="66" name="Rectangle 65"/>
          <p:cNvSpPr/>
          <p:nvPr/>
        </p:nvSpPr>
        <p:spPr>
          <a:xfrm>
            <a:off x="640080" y="5971032"/>
            <a:ext cx="10881360" cy="2880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731519" y="5971032"/>
            <a:ext cx="2697480" cy="288036"/>
          </a:xfrm>
          <a:prstGeom prst="rect">
            <a:avLst/>
          </a:prstGeom>
          <a:noFill/>
        </p:spPr>
        <p:txBody>
          <a:bodyPr wrap="square" lIns="0" rIns="0" tIns="0" bIns="0" anchor="ctr">
            <a:spAutoFit/>
          </a:bodyPr>
          <a:lstStyle/>
          <a:p>
            <a:r>
              <a:rPr sz="1150" b="1">
                <a:solidFill>
                  <a:srgbClr val="19382F"/>
                </a:solidFill>
                <a:latin typeface="Apple SD Gothic Neo"/>
              </a:rPr>
              <a:t>의존성 주입 · 테스트</a:t>
            </a:r>
          </a:p>
        </p:txBody>
      </p:sp>
      <p:sp>
        <p:nvSpPr>
          <p:cNvPr id="68" name="TextBox 67"/>
          <p:cNvSpPr txBox="1"/>
          <p:nvPr/>
        </p:nvSpPr>
        <p:spPr>
          <a:xfrm>
            <a:off x="3566160" y="5971032"/>
            <a:ext cx="1600200" cy="288036"/>
          </a:xfrm>
          <a:prstGeom prst="rect">
            <a:avLst/>
          </a:prstGeom>
          <a:noFill/>
        </p:spPr>
        <p:txBody>
          <a:bodyPr wrap="square" lIns="0" rIns="0" tIns="0" bIns="0" anchor="ctr">
            <a:spAutoFit/>
          </a:bodyPr>
          <a:lstStyle/>
          <a:p>
            <a:r>
              <a:rPr sz="1150" b="1">
                <a:solidFill>
                  <a:srgbClr val="16785C"/>
                </a:solidFill>
                <a:latin typeface="Apple SD Gothic Neo"/>
              </a:rPr>
              <a:t>직접</a:t>
            </a:r>
          </a:p>
        </p:txBody>
      </p:sp>
      <p:sp>
        <p:nvSpPr>
          <p:cNvPr id="69" name="TextBox 68"/>
          <p:cNvSpPr txBox="1"/>
          <p:nvPr/>
        </p:nvSpPr>
        <p:spPr>
          <a:xfrm>
            <a:off x="5303519" y="5971032"/>
            <a:ext cx="6172200" cy="288036"/>
          </a:xfrm>
          <a:prstGeom prst="rect">
            <a:avLst/>
          </a:prstGeom>
          <a:noFill/>
        </p:spPr>
        <p:txBody>
          <a:bodyPr wrap="square" lIns="0" rIns="0" tIns="0" bIns="0" anchor="ctr">
            <a:spAutoFit/>
          </a:bodyPr>
          <a:lstStyle/>
          <a:p>
            <a:r>
              <a:rPr sz="1150" b="0">
                <a:solidFill>
                  <a:srgbClr val="19382F"/>
                </a:solidFill>
                <a:latin typeface="Apple SD Gothic Neo"/>
              </a:rPr>
              <a:t>SupervisorDeps 주입 · 테스트 6종</a:t>
            </a:r>
          </a:p>
        </p:txBody>
      </p:sp>
      <p:sp>
        <p:nvSpPr>
          <p:cNvPr id="70" name="Rectangle 69"/>
          <p:cNvSpPr/>
          <p:nvPr/>
        </p:nvSpPr>
        <p:spPr>
          <a:xfrm>
            <a:off x="640080" y="6259068"/>
            <a:ext cx="10881360" cy="13716"/>
          </a:xfrm>
          <a:prstGeom prst="rect">
            <a:avLst/>
          </a:prstGeom>
          <a:solidFill>
            <a:srgbClr val="B7C4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0040"/>
            <a:ext cx="9144000" cy="274320"/>
          </a:xfrm>
          <a:prstGeom prst="rect">
            <a:avLst/>
          </a:prstGeom>
          <a:noFill/>
        </p:spPr>
        <p:txBody>
          <a:bodyPr wrap="square" lIns="0" rIns="0" tIns="0" bIns="0">
            <a:spAutoFit/>
          </a:bodyPr>
          <a:lstStyle/>
          <a:p>
            <a:r>
              <a:rPr sz="1100" b="1">
                <a:solidFill>
                  <a:srgbClr val="16785C"/>
                </a:solidFill>
                <a:latin typeface="Apple SD Gothic Neo"/>
              </a:rPr>
              <a:t>부록 A-2  설계 결정</a:t>
            </a:r>
          </a:p>
        </p:txBody>
      </p:sp>
      <p:sp>
        <p:nvSpPr>
          <p:cNvPr id="3" name="TextBox 2"/>
          <p:cNvSpPr txBox="1"/>
          <p:nvPr/>
        </p:nvSpPr>
        <p:spPr>
          <a:xfrm>
            <a:off x="594360" y="868680"/>
            <a:ext cx="10972800" cy="914400"/>
          </a:xfrm>
          <a:prstGeom prst="rect">
            <a:avLst/>
          </a:prstGeom>
          <a:noFill/>
        </p:spPr>
        <p:txBody>
          <a:bodyPr wrap="square" lIns="0" rIns="0" tIns="0" bIns="0">
            <a:spAutoFit/>
          </a:bodyPr>
          <a:lstStyle/>
          <a:p>
            <a:r>
              <a:rPr sz="3200" b="1">
                <a:solidFill>
                  <a:srgbClr val="19382F"/>
                </a:solidFill>
                <a:latin typeface="Apple SD Gothic Neo"/>
              </a:rPr>
              <a:t>설계 결정 15개 (ADR)</a:t>
            </a:r>
          </a:p>
        </p:txBody>
      </p:sp>
      <p:sp>
        <p:nvSpPr>
          <p:cNvPr id="4" name="TextBox 3"/>
          <p:cNvSpPr txBox="1"/>
          <p:nvPr/>
        </p:nvSpPr>
        <p:spPr>
          <a:xfrm>
            <a:off x="594360" y="6473952"/>
            <a:ext cx="7315200" cy="164592"/>
          </a:xfrm>
          <a:prstGeom prst="rect">
            <a:avLst/>
          </a:prstGeom>
          <a:noFill/>
        </p:spPr>
        <p:txBody>
          <a:bodyPr wrap="square" lIns="0" rIns="0" tIns="0" bIns="0">
            <a:spAutoFit/>
          </a:bodyPr>
          <a:lstStyle/>
          <a:p>
            <a:r>
              <a:rPr sz="900" b="0">
                <a:solidFill>
                  <a:srgbClr val="62746D"/>
                </a:solidFill>
                <a:latin typeface="Apple SD Gothic Neo"/>
              </a:rPr>
              <a:t>AI CAPSTONE  ·  김하연</a:t>
            </a:r>
          </a:p>
        </p:txBody>
      </p:sp>
      <p:sp>
        <p:nvSpPr>
          <p:cNvPr id="5" name="TextBox 4"/>
          <p:cNvSpPr txBox="1"/>
          <p:nvPr/>
        </p:nvSpPr>
        <p:spPr>
          <a:xfrm>
            <a:off x="10835640" y="6473952"/>
            <a:ext cx="777240" cy="164592"/>
          </a:xfrm>
          <a:prstGeom prst="rect">
            <a:avLst/>
          </a:prstGeom>
          <a:noFill/>
        </p:spPr>
        <p:txBody>
          <a:bodyPr wrap="square" lIns="0" rIns="0" tIns="0" bIns="0">
            <a:spAutoFit/>
          </a:bodyPr>
          <a:lstStyle/>
          <a:p>
            <a:r>
              <a:rPr sz="900" b="0">
                <a:solidFill>
                  <a:srgbClr val="62746D"/>
                </a:solidFill>
                <a:latin typeface="Apple SD Gothic Neo"/>
              </a:rPr>
              <a:t>A-2 / A-6</a:t>
            </a:r>
          </a:p>
        </p:txBody>
      </p:sp>
      <p:sp>
        <p:nvSpPr>
          <p:cNvPr id="6" name="Rectangle 5"/>
          <p:cNvSpPr/>
          <p:nvPr/>
        </p:nvSpPr>
        <p:spPr>
          <a:xfrm>
            <a:off x="640080" y="1645920"/>
            <a:ext cx="10881360" cy="292608"/>
          </a:xfrm>
          <a:prstGeom prst="rect">
            <a:avLst/>
          </a:prstGeom>
          <a:solidFill>
            <a:srgbClr val="193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19" y="1645920"/>
            <a:ext cx="502919" cy="292608"/>
          </a:xfrm>
          <a:prstGeom prst="rect">
            <a:avLst/>
          </a:prstGeom>
          <a:noFill/>
        </p:spPr>
        <p:txBody>
          <a:bodyPr wrap="square" lIns="0" rIns="0" tIns="0" bIns="0" anchor="ctr">
            <a:spAutoFit/>
          </a:bodyPr>
          <a:lstStyle/>
          <a:p>
            <a:r>
              <a:rPr sz="1150" b="1">
                <a:solidFill>
                  <a:srgbClr val="FFFFFF"/>
                </a:solidFill>
                <a:latin typeface="Apple SD Gothic Neo"/>
              </a:rPr>
              <a:t>번호</a:t>
            </a:r>
          </a:p>
        </p:txBody>
      </p:sp>
      <p:sp>
        <p:nvSpPr>
          <p:cNvPr id="8" name="TextBox 7"/>
          <p:cNvSpPr txBox="1"/>
          <p:nvPr/>
        </p:nvSpPr>
        <p:spPr>
          <a:xfrm>
            <a:off x="1371600" y="1645920"/>
            <a:ext cx="3886200" cy="292608"/>
          </a:xfrm>
          <a:prstGeom prst="rect">
            <a:avLst/>
          </a:prstGeom>
          <a:noFill/>
        </p:spPr>
        <p:txBody>
          <a:bodyPr wrap="square" lIns="0" rIns="0" tIns="0" bIns="0" anchor="ctr">
            <a:spAutoFit/>
          </a:bodyPr>
          <a:lstStyle/>
          <a:p>
            <a:r>
              <a:rPr sz="1150" b="1">
                <a:solidFill>
                  <a:srgbClr val="FFFFFF"/>
                </a:solidFill>
                <a:latin typeface="Apple SD Gothic Neo"/>
              </a:rPr>
              <a:t>결정</a:t>
            </a:r>
          </a:p>
        </p:txBody>
      </p:sp>
      <p:sp>
        <p:nvSpPr>
          <p:cNvPr id="9" name="TextBox 8"/>
          <p:cNvSpPr txBox="1"/>
          <p:nvPr/>
        </p:nvSpPr>
        <p:spPr>
          <a:xfrm>
            <a:off x="5394960" y="1645920"/>
            <a:ext cx="1234440" cy="292608"/>
          </a:xfrm>
          <a:prstGeom prst="rect">
            <a:avLst/>
          </a:prstGeom>
          <a:noFill/>
        </p:spPr>
        <p:txBody>
          <a:bodyPr wrap="square" lIns="0" rIns="0" tIns="0" bIns="0" anchor="ctr">
            <a:spAutoFit/>
          </a:bodyPr>
          <a:lstStyle/>
          <a:p>
            <a:r>
              <a:rPr sz="1150" b="1">
                <a:solidFill>
                  <a:srgbClr val="FFFFFF"/>
                </a:solidFill>
                <a:latin typeface="Apple SD Gothic Neo"/>
              </a:rPr>
              <a:t>구분</a:t>
            </a:r>
          </a:p>
        </p:txBody>
      </p:sp>
      <p:sp>
        <p:nvSpPr>
          <p:cNvPr id="10" name="TextBox 9"/>
          <p:cNvSpPr txBox="1"/>
          <p:nvPr/>
        </p:nvSpPr>
        <p:spPr>
          <a:xfrm>
            <a:off x="6766560" y="1645920"/>
            <a:ext cx="4709159" cy="292608"/>
          </a:xfrm>
          <a:prstGeom prst="rect">
            <a:avLst/>
          </a:prstGeom>
          <a:noFill/>
        </p:spPr>
        <p:txBody>
          <a:bodyPr wrap="square" lIns="0" rIns="0" tIns="0" bIns="0" anchor="ctr">
            <a:spAutoFit/>
          </a:bodyPr>
          <a:lstStyle/>
          <a:p>
            <a:r>
              <a:rPr sz="1150" b="1">
                <a:solidFill>
                  <a:srgbClr val="FFFFFF"/>
                </a:solidFill>
                <a:latin typeface="Apple SD Gothic Neo"/>
              </a:rPr>
              <a:t>비용 · 한계</a:t>
            </a:r>
          </a:p>
        </p:txBody>
      </p:sp>
      <p:sp>
        <p:nvSpPr>
          <p:cNvPr id="11" name="Rectangle 10"/>
          <p:cNvSpPr/>
          <p:nvPr/>
        </p:nvSpPr>
        <p:spPr>
          <a:xfrm>
            <a:off x="640080" y="1938528"/>
            <a:ext cx="10881360" cy="2880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19" y="1938528"/>
            <a:ext cx="502919" cy="288036"/>
          </a:xfrm>
          <a:prstGeom prst="rect">
            <a:avLst/>
          </a:prstGeom>
          <a:noFill/>
        </p:spPr>
        <p:txBody>
          <a:bodyPr wrap="square" lIns="0" rIns="0" tIns="0" bIns="0" anchor="ctr">
            <a:spAutoFit/>
          </a:bodyPr>
          <a:lstStyle/>
          <a:p>
            <a:r>
              <a:rPr sz="1150" b="1">
                <a:solidFill>
                  <a:srgbClr val="62746D"/>
                </a:solidFill>
                <a:latin typeface="Apple SD Gothic Neo"/>
              </a:rPr>
              <a:t>01</a:t>
            </a:r>
          </a:p>
        </p:txBody>
      </p:sp>
      <p:sp>
        <p:nvSpPr>
          <p:cNvPr id="13" name="TextBox 12"/>
          <p:cNvSpPr txBox="1"/>
          <p:nvPr/>
        </p:nvSpPr>
        <p:spPr>
          <a:xfrm>
            <a:off x="1371600" y="1938528"/>
            <a:ext cx="3886200" cy="288036"/>
          </a:xfrm>
          <a:prstGeom prst="rect">
            <a:avLst/>
          </a:prstGeom>
          <a:noFill/>
        </p:spPr>
        <p:txBody>
          <a:bodyPr wrap="square" lIns="0" rIns="0" tIns="0" bIns="0" anchor="ctr">
            <a:spAutoFit/>
          </a:bodyPr>
          <a:lstStyle/>
          <a:p>
            <a:r>
              <a:rPr sz="1150" b="0">
                <a:solidFill>
                  <a:srgbClr val="19382F"/>
                </a:solidFill>
                <a:latin typeface="Apple SD Gothic Neo"/>
              </a:rPr>
              <a:t>수치 검증을 규칙 기반으로 분리</a:t>
            </a:r>
          </a:p>
        </p:txBody>
      </p:sp>
      <p:sp>
        <p:nvSpPr>
          <p:cNvPr id="14" name="TextBox 13"/>
          <p:cNvSpPr txBox="1"/>
          <p:nvPr/>
        </p:nvSpPr>
        <p:spPr>
          <a:xfrm>
            <a:off x="5394960" y="1938528"/>
            <a:ext cx="1234440" cy="288036"/>
          </a:xfrm>
          <a:prstGeom prst="rect">
            <a:avLst/>
          </a:prstGeom>
          <a:noFill/>
        </p:spPr>
        <p:txBody>
          <a:bodyPr wrap="square" lIns="0" rIns="0" tIns="0" bIns="0" anchor="ctr">
            <a:spAutoFit/>
          </a:bodyPr>
          <a:lstStyle/>
          <a:p>
            <a:r>
              <a:rPr sz="1150" b="1">
                <a:solidFill>
                  <a:srgbClr val="16785C"/>
                </a:solidFill>
                <a:latin typeface="Apple SD Gothic Neo"/>
              </a:rPr>
              <a:t>직접</a:t>
            </a:r>
          </a:p>
        </p:txBody>
      </p:sp>
      <p:sp>
        <p:nvSpPr>
          <p:cNvPr id="15" name="TextBox 14"/>
          <p:cNvSpPr txBox="1"/>
          <p:nvPr/>
        </p:nvSpPr>
        <p:spPr>
          <a:xfrm>
            <a:off x="6766560" y="1938528"/>
            <a:ext cx="4709159" cy="288036"/>
          </a:xfrm>
          <a:prstGeom prst="rect">
            <a:avLst/>
          </a:prstGeom>
          <a:noFill/>
        </p:spPr>
        <p:txBody>
          <a:bodyPr wrap="square" lIns="0" rIns="0" tIns="0" bIns="0" anchor="ctr">
            <a:spAutoFit/>
          </a:bodyPr>
          <a:lstStyle/>
          <a:p>
            <a:r>
              <a:rPr sz="1150" b="0">
                <a:solidFill>
                  <a:srgbClr val="B6503E"/>
                </a:solidFill>
                <a:latin typeface="Apple SD Gothic Neo"/>
              </a:rPr>
              <a:t>오탐·누락 가능, 원인 설명은 검증 안 함</a:t>
            </a:r>
          </a:p>
        </p:txBody>
      </p:sp>
      <p:sp>
        <p:nvSpPr>
          <p:cNvPr id="16" name="Rectangle 15"/>
          <p:cNvSpPr/>
          <p:nvPr/>
        </p:nvSpPr>
        <p:spPr>
          <a:xfrm>
            <a:off x="640080" y="2226564"/>
            <a:ext cx="10881360" cy="2880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19" y="2226564"/>
            <a:ext cx="502919" cy="288036"/>
          </a:xfrm>
          <a:prstGeom prst="rect">
            <a:avLst/>
          </a:prstGeom>
          <a:noFill/>
        </p:spPr>
        <p:txBody>
          <a:bodyPr wrap="square" lIns="0" rIns="0" tIns="0" bIns="0" anchor="ctr">
            <a:spAutoFit/>
          </a:bodyPr>
          <a:lstStyle/>
          <a:p>
            <a:r>
              <a:rPr sz="1150" b="1">
                <a:solidFill>
                  <a:srgbClr val="62746D"/>
                </a:solidFill>
                <a:latin typeface="Apple SD Gothic Neo"/>
              </a:rPr>
              <a:t>02</a:t>
            </a:r>
          </a:p>
        </p:txBody>
      </p:sp>
      <p:sp>
        <p:nvSpPr>
          <p:cNvPr id="18" name="TextBox 17"/>
          <p:cNvSpPr txBox="1"/>
          <p:nvPr/>
        </p:nvSpPr>
        <p:spPr>
          <a:xfrm>
            <a:off x="1371600" y="2226564"/>
            <a:ext cx="3886200" cy="288036"/>
          </a:xfrm>
          <a:prstGeom prst="rect">
            <a:avLst/>
          </a:prstGeom>
          <a:noFill/>
        </p:spPr>
        <p:txBody>
          <a:bodyPr wrap="square" lIns="0" rIns="0" tIns="0" bIns="0" anchor="ctr">
            <a:spAutoFit/>
          </a:bodyPr>
          <a:lstStyle/>
          <a:p>
            <a:r>
              <a:rPr sz="1150" b="0">
                <a:solidFill>
                  <a:srgbClr val="19382F"/>
                </a:solidFill>
                <a:latin typeface="Apple SD Gothic Neo"/>
              </a:rPr>
              <a:t>로컬 임베딩 의미 검색</a:t>
            </a:r>
          </a:p>
        </p:txBody>
      </p:sp>
      <p:sp>
        <p:nvSpPr>
          <p:cNvPr id="19" name="TextBox 18"/>
          <p:cNvSpPr txBox="1"/>
          <p:nvPr/>
        </p:nvSpPr>
        <p:spPr>
          <a:xfrm>
            <a:off x="5394960" y="2226564"/>
            <a:ext cx="1234440" cy="288036"/>
          </a:xfrm>
          <a:prstGeom prst="rect">
            <a:avLst/>
          </a:prstGeom>
          <a:noFill/>
        </p:spPr>
        <p:txBody>
          <a:bodyPr wrap="square" lIns="0" rIns="0" tIns="0" bIns="0" anchor="ctr">
            <a:spAutoFit/>
          </a:bodyPr>
          <a:lstStyle/>
          <a:p>
            <a:r>
              <a:rPr sz="1150" b="1">
                <a:solidFill>
                  <a:srgbClr val="16785C"/>
                </a:solidFill>
                <a:latin typeface="Apple SD Gothic Neo"/>
              </a:rPr>
              <a:t>직접</a:t>
            </a:r>
          </a:p>
        </p:txBody>
      </p:sp>
      <p:sp>
        <p:nvSpPr>
          <p:cNvPr id="20" name="TextBox 19"/>
          <p:cNvSpPr txBox="1"/>
          <p:nvPr/>
        </p:nvSpPr>
        <p:spPr>
          <a:xfrm>
            <a:off x="6766560" y="2226564"/>
            <a:ext cx="4709159" cy="288036"/>
          </a:xfrm>
          <a:prstGeom prst="rect">
            <a:avLst/>
          </a:prstGeom>
          <a:noFill/>
        </p:spPr>
        <p:txBody>
          <a:bodyPr wrap="square" lIns="0" rIns="0" tIns="0" bIns="0" anchor="ctr">
            <a:spAutoFit/>
          </a:bodyPr>
          <a:lstStyle/>
          <a:p>
            <a:r>
              <a:rPr sz="1150" b="0">
                <a:solidFill>
                  <a:srgbClr val="B6503E"/>
                </a:solidFill>
                <a:latin typeface="Apple SD Gothic Neo"/>
              </a:rPr>
              <a:t>모델 639MB · Ollama 의존, 오선택 1건</a:t>
            </a:r>
          </a:p>
        </p:txBody>
      </p:sp>
      <p:sp>
        <p:nvSpPr>
          <p:cNvPr id="21" name="Rectangle 20"/>
          <p:cNvSpPr/>
          <p:nvPr/>
        </p:nvSpPr>
        <p:spPr>
          <a:xfrm>
            <a:off x="640080" y="2514600"/>
            <a:ext cx="10881360" cy="2880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19" y="2514600"/>
            <a:ext cx="502919" cy="288036"/>
          </a:xfrm>
          <a:prstGeom prst="rect">
            <a:avLst/>
          </a:prstGeom>
          <a:noFill/>
        </p:spPr>
        <p:txBody>
          <a:bodyPr wrap="square" lIns="0" rIns="0" tIns="0" bIns="0" anchor="ctr">
            <a:spAutoFit/>
          </a:bodyPr>
          <a:lstStyle/>
          <a:p>
            <a:r>
              <a:rPr sz="1150" b="1">
                <a:solidFill>
                  <a:srgbClr val="62746D"/>
                </a:solidFill>
                <a:latin typeface="Apple SD Gothic Neo"/>
              </a:rPr>
              <a:t>03</a:t>
            </a:r>
          </a:p>
        </p:txBody>
      </p:sp>
      <p:sp>
        <p:nvSpPr>
          <p:cNvPr id="23" name="TextBox 22"/>
          <p:cNvSpPr txBox="1"/>
          <p:nvPr/>
        </p:nvSpPr>
        <p:spPr>
          <a:xfrm>
            <a:off x="1371600" y="2514600"/>
            <a:ext cx="3886200" cy="288036"/>
          </a:xfrm>
          <a:prstGeom prst="rect">
            <a:avLst/>
          </a:prstGeom>
          <a:noFill/>
        </p:spPr>
        <p:txBody>
          <a:bodyPr wrap="square" lIns="0" rIns="0" tIns="0" bIns="0" anchor="ctr">
            <a:spAutoFit/>
          </a:bodyPr>
          <a:lstStyle/>
          <a:p>
            <a:r>
              <a:rPr sz="1150" b="0">
                <a:solidFill>
                  <a:srgbClr val="19382F"/>
                </a:solidFill>
                <a:latin typeface="Apple SD Gothic Neo"/>
              </a:rPr>
              <a:t>병렬 조사 실패 격리</a:t>
            </a:r>
          </a:p>
        </p:txBody>
      </p:sp>
      <p:sp>
        <p:nvSpPr>
          <p:cNvPr id="24" name="TextBox 23"/>
          <p:cNvSpPr txBox="1"/>
          <p:nvPr/>
        </p:nvSpPr>
        <p:spPr>
          <a:xfrm>
            <a:off x="5394960" y="2514600"/>
            <a:ext cx="1234440" cy="288036"/>
          </a:xfrm>
          <a:prstGeom prst="rect">
            <a:avLst/>
          </a:prstGeom>
          <a:noFill/>
        </p:spPr>
        <p:txBody>
          <a:bodyPr wrap="square" lIns="0" rIns="0" tIns="0" bIns="0" anchor="ctr">
            <a:spAutoFit/>
          </a:bodyPr>
          <a:lstStyle/>
          <a:p>
            <a:r>
              <a:rPr sz="1150" b="1">
                <a:solidFill>
                  <a:srgbClr val="16785C"/>
                </a:solidFill>
                <a:latin typeface="Apple SD Gothic Neo"/>
              </a:rPr>
              <a:t>직접</a:t>
            </a:r>
          </a:p>
        </p:txBody>
      </p:sp>
      <p:sp>
        <p:nvSpPr>
          <p:cNvPr id="25" name="TextBox 24"/>
          <p:cNvSpPr txBox="1"/>
          <p:nvPr/>
        </p:nvSpPr>
        <p:spPr>
          <a:xfrm>
            <a:off x="6766560" y="2514600"/>
            <a:ext cx="4709159" cy="288036"/>
          </a:xfrm>
          <a:prstGeom prst="rect">
            <a:avLst/>
          </a:prstGeom>
          <a:noFill/>
        </p:spPr>
        <p:txBody>
          <a:bodyPr wrap="square" lIns="0" rIns="0" tIns="0" bIns="0" anchor="ctr">
            <a:spAutoFit/>
          </a:bodyPr>
          <a:lstStyle/>
          <a:p>
            <a:r>
              <a:rPr sz="1150" b="0">
                <a:solidFill>
                  <a:srgbClr val="B6503E"/>
                </a:solidFill>
                <a:latin typeface="Apple SD Gothic Neo"/>
              </a:rPr>
              <a:t>부분 결과가 완전한 진단처럼 보일 위험</a:t>
            </a:r>
          </a:p>
        </p:txBody>
      </p:sp>
      <p:sp>
        <p:nvSpPr>
          <p:cNvPr id="26" name="Rectangle 25"/>
          <p:cNvSpPr/>
          <p:nvPr/>
        </p:nvSpPr>
        <p:spPr>
          <a:xfrm>
            <a:off x="640080" y="2802636"/>
            <a:ext cx="10881360" cy="2880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19" y="2802636"/>
            <a:ext cx="502919" cy="288036"/>
          </a:xfrm>
          <a:prstGeom prst="rect">
            <a:avLst/>
          </a:prstGeom>
          <a:noFill/>
        </p:spPr>
        <p:txBody>
          <a:bodyPr wrap="square" lIns="0" rIns="0" tIns="0" bIns="0" anchor="ctr">
            <a:spAutoFit/>
          </a:bodyPr>
          <a:lstStyle/>
          <a:p>
            <a:r>
              <a:rPr sz="1150" b="1">
                <a:solidFill>
                  <a:srgbClr val="62746D"/>
                </a:solidFill>
                <a:latin typeface="Apple SD Gothic Neo"/>
              </a:rPr>
              <a:t>04</a:t>
            </a:r>
          </a:p>
        </p:txBody>
      </p:sp>
      <p:sp>
        <p:nvSpPr>
          <p:cNvPr id="28" name="TextBox 27"/>
          <p:cNvSpPr txBox="1"/>
          <p:nvPr/>
        </p:nvSpPr>
        <p:spPr>
          <a:xfrm>
            <a:off x="1371600" y="2802636"/>
            <a:ext cx="3886200" cy="288036"/>
          </a:xfrm>
          <a:prstGeom prst="rect">
            <a:avLst/>
          </a:prstGeom>
          <a:noFill/>
        </p:spPr>
        <p:txBody>
          <a:bodyPr wrap="square" lIns="0" rIns="0" tIns="0" bIns="0" anchor="ctr">
            <a:spAutoFit/>
          </a:bodyPr>
          <a:lstStyle/>
          <a:p>
            <a:r>
              <a:rPr sz="1150" b="0">
                <a:solidFill>
                  <a:srgbClr val="19382F"/>
                </a:solidFill>
                <a:latin typeface="Apple SD Gothic Neo"/>
              </a:rPr>
              <a:t>초안 비공개 · 근거 표시 화면</a:t>
            </a:r>
          </a:p>
        </p:txBody>
      </p:sp>
      <p:sp>
        <p:nvSpPr>
          <p:cNvPr id="29" name="TextBox 28"/>
          <p:cNvSpPr txBox="1"/>
          <p:nvPr/>
        </p:nvSpPr>
        <p:spPr>
          <a:xfrm>
            <a:off x="5394960" y="2802636"/>
            <a:ext cx="1234440" cy="288036"/>
          </a:xfrm>
          <a:prstGeom prst="rect">
            <a:avLst/>
          </a:prstGeom>
          <a:noFill/>
        </p:spPr>
        <p:txBody>
          <a:bodyPr wrap="square" lIns="0" rIns="0" tIns="0" bIns="0" anchor="ctr">
            <a:spAutoFit/>
          </a:bodyPr>
          <a:lstStyle/>
          <a:p>
            <a:r>
              <a:rPr sz="1150" b="1">
                <a:solidFill>
                  <a:srgbClr val="16785C"/>
                </a:solidFill>
                <a:latin typeface="Apple SD Gothic Neo"/>
              </a:rPr>
              <a:t>직접</a:t>
            </a:r>
          </a:p>
        </p:txBody>
      </p:sp>
      <p:sp>
        <p:nvSpPr>
          <p:cNvPr id="30" name="TextBox 29"/>
          <p:cNvSpPr txBox="1"/>
          <p:nvPr/>
        </p:nvSpPr>
        <p:spPr>
          <a:xfrm>
            <a:off x="6766560" y="2802636"/>
            <a:ext cx="4709159" cy="288036"/>
          </a:xfrm>
          <a:prstGeom prst="rect">
            <a:avLst/>
          </a:prstGeom>
          <a:noFill/>
        </p:spPr>
        <p:txBody>
          <a:bodyPr wrap="square" lIns="0" rIns="0" tIns="0" bIns="0" anchor="ctr">
            <a:spAutoFit/>
          </a:bodyPr>
          <a:lstStyle/>
          <a:p>
            <a:r>
              <a:rPr sz="1150" b="0">
                <a:solidFill>
                  <a:srgbClr val="B6503E"/>
                </a:solidFill>
                <a:latin typeface="Apple SD Gothic Neo"/>
              </a:rPr>
              <a:t>최종 답변까지 대기</a:t>
            </a:r>
          </a:p>
        </p:txBody>
      </p:sp>
      <p:sp>
        <p:nvSpPr>
          <p:cNvPr id="31" name="Rectangle 30"/>
          <p:cNvSpPr/>
          <p:nvPr/>
        </p:nvSpPr>
        <p:spPr>
          <a:xfrm>
            <a:off x="640080" y="3090672"/>
            <a:ext cx="10881360" cy="2880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1519" y="3090672"/>
            <a:ext cx="502919" cy="288036"/>
          </a:xfrm>
          <a:prstGeom prst="rect">
            <a:avLst/>
          </a:prstGeom>
          <a:noFill/>
        </p:spPr>
        <p:txBody>
          <a:bodyPr wrap="square" lIns="0" rIns="0" tIns="0" bIns="0" anchor="ctr">
            <a:spAutoFit/>
          </a:bodyPr>
          <a:lstStyle/>
          <a:p>
            <a:r>
              <a:rPr sz="1150" b="1">
                <a:solidFill>
                  <a:srgbClr val="62746D"/>
                </a:solidFill>
                <a:latin typeface="Apple SD Gothic Neo"/>
              </a:rPr>
              <a:t>05</a:t>
            </a:r>
          </a:p>
        </p:txBody>
      </p:sp>
      <p:sp>
        <p:nvSpPr>
          <p:cNvPr id="33" name="TextBox 32"/>
          <p:cNvSpPr txBox="1"/>
          <p:nvPr/>
        </p:nvSpPr>
        <p:spPr>
          <a:xfrm>
            <a:off x="1371600" y="3090672"/>
            <a:ext cx="3886200" cy="288036"/>
          </a:xfrm>
          <a:prstGeom prst="rect">
            <a:avLst/>
          </a:prstGeom>
          <a:noFill/>
        </p:spPr>
        <p:txBody>
          <a:bodyPr wrap="square" lIns="0" rIns="0" tIns="0" bIns="0" anchor="ctr">
            <a:spAutoFit/>
          </a:bodyPr>
          <a:lstStyle/>
          <a:p>
            <a:r>
              <a:rPr sz="1150" b="0">
                <a:solidFill>
                  <a:srgbClr val="19382F"/>
                </a:solidFill>
                <a:latin typeface="Apple SD Gothic Neo"/>
              </a:rPr>
              <a:t>LangGraph 상태 그래프</a:t>
            </a:r>
          </a:p>
        </p:txBody>
      </p:sp>
      <p:sp>
        <p:nvSpPr>
          <p:cNvPr id="34" name="TextBox 33"/>
          <p:cNvSpPr txBox="1"/>
          <p:nvPr/>
        </p:nvSpPr>
        <p:spPr>
          <a:xfrm>
            <a:off x="5394960" y="3090672"/>
            <a:ext cx="1234440" cy="288036"/>
          </a:xfrm>
          <a:prstGeom prst="rect">
            <a:avLst/>
          </a:prstGeom>
          <a:noFill/>
        </p:spPr>
        <p:txBody>
          <a:bodyPr wrap="square" lIns="0" rIns="0" tIns="0" bIns="0" anchor="ctr">
            <a:spAutoFit/>
          </a:bodyPr>
          <a:lstStyle/>
          <a:p>
            <a:r>
              <a:rPr sz="1150" b="1">
                <a:solidFill>
                  <a:srgbClr val="62746D"/>
                </a:solidFill>
                <a:latin typeface="Apple SD Gothic Neo"/>
              </a:rPr>
              <a:t>제공</a:t>
            </a:r>
          </a:p>
        </p:txBody>
      </p:sp>
      <p:sp>
        <p:nvSpPr>
          <p:cNvPr id="35" name="TextBox 34"/>
          <p:cNvSpPr txBox="1"/>
          <p:nvPr/>
        </p:nvSpPr>
        <p:spPr>
          <a:xfrm>
            <a:off x="6766560" y="3090672"/>
            <a:ext cx="4709159" cy="288036"/>
          </a:xfrm>
          <a:prstGeom prst="rect">
            <a:avLst/>
          </a:prstGeom>
          <a:noFill/>
        </p:spPr>
        <p:txBody>
          <a:bodyPr wrap="square" lIns="0" rIns="0" tIns="0" bIns="0" anchor="ctr">
            <a:spAutoFit/>
          </a:bodyPr>
          <a:lstStyle/>
          <a:p>
            <a:r>
              <a:rPr sz="1150" b="0">
                <a:solidFill>
                  <a:srgbClr val="B6503E"/>
                </a:solidFill>
                <a:latin typeface="Apple SD Gothic Neo"/>
              </a:rPr>
              <a:t>분기가 코드 곳곳에 분산</a:t>
            </a:r>
          </a:p>
        </p:txBody>
      </p:sp>
      <p:sp>
        <p:nvSpPr>
          <p:cNvPr id="36" name="Rectangle 35"/>
          <p:cNvSpPr/>
          <p:nvPr/>
        </p:nvSpPr>
        <p:spPr>
          <a:xfrm>
            <a:off x="640080" y="3378708"/>
            <a:ext cx="10881360" cy="2880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19" y="3378708"/>
            <a:ext cx="502919" cy="288036"/>
          </a:xfrm>
          <a:prstGeom prst="rect">
            <a:avLst/>
          </a:prstGeom>
          <a:noFill/>
        </p:spPr>
        <p:txBody>
          <a:bodyPr wrap="square" lIns="0" rIns="0" tIns="0" bIns="0" anchor="ctr">
            <a:spAutoFit/>
          </a:bodyPr>
          <a:lstStyle/>
          <a:p>
            <a:r>
              <a:rPr sz="1150" b="1">
                <a:solidFill>
                  <a:srgbClr val="62746D"/>
                </a:solidFill>
                <a:latin typeface="Apple SD Gothic Neo"/>
              </a:rPr>
              <a:t>06</a:t>
            </a:r>
          </a:p>
        </p:txBody>
      </p:sp>
      <p:sp>
        <p:nvSpPr>
          <p:cNvPr id="38" name="TextBox 37"/>
          <p:cNvSpPr txBox="1"/>
          <p:nvPr/>
        </p:nvSpPr>
        <p:spPr>
          <a:xfrm>
            <a:off x="1371600" y="3378708"/>
            <a:ext cx="3886200" cy="288036"/>
          </a:xfrm>
          <a:prstGeom prst="rect">
            <a:avLst/>
          </a:prstGeom>
          <a:noFill/>
        </p:spPr>
        <p:txBody>
          <a:bodyPr wrap="square" lIns="0" rIns="0" tIns="0" bIns="0" anchor="ctr">
            <a:spAutoFit/>
          </a:bodyPr>
          <a:lstStyle/>
          <a:p>
            <a:r>
              <a:rPr sz="1150" b="0">
                <a:solidFill>
                  <a:srgbClr val="19382F"/>
                </a:solidFill>
                <a:latin typeface="Apple SD Gothic Neo"/>
              </a:rPr>
              <a:t>SSE 단방향 진행 스트리밍</a:t>
            </a:r>
          </a:p>
        </p:txBody>
      </p:sp>
      <p:sp>
        <p:nvSpPr>
          <p:cNvPr id="39" name="TextBox 38"/>
          <p:cNvSpPr txBox="1"/>
          <p:nvPr/>
        </p:nvSpPr>
        <p:spPr>
          <a:xfrm>
            <a:off x="5394960" y="3378708"/>
            <a:ext cx="1234440" cy="288036"/>
          </a:xfrm>
          <a:prstGeom prst="rect">
            <a:avLst/>
          </a:prstGeom>
          <a:noFill/>
        </p:spPr>
        <p:txBody>
          <a:bodyPr wrap="square" lIns="0" rIns="0" tIns="0" bIns="0" anchor="ctr">
            <a:spAutoFit/>
          </a:bodyPr>
          <a:lstStyle/>
          <a:p>
            <a:r>
              <a:rPr sz="1150" b="1">
                <a:solidFill>
                  <a:srgbClr val="62746D"/>
                </a:solidFill>
                <a:latin typeface="Apple SD Gothic Neo"/>
              </a:rPr>
              <a:t>제공</a:t>
            </a:r>
          </a:p>
        </p:txBody>
      </p:sp>
      <p:sp>
        <p:nvSpPr>
          <p:cNvPr id="40" name="TextBox 39"/>
          <p:cNvSpPr txBox="1"/>
          <p:nvPr/>
        </p:nvSpPr>
        <p:spPr>
          <a:xfrm>
            <a:off x="6766560" y="3378708"/>
            <a:ext cx="4709159" cy="288036"/>
          </a:xfrm>
          <a:prstGeom prst="rect">
            <a:avLst/>
          </a:prstGeom>
          <a:noFill/>
        </p:spPr>
        <p:txBody>
          <a:bodyPr wrap="square" lIns="0" rIns="0" tIns="0" bIns="0" anchor="ctr">
            <a:spAutoFit/>
          </a:bodyPr>
          <a:lstStyle/>
          <a:p>
            <a:r>
              <a:rPr sz="1150" b="0">
                <a:solidFill>
                  <a:srgbClr val="B6503E"/>
                </a:solidFill>
                <a:latin typeface="Apple SD Gothic Neo"/>
              </a:rPr>
              <a:t>답변 본문은 완료 후 한 번에 출력</a:t>
            </a:r>
          </a:p>
        </p:txBody>
      </p:sp>
      <p:sp>
        <p:nvSpPr>
          <p:cNvPr id="41" name="Rectangle 40"/>
          <p:cNvSpPr/>
          <p:nvPr/>
        </p:nvSpPr>
        <p:spPr>
          <a:xfrm>
            <a:off x="640080" y="3666744"/>
            <a:ext cx="10881360" cy="2880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1519" y="3666744"/>
            <a:ext cx="502919" cy="288036"/>
          </a:xfrm>
          <a:prstGeom prst="rect">
            <a:avLst/>
          </a:prstGeom>
          <a:noFill/>
        </p:spPr>
        <p:txBody>
          <a:bodyPr wrap="square" lIns="0" rIns="0" tIns="0" bIns="0" anchor="ctr">
            <a:spAutoFit/>
          </a:bodyPr>
          <a:lstStyle/>
          <a:p>
            <a:r>
              <a:rPr sz="1150" b="1">
                <a:solidFill>
                  <a:srgbClr val="62746D"/>
                </a:solidFill>
                <a:latin typeface="Apple SD Gothic Neo"/>
              </a:rPr>
              <a:t>07</a:t>
            </a:r>
          </a:p>
        </p:txBody>
      </p:sp>
      <p:sp>
        <p:nvSpPr>
          <p:cNvPr id="43" name="TextBox 42"/>
          <p:cNvSpPr txBox="1"/>
          <p:nvPr/>
        </p:nvSpPr>
        <p:spPr>
          <a:xfrm>
            <a:off x="1371600" y="3666744"/>
            <a:ext cx="3886200" cy="288036"/>
          </a:xfrm>
          <a:prstGeom prst="rect">
            <a:avLst/>
          </a:prstGeom>
          <a:noFill/>
        </p:spPr>
        <p:txBody>
          <a:bodyPr wrap="square" lIns="0" rIns="0" tIns="0" bIns="0" anchor="ctr">
            <a:spAutoFit/>
          </a:bodyPr>
          <a:lstStyle/>
          <a:p>
            <a:r>
              <a:rPr sz="1150" b="0">
                <a:solidFill>
                  <a:srgbClr val="19382F"/>
                </a:solidFill>
                <a:latin typeface="Apple SD Gothic Neo"/>
              </a:rPr>
              <a:t>세션을 SQLite에 저장</a:t>
            </a:r>
          </a:p>
        </p:txBody>
      </p:sp>
      <p:sp>
        <p:nvSpPr>
          <p:cNvPr id="44" name="TextBox 43"/>
          <p:cNvSpPr txBox="1"/>
          <p:nvPr/>
        </p:nvSpPr>
        <p:spPr>
          <a:xfrm>
            <a:off x="5394960" y="3666744"/>
            <a:ext cx="1234440" cy="288036"/>
          </a:xfrm>
          <a:prstGeom prst="rect">
            <a:avLst/>
          </a:prstGeom>
          <a:noFill/>
        </p:spPr>
        <p:txBody>
          <a:bodyPr wrap="square" lIns="0" rIns="0" tIns="0" bIns="0" anchor="ctr">
            <a:spAutoFit/>
          </a:bodyPr>
          <a:lstStyle/>
          <a:p>
            <a:r>
              <a:rPr sz="1150" b="1">
                <a:solidFill>
                  <a:srgbClr val="62746D"/>
                </a:solidFill>
                <a:latin typeface="Apple SD Gothic Neo"/>
              </a:rPr>
              <a:t>제공</a:t>
            </a:r>
          </a:p>
        </p:txBody>
      </p:sp>
      <p:sp>
        <p:nvSpPr>
          <p:cNvPr id="45" name="TextBox 44"/>
          <p:cNvSpPr txBox="1"/>
          <p:nvPr/>
        </p:nvSpPr>
        <p:spPr>
          <a:xfrm>
            <a:off x="6766560" y="3666744"/>
            <a:ext cx="4709159" cy="288036"/>
          </a:xfrm>
          <a:prstGeom prst="rect">
            <a:avLst/>
          </a:prstGeom>
          <a:noFill/>
        </p:spPr>
        <p:txBody>
          <a:bodyPr wrap="square" lIns="0" rIns="0" tIns="0" bIns="0" anchor="ctr">
            <a:spAutoFit/>
          </a:bodyPr>
          <a:lstStyle/>
          <a:p>
            <a:r>
              <a:rPr sz="1150" b="0">
                <a:solidFill>
                  <a:srgbClr val="B6503E"/>
                </a:solidFill>
                <a:latin typeface="Apple SD Gothic Neo"/>
              </a:rPr>
              <a:t>다중 서버 확장에는 부적합</a:t>
            </a:r>
          </a:p>
        </p:txBody>
      </p:sp>
      <p:sp>
        <p:nvSpPr>
          <p:cNvPr id="46" name="Rectangle 45"/>
          <p:cNvSpPr/>
          <p:nvPr/>
        </p:nvSpPr>
        <p:spPr>
          <a:xfrm>
            <a:off x="640080" y="3954780"/>
            <a:ext cx="10881360" cy="2880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31519" y="3954780"/>
            <a:ext cx="502919" cy="288036"/>
          </a:xfrm>
          <a:prstGeom prst="rect">
            <a:avLst/>
          </a:prstGeom>
          <a:noFill/>
        </p:spPr>
        <p:txBody>
          <a:bodyPr wrap="square" lIns="0" rIns="0" tIns="0" bIns="0" anchor="ctr">
            <a:spAutoFit/>
          </a:bodyPr>
          <a:lstStyle/>
          <a:p>
            <a:r>
              <a:rPr sz="1150" b="1">
                <a:solidFill>
                  <a:srgbClr val="62746D"/>
                </a:solidFill>
                <a:latin typeface="Apple SD Gothic Neo"/>
              </a:rPr>
              <a:t>08</a:t>
            </a:r>
          </a:p>
        </p:txBody>
      </p:sp>
      <p:sp>
        <p:nvSpPr>
          <p:cNvPr id="48" name="TextBox 47"/>
          <p:cNvSpPr txBox="1"/>
          <p:nvPr/>
        </p:nvSpPr>
        <p:spPr>
          <a:xfrm>
            <a:off x="1371600" y="3954780"/>
            <a:ext cx="3886200" cy="288036"/>
          </a:xfrm>
          <a:prstGeom prst="rect">
            <a:avLst/>
          </a:prstGeom>
          <a:noFill/>
        </p:spPr>
        <p:txBody>
          <a:bodyPr wrap="square" lIns="0" rIns="0" tIns="0" bIns="0" anchor="ctr">
            <a:spAutoFit/>
          </a:bodyPr>
          <a:lstStyle/>
          <a:p>
            <a:r>
              <a:rPr sz="1150" b="0">
                <a:solidFill>
                  <a:srgbClr val="19382F"/>
                </a:solidFill>
                <a:latin typeface="Apple SD Gothic Neo"/>
              </a:rPr>
              <a:t>모델을 fast/quality로 분리</a:t>
            </a:r>
          </a:p>
        </p:txBody>
      </p:sp>
      <p:sp>
        <p:nvSpPr>
          <p:cNvPr id="49" name="TextBox 48"/>
          <p:cNvSpPr txBox="1"/>
          <p:nvPr/>
        </p:nvSpPr>
        <p:spPr>
          <a:xfrm>
            <a:off x="5394960" y="3954780"/>
            <a:ext cx="1234440" cy="288036"/>
          </a:xfrm>
          <a:prstGeom prst="rect">
            <a:avLst/>
          </a:prstGeom>
          <a:noFill/>
        </p:spPr>
        <p:txBody>
          <a:bodyPr wrap="square" lIns="0" rIns="0" tIns="0" bIns="0" anchor="ctr">
            <a:spAutoFit/>
          </a:bodyPr>
          <a:lstStyle/>
          <a:p>
            <a:r>
              <a:rPr sz="1150" b="1">
                <a:solidFill>
                  <a:srgbClr val="62746D"/>
                </a:solidFill>
                <a:latin typeface="Apple SD Gothic Neo"/>
              </a:rPr>
              <a:t>제공 · 측정</a:t>
            </a:r>
          </a:p>
        </p:txBody>
      </p:sp>
      <p:sp>
        <p:nvSpPr>
          <p:cNvPr id="50" name="TextBox 49"/>
          <p:cNvSpPr txBox="1"/>
          <p:nvPr/>
        </p:nvSpPr>
        <p:spPr>
          <a:xfrm>
            <a:off x="6766560" y="3954780"/>
            <a:ext cx="4709159" cy="288036"/>
          </a:xfrm>
          <a:prstGeom prst="rect">
            <a:avLst/>
          </a:prstGeom>
          <a:noFill/>
        </p:spPr>
        <p:txBody>
          <a:bodyPr wrap="square" lIns="0" rIns="0" tIns="0" bIns="0" anchor="ctr">
            <a:spAutoFit/>
          </a:bodyPr>
          <a:lstStyle/>
          <a:p>
            <a:r>
              <a:rPr sz="1150" b="0">
                <a:solidFill>
                  <a:srgbClr val="B6503E"/>
                </a:solidFill>
                <a:latin typeface="Apple SD Gothic Neo"/>
              </a:rPr>
              <a:t>글자 수 기반 추정, 단가는 가정값</a:t>
            </a:r>
          </a:p>
        </p:txBody>
      </p:sp>
      <p:sp>
        <p:nvSpPr>
          <p:cNvPr id="51" name="Rectangle 50"/>
          <p:cNvSpPr/>
          <p:nvPr/>
        </p:nvSpPr>
        <p:spPr>
          <a:xfrm>
            <a:off x="640080" y="4242816"/>
            <a:ext cx="10881360" cy="2880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31519" y="4242816"/>
            <a:ext cx="502919" cy="288036"/>
          </a:xfrm>
          <a:prstGeom prst="rect">
            <a:avLst/>
          </a:prstGeom>
          <a:noFill/>
        </p:spPr>
        <p:txBody>
          <a:bodyPr wrap="square" lIns="0" rIns="0" tIns="0" bIns="0" anchor="ctr">
            <a:spAutoFit/>
          </a:bodyPr>
          <a:lstStyle/>
          <a:p>
            <a:r>
              <a:rPr sz="1150" b="1">
                <a:solidFill>
                  <a:srgbClr val="62746D"/>
                </a:solidFill>
                <a:latin typeface="Apple SD Gothic Neo"/>
              </a:rPr>
              <a:t>09</a:t>
            </a:r>
          </a:p>
        </p:txBody>
      </p:sp>
      <p:sp>
        <p:nvSpPr>
          <p:cNvPr id="53" name="TextBox 52"/>
          <p:cNvSpPr txBox="1"/>
          <p:nvPr/>
        </p:nvSpPr>
        <p:spPr>
          <a:xfrm>
            <a:off x="1371600" y="4242816"/>
            <a:ext cx="3886200" cy="288036"/>
          </a:xfrm>
          <a:prstGeom prst="rect">
            <a:avLst/>
          </a:prstGeom>
          <a:noFill/>
        </p:spPr>
        <p:txBody>
          <a:bodyPr wrap="square" lIns="0" rIns="0" tIns="0" bIns="0" anchor="ctr">
            <a:spAutoFit/>
          </a:bodyPr>
          <a:lstStyle/>
          <a:p>
            <a:r>
              <a:rPr sz="1150" b="0">
                <a:solidFill>
                  <a:srgbClr val="19382F"/>
                </a:solidFill>
                <a:latin typeface="Apple SD Gothic Neo"/>
              </a:rPr>
              <a:t>조사를 동시 실행</a:t>
            </a:r>
          </a:p>
        </p:txBody>
      </p:sp>
      <p:sp>
        <p:nvSpPr>
          <p:cNvPr id="54" name="TextBox 53"/>
          <p:cNvSpPr txBox="1"/>
          <p:nvPr/>
        </p:nvSpPr>
        <p:spPr>
          <a:xfrm>
            <a:off x="5394960" y="4242816"/>
            <a:ext cx="1234440" cy="288036"/>
          </a:xfrm>
          <a:prstGeom prst="rect">
            <a:avLst/>
          </a:prstGeom>
          <a:noFill/>
        </p:spPr>
        <p:txBody>
          <a:bodyPr wrap="square" lIns="0" rIns="0" tIns="0" bIns="0" anchor="ctr">
            <a:spAutoFit/>
          </a:bodyPr>
          <a:lstStyle/>
          <a:p>
            <a:r>
              <a:rPr sz="1150" b="1">
                <a:solidFill>
                  <a:srgbClr val="62746D"/>
                </a:solidFill>
                <a:latin typeface="Apple SD Gothic Neo"/>
              </a:rPr>
              <a:t>제공 · 측정</a:t>
            </a:r>
          </a:p>
        </p:txBody>
      </p:sp>
      <p:sp>
        <p:nvSpPr>
          <p:cNvPr id="55" name="TextBox 54"/>
          <p:cNvSpPr txBox="1"/>
          <p:nvPr/>
        </p:nvSpPr>
        <p:spPr>
          <a:xfrm>
            <a:off x="6766560" y="4242816"/>
            <a:ext cx="4709159" cy="288036"/>
          </a:xfrm>
          <a:prstGeom prst="rect">
            <a:avLst/>
          </a:prstGeom>
          <a:noFill/>
        </p:spPr>
        <p:txBody>
          <a:bodyPr wrap="square" lIns="0" rIns="0" tIns="0" bIns="0" anchor="ctr">
            <a:spAutoFit/>
          </a:bodyPr>
          <a:lstStyle/>
          <a:p>
            <a:r>
              <a:rPr sz="1150" b="0">
                <a:solidFill>
                  <a:srgbClr val="B6503E"/>
                </a:solidFill>
                <a:latin typeface="Apple SD Gothic Neo"/>
              </a:rPr>
              <a:t>0.35초 고정 지연은 모의 값</a:t>
            </a:r>
          </a:p>
        </p:txBody>
      </p:sp>
      <p:sp>
        <p:nvSpPr>
          <p:cNvPr id="56" name="Rectangle 55"/>
          <p:cNvSpPr/>
          <p:nvPr/>
        </p:nvSpPr>
        <p:spPr>
          <a:xfrm>
            <a:off x="640080" y="4530852"/>
            <a:ext cx="10881360" cy="2880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31519" y="4530852"/>
            <a:ext cx="502919" cy="288036"/>
          </a:xfrm>
          <a:prstGeom prst="rect">
            <a:avLst/>
          </a:prstGeom>
          <a:noFill/>
        </p:spPr>
        <p:txBody>
          <a:bodyPr wrap="square" lIns="0" rIns="0" tIns="0" bIns="0" anchor="ctr">
            <a:spAutoFit/>
          </a:bodyPr>
          <a:lstStyle/>
          <a:p>
            <a:r>
              <a:rPr sz="1150" b="1">
                <a:solidFill>
                  <a:srgbClr val="62746D"/>
                </a:solidFill>
                <a:latin typeface="Apple SD Gothic Neo"/>
              </a:rPr>
              <a:t>10</a:t>
            </a:r>
          </a:p>
        </p:txBody>
      </p:sp>
      <p:sp>
        <p:nvSpPr>
          <p:cNvPr id="58" name="TextBox 57"/>
          <p:cNvSpPr txBox="1"/>
          <p:nvPr/>
        </p:nvSpPr>
        <p:spPr>
          <a:xfrm>
            <a:off x="1371600" y="4530852"/>
            <a:ext cx="3886200" cy="288036"/>
          </a:xfrm>
          <a:prstGeom prst="rect">
            <a:avLst/>
          </a:prstGeom>
          <a:noFill/>
        </p:spPr>
        <p:txBody>
          <a:bodyPr wrap="square" lIns="0" rIns="0" tIns="0" bIns="0" anchor="ctr">
            <a:spAutoFit/>
          </a:bodyPr>
          <a:lstStyle/>
          <a:p>
            <a:r>
              <a:rPr sz="1150" b="0">
                <a:solidFill>
                  <a:srgbClr val="19382F"/>
                </a:solidFill>
                <a:latin typeface="Apple SD Gothic Neo"/>
              </a:rPr>
              <a:t>조사 서브에이전트 분리</a:t>
            </a:r>
          </a:p>
        </p:txBody>
      </p:sp>
      <p:sp>
        <p:nvSpPr>
          <p:cNvPr id="59" name="TextBox 58"/>
          <p:cNvSpPr txBox="1"/>
          <p:nvPr/>
        </p:nvSpPr>
        <p:spPr>
          <a:xfrm>
            <a:off x="5394960" y="4530852"/>
            <a:ext cx="1234440" cy="288036"/>
          </a:xfrm>
          <a:prstGeom prst="rect">
            <a:avLst/>
          </a:prstGeom>
          <a:noFill/>
        </p:spPr>
        <p:txBody>
          <a:bodyPr wrap="square" lIns="0" rIns="0" tIns="0" bIns="0" anchor="ctr">
            <a:spAutoFit/>
          </a:bodyPr>
          <a:lstStyle/>
          <a:p>
            <a:r>
              <a:rPr sz="1150" b="1">
                <a:solidFill>
                  <a:srgbClr val="16785C"/>
                </a:solidFill>
                <a:latin typeface="Apple SD Gothic Neo"/>
              </a:rPr>
              <a:t>직접</a:t>
            </a:r>
          </a:p>
        </p:txBody>
      </p:sp>
      <p:sp>
        <p:nvSpPr>
          <p:cNvPr id="60" name="TextBox 59"/>
          <p:cNvSpPr txBox="1"/>
          <p:nvPr/>
        </p:nvSpPr>
        <p:spPr>
          <a:xfrm>
            <a:off x="6766560" y="4530852"/>
            <a:ext cx="4709159" cy="288036"/>
          </a:xfrm>
          <a:prstGeom prst="rect">
            <a:avLst/>
          </a:prstGeom>
          <a:noFill/>
        </p:spPr>
        <p:txBody>
          <a:bodyPr wrap="square" lIns="0" rIns="0" tIns="0" bIns="0" anchor="ctr">
            <a:spAutoFit/>
          </a:bodyPr>
          <a:lstStyle/>
          <a:p>
            <a:r>
              <a:rPr sz="1150" b="0">
                <a:solidFill>
                  <a:srgbClr val="B6503E"/>
                </a:solidFill>
                <a:latin typeface="Apple SD Gothic Neo"/>
              </a:rPr>
              <a:t>속도 이득 없음 · LLM 판단 아님</a:t>
            </a:r>
          </a:p>
        </p:txBody>
      </p:sp>
      <p:sp>
        <p:nvSpPr>
          <p:cNvPr id="61" name="Rectangle 60"/>
          <p:cNvSpPr/>
          <p:nvPr/>
        </p:nvSpPr>
        <p:spPr>
          <a:xfrm>
            <a:off x="640080" y="4818888"/>
            <a:ext cx="10881360" cy="2880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31519" y="4818888"/>
            <a:ext cx="502919" cy="288036"/>
          </a:xfrm>
          <a:prstGeom prst="rect">
            <a:avLst/>
          </a:prstGeom>
          <a:noFill/>
        </p:spPr>
        <p:txBody>
          <a:bodyPr wrap="square" lIns="0" rIns="0" tIns="0" bIns="0" anchor="ctr">
            <a:spAutoFit/>
          </a:bodyPr>
          <a:lstStyle/>
          <a:p>
            <a:r>
              <a:rPr sz="1150" b="1">
                <a:solidFill>
                  <a:srgbClr val="62746D"/>
                </a:solidFill>
                <a:latin typeface="Apple SD Gothic Neo"/>
              </a:rPr>
              <a:t>11</a:t>
            </a:r>
          </a:p>
        </p:txBody>
      </p:sp>
      <p:sp>
        <p:nvSpPr>
          <p:cNvPr id="63" name="TextBox 62"/>
          <p:cNvSpPr txBox="1"/>
          <p:nvPr/>
        </p:nvSpPr>
        <p:spPr>
          <a:xfrm>
            <a:off x="1371600" y="4818888"/>
            <a:ext cx="3886200" cy="288036"/>
          </a:xfrm>
          <a:prstGeom prst="rect">
            <a:avLst/>
          </a:prstGeom>
          <a:noFill/>
        </p:spPr>
        <p:txBody>
          <a:bodyPr wrap="square" lIns="0" rIns="0" tIns="0" bIns="0" anchor="ctr">
            <a:spAutoFit/>
          </a:bodyPr>
          <a:lstStyle/>
          <a:p>
            <a:r>
              <a:rPr sz="1150" b="0">
                <a:solidFill>
                  <a:srgbClr val="19382F"/>
                </a:solidFill>
                <a:latin typeface="Apple SD Gothic Neo"/>
              </a:rPr>
              <a:t>대상 시스템을 코드가 해석</a:t>
            </a:r>
          </a:p>
        </p:txBody>
      </p:sp>
      <p:sp>
        <p:nvSpPr>
          <p:cNvPr id="64" name="TextBox 63"/>
          <p:cNvSpPr txBox="1"/>
          <p:nvPr/>
        </p:nvSpPr>
        <p:spPr>
          <a:xfrm>
            <a:off x="5394960" y="4818888"/>
            <a:ext cx="1234440" cy="288036"/>
          </a:xfrm>
          <a:prstGeom prst="rect">
            <a:avLst/>
          </a:prstGeom>
          <a:noFill/>
        </p:spPr>
        <p:txBody>
          <a:bodyPr wrap="square" lIns="0" rIns="0" tIns="0" bIns="0" anchor="ctr">
            <a:spAutoFit/>
          </a:bodyPr>
          <a:lstStyle/>
          <a:p>
            <a:r>
              <a:rPr sz="1150" b="1">
                <a:solidFill>
                  <a:srgbClr val="16785C"/>
                </a:solidFill>
                <a:latin typeface="Apple SD Gothic Neo"/>
              </a:rPr>
              <a:t>직접</a:t>
            </a:r>
          </a:p>
        </p:txBody>
      </p:sp>
      <p:sp>
        <p:nvSpPr>
          <p:cNvPr id="65" name="TextBox 64"/>
          <p:cNvSpPr txBox="1"/>
          <p:nvPr/>
        </p:nvSpPr>
        <p:spPr>
          <a:xfrm>
            <a:off x="6766560" y="4818888"/>
            <a:ext cx="4709159" cy="288036"/>
          </a:xfrm>
          <a:prstGeom prst="rect">
            <a:avLst/>
          </a:prstGeom>
          <a:noFill/>
        </p:spPr>
        <p:txBody>
          <a:bodyPr wrap="square" lIns="0" rIns="0" tIns="0" bIns="0" anchor="ctr">
            <a:spAutoFit/>
          </a:bodyPr>
          <a:lstStyle/>
          <a:p>
            <a:r>
              <a:rPr sz="1150" b="0">
                <a:solidFill>
                  <a:srgbClr val="B6503E"/>
                </a:solidFill>
                <a:latin typeface="Apple SD Gothic Neo"/>
              </a:rPr>
              <a:t>정규식 의존 · 되묻기가 아니라 알림</a:t>
            </a:r>
          </a:p>
        </p:txBody>
      </p:sp>
      <p:sp>
        <p:nvSpPr>
          <p:cNvPr id="66" name="Rectangle 65"/>
          <p:cNvSpPr/>
          <p:nvPr/>
        </p:nvSpPr>
        <p:spPr>
          <a:xfrm>
            <a:off x="640080" y="5106924"/>
            <a:ext cx="10881360" cy="2880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731519" y="5106924"/>
            <a:ext cx="502919" cy="288036"/>
          </a:xfrm>
          <a:prstGeom prst="rect">
            <a:avLst/>
          </a:prstGeom>
          <a:noFill/>
        </p:spPr>
        <p:txBody>
          <a:bodyPr wrap="square" lIns="0" rIns="0" tIns="0" bIns="0" anchor="ctr">
            <a:spAutoFit/>
          </a:bodyPr>
          <a:lstStyle/>
          <a:p>
            <a:r>
              <a:rPr sz="1150" b="1">
                <a:solidFill>
                  <a:srgbClr val="62746D"/>
                </a:solidFill>
                <a:latin typeface="Apple SD Gothic Neo"/>
              </a:rPr>
              <a:t>12</a:t>
            </a:r>
          </a:p>
        </p:txBody>
      </p:sp>
      <p:sp>
        <p:nvSpPr>
          <p:cNvPr id="68" name="TextBox 67"/>
          <p:cNvSpPr txBox="1"/>
          <p:nvPr/>
        </p:nvSpPr>
        <p:spPr>
          <a:xfrm>
            <a:off x="1371600" y="5106924"/>
            <a:ext cx="3886200" cy="288036"/>
          </a:xfrm>
          <a:prstGeom prst="rect">
            <a:avLst/>
          </a:prstGeom>
          <a:noFill/>
        </p:spPr>
        <p:txBody>
          <a:bodyPr wrap="square" lIns="0" rIns="0" tIns="0" bIns="0" anchor="ctr">
            <a:spAutoFit/>
          </a:bodyPr>
          <a:lstStyle/>
          <a:p>
            <a:r>
              <a:rPr sz="1150" b="0">
                <a:solidFill>
                  <a:srgbClr val="19382F"/>
                </a:solidFill>
                <a:latin typeface="Apple SD Gothic Neo"/>
              </a:rPr>
              <a:t>검증기 2차 (표현 범위 확대)</a:t>
            </a:r>
          </a:p>
        </p:txBody>
      </p:sp>
      <p:sp>
        <p:nvSpPr>
          <p:cNvPr id="69" name="TextBox 68"/>
          <p:cNvSpPr txBox="1"/>
          <p:nvPr/>
        </p:nvSpPr>
        <p:spPr>
          <a:xfrm>
            <a:off x="5394960" y="5106924"/>
            <a:ext cx="1234440" cy="288036"/>
          </a:xfrm>
          <a:prstGeom prst="rect">
            <a:avLst/>
          </a:prstGeom>
          <a:noFill/>
        </p:spPr>
        <p:txBody>
          <a:bodyPr wrap="square" lIns="0" rIns="0" tIns="0" bIns="0" anchor="ctr">
            <a:spAutoFit/>
          </a:bodyPr>
          <a:lstStyle/>
          <a:p>
            <a:r>
              <a:rPr sz="1150" b="1">
                <a:solidFill>
                  <a:srgbClr val="16785C"/>
                </a:solidFill>
                <a:latin typeface="Apple SD Gothic Neo"/>
              </a:rPr>
              <a:t>직접</a:t>
            </a:r>
          </a:p>
        </p:txBody>
      </p:sp>
      <p:sp>
        <p:nvSpPr>
          <p:cNvPr id="70" name="TextBox 69"/>
          <p:cNvSpPr txBox="1"/>
          <p:nvPr/>
        </p:nvSpPr>
        <p:spPr>
          <a:xfrm>
            <a:off x="6766560" y="5106924"/>
            <a:ext cx="4709159" cy="288036"/>
          </a:xfrm>
          <a:prstGeom prst="rect">
            <a:avLst/>
          </a:prstGeom>
          <a:noFill/>
        </p:spPr>
        <p:txBody>
          <a:bodyPr wrap="square" lIns="0" rIns="0" tIns="0" bIns="0" anchor="ctr">
            <a:spAutoFit/>
          </a:bodyPr>
          <a:lstStyle/>
          <a:p>
            <a:r>
              <a:rPr sz="1150" b="0">
                <a:solidFill>
                  <a:srgbClr val="B6503E"/>
                </a:solidFill>
                <a:latin typeface="Apple SD Gothic Neo"/>
              </a:rPr>
              <a:t>표적 사례 중심이라 수치가 낙관적</a:t>
            </a:r>
          </a:p>
        </p:txBody>
      </p:sp>
      <p:sp>
        <p:nvSpPr>
          <p:cNvPr id="71" name="Rectangle 70"/>
          <p:cNvSpPr/>
          <p:nvPr/>
        </p:nvSpPr>
        <p:spPr>
          <a:xfrm>
            <a:off x="640080" y="5394960"/>
            <a:ext cx="10881360" cy="2880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31519" y="5394960"/>
            <a:ext cx="502919" cy="288036"/>
          </a:xfrm>
          <a:prstGeom prst="rect">
            <a:avLst/>
          </a:prstGeom>
          <a:noFill/>
        </p:spPr>
        <p:txBody>
          <a:bodyPr wrap="square" lIns="0" rIns="0" tIns="0" bIns="0" anchor="ctr">
            <a:spAutoFit/>
          </a:bodyPr>
          <a:lstStyle/>
          <a:p>
            <a:r>
              <a:rPr sz="1150" b="1">
                <a:solidFill>
                  <a:srgbClr val="62746D"/>
                </a:solidFill>
                <a:latin typeface="Apple SD Gothic Neo"/>
              </a:rPr>
              <a:t>13</a:t>
            </a:r>
          </a:p>
        </p:txBody>
      </p:sp>
      <p:sp>
        <p:nvSpPr>
          <p:cNvPr id="73" name="TextBox 72"/>
          <p:cNvSpPr txBox="1"/>
          <p:nvPr/>
        </p:nvSpPr>
        <p:spPr>
          <a:xfrm>
            <a:off x="1371600" y="5394960"/>
            <a:ext cx="3886200" cy="288036"/>
          </a:xfrm>
          <a:prstGeom prst="rect">
            <a:avLst/>
          </a:prstGeom>
          <a:noFill/>
        </p:spPr>
        <p:txBody>
          <a:bodyPr wrap="square" lIns="0" rIns="0" tIns="0" bIns="0" anchor="ctr">
            <a:spAutoFit/>
          </a:bodyPr>
          <a:lstStyle/>
          <a:p>
            <a:r>
              <a:rPr sz="1150" b="0">
                <a:solidFill>
                  <a:srgbClr val="19382F"/>
                </a:solidFill>
                <a:latin typeface="Apple SD Gothic Neo"/>
              </a:rPr>
              <a:t>그래프 노드를 모듈로 분리</a:t>
            </a:r>
          </a:p>
        </p:txBody>
      </p:sp>
      <p:sp>
        <p:nvSpPr>
          <p:cNvPr id="74" name="TextBox 73"/>
          <p:cNvSpPr txBox="1"/>
          <p:nvPr/>
        </p:nvSpPr>
        <p:spPr>
          <a:xfrm>
            <a:off x="5394960" y="5394960"/>
            <a:ext cx="1234440" cy="288036"/>
          </a:xfrm>
          <a:prstGeom prst="rect">
            <a:avLst/>
          </a:prstGeom>
          <a:noFill/>
        </p:spPr>
        <p:txBody>
          <a:bodyPr wrap="square" lIns="0" rIns="0" tIns="0" bIns="0" anchor="ctr">
            <a:spAutoFit/>
          </a:bodyPr>
          <a:lstStyle/>
          <a:p>
            <a:r>
              <a:rPr sz="1150" b="1">
                <a:solidFill>
                  <a:srgbClr val="16785C"/>
                </a:solidFill>
                <a:latin typeface="Apple SD Gothic Neo"/>
              </a:rPr>
              <a:t>직접</a:t>
            </a:r>
          </a:p>
        </p:txBody>
      </p:sp>
      <p:sp>
        <p:nvSpPr>
          <p:cNvPr id="75" name="TextBox 74"/>
          <p:cNvSpPr txBox="1"/>
          <p:nvPr/>
        </p:nvSpPr>
        <p:spPr>
          <a:xfrm>
            <a:off x="6766560" y="5394960"/>
            <a:ext cx="4709159" cy="288036"/>
          </a:xfrm>
          <a:prstGeom prst="rect">
            <a:avLst/>
          </a:prstGeom>
          <a:noFill/>
        </p:spPr>
        <p:txBody>
          <a:bodyPr wrap="square" lIns="0" rIns="0" tIns="0" bIns="0" anchor="ctr">
            <a:spAutoFit/>
          </a:bodyPr>
          <a:lstStyle/>
          <a:p>
            <a:r>
              <a:rPr sz="1150" b="0">
                <a:solidFill>
                  <a:srgbClr val="B6503E"/>
                </a:solidFill>
                <a:latin typeface="Apple SD Gothic Neo"/>
              </a:rPr>
              <a:t>파일 수 증가 · 수치로 증명하지 않음</a:t>
            </a:r>
          </a:p>
        </p:txBody>
      </p:sp>
      <p:sp>
        <p:nvSpPr>
          <p:cNvPr id="76" name="Rectangle 75"/>
          <p:cNvSpPr/>
          <p:nvPr/>
        </p:nvSpPr>
        <p:spPr>
          <a:xfrm>
            <a:off x="640080" y="5682996"/>
            <a:ext cx="10881360" cy="2880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731519" y="5682996"/>
            <a:ext cx="502919" cy="288036"/>
          </a:xfrm>
          <a:prstGeom prst="rect">
            <a:avLst/>
          </a:prstGeom>
          <a:noFill/>
        </p:spPr>
        <p:txBody>
          <a:bodyPr wrap="square" lIns="0" rIns="0" tIns="0" bIns="0" anchor="ctr">
            <a:spAutoFit/>
          </a:bodyPr>
          <a:lstStyle/>
          <a:p>
            <a:r>
              <a:rPr sz="1150" b="1">
                <a:solidFill>
                  <a:srgbClr val="62746D"/>
                </a:solidFill>
                <a:latin typeface="Apple SD Gothic Neo"/>
              </a:rPr>
              <a:t>14</a:t>
            </a:r>
          </a:p>
        </p:txBody>
      </p:sp>
      <p:sp>
        <p:nvSpPr>
          <p:cNvPr id="78" name="TextBox 77"/>
          <p:cNvSpPr txBox="1"/>
          <p:nvPr/>
        </p:nvSpPr>
        <p:spPr>
          <a:xfrm>
            <a:off x="1371600" y="5682996"/>
            <a:ext cx="3886200" cy="288036"/>
          </a:xfrm>
          <a:prstGeom prst="rect">
            <a:avLst/>
          </a:prstGeom>
          <a:noFill/>
        </p:spPr>
        <p:txBody>
          <a:bodyPr wrap="square" lIns="0" rIns="0" tIns="0" bIns="0" anchor="ctr">
            <a:spAutoFit/>
          </a:bodyPr>
          <a:lstStyle/>
          <a:p>
            <a:r>
              <a:rPr sz="1150" b="0">
                <a:solidFill>
                  <a:srgbClr val="19382F"/>
                </a:solidFill>
                <a:latin typeface="Apple SD Gothic Neo"/>
              </a:rPr>
              <a:t>근거 0건이면 작성 모델 호출 생략</a:t>
            </a:r>
          </a:p>
        </p:txBody>
      </p:sp>
      <p:sp>
        <p:nvSpPr>
          <p:cNvPr id="79" name="TextBox 78"/>
          <p:cNvSpPr txBox="1"/>
          <p:nvPr/>
        </p:nvSpPr>
        <p:spPr>
          <a:xfrm>
            <a:off x="5394960" y="5682996"/>
            <a:ext cx="1234440" cy="288036"/>
          </a:xfrm>
          <a:prstGeom prst="rect">
            <a:avLst/>
          </a:prstGeom>
          <a:noFill/>
        </p:spPr>
        <p:txBody>
          <a:bodyPr wrap="square" lIns="0" rIns="0" tIns="0" bIns="0" anchor="ctr">
            <a:spAutoFit/>
          </a:bodyPr>
          <a:lstStyle/>
          <a:p>
            <a:r>
              <a:rPr sz="1150" b="1">
                <a:solidFill>
                  <a:srgbClr val="16785C"/>
                </a:solidFill>
                <a:latin typeface="Apple SD Gothic Neo"/>
              </a:rPr>
              <a:t>직접</a:t>
            </a:r>
          </a:p>
        </p:txBody>
      </p:sp>
      <p:sp>
        <p:nvSpPr>
          <p:cNvPr id="80" name="TextBox 79"/>
          <p:cNvSpPr txBox="1"/>
          <p:nvPr/>
        </p:nvSpPr>
        <p:spPr>
          <a:xfrm>
            <a:off x="6766560" y="5682996"/>
            <a:ext cx="4709159" cy="288036"/>
          </a:xfrm>
          <a:prstGeom prst="rect">
            <a:avLst/>
          </a:prstGeom>
          <a:noFill/>
        </p:spPr>
        <p:txBody>
          <a:bodyPr wrap="square" lIns="0" rIns="0" tIns="0" bIns="0" anchor="ctr">
            <a:spAutoFit/>
          </a:bodyPr>
          <a:lstStyle/>
          <a:p>
            <a:r>
              <a:rPr sz="1150" b="0">
                <a:solidFill>
                  <a:srgbClr val="B6503E"/>
                </a:solidFill>
                <a:latin typeface="Apple SD Gothic Neo"/>
              </a:rPr>
              <a:t>0건일 때만 동작</a:t>
            </a:r>
          </a:p>
        </p:txBody>
      </p:sp>
      <p:sp>
        <p:nvSpPr>
          <p:cNvPr id="81" name="Rectangle 80"/>
          <p:cNvSpPr/>
          <p:nvPr/>
        </p:nvSpPr>
        <p:spPr>
          <a:xfrm>
            <a:off x="640080" y="5971032"/>
            <a:ext cx="10881360" cy="2880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731519" y="5971032"/>
            <a:ext cx="502919" cy="288036"/>
          </a:xfrm>
          <a:prstGeom prst="rect">
            <a:avLst/>
          </a:prstGeom>
          <a:noFill/>
        </p:spPr>
        <p:txBody>
          <a:bodyPr wrap="square" lIns="0" rIns="0" tIns="0" bIns="0" anchor="ctr">
            <a:spAutoFit/>
          </a:bodyPr>
          <a:lstStyle/>
          <a:p>
            <a:r>
              <a:rPr sz="1150" b="1">
                <a:solidFill>
                  <a:srgbClr val="62746D"/>
                </a:solidFill>
                <a:latin typeface="Apple SD Gothic Neo"/>
              </a:rPr>
              <a:t>15</a:t>
            </a:r>
          </a:p>
        </p:txBody>
      </p:sp>
      <p:sp>
        <p:nvSpPr>
          <p:cNvPr id="83" name="TextBox 82"/>
          <p:cNvSpPr txBox="1"/>
          <p:nvPr/>
        </p:nvSpPr>
        <p:spPr>
          <a:xfrm>
            <a:off x="1371600" y="5971032"/>
            <a:ext cx="3886200" cy="288036"/>
          </a:xfrm>
          <a:prstGeom prst="rect">
            <a:avLst/>
          </a:prstGeom>
          <a:noFill/>
        </p:spPr>
        <p:txBody>
          <a:bodyPr wrap="square" lIns="0" rIns="0" tIns="0" bIns="0" anchor="ctr">
            <a:spAutoFit/>
          </a:bodyPr>
          <a:lstStyle/>
          <a:p>
            <a:r>
              <a:rPr sz="1150" b="0">
                <a:solidFill>
                  <a:srgbClr val="19382F"/>
                </a:solidFill>
                <a:latin typeface="Apple SD Gothic Neo"/>
              </a:rPr>
              <a:t>의미 검색의 비용·지연 측정</a:t>
            </a:r>
          </a:p>
        </p:txBody>
      </p:sp>
      <p:sp>
        <p:nvSpPr>
          <p:cNvPr id="84" name="TextBox 83"/>
          <p:cNvSpPr txBox="1"/>
          <p:nvPr/>
        </p:nvSpPr>
        <p:spPr>
          <a:xfrm>
            <a:off x="5394960" y="5971032"/>
            <a:ext cx="1234440" cy="288036"/>
          </a:xfrm>
          <a:prstGeom prst="rect">
            <a:avLst/>
          </a:prstGeom>
          <a:noFill/>
        </p:spPr>
        <p:txBody>
          <a:bodyPr wrap="square" lIns="0" rIns="0" tIns="0" bIns="0" anchor="ctr">
            <a:spAutoFit/>
          </a:bodyPr>
          <a:lstStyle/>
          <a:p>
            <a:r>
              <a:rPr sz="1150" b="1">
                <a:solidFill>
                  <a:srgbClr val="9A6B1F"/>
                </a:solidFill>
                <a:latin typeface="Apple SD Gothic Neo"/>
              </a:rPr>
              <a:t>측정</a:t>
            </a:r>
          </a:p>
        </p:txBody>
      </p:sp>
      <p:sp>
        <p:nvSpPr>
          <p:cNvPr id="85" name="TextBox 84"/>
          <p:cNvSpPr txBox="1"/>
          <p:nvPr/>
        </p:nvSpPr>
        <p:spPr>
          <a:xfrm>
            <a:off x="6766560" y="5971032"/>
            <a:ext cx="4709159" cy="288036"/>
          </a:xfrm>
          <a:prstGeom prst="rect">
            <a:avLst/>
          </a:prstGeom>
          <a:noFill/>
        </p:spPr>
        <p:txBody>
          <a:bodyPr wrap="square" lIns="0" rIns="0" tIns="0" bIns="0" anchor="ctr">
            <a:spAutoFit/>
          </a:bodyPr>
          <a:lstStyle/>
          <a:p>
            <a:r>
              <a:rPr sz="1150" b="0">
                <a:solidFill>
                  <a:srgbClr val="B6503E"/>
                </a:solidFill>
                <a:latin typeface="Apple SD Gothic Neo"/>
              </a:rPr>
              <a:t>콜드 첫 검색 약 1.1초, 웜 약 29ms</a:t>
            </a:r>
          </a:p>
        </p:txBody>
      </p:sp>
      <p:sp>
        <p:nvSpPr>
          <p:cNvPr id="86" name="Rectangle 85"/>
          <p:cNvSpPr/>
          <p:nvPr/>
        </p:nvSpPr>
        <p:spPr>
          <a:xfrm>
            <a:off x="640080" y="6259068"/>
            <a:ext cx="10881360" cy="13716"/>
          </a:xfrm>
          <a:prstGeom prst="rect">
            <a:avLst/>
          </a:prstGeom>
          <a:solidFill>
            <a:srgbClr val="B7C4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0040"/>
            <a:ext cx="9144000" cy="274320"/>
          </a:xfrm>
          <a:prstGeom prst="rect">
            <a:avLst/>
          </a:prstGeom>
          <a:noFill/>
        </p:spPr>
        <p:txBody>
          <a:bodyPr wrap="square" lIns="0" rIns="0" tIns="0" bIns="0">
            <a:spAutoFit/>
          </a:bodyPr>
          <a:lstStyle/>
          <a:p>
            <a:r>
              <a:rPr sz="1100" b="1">
                <a:solidFill>
                  <a:srgbClr val="16785C"/>
                </a:solidFill>
                <a:latin typeface="Apple SD Gothic Neo"/>
              </a:rPr>
              <a:t>부록 A-3  평가</a:t>
            </a:r>
          </a:p>
        </p:txBody>
      </p:sp>
      <p:sp>
        <p:nvSpPr>
          <p:cNvPr id="3" name="TextBox 2"/>
          <p:cNvSpPr txBox="1"/>
          <p:nvPr/>
        </p:nvSpPr>
        <p:spPr>
          <a:xfrm>
            <a:off x="594360" y="868680"/>
            <a:ext cx="10972800" cy="914400"/>
          </a:xfrm>
          <a:prstGeom prst="rect">
            <a:avLst/>
          </a:prstGeom>
          <a:noFill/>
        </p:spPr>
        <p:txBody>
          <a:bodyPr wrap="square" lIns="0" rIns="0" tIns="0" bIns="0">
            <a:spAutoFit/>
          </a:bodyPr>
          <a:lstStyle/>
          <a:p>
            <a:r>
              <a:rPr sz="3200" b="1">
                <a:solidFill>
                  <a:srgbClr val="19382F"/>
                </a:solidFill>
                <a:latin typeface="Apple SD Gothic Neo"/>
              </a:rPr>
              <a:t>평가 방법과 결과</a:t>
            </a:r>
          </a:p>
        </p:txBody>
      </p:sp>
      <p:sp>
        <p:nvSpPr>
          <p:cNvPr id="4" name="TextBox 3"/>
          <p:cNvSpPr txBox="1"/>
          <p:nvPr/>
        </p:nvSpPr>
        <p:spPr>
          <a:xfrm>
            <a:off x="594360" y="6473952"/>
            <a:ext cx="7315200" cy="164592"/>
          </a:xfrm>
          <a:prstGeom prst="rect">
            <a:avLst/>
          </a:prstGeom>
          <a:noFill/>
        </p:spPr>
        <p:txBody>
          <a:bodyPr wrap="square" lIns="0" rIns="0" tIns="0" bIns="0">
            <a:spAutoFit/>
          </a:bodyPr>
          <a:lstStyle/>
          <a:p>
            <a:r>
              <a:rPr sz="900" b="0">
                <a:solidFill>
                  <a:srgbClr val="62746D"/>
                </a:solidFill>
                <a:latin typeface="Apple SD Gothic Neo"/>
              </a:rPr>
              <a:t>AI CAPSTONE  ·  김하연</a:t>
            </a:r>
          </a:p>
        </p:txBody>
      </p:sp>
      <p:sp>
        <p:nvSpPr>
          <p:cNvPr id="5" name="TextBox 4"/>
          <p:cNvSpPr txBox="1"/>
          <p:nvPr/>
        </p:nvSpPr>
        <p:spPr>
          <a:xfrm>
            <a:off x="10835640" y="6473952"/>
            <a:ext cx="777240" cy="164592"/>
          </a:xfrm>
          <a:prstGeom prst="rect">
            <a:avLst/>
          </a:prstGeom>
          <a:noFill/>
        </p:spPr>
        <p:txBody>
          <a:bodyPr wrap="square" lIns="0" rIns="0" tIns="0" bIns="0">
            <a:spAutoFit/>
          </a:bodyPr>
          <a:lstStyle/>
          <a:p>
            <a:r>
              <a:rPr sz="900" b="0">
                <a:solidFill>
                  <a:srgbClr val="62746D"/>
                </a:solidFill>
                <a:latin typeface="Apple SD Gothic Neo"/>
              </a:rPr>
              <a:t>A-3 / A-6</a:t>
            </a:r>
          </a:p>
        </p:txBody>
      </p:sp>
      <p:sp>
        <p:nvSpPr>
          <p:cNvPr id="6" name="Rectangle 5"/>
          <p:cNvSpPr/>
          <p:nvPr/>
        </p:nvSpPr>
        <p:spPr>
          <a:xfrm>
            <a:off x="640080" y="1645920"/>
            <a:ext cx="10881359" cy="292608"/>
          </a:xfrm>
          <a:prstGeom prst="rect">
            <a:avLst/>
          </a:prstGeom>
          <a:solidFill>
            <a:srgbClr val="193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19" y="1645920"/>
            <a:ext cx="3063240" cy="292608"/>
          </a:xfrm>
          <a:prstGeom prst="rect">
            <a:avLst/>
          </a:prstGeom>
          <a:noFill/>
        </p:spPr>
        <p:txBody>
          <a:bodyPr wrap="square" lIns="0" rIns="0" tIns="0" bIns="0" anchor="ctr">
            <a:spAutoFit/>
          </a:bodyPr>
          <a:lstStyle/>
          <a:p>
            <a:r>
              <a:rPr sz="1150" b="1">
                <a:solidFill>
                  <a:srgbClr val="FFFFFF"/>
                </a:solidFill>
                <a:latin typeface="Apple SD Gothic Neo"/>
              </a:rPr>
              <a:t>평가</a:t>
            </a:r>
          </a:p>
        </p:txBody>
      </p:sp>
      <p:sp>
        <p:nvSpPr>
          <p:cNvPr id="8" name="TextBox 7"/>
          <p:cNvSpPr txBox="1"/>
          <p:nvPr/>
        </p:nvSpPr>
        <p:spPr>
          <a:xfrm>
            <a:off x="3931920" y="1645920"/>
            <a:ext cx="4069079" cy="292608"/>
          </a:xfrm>
          <a:prstGeom prst="rect">
            <a:avLst/>
          </a:prstGeom>
          <a:noFill/>
        </p:spPr>
        <p:txBody>
          <a:bodyPr wrap="square" lIns="0" rIns="0" tIns="0" bIns="0" anchor="ctr">
            <a:spAutoFit/>
          </a:bodyPr>
          <a:lstStyle/>
          <a:p>
            <a:r>
              <a:rPr sz="1150" b="1">
                <a:solidFill>
                  <a:srgbClr val="FFFFFF"/>
                </a:solidFill>
                <a:latin typeface="Apple SD Gothic Neo"/>
              </a:rPr>
              <a:t>결과 (개선 전 → 후)</a:t>
            </a:r>
          </a:p>
        </p:txBody>
      </p:sp>
      <p:sp>
        <p:nvSpPr>
          <p:cNvPr id="9" name="TextBox 8"/>
          <p:cNvSpPr txBox="1"/>
          <p:nvPr/>
        </p:nvSpPr>
        <p:spPr>
          <a:xfrm>
            <a:off x="8138160" y="1645920"/>
            <a:ext cx="3337560" cy="292608"/>
          </a:xfrm>
          <a:prstGeom prst="rect">
            <a:avLst/>
          </a:prstGeom>
          <a:noFill/>
        </p:spPr>
        <p:txBody>
          <a:bodyPr wrap="square" lIns="0" rIns="0" tIns="0" bIns="0" anchor="ctr">
            <a:spAutoFit/>
          </a:bodyPr>
          <a:lstStyle/>
          <a:p>
            <a:r>
              <a:rPr sz="1150" b="1">
                <a:solidFill>
                  <a:srgbClr val="FFFFFF"/>
                </a:solidFill>
                <a:latin typeface="Apple SD Gothic Neo"/>
              </a:rPr>
              <a:t>해석상 주의</a:t>
            </a:r>
          </a:p>
        </p:txBody>
      </p:sp>
      <p:sp>
        <p:nvSpPr>
          <p:cNvPr id="10" name="Rectangle 9"/>
          <p:cNvSpPr/>
          <p:nvPr/>
        </p:nvSpPr>
        <p:spPr>
          <a:xfrm>
            <a:off x="640080" y="1938528"/>
            <a:ext cx="10881359" cy="4023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19" y="1938528"/>
            <a:ext cx="3063240" cy="402336"/>
          </a:xfrm>
          <a:prstGeom prst="rect">
            <a:avLst/>
          </a:prstGeom>
          <a:noFill/>
        </p:spPr>
        <p:txBody>
          <a:bodyPr wrap="square" lIns="0" rIns="0" tIns="0" bIns="0" anchor="ctr">
            <a:spAutoFit/>
          </a:bodyPr>
          <a:lstStyle/>
          <a:p>
            <a:r>
              <a:rPr sz="1150" b="1">
                <a:solidFill>
                  <a:srgbClr val="19382F"/>
                </a:solidFill>
                <a:latin typeface="Apple SD Gothic Neo"/>
              </a:rPr>
              <a:t>동일 17개 입력 (정상 8·오류 9)</a:t>
            </a:r>
          </a:p>
        </p:txBody>
      </p:sp>
      <p:sp>
        <p:nvSpPr>
          <p:cNvPr id="12" name="TextBox 11"/>
          <p:cNvSpPr txBox="1"/>
          <p:nvPr/>
        </p:nvSpPr>
        <p:spPr>
          <a:xfrm>
            <a:off x="3931920" y="1938528"/>
            <a:ext cx="4069079" cy="402336"/>
          </a:xfrm>
          <a:prstGeom prst="rect">
            <a:avLst/>
          </a:prstGeom>
          <a:noFill/>
        </p:spPr>
        <p:txBody>
          <a:bodyPr wrap="square" lIns="0" rIns="0" tIns="0" bIns="0" anchor="ctr">
            <a:spAutoFit/>
          </a:bodyPr>
          <a:lstStyle/>
          <a:p>
            <a:r>
              <a:rPr sz="1150" b="0">
                <a:solidFill>
                  <a:srgbClr val="19382F"/>
                </a:solidFill>
                <a:latin typeface="Apple SD Gothic Neo"/>
              </a:rPr>
              <a:t>오류 차단 2/9 → 9/9 · 정상 통과 8/8 유지</a:t>
            </a:r>
          </a:p>
        </p:txBody>
      </p:sp>
      <p:sp>
        <p:nvSpPr>
          <p:cNvPr id="13" name="TextBox 12"/>
          <p:cNvSpPr txBox="1"/>
          <p:nvPr/>
        </p:nvSpPr>
        <p:spPr>
          <a:xfrm>
            <a:off x="8138160" y="1938528"/>
            <a:ext cx="3337560" cy="402336"/>
          </a:xfrm>
          <a:prstGeom prst="rect">
            <a:avLst/>
          </a:prstGeom>
          <a:noFill/>
        </p:spPr>
        <p:txBody>
          <a:bodyPr wrap="square" lIns="0" rIns="0" tIns="0" bIns="0" anchor="ctr">
            <a:spAutoFit/>
          </a:bodyPr>
          <a:lstStyle/>
          <a:p>
            <a:r>
              <a:rPr sz="1150" b="0">
                <a:solidFill>
                  <a:srgbClr val="B6503E"/>
                </a:solidFill>
                <a:latin typeface="Apple SD Gothic Neo"/>
              </a:rPr>
              <a:t>입력은 같고 검증기만 교체</a:t>
            </a:r>
          </a:p>
        </p:txBody>
      </p:sp>
      <p:sp>
        <p:nvSpPr>
          <p:cNvPr id="14" name="Rectangle 13"/>
          <p:cNvSpPr/>
          <p:nvPr/>
        </p:nvSpPr>
        <p:spPr>
          <a:xfrm>
            <a:off x="640080" y="2340864"/>
            <a:ext cx="10881359" cy="402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2340864"/>
            <a:ext cx="3063240" cy="402336"/>
          </a:xfrm>
          <a:prstGeom prst="rect">
            <a:avLst/>
          </a:prstGeom>
          <a:noFill/>
        </p:spPr>
        <p:txBody>
          <a:bodyPr wrap="square" lIns="0" rIns="0" tIns="0" bIns="0" anchor="ctr">
            <a:spAutoFit/>
          </a:bodyPr>
          <a:lstStyle/>
          <a:p>
            <a:r>
              <a:rPr sz="1150" b="1">
                <a:solidFill>
                  <a:srgbClr val="19382F"/>
                </a:solidFill>
                <a:latin typeface="Apple SD Gothic Neo"/>
              </a:rPr>
              <a:t>검증 규칙 표적 사례 28개</a:t>
            </a:r>
          </a:p>
        </p:txBody>
      </p:sp>
      <p:sp>
        <p:nvSpPr>
          <p:cNvPr id="16" name="TextBox 15"/>
          <p:cNvSpPr txBox="1"/>
          <p:nvPr/>
        </p:nvSpPr>
        <p:spPr>
          <a:xfrm>
            <a:off x="3931920" y="2340864"/>
            <a:ext cx="4069079" cy="402336"/>
          </a:xfrm>
          <a:prstGeom prst="rect">
            <a:avLst/>
          </a:prstGeom>
          <a:noFill/>
        </p:spPr>
        <p:txBody>
          <a:bodyPr wrap="square" lIns="0" rIns="0" tIns="0" bIns="0" anchor="ctr">
            <a:spAutoFit/>
          </a:bodyPr>
          <a:lstStyle/>
          <a:p>
            <a:r>
              <a:rPr sz="1150" b="0">
                <a:solidFill>
                  <a:srgbClr val="19382F"/>
                </a:solidFill>
                <a:latin typeface="Apple SD Gothic Neo"/>
              </a:rPr>
              <a:t>오류 차단 6/14 → 14/14 · 정상 7/14 → 14/14</a:t>
            </a:r>
          </a:p>
        </p:txBody>
      </p:sp>
      <p:sp>
        <p:nvSpPr>
          <p:cNvPr id="17" name="TextBox 16"/>
          <p:cNvSpPr txBox="1"/>
          <p:nvPr/>
        </p:nvSpPr>
        <p:spPr>
          <a:xfrm>
            <a:off x="8138160" y="2340864"/>
            <a:ext cx="3337560" cy="402336"/>
          </a:xfrm>
          <a:prstGeom prst="rect">
            <a:avLst/>
          </a:prstGeom>
          <a:noFill/>
        </p:spPr>
        <p:txBody>
          <a:bodyPr wrap="square" lIns="0" rIns="0" tIns="0" bIns="0" anchor="ctr">
            <a:spAutoFit/>
          </a:bodyPr>
          <a:lstStyle/>
          <a:p>
            <a:r>
              <a:rPr sz="1150" b="0">
                <a:solidFill>
                  <a:srgbClr val="B6503E"/>
                </a:solidFill>
                <a:latin typeface="Apple SD Gothic Neo"/>
              </a:rPr>
              <a:t>약점을 겨냥해 만든 사례라 낙관적</a:t>
            </a:r>
          </a:p>
        </p:txBody>
      </p:sp>
      <p:sp>
        <p:nvSpPr>
          <p:cNvPr id="18" name="Rectangle 17"/>
          <p:cNvSpPr/>
          <p:nvPr/>
        </p:nvSpPr>
        <p:spPr>
          <a:xfrm>
            <a:off x="640080" y="2743200"/>
            <a:ext cx="10881359" cy="4023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743200"/>
            <a:ext cx="3063240" cy="402336"/>
          </a:xfrm>
          <a:prstGeom prst="rect">
            <a:avLst/>
          </a:prstGeom>
          <a:noFill/>
        </p:spPr>
        <p:txBody>
          <a:bodyPr wrap="square" lIns="0" rIns="0" tIns="0" bIns="0" anchor="ctr">
            <a:spAutoFit/>
          </a:bodyPr>
          <a:lstStyle/>
          <a:p>
            <a:r>
              <a:rPr sz="1150" b="1">
                <a:solidFill>
                  <a:srgbClr val="19382F"/>
                </a:solidFill>
                <a:latin typeface="Apple SD Gothic Neo"/>
              </a:rPr>
              <a:t>설계 때 보지 못한 변형 6개</a:t>
            </a:r>
          </a:p>
        </p:txBody>
      </p:sp>
      <p:sp>
        <p:nvSpPr>
          <p:cNvPr id="20" name="TextBox 19"/>
          <p:cNvSpPr txBox="1"/>
          <p:nvPr/>
        </p:nvSpPr>
        <p:spPr>
          <a:xfrm>
            <a:off x="3931920" y="2743200"/>
            <a:ext cx="4069079" cy="402336"/>
          </a:xfrm>
          <a:prstGeom prst="rect">
            <a:avLst/>
          </a:prstGeom>
          <a:noFill/>
        </p:spPr>
        <p:txBody>
          <a:bodyPr wrap="square" lIns="0" rIns="0" tIns="0" bIns="0" anchor="ctr">
            <a:spAutoFit/>
          </a:bodyPr>
          <a:lstStyle/>
          <a:p>
            <a:r>
              <a:rPr sz="1150" b="0">
                <a:solidFill>
                  <a:srgbClr val="19382F"/>
                </a:solidFill>
                <a:latin typeface="Apple SD Gothic Neo"/>
              </a:rPr>
              <a:t>오류 차단 4/5 → 5/5</a:t>
            </a:r>
          </a:p>
        </p:txBody>
      </p:sp>
      <p:sp>
        <p:nvSpPr>
          <p:cNvPr id="21" name="TextBox 20"/>
          <p:cNvSpPr txBox="1"/>
          <p:nvPr/>
        </p:nvSpPr>
        <p:spPr>
          <a:xfrm>
            <a:off x="8138160" y="2743200"/>
            <a:ext cx="3337560" cy="402336"/>
          </a:xfrm>
          <a:prstGeom prst="rect">
            <a:avLst/>
          </a:prstGeom>
          <a:noFill/>
        </p:spPr>
        <p:txBody>
          <a:bodyPr wrap="square" lIns="0" rIns="0" tIns="0" bIns="0" anchor="ctr">
            <a:spAutoFit/>
          </a:bodyPr>
          <a:lstStyle/>
          <a:p>
            <a:r>
              <a:rPr sz="1150" b="0">
                <a:solidFill>
                  <a:srgbClr val="B6503E"/>
                </a:solidFill>
                <a:latin typeface="Apple SD Gothic Neo"/>
              </a:rPr>
              <a:t>표본이 작아 일반화 근거로 약함</a:t>
            </a:r>
          </a:p>
        </p:txBody>
      </p:sp>
      <p:sp>
        <p:nvSpPr>
          <p:cNvPr id="22" name="Rectangle 21"/>
          <p:cNvSpPr/>
          <p:nvPr/>
        </p:nvSpPr>
        <p:spPr>
          <a:xfrm>
            <a:off x="640080" y="3145536"/>
            <a:ext cx="10881359" cy="402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19" y="3145536"/>
            <a:ext cx="3063240" cy="402336"/>
          </a:xfrm>
          <a:prstGeom prst="rect">
            <a:avLst/>
          </a:prstGeom>
          <a:noFill/>
        </p:spPr>
        <p:txBody>
          <a:bodyPr wrap="square" lIns="0" rIns="0" tIns="0" bIns="0" anchor="ctr">
            <a:spAutoFit/>
          </a:bodyPr>
          <a:lstStyle/>
          <a:p>
            <a:r>
              <a:rPr sz="1150" b="1">
                <a:solidFill>
                  <a:srgbClr val="19382F"/>
                </a:solidFill>
                <a:latin typeface="Apple SD Gothic Neo"/>
              </a:rPr>
              <a:t>부작용·회귀 탐침 8개</a:t>
            </a:r>
          </a:p>
        </p:txBody>
      </p:sp>
      <p:sp>
        <p:nvSpPr>
          <p:cNvPr id="24" name="TextBox 23"/>
          <p:cNvSpPr txBox="1"/>
          <p:nvPr/>
        </p:nvSpPr>
        <p:spPr>
          <a:xfrm>
            <a:off x="3931920" y="3145536"/>
            <a:ext cx="4069079" cy="402336"/>
          </a:xfrm>
          <a:prstGeom prst="rect">
            <a:avLst/>
          </a:prstGeom>
          <a:noFill/>
        </p:spPr>
        <p:txBody>
          <a:bodyPr wrap="square" lIns="0" rIns="0" tIns="0" bIns="0" anchor="ctr">
            <a:spAutoFit/>
          </a:bodyPr>
          <a:lstStyle/>
          <a:p>
            <a:r>
              <a:rPr sz="1150" b="0">
                <a:solidFill>
                  <a:srgbClr val="19382F"/>
                </a:solidFill>
                <a:latin typeface="Apple SD Gothic Neo"/>
              </a:rPr>
              <a:t>정상 1/4 → 4/4 · 오류 3/4 → 4/4</a:t>
            </a:r>
          </a:p>
        </p:txBody>
      </p:sp>
      <p:sp>
        <p:nvSpPr>
          <p:cNvPr id="25" name="TextBox 24"/>
          <p:cNvSpPr txBox="1"/>
          <p:nvPr/>
        </p:nvSpPr>
        <p:spPr>
          <a:xfrm>
            <a:off x="8138160" y="3145536"/>
            <a:ext cx="3337560" cy="402336"/>
          </a:xfrm>
          <a:prstGeom prst="rect">
            <a:avLst/>
          </a:prstGeom>
          <a:noFill/>
        </p:spPr>
        <p:txBody>
          <a:bodyPr wrap="square" lIns="0" rIns="0" tIns="0" bIns="0" anchor="ctr">
            <a:spAutoFit/>
          </a:bodyPr>
          <a:lstStyle/>
          <a:p>
            <a:r>
              <a:rPr sz="1150" b="0">
                <a:solidFill>
                  <a:srgbClr val="B6503E"/>
                </a:solidFill>
                <a:latin typeface="Apple SD Gothic Neo"/>
              </a:rPr>
              <a:t>수정 후 회귀 방지용</a:t>
            </a:r>
          </a:p>
        </p:txBody>
      </p:sp>
      <p:sp>
        <p:nvSpPr>
          <p:cNvPr id="26" name="Rectangle 25"/>
          <p:cNvSpPr/>
          <p:nvPr/>
        </p:nvSpPr>
        <p:spPr>
          <a:xfrm>
            <a:off x="640080" y="3547872"/>
            <a:ext cx="10881359" cy="4023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19" y="3547872"/>
            <a:ext cx="3063240" cy="402336"/>
          </a:xfrm>
          <a:prstGeom prst="rect">
            <a:avLst/>
          </a:prstGeom>
          <a:noFill/>
        </p:spPr>
        <p:txBody>
          <a:bodyPr wrap="square" lIns="0" rIns="0" tIns="0" bIns="0" anchor="ctr">
            <a:spAutoFit/>
          </a:bodyPr>
          <a:lstStyle/>
          <a:p>
            <a:r>
              <a:rPr sz="1150" b="1">
                <a:solidFill>
                  <a:srgbClr val="19382F"/>
                </a:solidFill>
                <a:latin typeface="Apple SD Gothic Neo"/>
              </a:rPr>
              <a:t>매뉴얼 검색 14개 (장애 12·무관 2)</a:t>
            </a:r>
          </a:p>
        </p:txBody>
      </p:sp>
      <p:sp>
        <p:nvSpPr>
          <p:cNvPr id="28" name="TextBox 27"/>
          <p:cNvSpPr txBox="1"/>
          <p:nvPr/>
        </p:nvSpPr>
        <p:spPr>
          <a:xfrm>
            <a:off x="3931920" y="3547872"/>
            <a:ext cx="4069079" cy="402336"/>
          </a:xfrm>
          <a:prstGeom prst="rect">
            <a:avLst/>
          </a:prstGeom>
          <a:noFill/>
        </p:spPr>
        <p:txBody>
          <a:bodyPr wrap="square" lIns="0" rIns="0" tIns="0" bIns="0" anchor="ctr">
            <a:spAutoFit/>
          </a:bodyPr>
          <a:lstStyle/>
          <a:p>
            <a:r>
              <a:rPr sz="1150" b="0">
                <a:solidFill>
                  <a:srgbClr val="19382F"/>
                </a:solidFill>
                <a:latin typeface="Apple SD Gothic Neo"/>
              </a:rPr>
              <a:t>기대 일치 6/14 → 12/14</a:t>
            </a:r>
          </a:p>
        </p:txBody>
      </p:sp>
      <p:sp>
        <p:nvSpPr>
          <p:cNvPr id="29" name="TextBox 28"/>
          <p:cNvSpPr txBox="1"/>
          <p:nvPr/>
        </p:nvSpPr>
        <p:spPr>
          <a:xfrm>
            <a:off x="8138160" y="3547872"/>
            <a:ext cx="3337560" cy="402336"/>
          </a:xfrm>
          <a:prstGeom prst="rect">
            <a:avLst/>
          </a:prstGeom>
          <a:noFill/>
        </p:spPr>
        <p:txBody>
          <a:bodyPr wrap="square" lIns="0" rIns="0" tIns="0" bIns="0" anchor="ctr">
            <a:spAutoFit/>
          </a:bodyPr>
          <a:lstStyle/>
          <a:p>
            <a:r>
              <a:rPr sz="1150" b="0">
                <a:solidFill>
                  <a:srgbClr val="B6503E"/>
                </a:solidFill>
                <a:latin typeface="Apple SD Gothic Neo"/>
              </a:rPr>
              <a:t>미확정 1건 · 오선택 1건 · 직접 작성</a:t>
            </a:r>
          </a:p>
        </p:txBody>
      </p:sp>
      <p:sp>
        <p:nvSpPr>
          <p:cNvPr id="30" name="Rectangle 29"/>
          <p:cNvSpPr/>
          <p:nvPr/>
        </p:nvSpPr>
        <p:spPr>
          <a:xfrm>
            <a:off x="640080" y="3950208"/>
            <a:ext cx="10881359" cy="402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1519" y="3950208"/>
            <a:ext cx="3063240" cy="402336"/>
          </a:xfrm>
          <a:prstGeom prst="rect">
            <a:avLst/>
          </a:prstGeom>
          <a:noFill/>
        </p:spPr>
        <p:txBody>
          <a:bodyPr wrap="square" lIns="0" rIns="0" tIns="0" bIns="0" anchor="ctr">
            <a:spAutoFit/>
          </a:bodyPr>
          <a:lstStyle/>
          <a:p>
            <a:r>
              <a:rPr sz="1150" b="1">
                <a:solidFill>
                  <a:srgbClr val="19382F"/>
                </a:solidFill>
                <a:latin typeface="Apple SD Gothic Neo"/>
              </a:rPr>
              <a:t>대상 시스템 해석 8개</a:t>
            </a:r>
          </a:p>
        </p:txBody>
      </p:sp>
      <p:sp>
        <p:nvSpPr>
          <p:cNvPr id="32" name="TextBox 31"/>
          <p:cNvSpPr txBox="1"/>
          <p:nvPr/>
        </p:nvSpPr>
        <p:spPr>
          <a:xfrm>
            <a:off x="3931920" y="3950208"/>
            <a:ext cx="4069079" cy="402336"/>
          </a:xfrm>
          <a:prstGeom prst="rect">
            <a:avLst/>
          </a:prstGeom>
          <a:noFill/>
        </p:spPr>
        <p:txBody>
          <a:bodyPr wrap="square" lIns="0" rIns="0" tIns="0" bIns="0" anchor="ctr">
            <a:spAutoFit/>
          </a:bodyPr>
          <a:lstStyle/>
          <a:p>
            <a:r>
              <a:rPr sz="1150" b="0">
                <a:solidFill>
                  <a:srgbClr val="19382F"/>
                </a:solidFill>
                <a:latin typeface="Apple SD Gothic Neo"/>
              </a:rPr>
              <a:t>목록에 없는 시스템이 auth-service로 바뀌던 사례 해소</a:t>
            </a:r>
          </a:p>
        </p:txBody>
      </p:sp>
      <p:sp>
        <p:nvSpPr>
          <p:cNvPr id="33" name="TextBox 32"/>
          <p:cNvSpPr txBox="1"/>
          <p:nvPr/>
        </p:nvSpPr>
        <p:spPr>
          <a:xfrm>
            <a:off x="8138160" y="3950208"/>
            <a:ext cx="3337560" cy="402336"/>
          </a:xfrm>
          <a:prstGeom prst="rect">
            <a:avLst/>
          </a:prstGeom>
          <a:noFill/>
        </p:spPr>
        <p:txBody>
          <a:bodyPr wrap="square" lIns="0" rIns="0" tIns="0" bIns="0" anchor="ctr">
            <a:spAutoFit/>
          </a:bodyPr>
          <a:lstStyle/>
          <a:p>
            <a:r>
              <a:rPr sz="1150" b="0">
                <a:solidFill>
                  <a:srgbClr val="B6503E"/>
                </a:solidFill>
                <a:latin typeface="Apple SD Gothic Neo"/>
              </a:rPr>
              <a:t>계획 정규화는 스텁 모델 출력 기준</a:t>
            </a:r>
          </a:p>
        </p:txBody>
      </p:sp>
      <p:sp>
        <p:nvSpPr>
          <p:cNvPr id="34" name="Rectangle 33"/>
          <p:cNvSpPr/>
          <p:nvPr/>
        </p:nvSpPr>
        <p:spPr>
          <a:xfrm>
            <a:off x="640080" y="4352544"/>
            <a:ext cx="10881359" cy="4023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19" y="4352544"/>
            <a:ext cx="3063240" cy="402336"/>
          </a:xfrm>
          <a:prstGeom prst="rect">
            <a:avLst/>
          </a:prstGeom>
          <a:noFill/>
        </p:spPr>
        <p:txBody>
          <a:bodyPr wrap="square" lIns="0" rIns="0" tIns="0" bIns="0" anchor="ctr">
            <a:spAutoFit/>
          </a:bodyPr>
          <a:lstStyle/>
          <a:p>
            <a:r>
              <a:rPr sz="1150" b="1">
                <a:solidFill>
                  <a:srgbClr val="19382F"/>
                </a:solidFill>
                <a:latin typeface="Apple SD Gothic Neo"/>
              </a:rPr>
              <a:t>근거 없는 질문 (Ollama 3회)</a:t>
            </a:r>
          </a:p>
        </p:txBody>
      </p:sp>
      <p:sp>
        <p:nvSpPr>
          <p:cNvPr id="36" name="TextBox 35"/>
          <p:cNvSpPr txBox="1"/>
          <p:nvPr/>
        </p:nvSpPr>
        <p:spPr>
          <a:xfrm>
            <a:off x="3931920" y="4352544"/>
            <a:ext cx="4069079" cy="402336"/>
          </a:xfrm>
          <a:prstGeom prst="rect">
            <a:avLst/>
          </a:prstGeom>
          <a:noFill/>
        </p:spPr>
        <p:txBody>
          <a:bodyPr wrap="square" lIns="0" rIns="0" tIns="0" bIns="0" anchor="ctr">
            <a:spAutoFit/>
          </a:bodyPr>
          <a:lstStyle/>
          <a:p>
            <a:r>
              <a:rPr sz="1150" b="0">
                <a:solidFill>
                  <a:srgbClr val="19382F"/>
                </a:solidFill>
                <a:latin typeface="Apple SD Gothic Neo"/>
              </a:rPr>
              <a:t>응답 36.6초 → 1.2~2.7초 · 작성 호출 1 → 0회</a:t>
            </a:r>
          </a:p>
        </p:txBody>
      </p:sp>
      <p:sp>
        <p:nvSpPr>
          <p:cNvPr id="37" name="TextBox 36"/>
          <p:cNvSpPr txBox="1"/>
          <p:nvPr/>
        </p:nvSpPr>
        <p:spPr>
          <a:xfrm>
            <a:off x="8138160" y="4352544"/>
            <a:ext cx="3337560" cy="402336"/>
          </a:xfrm>
          <a:prstGeom prst="rect">
            <a:avLst/>
          </a:prstGeom>
          <a:noFill/>
        </p:spPr>
        <p:txBody>
          <a:bodyPr wrap="square" lIns="0" rIns="0" tIns="0" bIns="0" anchor="ctr">
            <a:spAutoFit/>
          </a:bodyPr>
          <a:lstStyle/>
          <a:p>
            <a:r>
              <a:rPr sz="1150" b="0">
                <a:solidFill>
                  <a:srgbClr val="B6503E"/>
                </a:solidFill>
                <a:latin typeface="Apple SD Gothic Neo"/>
              </a:rPr>
              <a:t>단일 질문 · 근거 0건일 때만</a:t>
            </a:r>
          </a:p>
        </p:txBody>
      </p:sp>
      <p:sp>
        <p:nvSpPr>
          <p:cNvPr id="38" name="Rectangle 37"/>
          <p:cNvSpPr/>
          <p:nvPr/>
        </p:nvSpPr>
        <p:spPr>
          <a:xfrm>
            <a:off x="640080" y="4754880"/>
            <a:ext cx="10881359" cy="402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31519" y="4754880"/>
            <a:ext cx="3063240" cy="402336"/>
          </a:xfrm>
          <a:prstGeom prst="rect">
            <a:avLst/>
          </a:prstGeom>
          <a:noFill/>
        </p:spPr>
        <p:txBody>
          <a:bodyPr wrap="square" lIns="0" rIns="0" tIns="0" bIns="0" anchor="ctr">
            <a:spAutoFit/>
          </a:bodyPr>
          <a:lstStyle/>
          <a:p>
            <a:r>
              <a:rPr sz="1150" b="1">
                <a:solidFill>
                  <a:srgbClr val="19382F"/>
                </a:solidFill>
                <a:latin typeface="Apple SD Gothic Neo"/>
              </a:rPr>
              <a:t>실모델 Ollama (4문항 × 1회)</a:t>
            </a:r>
          </a:p>
        </p:txBody>
      </p:sp>
      <p:sp>
        <p:nvSpPr>
          <p:cNvPr id="40" name="TextBox 39"/>
          <p:cNvSpPr txBox="1"/>
          <p:nvPr/>
        </p:nvSpPr>
        <p:spPr>
          <a:xfrm>
            <a:off x="3931920" y="4754880"/>
            <a:ext cx="4069079" cy="402336"/>
          </a:xfrm>
          <a:prstGeom prst="rect">
            <a:avLst/>
          </a:prstGeom>
          <a:noFill/>
        </p:spPr>
        <p:txBody>
          <a:bodyPr wrap="square" lIns="0" rIns="0" tIns="0" bIns="0" anchor="ctr">
            <a:spAutoFit/>
          </a:bodyPr>
          <a:lstStyle/>
          <a:p>
            <a:r>
              <a:rPr sz="1150" b="0">
                <a:solidFill>
                  <a:srgbClr val="19382F"/>
                </a:solidFill>
                <a:latin typeface="Apple SD Gothic Neo"/>
              </a:rPr>
              <a:t>작성 시도 1.0 → 1.0회 · 42.6 → 43.3초</a:t>
            </a:r>
          </a:p>
        </p:txBody>
      </p:sp>
      <p:sp>
        <p:nvSpPr>
          <p:cNvPr id="41" name="TextBox 40"/>
          <p:cNvSpPr txBox="1"/>
          <p:nvPr/>
        </p:nvSpPr>
        <p:spPr>
          <a:xfrm>
            <a:off x="8138160" y="4754880"/>
            <a:ext cx="3337560" cy="402336"/>
          </a:xfrm>
          <a:prstGeom prst="rect">
            <a:avLst/>
          </a:prstGeom>
          <a:noFill/>
        </p:spPr>
        <p:txBody>
          <a:bodyPr wrap="square" lIns="0" rIns="0" tIns="0" bIns="0" anchor="ctr">
            <a:spAutoFit/>
          </a:bodyPr>
          <a:lstStyle/>
          <a:p>
            <a:r>
              <a:rPr sz="1150" b="0">
                <a:solidFill>
                  <a:srgbClr val="B6503E"/>
                </a:solidFill>
                <a:latin typeface="Apple SD Gothic Neo"/>
              </a:rPr>
              <a:t>실행 간 변동 커서 개선을 주장하지 않음</a:t>
            </a:r>
          </a:p>
        </p:txBody>
      </p:sp>
      <p:sp>
        <p:nvSpPr>
          <p:cNvPr id="42" name="Rectangle 41"/>
          <p:cNvSpPr/>
          <p:nvPr/>
        </p:nvSpPr>
        <p:spPr>
          <a:xfrm>
            <a:off x="640080" y="5157216"/>
            <a:ext cx="10881359" cy="13716"/>
          </a:xfrm>
          <a:prstGeom prst="rect">
            <a:avLst/>
          </a:prstGeom>
          <a:solidFill>
            <a:srgbClr val="B7C4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40080" y="5440680"/>
            <a:ext cx="10881360" cy="822960"/>
          </a:xfrm>
          <a:prstGeom prst="rect">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68680" y="5504688"/>
            <a:ext cx="10424160" cy="731520"/>
          </a:xfrm>
          <a:prstGeom prst="rect">
            <a:avLst/>
          </a:prstGeom>
          <a:noFill/>
        </p:spPr>
        <p:txBody>
          <a:bodyPr wrap="square" lIns="0" rIns="0" tIns="0" bIns="0">
            <a:spAutoFit/>
          </a:bodyPr>
          <a:lstStyle/>
          <a:p>
            <a:pPr>
              <a:spcAft>
                <a:spcPts val="700"/>
              </a:spcAft>
            </a:pPr>
            <a:r>
              <a:rPr sz="1200" b="0">
                <a:solidFill>
                  <a:srgbClr val="19382F"/>
                </a:solidFill>
                <a:latin typeface="Apple SD Gothic Neo"/>
              </a:rPr>
              <a:t>평가 원칙: 규칙을 고치기 전에 사례를 먼저 만들고, 개선 전 검증기를 스냅샷으로 보관해 같은 입력으로 비교했다.</a:t>
            </a:r>
          </a:p>
          <a:p>
            <a:pPr>
              <a:spcAft>
                <a:spcPts val="700"/>
              </a:spcAft>
            </a:pPr>
            <a:r>
              <a:rPr sz="1200" b="0">
                <a:solidFill>
                  <a:srgbClr val="19382F"/>
                </a:solidFill>
                <a:latin typeface="Apple SD Gothic Neo"/>
              </a:rPr>
              <a:t>한계: 사례를 만든 사람과 구현한 사람이 같아 낙관적일 수 있고, 독립 평가셋과 LangSmith 비교 평가는 하지 않았다.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0040"/>
            <a:ext cx="9144000" cy="274320"/>
          </a:xfrm>
          <a:prstGeom prst="rect">
            <a:avLst/>
          </a:prstGeom>
          <a:noFill/>
        </p:spPr>
        <p:txBody>
          <a:bodyPr wrap="square" lIns="0" rIns="0" tIns="0" bIns="0">
            <a:spAutoFit/>
          </a:bodyPr>
          <a:lstStyle/>
          <a:p>
            <a:r>
              <a:rPr sz="1100" b="1">
                <a:solidFill>
                  <a:srgbClr val="16785C"/>
                </a:solidFill>
                <a:latin typeface="Apple SD Gothic Neo"/>
              </a:rPr>
              <a:t>부록 A-4  검증과 실패 처리</a:t>
            </a:r>
          </a:p>
        </p:txBody>
      </p:sp>
      <p:sp>
        <p:nvSpPr>
          <p:cNvPr id="3" name="TextBox 2"/>
          <p:cNvSpPr txBox="1"/>
          <p:nvPr/>
        </p:nvSpPr>
        <p:spPr>
          <a:xfrm>
            <a:off x="594360" y="868680"/>
            <a:ext cx="10972800" cy="914400"/>
          </a:xfrm>
          <a:prstGeom prst="rect">
            <a:avLst/>
          </a:prstGeom>
          <a:noFill/>
        </p:spPr>
        <p:txBody>
          <a:bodyPr wrap="square" lIns="0" rIns="0" tIns="0" bIns="0">
            <a:spAutoFit/>
          </a:bodyPr>
          <a:lstStyle/>
          <a:p>
            <a:r>
              <a:rPr sz="3200" b="1">
                <a:solidFill>
                  <a:srgbClr val="19382F"/>
                </a:solidFill>
                <a:latin typeface="Apple SD Gothic Neo"/>
              </a:rPr>
              <a:t>검증 규칙과 실패 처리</a:t>
            </a:r>
          </a:p>
        </p:txBody>
      </p:sp>
      <p:sp>
        <p:nvSpPr>
          <p:cNvPr id="4" name="TextBox 3"/>
          <p:cNvSpPr txBox="1"/>
          <p:nvPr/>
        </p:nvSpPr>
        <p:spPr>
          <a:xfrm>
            <a:off x="594360" y="6473952"/>
            <a:ext cx="7315200" cy="164592"/>
          </a:xfrm>
          <a:prstGeom prst="rect">
            <a:avLst/>
          </a:prstGeom>
          <a:noFill/>
        </p:spPr>
        <p:txBody>
          <a:bodyPr wrap="square" lIns="0" rIns="0" tIns="0" bIns="0">
            <a:spAutoFit/>
          </a:bodyPr>
          <a:lstStyle/>
          <a:p>
            <a:r>
              <a:rPr sz="900" b="0">
                <a:solidFill>
                  <a:srgbClr val="62746D"/>
                </a:solidFill>
                <a:latin typeface="Apple SD Gothic Neo"/>
              </a:rPr>
              <a:t>AI CAPSTONE  ·  김하연</a:t>
            </a:r>
          </a:p>
        </p:txBody>
      </p:sp>
      <p:sp>
        <p:nvSpPr>
          <p:cNvPr id="5" name="TextBox 4"/>
          <p:cNvSpPr txBox="1"/>
          <p:nvPr/>
        </p:nvSpPr>
        <p:spPr>
          <a:xfrm>
            <a:off x="10835640" y="6473952"/>
            <a:ext cx="777240" cy="164592"/>
          </a:xfrm>
          <a:prstGeom prst="rect">
            <a:avLst/>
          </a:prstGeom>
          <a:noFill/>
        </p:spPr>
        <p:txBody>
          <a:bodyPr wrap="square" lIns="0" rIns="0" tIns="0" bIns="0">
            <a:spAutoFit/>
          </a:bodyPr>
          <a:lstStyle/>
          <a:p>
            <a:r>
              <a:rPr sz="900" b="0">
                <a:solidFill>
                  <a:srgbClr val="62746D"/>
                </a:solidFill>
                <a:latin typeface="Apple SD Gothic Neo"/>
              </a:rPr>
              <a:t>A-4 / A-6</a:t>
            </a:r>
          </a:p>
        </p:txBody>
      </p:sp>
      <p:sp>
        <p:nvSpPr>
          <p:cNvPr id="6" name="TextBox 5"/>
          <p:cNvSpPr txBox="1"/>
          <p:nvPr/>
        </p:nvSpPr>
        <p:spPr>
          <a:xfrm>
            <a:off x="640080" y="1645920"/>
            <a:ext cx="5212080" cy="274320"/>
          </a:xfrm>
          <a:prstGeom prst="rect">
            <a:avLst/>
          </a:prstGeom>
          <a:noFill/>
        </p:spPr>
        <p:txBody>
          <a:bodyPr wrap="square" lIns="0" rIns="0" tIns="0" bIns="0">
            <a:spAutoFit/>
          </a:bodyPr>
          <a:lstStyle/>
          <a:p>
            <a:r>
              <a:rPr sz="1600" b="1">
                <a:solidFill>
                  <a:srgbClr val="16785C"/>
                </a:solidFill>
                <a:latin typeface="Apple SD Gothic Neo"/>
              </a:rPr>
              <a:t>검증 규칙 (verifier.py)</a:t>
            </a:r>
          </a:p>
        </p:txBody>
      </p:sp>
      <p:sp>
        <p:nvSpPr>
          <p:cNvPr id="7" name="TextBox 6"/>
          <p:cNvSpPr txBox="1"/>
          <p:nvPr/>
        </p:nvSpPr>
        <p:spPr>
          <a:xfrm>
            <a:off x="6309360" y="1645920"/>
            <a:ext cx="5212080" cy="274320"/>
          </a:xfrm>
          <a:prstGeom prst="rect">
            <a:avLst/>
          </a:prstGeom>
          <a:noFill/>
        </p:spPr>
        <p:txBody>
          <a:bodyPr wrap="square" lIns="0" rIns="0" tIns="0" bIns="0">
            <a:spAutoFit/>
          </a:bodyPr>
          <a:lstStyle/>
          <a:p>
            <a:r>
              <a:rPr sz="1600" b="1">
                <a:solidFill>
                  <a:srgbClr val="16785C"/>
                </a:solidFill>
                <a:latin typeface="Apple SD Gothic Neo"/>
              </a:rPr>
              <a:t>실패 처리</a:t>
            </a:r>
          </a:p>
        </p:txBody>
      </p:sp>
      <p:sp>
        <p:nvSpPr>
          <p:cNvPr id="8" name="TextBox 7"/>
          <p:cNvSpPr txBox="1"/>
          <p:nvPr/>
        </p:nvSpPr>
        <p:spPr>
          <a:xfrm>
            <a:off x="640080" y="2057400"/>
            <a:ext cx="5212080" cy="4114800"/>
          </a:xfrm>
          <a:prstGeom prst="rect">
            <a:avLst/>
          </a:prstGeom>
          <a:noFill/>
        </p:spPr>
        <p:txBody>
          <a:bodyPr wrap="square" lIns="0" rIns="0" tIns="0" bIns="0">
            <a:spAutoFit/>
          </a:bodyPr>
          <a:lstStyle/>
          <a:p>
            <a:pPr>
              <a:spcAft>
                <a:spcPts val="700"/>
              </a:spcAft>
            </a:pPr>
            <a:r>
              <a:rPr sz="1300" b="0">
                <a:solidFill>
                  <a:srgbClr val="19382F"/>
                </a:solidFill>
                <a:latin typeface="Apple SD Gothic Neo"/>
              </a:rPr>
              <a:t>·  시스템명 · CPU · 메모리 수치를 수집값과 대조</a:t>
            </a:r>
          </a:p>
          <a:p>
            <a:pPr>
              <a:spcAft>
                <a:spcPts val="700"/>
              </a:spcAft>
            </a:pPr>
            <a:r>
              <a:rPr sz="1300" b="0">
                <a:solidFill>
                  <a:srgbClr val="19382F"/>
                </a:solidFill>
                <a:latin typeface="Apple SD Gothic Neo"/>
              </a:rPr>
              <a:t>·  반올림을 고려해 0.5%p 이하 차이는 허용</a:t>
            </a:r>
          </a:p>
          <a:p>
            <a:pPr>
              <a:spcAft>
                <a:spcPts val="700"/>
              </a:spcAft>
            </a:pPr>
            <a:r>
              <a:rPr sz="1300" b="0">
                <a:solidFill>
                  <a:srgbClr val="19382F"/>
                </a:solidFill>
                <a:latin typeface="Apple SD Gothic Neo"/>
              </a:rPr>
              <a:t>·  동의어 · 숫자가 먼저 오는 문장 · 표 · '각각' · 영어 서술을 읽음</a:t>
            </a:r>
          </a:p>
          <a:p>
            <a:pPr>
              <a:spcAft>
                <a:spcPts val="700"/>
              </a:spcAft>
            </a:pPr>
            <a:r>
              <a:rPr sz="1300" b="0">
                <a:solidFill>
                  <a:srgbClr val="19382F"/>
                </a:solidFill>
                <a:latin typeface="Apple SD Gothic Neo"/>
              </a:rPr>
              <a:t>·  임계치 · 조건문 · 부정된 수치는 측정 주장에서 제외 (부정 뒤 수치는 대조)</a:t>
            </a:r>
          </a:p>
          <a:p>
            <a:pPr>
              <a:spcAft>
                <a:spcPts val="700"/>
              </a:spcAft>
            </a:pPr>
            <a:r>
              <a:rPr sz="1300" b="0">
                <a:solidFill>
                  <a:srgbClr val="19382F"/>
                </a:solidFill>
                <a:latin typeface="Apple SD Gothic Neo"/>
              </a:rPr>
              <a:t>·  조회하지 못한 시스템의 수치를 주장하면 반려</a:t>
            </a:r>
          </a:p>
          <a:p>
            <a:pPr>
              <a:spcAft>
                <a:spcPts val="700"/>
              </a:spcAft>
            </a:pPr>
            <a:r>
              <a:rPr sz="1300" b="0">
                <a:solidFill>
                  <a:srgbClr val="19382F"/>
                </a:solidFill>
                <a:latin typeface="Apple SD Gothic Neo"/>
              </a:rPr>
              <a:t>·  시스템명은 수치를 인용할 때만 요구</a:t>
            </a:r>
          </a:p>
          <a:p>
            <a:pPr>
              <a:spcAft>
                <a:spcPts val="700"/>
              </a:spcAft>
            </a:pPr>
            <a:r>
              <a:rPr sz="1300" b="0">
                <a:solidFill>
                  <a:srgbClr val="19382F"/>
                </a:solidFill>
                <a:latin typeface="Apple SD Gothic Neo"/>
              </a:rPr>
              <a:t>·  최초 작성 포함 3회 불일치 시 종료</a:t>
            </a:r>
          </a:p>
        </p:txBody>
      </p:sp>
      <p:sp>
        <p:nvSpPr>
          <p:cNvPr id="9" name="TextBox 8"/>
          <p:cNvSpPr txBox="1"/>
          <p:nvPr/>
        </p:nvSpPr>
        <p:spPr>
          <a:xfrm>
            <a:off x="6309360" y="2057400"/>
            <a:ext cx="5212080" cy="4114800"/>
          </a:xfrm>
          <a:prstGeom prst="rect">
            <a:avLst/>
          </a:prstGeom>
          <a:noFill/>
        </p:spPr>
        <p:txBody>
          <a:bodyPr wrap="square" lIns="0" rIns="0" tIns="0" bIns="0">
            <a:spAutoFit/>
          </a:bodyPr>
          <a:lstStyle/>
          <a:p>
            <a:pPr>
              <a:spcAft>
                <a:spcPts val="700"/>
              </a:spcAft>
            </a:pPr>
            <a:r>
              <a:rPr sz="1300" b="0">
                <a:solidFill>
                  <a:srgbClr val="19382F"/>
                </a:solidFill>
                <a:latin typeface="Apple SD Gothic Neo"/>
              </a:rPr>
              <a:t>·  모니터링 도구는 재시도하고 15초 제한, 의미 검색은 60초 제한</a:t>
            </a:r>
          </a:p>
          <a:p>
            <a:pPr>
              <a:spcAft>
                <a:spcPts val="700"/>
              </a:spcAft>
            </a:pPr>
            <a:r>
              <a:rPr sz="1300" b="0">
                <a:solidFill>
                  <a:srgbClr val="19382F"/>
                </a:solidFill>
                <a:latin typeface="Apple SD Gothic Neo"/>
              </a:rPr>
              <a:t>·  작업별 예외를 격리해 성공한 자료를 유지, 취소 신호는 전파</a:t>
            </a:r>
          </a:p>
          <a:p>
            <a:pPr>
              <a:spcAft>
                <a:spcPts val="700"/>
              </a:spcAft>
            </a:pPr>
            <a:r>
              <a:rPr sz="1300" b="0">
                <a:solidFill>
                  <a:srgbClr val="19382F"/>
                </a:solidFill>
                <a:latin typeface="Apple SD Gothic Neo"/>
              </a:rPr>
              <a:t>·  실패한 대상은 이벤트와 최종 답변에 한계로 표시</a:t>
            </a:r>
          </a:p>
          <a:p>
            <a:pPr>
              <a:spcAft>
                <a:spcPts val="700"/>
              </a:spcAft>
            </a:pPr>
            <a:r>
              <a:rPr sz="1300" b="0">
                <a:solidFill>
                  <a:srgbClr val="19382F"/>
                </a:solidFill>
                <a:latin typeface="Apple SD Gothic Neo"/>
              </a:rPr>
              <a:t>·  근거가 0건이면 작성을 생략하고 '자료 부족 · 검증 불가'로 종료</a:t>
            </a:r>
          </a:p>
          <a:p>
            <a:pPr>
              <a:spcAft>
                <a:spcPts val="700"/>
              </a:spcAft>
            </a:pPr>
            <a:r>
              <a:rPr sz="1300" b="0">
                <a:solidFill>
                  <a:srgbClr val="19382F"/>
                </a:solidFill>
                <a:latin typeface="Apple SD Gothic Neo"/>
              </a:rPr>
              <a:t>·  3회 불일치 시 강제 합격 대신 사유와 수집값을 안내</a:t>
            </a:r>
          </a:p>
          <a:p>
            <a:pPr>
              <a:spcAft>
                <a:spcPts val="700"/>
              </a:spcAft>
            </a:pPr>
            <a:r>
              <a:rPr sz="1300" b="0">
                <a:solidFill>
                  <a:srgbClr val="19382F"/>
                </a:solidFill>
                <a:latin typeface="Apple SD Gothic Neo"/>
              </a:rPr>
              <a:t>·  목록에 없는 시스템은 다른 시스템으로 바꾸지 않고 조사 실패로 안내</a:t>
            </a:r>
          </a:p>
        </p:txBody>
      </p:sp>
      <p:sp>
        <p:nvSpPr>
          <p:cNvPr id="10" name="Rectangle 9"/>
          <p:cNvSpPr/>
          <p:nvPr/>
        </p:nvSpPr>
        <p:spPr>
          <a:xfrm>
            <a:off x="640080" y="5532120"/>
            <a:ext cx="10881360" cy="13716"/>
          </a:xfrm>
          <a:prstGeom prst="rect">
            <a:avLst/>
          </a:prstGeom>
          <a:solidFill>
            <a:srgbClr val="B7C4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669280"/>
            <a:ext cx="10881360" cy="640080"/>
          </a:xfrm>
          <a:prstGeom prst="rect">
            <a:avLst/>
          </a:prstGeom>
          <a:noFill/>
        </p:spPr>
        <p:txBody>
          <a:bodyPr wrap="square" lIns="0" rIns="0" tIns="0" bIns="0">
            <a:spAutoFit/>
          </a:bodyPr>
          <a:lstStyle/>
          <a:p>
            <a:r>
              <a:rPr sz="1200" b="0">
                <a:solidFill>
                  <a:srgbClr val="B6503E"/>
                </a:solidFill>
                <a:latin typeface="Apple SD Gothic Neo"/>
              </a:rPr>
              <a:t>알려진 한계: 수치를 직전에 나온 시스템명에 연결해서, 조회하지 못한 시스템 설명 뒤에 다른 시스템 수치가 오면 정상 서술도 반려될 수 있고 'customer-service', 'top-10' 같은 일반 표현을 시스템으로 오인한다.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0040"/>
            <a:ext cx="9144000" cy="274320"/>
          </a:xfrm>
          <a:prstGeom prst="rect">
            <a:avLst/>
          </a:prstGeom>
          <a:noFill/>
        </p:spPr>
        <p:txBody>
          <a:bodyPr wrap="square" lIns="0" rIns="0" tIns="0" bIns="0">
            <a:spAutoFit/>
          </a:bodyPr>
          <a:lstStyle/>
          <a:p>
            <a:r>
              <a:rPr sz="1100" b="1">
                <a:solidFill>
                  <a:srgbClr val="16785C"/>
                </a:solidFill>
                <a:latin typeface="Apple SD Gothic Neo"/>
              </a:rPr>
              <a:t>부록 A-5  재현과 자료</a:t>
            </a:r>
          </a:p>
        </p:txBody>
      </p:sp>
      <p:sp>
        <p:nvSpPr>
          <p:cNvPr id="3" name="TextBox 2"/>
          <p:cNvSpPr txBox="1"/>
          <p:nvPr/>
        </p:nvSpPr>
        <p:spPr>
          <a:xfrm>
            <a:off x="594360" y="868680"/>
            <a:ext cx="10972800" cy="914400"/>
          </a:xfrm>
          <a:prstGeom prst="rect">
            <a:avLst/>
          </a:prstGeom>
          <a:noFill/>
        </p:spPr>
        <p:txBody>
          <a:bodyPr wrap="square" lIns="0" rIns="0" tIns="0" bIns="0">
            <a:spAutoFit/>
          </a:bodyPr>
          <a:lstStyle/>
          <a:p>
            <a:r>
              <a:rPr sz="3200" b="1">
                <a:solidFill>
                  <a:srgbClr val="19382F"/>
                </a:solidFill>
                <a:latin typeface="Apple SD Gothic Neo"/>
              </a:rPr>
              <a:t>재현 방법과 근거 자료</a:t>
            </a:r>
          </a:p>
        </p:txBody>
      </p:sp>
      <p:sp>
        <p:nvSpPr>
          <p:cNvPr id="4" name="TextBox 3"/>
          <p:cNvSpPr txBox="1"/>
          <p:nvPr/>
        </p:nvSpPr>
        <p:spPr>
          <a:xfrm>
            <a:off x="594360" y="6473952"/>
            <a:ext cx="7315200" cy="164592"/>
          </a:xfrm>
          <a:prstGeom prst="rect">
            <a:avLst/>
          </a:prstGeom>
          <a:noFill/>
        </p:spPr>
        <p:txBody>
          <a:bodyPr wrap="square" lIns="0" rIns="0" tIns="0" bIns="0">
            <a:spAutoFit/>
          </a:bodyPr>
          <a:lstStyle/>
          <a:p>
            <a:r>
              <a:rPr sz="900" b="0">
                <a:solidFill>
                  <a:srgbClr val="62746D"/>
                </a:solidFill>
                <a:latin typeface="Apple SD Gothic Neo"/>
              </a:rPr>
              <a:t>AI CAPSTONE  ·  김하연</a:t>
            </a:r>
          </a:p>
        </p:txBody>
      </p:sp>
      <p:sp>
        <p:nvSpPr>
          <p:cNvPr id="5" name="TextBox 4"/>
          <p:cNvSpPr txBox="1"/>
          <p:nvPr/>
        </p:nvSpPr>
        <p:spPr>
          <a:xfrm>
            <a:off x="10835640" y="6473952"/>
            <a:ext cx="777240" cy="164592"/>
          </a:xfrm>
          <a:prstGeom prst="rect">
            <a:avLst/>
          </a:prstGeom>
          <a:noFill/>
        </p:spPr>
        <p:txBody>
          <a:bodyPr wrap="square" lIns="0" rIns="0" tIns="0" bIns="0">
            <a:spAutoFit/>
          </a:bodyPr>
          <a:lstStyle/>
          <a:p>
            <a:r>
              <a:rPr sz="900" b="0">
                <a:solidFill>
                  <a:srgbClr val="62746D"/>
                </a:solidFill>
                <a:latin typeface="Apple SD Gothic Neo"/>
              </a:rPr>
              <a:t>A-5 / A-6</a:t>
            </a:r>
          </a:p>
        </p:txBody>
      </p:sp>
      <p:sp>
        <p:nvSpPr>
          <p:cNvPr id="6" name="TextBox 5"/>
          <p:cNvSpPr txBox="1"/>
          <p:nvPr/>
        </p:nvSpPr>
        <p:spPr>
          <a:xfrm>
            <a:off x="640080" y="1645920"/>
            <a:ext cx="5212080" cy="274320"/>
          </a:xfrm>
          <a:prstGeom prst="rect">
            <a:avLst/>
          </a:prstGeom>
          <a:noFill/>
        </p:spPr>
        <p:txBody>
          <a:bodyPr wrap="square" lIns="0" rIns="0" tIns="0" bIns="0">
            <a:spAutoFit/>
          </a:bodyPr>
          <a:lstStyle/>
          <a:p>
            <a:r>
              <a:rPr sz="1400" b="1">
                <a:solidFill>
                  <a:srgbClr val="62746D"/>
                </a:solidFill>
                <a:latin typeface="Apple SD Gothic Neo"/>
              </a:rPr>
              <a:t>공개 저장소</a:t>
            </a:r>
          </a:p>
        </p:txBody>
      </p:sp>
      <p:sp>
        <p:nvSpPr>
          <p:cNvPr id="7" name="TextBox 6"/>
          <p:cNvSpPr txBox="1"/>
          <p:nvPr/>
        </p:nvSpPr>
        <p:spPr>
          <a:xfrm>
            <a:off x="640080" y="1965960"/>
            <a:ext cx="5394960" cy="365760"/>
          </a:xfrm>
          <a:prstGeom prst="rect">
            <a:avLst/>
          </a:prstGeom>
          <a:noFill/>
        </p:spPr>
        <p:txBody>
          <a:bodyPr wrap="square" lIns="0" rIns="0" tIns="0" bIns="0">
            <a:spAutoFit/>
          </a:bodyPr>
          <a:lstStyle/>
          <a:p>
            <a:r>
              <a:rPr sz="2000" b="1">
                <a:solidFill>
                  <a:srgbClr val="16785C"/>
                </a:solidFill>
                <a:latin typeface="Apple SD Gothic Neo"/>
              </a:rPr>
              <a:t>github.com/gkyeon/ai-capstone-gkyeon</a:t>
            </a:r>
          </a:p>
        </p:txBody>
      </p:sp>
      <p:sp>
        <p:nvSpPr>
          <p:cNvPr id="8" name="TextBox 7"/>
          <p:cNvSpPr txBox="1"/>
          <p:nvPr/>
        </p:nvSpPr>
        <p:spPr>
          <a:xfrm>
            <a:off x="640080" y="2606040"/>
            <a:ext cx="5212080" cy="274320"/>
          </a:xfrm>
          <a:prstGeom prst="rect">
            <a:avLst/>
          </a:prstGeom>
          <a:noFill/>
        </p:spPr>
        <p:txBody>
          <a:bodyPr wrap="square" lIns="0" rIns="0" tIns="0" bIns="0">
            <a:spAutoFit/>
          </a:bodyPr>
          <a:lstStyle/>
          <a:p>
            <a:r>
              <a:rPr sz="1400" b="1">
                <a:solidFill>
                  <a:srgbClr val="62746D"/>
                </a:solidFill>
                <a:latin typeface="Apple SD Gothic Neo"/>
              </a:rPr>
              <a:t>이 저장소만으로 재현되는 것</a:t>
            </a:r>
          </a:p>
        </p:txBody>
      </p:sp>
      <p:sp>
        <p:nvSpPr>
          <p:cNvPr id="9" name="Rounded Rectangle 8"/>
          <p:cNvSpPr/>
          <p:nvPr/>
        </p:nvSpPr>
        <p:spPr>
          <a:xfrm>
            <a:off x="640080" y="2926080"/>
            <a:ext cx="5120640" cy="457200"/>
          </a:xfrm>
          <a:prstGeom prst="roundRect">
            <a:avLst/>
          </a:prstGeom>
          <a:solidFill>
            <a:srgbClr val="193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926080"/>
            <a:ext cx="4846320" cy="457200"/>
          </a:xfrm>
          <a:prstGeom prst="rect">
            <a:avLst/>
          </a:prstGeom>
          <a:noFill/>
        </p:spPr>
        <p:txBody>
          <a:bodyPr wrap="square" lIns="0" rIns="0" tIns="0" bIns="0" anchor="ctr">
            <a:spAutoFit/>
          </a:bodyPr>
          <a:lstStyle/>
          <a:p>
            <a:r>
              <a:rPr sz="1400" b="1">
                <a:solidFill>
                  <a:srgbClr val="FFFFFF"/>
                </a:solidFill>
                <a:latin typeface="Menlo"/>
              </a:rPr>
              <a:t>python3 eval/eval_verifier_v2.py</a:t>
            </a:r>
          </a:p>
        </p:txBody>
      </p:sp>
      <p:sp>
        <p:nvSpPr>
          <p:cNvPr id="11" name="TextBox 10"/>
          <p:cNvSpPr txBox="1"/>
          <p:nvPr/>
        </p:nvSpPr>
        <p:spPr>
          <a:xfrm>
            <a:off x="640080" y="3493008"/>
            <a:ext cx="5120640" cy="502920"/>
          </a:xfrm>
          <a:prstGeom prst="rect">
            <a:avLst/>
          </a:prstGeom>
          <a:noFill/>
        </p:spPr>
        <p:txBody>
          <a:bodyPr wrap="square" lIns="0" rIns="0" tIns="0" bIns="0">
            <a:spAutoFit/>
          </a:bodyPr>
          <a:lstStyle/>
          <a:p>
            <a:r>
              <a:rPr sz="1300" b="0">
                <a:solidFill>
                  <a:srgbClr val="19382F"/>
                </a:solidFill>
                <a:latin typeface="Apple SD Gothic Neo"/>
              </a:rPr>
              <a:t>검증기 개선 전후 42개 사례 비교</a:t>
            </a:r>
          </a:p>
        </p:txBody>
      </p:sp>
      <p:sp>
        <p:nvSpPr>
          <p:cNvPr id="12" name="TextBox 11"/>
          <p:cNvSpPr txBox="1"/>
          <p:nvPr/>
        </p:nvSpPr>
        <p:spPr>
          <a:xfrm>
            <a:off x="640080" y="4114800"/>
            <a:ext cx="5212080" cy="274320"/>
          </a:xfrm>
          <a:prstGeom prst="rect">
            <a:avLst/>
          </a:prstGeom>
          <a:noFill/>
        </p:spPr>
        <p:txBody>
          <a:bodyPr wrap="square" lIns="0" rIns="0" tIns="0" bIns="0">
            <a:spAutoFit/>
          </a:bodyPr>
          <a:lstStyle/>
          <a:p>
            <a:r>
              <a:rPr sz="1400" b="1">
                <a:solidFill>
                  <a:srgbClr val="62746D"/>
                </a:solidFill>
                <a:latin typeface="Apple SD Gothic Neo"/>
              </a:rPr>
              <a:t>수업 제공 프로젝트가 필요한 것</a:t>
            </a:r>
          </a:p>
        </p:txBody>
      </p:sp>
      <p:sp>
        <p:nvSpPr>
          <p:cNvPr id="13" name="TextBox 12"/>
          <p:cNvSpPr txBox="1"/>
          <p:nvPr/>
        </p:nvSpPr>
        <p:spPr>
          <a:xfrm>
            <a:off x="640080" y="4434840"/>
            <a:ext cx="5120640" cy="1463040"/>
          </a:xfrm>
          <a:prstGeom prst="rect">
            <a:avLst/>
          </a:prstGeom>
          <a:noFill/>
        </p:spPr>
        <p:txBody>
          <a:bodyPr wrap="square" lIns="0" rIns="0" tIns="0" bIns="0">
            <a:spAutoFit/>
          </a:bodyPr>
          <a:lstStyle/>
          <a:p>
            <a:pPr>
              <a:spcAft>
                <a:spcPts val="700"/>
              </a:spcAft>
            </a:pPr>
            <a:r>
              <a:rPr sz="1300" b="0">
                <a:solidFill>
                  <a:srgbClr val="19382F"/>
                </a:solidFill>
                <a:latin typeface="Apple SD Gothic Neo"/>
              </a:rPr>
              <a:t>나머지 평가와 화면 실행</a:t>
            </a:r>
          </a:p>
          <a:p>
            <a:pPr>
              <a:spcAft>
                <a:spcPts val="700"/>
              </a:spcAft>
            </a:pPr>
            <a:r>
              <a:rPr sz="1300" b="0">
                <a:solidFill>
                  <a:srgbClr val="19382F"/>
                </a:solidFill>
                <a:latin typeface="Apple SD Gothic Neo"/>
              </a:rPr>
              <a:t>저장소에는 제공 코드를 넣지 않았고, 저장된 결과 파일로 확인할 수 있음</a:t>
            </a:r>
          </a:p>
        </p:txBody>
      </p:sp>
      <p:sp>
        <p:nvSpPr>
          <p:cNvPr id="14" name="Rectangle 13"/>
          <p:cNvSpPr/>
          <p:nvPr/>
        </p:nvSpPr>
        <p:spPr>
          <a:xfrm>
            <a:off x="6309360" y="1645920"/>
            <a:ext cx="5212080" cy="292608"/>
          </a:xfrm>
          <a:prstGeom prst="rect">
            <a:avLst/>
          </a:prstGeom>
          <a:solidFill>
            <a:srgbClr val="193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645920"/>
            <a:ext cx="2011680" cy="292608"/>
          </a:xfrm>
          <a:prstGeom prst="rect">
            <a:avLst/>
          </a:prstGeom>
          <a:noFill/>
        </p:spPr>
        <p:txBody>
          <a:bodyPr wrap="square" lIns="0" rIns="0" tIns="0" bIns="0" anchor="ctr">
            <a:spAutoFit/>
          </a:bodyPr>
          <a:lstStyle/>
          <a:p>
            <a:r>
              <a:rPr sz="1150" b="1">
                <a:solidFill>
                  <a:srgbClr val="FFFFFF"/>
                </a:solidFill>
                <a:latin typeface="Apple SD Gothic Neo"/>
              </a:rPr>
              <a:t>근거</a:t>
            </a:r>
          </a:p>
        </p:txBody>
      </p:sp>
      <p:sp>
        <p:nvSpPr>
          <p:cNvPr id="16" name="TextBox 15"/>
          <p:cNvSpPr txBox="1"/>
          <p:nvPr/>
        </p:nvSpPr>
        <p:spPr>
          <a:xfrm>
            <a:off x="8549640" y="1645920"/>
            <a:ext cx="2926080" cy="292608"/>
          </a:xfrm>
          <a:prstGeom prst="rect">
            <a:avLst/>
          </a:prstGeom>
          <a:noFill/>
        </p:spPr>
        <p:txBody>
          <a:bodyPr wrap="square" lIns="0" rIns="0" tIns="0" bIns="0" anchor="ctr">
            <a:spAutoFit/>
          </a:bodyPr>
          <a:lstStyle/>
          <a:p>
            <a:r>
              <a:rPr sz="1150" b="1">
                <a:solidFill>
                  <a:srgbClr val="FFFFFF"/>
                </a:solidFill>
                <a:latin typeface="Apple SD Gothic Neo"/>
              </a:rPr>
              <a:t>파일</a:t>
            </a:r>
          </a:p>
        </p:txBody>
      </p:sp>
      <p:sp>
        <p:nvSpPr>
          <p:cNvPr id="17" name="Rectangle 16"/>
          <p:cNvSpPr/>
          <p:nvPr/>
        </p:nvSpPr>
        <p:spPr>
          <a:xfrm>
            <a:off x="6309360" y="1938528"/>
            <a:ext cx="5212080" cy="457200"/>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0" y="1938528"/>
            <a:ext cx="2011680" cy="457200"/>
          </a:xfrm>
          <a:prstGeom prst="rect">
            <a:avLst/>
          </a:prstGeom>
          <a:noFill/>
        </p:spPr>
        <p:txBody>
          <a:bodyPr wrap="square" lIns="0" rIns="0" tIns="0" bIns="0" anchor="ctr">
            <a:spAutoFit/>
          </a:bodyPr>
          <a:lstStyle/>
          <a:p>
            <a:r>
              <a:rPr sz="1100" b="1">
                <a:solidFill>
                  <a:srgbClr val="19382F"/>
                </a:solidFill>
                <a:latin typeface="Apple SD Gothic Neo"/>
              </a:rPr>
              <a:t>17개 입력 · 그래프 전체 실행</a:t>
            </a:r>
          </a:p>
        </p:txBody>
      </p:sp>
      <p:sp>
        <p:nvSpPr>
          <p:cNvPr id="19" name="TextBox 18"/>
          <p:cNvSpPr txBox="1"/>
          <p:nvPr/>
        </p:nvSpPr>
        <p:spPr>
          <a:xfrm>
            <a:off x="8549640" y="1938528"/>
            <a:ext cx="2926080" cy="457200"/>
          </a:xfrm>
          <a:prstGeom prst="rect">
            <a:avLst/>
          </a:prstGeom>
          <a:noFill/>
        </p:spPr>
        <p:txBody>
          <a:bodyPr wrap="square" lIns="0" rIns="0" tIns="0" bIns="0" anchor="ctr">
            <a:spAutoFit/>
          </a:bodyPr>
          <a:lstStyle/>
          <a:p>
            <a:r>
              <a:rPr sz="1100" b="0">
                <a:solidFill>
                  <a:srgbClr val="62746D"/>
                </a:solidFill>
                <a:latin typeface="Apple SD Gothic Neo"/>
              </a:rPr>
              <a:t>eval/results.md</a:t>
            </a:r>
          </a:p>
        </p:txBody>
      </p:sp>
      <p:sp>
        <p:nvSpPr>
          <p:cNvPr id="20" name="Rectangle 19"/>
          <p:cNvSpPr/>
          <p:nvPr/>
        </p:nvSpPr>
        <p:spPr>
          <a:xfrm>
            <a:off x="6309360" y="2395728"/>
            <a:ext cx="521208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0" y="2395728"/>
            <a:ext cx="2011680" cy="457200"/>
          </a:xfrm>
          <a:prstGeom prst="rect">
            <a:avLst/>
          </a:prstGeom>
          <a:noFill/>
        </p:spPr>
        <p:txBody>
          <a:bodyPr wrap="square" lIns="0" rIns="0" tIns="0" bIns="0" anchor="ctr">
            <a:spAutoFit/>
          </a:bodyPr>
          <a:lstStyle/>
          <a:p>
            <a:r>
              <a:rPr sz="1100" b="1">
                <a:solidFill>
                  <a:srgbClr val="19382F"/>
                </a:solidFill>
                <a:latin typeface="Apple SD Gothic Neo"/>
              </a:rPr>
              <a:t>검증기 개선 전후 기준선</a:t>
            </a:r>
          </a:p>
        </p:txBody>
      </p:sp>
      <p:sp>
        <p:nvSpPr>
          <p:cNvPr id="22" name="TextBox 21"/>
          <p:cNvSpPr txBox="1"/>
          <p:nvPr/>
        </p:nvSpPr>
        <p:spPr>
          <a:xfrm>
            <a:off x="8549640" y="2395728"/>
            <a:ext cx="2926080" cy="457200"/>
          </a:xfrm>
          <a:prstGeom prst="rect">
            <a:avLst/>
          </a:prstGeom>
          <a:noFill/>
        </p:spPr>
        <p:txBody>
          <a:bodyPr wrap="square" lIns="0" rIns="0" tIns="0" bIns="0" anchor="ctr">
            <a:spAutoFit/>
          </a:bodyPr>
          <a:lstStyle/>
          <a:p>
            <a:r>
              <a:rPr sz="1100" b="0">
                <a:solidFill>
                  <a:srgbClr val="62746D"/>
                </a:solidFill>
                <a:latin typeface="Apple SD Gothic Neo"/>
              </a:rPr>
              <a:t>eval/baseline/ · eval_verifier_v2.py</a:t>
            </a:r>
          </a:p>
        </p:txBody>
      </p:sp>
      <p:sp>
        <p:nvSpPr>
          <p:cNvPr id="23" name="Rectangle 22"/>
          <p:cNvSpPr/>
          <p:nvPr/>
        </p:nvSpPr>
        <p:spPr>
          <a:xfrm>
            <a:off x="6309360" y="2852928"/>
            <a:ext cx="5212080" cy="457200"/>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0" y="2852928"/>
            <a:ext cx="2011680" cy="457200"/>
          </a:xfrm>
          <a:prstGeom prst="rect">
            <a:avLst/>
          </a:prstGeom>
          <a:noFill/>
        </p:spPr>
        <p:txBody>
          <a:bodyPr wrap="square" lIns="0" rIns="0" tIns="0" bIns="0" anchor="ctr">
            <a:spAutoFit/>
          </a:bodyPr>
          <a:lstStyle/>
          <a:p>
            <a:r>
              <a:rPr sz="1100" b="1">
                <a:solidFill>
                  <a:srgbClr val="19382F"/>
                </a:solidFill>
                <a:latin typeface="Apple SD Gothic Neo"/>
              </a:rPr>
              <a:t>매뉴얼 검색 14개</a:t>
            </a:r>
          </a:p>
        </p:txBody>
      </p:sp>
      <p:sp>
        <p:nvSpPr>
          <p:cNvPr id="25" name="TextBox 24"/>
          <p:cNvSpPr txBox="1"/>
          <p:nvPr/>
        </p:nvSpPr>
        <p:spPr>
          <a:xfrm>
            <a:off x="8549640" y="2852928"/>
            <a:ext cx="2926080" cy="457200"/>
          </a:xfrm>
          <a:prstGeom prst="rect">
            <a:avLst/>
          </a:prstGeom>
          <a:noFill/>
        </p:spPr>
        <p:txBody>
          <a:bodyPr wrap="square" lIns="0" rIns="0" tIns="0" bIns="0" anchor="ctr">
            <a:spAutoFit/>
          </a:bodyPr>
          <a:lstStyle/>
          <a:p>
            <a:r>
              <a:rPr sz="1100" b="0">
                <a:solidFill>
                  <a:srgbClr val="62746D"/>
                </a:solidFill>
                <a:latin typeface="Apple SD Gothic Neo"/>
              </a:rPr>
              <a:t>eval/search-evaluation-20261021.json</a:t>
            </a:r>
          </a:p>
        </p:txBody>
      </p:sp>
      <p:sp>
        <p:nvSpPr>
          <p:cNvPr id="26" name="Rectangle 25"/>
          <p:cNvSpPr/>
          <p:nvPr/>
        </p:nvSpPr>
        <p:spPr>
          <a:xfrm>
            <a:off x="6309360" y="3310128"/>
            <a:ext cx="521208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0" y="3310128"/>
            <a:ext cx="2011680" cy="457200"/>
          </a:xfrm>
          <a:prstGeom prst="rect">
            <a:avLst/>
          </a:prstGeom>
          <a:noFill/>
        </p:spPr>
        <p:txBody>
          <a:bodyPr wrap="square" lIns="0" rIns="0" tIns="0" bIns="0" anchor="ctr">
            <a:spAutoFit/>
          </a:bodyPr>
          <a:lstStyle/>
          <a:p>
            <a:r>
              <a:rPr sz="1100" b="1">
                <a:solidFill>
                  <a:srgbClr val="19382F"/>
                </a:solidFill>
                <a:latin typeface="Apple SD Gothic Neo"/>
              </a:rPr>
              <a:t>대상 시스템 해석 전후</a:t>
            </a:r>
          </a:p>
        </p:txBody>
      </p:sp>
      <p:sp>
        <p:nvSpPr>
          <p:cNvPr id="28" name="TextBox 27"/>
          <p:cNvSpPr txBox="1"/>
          <p:nvPr/>
        </p:nvSpPr>
        <p:spPr>
          <a:xfrm>
            <a:off x="8549640" y="3310128"/>
            <a:ext cx="2926080" cy="457200"/>
          </a:xfrm>
          <a:prstGeom prst="rect">
            <a:avLst/>
          </a:prstGeom>
          <a:noFill/>
        </p:spPr>
        <p:txBody>
          <a:bodyPr wrap="square" lIns="0" rIns="0" tIns="0" bIns="0" anchor="ctr">
            <a:spAutoFit/>
          </a:bodyPr>
          <a:lstStyle/>
          <a:p>
            <a:r>
              <a:rPr sz="1100" b="0">
                <a:solidFill>
                  <a:srgbClr val="62746D"/>
                </a:solidFill>
                <a:latin typeface="Apple SD Gothic Neo"/>
              </a:rPr>
              <a:t>eval/targets-*-20261021.json</a:t>
            </a:r>
          </a:p>
        </p:txBody>
      </p:sp>
      <p:sp>
        <p:nvSpPr>
          <p:cNvPr id="29" name="Rectangle 28"/>
          <p:cNvSpPr/>
          <p:nvPr/>
        </p:nvSpPr>
        <p:spPr>
          <a:xfrm>
            <a:off x="6309360" y="3767328"/>
            <a:ext cx="5212080" cy="457200"/>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0" y="3767328"/>
            <a:ext cx="2011680" cy="457200"/>
          </a:xfrm>
          <a:prstGeom prst="rect">
            <a:avLst/>
          </a:prstGeom>
          <a:noFill/>
        </p:spPr>
        <p:txBody>
          <a:bodyPr wrap="square" lIns="0" rIns="0" tIns="0" bIns="0" anchor="ctr">
            <a:spAutoFit/>
          </a:bodyPr>
          <a:lstStyle/>
          <a:p>
            <a:r>
              <a:rPr sz="1100" b="1">
                <a:solidFill>
                  <a:srgbClr val="19382F"/>
                </a:solidFill>
                <a:latin typeface="Apple SD Gothic Neo"/>
              </a:rPr>
              <a:t>실모델(Ollama) 실행 원본</a:t>
            </a:r>
          </a:p>
        </p:txBody>
      </p:sp>
      <p:sp>
        <p:nvSpPr>
          <p:cNvPr id="31" name="TextBox 30"/>
          <p:cNvSpPr txBox="1"/>
          <p:nvPr/>
        </p:nvSpPr>
        <p:spPr>
          <a:xfrm>
            <a:off x="8549640" y="3767328"/>
            <a:ext cx="2926080" cy="457200"/>
          </a:xfrm>
          <a:prstGeom prst="rect">
            <a:avLst/>
          </a:prstGeom>
          <a:noFill/>
        </p:spPr>
        <p:txBody>
          <a:bodyPr wrap="square" lIns="0" rIns="0" tIns="0" bIns="0" anchor="ctr">
            <a:spAutoFit/>
          </a:bodyPr>
          <a:lstStyle/>
          <a:p>
            <a:r>
              <a:rPr sz="1100" b="0">
                <a:solidFill>
                  <a:srgbClr val="62746D"/>
                </a:solidFill>
                <a:latin typeface="Apple SD Gothic Neo"/>
              </a:rPr>
              <a:t>eval/ollama-live-20261021*.json</a:t>
            </a:r>
          </a:p>
        </p:txBody>
      </p:sp>
      <p:sp>
        <p:nvSpPr>
          <p:cNvPr id="32" name="Rectangle 31"/>
          <p:cNvSpPr/>
          <p:nvPr/>
        </p:nvSpPr>
        <p:spPr>
          <a:xfrm>
            <a:off x="6309360" y="4224528"/>
            <a:ext cx="521208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0" y="4224528"/>
            <a:ext cx="2011680" cy="457200"/>
          </a:xfrm>
          <a:prstGeom prst="rect">
            <a:avLst/>
          </a:prstGeom>
          <a:noFill/>
        </p:spPr>
        <p:txBody>
          <a:bodyPr wrap="square" lIns="0" rIns="0" tIns="0" bIns="0" anchor="ctr">
            <a:spAutoFit/>
          </a:bodyPr>
          <a:lstStyle/>
          <a:p>
            <a:r>
              <a:rPr sz="1100" b="1">
                <a:solidFill>
                  <a:srgbClr val="19382F"/>
                </a:solidFill>
                <a:latin typeface="Apple SD Gothic Neo"/>
              </a:rPr>
              <a:t>근거 0건 조기 종료</a:t>
            </a:r>
          </a:p>
        </p:txBody>
      </p:sp>
      <p:sp>
        <p:nvSpPr>
          <p:cNvPr id="34" name="TextBox 33"/>
          <p:cNvSpPr txBox="1"/>
          <p:nvPr/>
        </p:nvSpPr>
        <p:spPr>
          <a:xfrm>
            <a:off x="8549640" y="4224528"/>
            <a:ext cx="2926080" cy="457200"/>
          </a:xfrm>
          <a:prstGeom prst="rect">
            <a:avLst/>
          </a:prstGeom>
          <a:noFill/>
        </p:spPr>
        <p:txBody>
          <a:bodyPr wrap="square" lIns="0" rIns="0" tIns="0" bIns="0" anchor="ctr">
            <a:spAutoFit/>
          </a:bodyPr>
          <a:lstStyle/>
          <a:p>
            <a:r>
              <a:rPr sz="1100" b="0">
                <a:solidFill>
                  <a:srgbClr val="62746D"/>
                </a:solidFill>
                <a:latin typeface="Apple SD Gothic Neo"/>
              </a:rPr>
              <a:t>eval/ollama-live-evidence-gate-*.json</a:t>
            </a:r>
          </a:p>
        </p:txBody>
      </p:sp>
      <p:sp>
        <p:nvSpPr>
          <p:cNvPr id="35" name="Rectangle 34"/>
          <p:cNvSpPr/>
          <p:nvPr/>
        </p:nvSpPr>
        <p:spPr>
          <a:xfrm>
            <a:off x="6309360" y="4681728"/>
            <a:ext cx="5212080" cy="457200"/>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00800" y="4681728"/>
            <a:ext cx="2011680" cy="457200"/>
          </a:xfrm>
          <a:prstGeom prst="rect">
            <a:avLst/>
          </a:prstGeom>
          <a:noFill/>
        </p:spPr>
        <p:txBody>
          <a:bodyPr wrap="square" lIns="0" rIns="0" tIns="0" bIns="0" anchor="ctr">
            <a:spAutoFit/>
          </a:bodyPr>
          <a:lstStyle/>
          <a:p>
            <a:r>
              <a:rPr sz="1100" b="1">
                <a:solidFill>
                  <a:srgbClr val="19382F"/>
                </a:solidFill>
                <a:latin typeface="Apple SD Gothic Neo"/>
              </a:rPr>
              <a:t>병렬 · 비용 · 임베딩 측정</a:t>
            </a:r>
          </a:p>
        </p:txBody>
      </p:sp>
      <p:sp>
        <p:nvSpPr>
          <p:cNvPr id="37" name="TextBox 36"/>
          <p:cNvSpPr txBox="1"/>
          <p:nvPr/>
        </p:nvSpPr>
        <p:spPr>
          <a:xfrm>
            <a:off x="8549640" y="4681728"/>
            <a:ext cx="2926080" cy="457200"/>
          </a:xfrm>
          <a:prstGeom prst="rect">
            <a:avLst/>
          </a:prstGeom>
          <a:noFill/>
        </p:spPr>
        <p:txBody>
          <a:bodyPr wrap="square" lIns="0" rIns="0" tIns="0" bIns="0" anchor="ctr">
            <a:spAutoFit/>
          </a:bodyPr>
          <a:lstStyle/>
          <a:p>
            <a:r>
              <a:rPr sz="1100" b="0">
                <a:solidFill>
                  <a:srgbClr val="62746D"/>
                </a:solidFill>
                <a:latin typeface="Apple SD Gothic Neo"/>
              </a:rPr>
              <a:t>eval/bonus-measure-*.md, embedding-cost-*.md</a:t>
            </a:r>
          </a:p>
        </p:txBody>
      </p:sp>
      <p:sp>
        <p:nvSpPr>
          <p:cNvPr id="38" name="Rectangle 37"/>
          <p:cNvSpPr/>
          <p:nvPr/>
        </p:nvSpPr>
        <p:spPr>
          <a:xfrm>
            <a:off x="6309360" y="5138928"/>
            <a:ext cx="521208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0800" y="5138928"/>
            <a:ext cx="2011680" cy="457200"/>
          </a:xfrm>
          <a:prstGeom prst="rect">
            <a:avLst/>
          </a:prstGeom>
          <a:noFill/>
        </p:spPr>
        <p:txBody>
          <a:bodyPr wrap="square" lIns="0" rIns="0" tIns="0" bIns="0" anchor="ctr">
            <a:spAutoFit/>
          </a:bodyPr>
          <a:lstStyle/>
          <a:p>
            <a:r>
              <a:rPr sz="1100" b="1">
                <a:solidFill>
                  <a:srgbClr val="19382F"/>
                </a:solidFill>
                <a:latin typeface="Apple SD Gothic Neo"/>
              </a:rPr>
              <a:t>설계 결정 · 결과보고서</a:t>
            </a:r>
          </a:p>
        </p:txBody>
      </p:sp>
      <p:sp>
        <p:nvSpPr>
          <p:cNvPr id="40" name="TextBox 39"/>
          <p:cNvSpPr txBox="1"/>
          <p:nvPr/>
        </p:nvSpPr>
        <p:spPr>
          <a:xfrm>
            <a:off x="8549640" y="5138928"/>
            <a:ext cx="2926080" cy="457200"/>
          </a:xfrm>
          <a:prstGeom prst="rect">
            <a:avLst/>
          </a:prstGeom>
          <a:noFill/>
        </p:spPr>
        <p:txBody>
          <a:bodyPr wrap="square" lIns="0" rIns="0" tIns="0" bIns="0" anchor="ctr">
            <a:spAutoFit/>
          </a:bodyPr>
          <a:lstStyle/>
          <a:p>
            <a:r>
              <a:rPr sz="1100" b="0">
                <a:solidFill>
                  <a:srgbClr val="62746D"/>
                </a:solidFill>
                <a:latin typeface="Apple SD Gothic Neo"/>
              </a:rPr>
              <a:t>doc/ADR.md · submission/결과보고서.md</a:t>
            </a:r>
          </a:p>
        </p:txBody>
      </p:sp>
      <p:sp>
        <p:nvSpPr>
          <p:cNvPr id="41" name="Rectangle 40"/>
          <p:cNvSpPr/>
          <p:nvPr/>
        </p:nvSpPr>
        <p:spPr>
          <a:xfrm>
            <a:off x="6309360" y="5596128"/>
            <a:ext cx="5212080" cy="13716"/>
          </a:xfrm>
          <a:prstGeom prst="rect">
            <a:avLst/>
          </a:prstGeom>
          <a:solidFill>
            <a:srgbClr val="B7C4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0040"/>
            <a:ext cx="9144000" cy="274320"/>
          </a:xfrm>
          <a:prstGeom prst="rect">
            <a:avLst/>
          </a:prstGeom>
          <a:noFill/>
        </p:spPr>
        <p:txBody>
          <a:bodyPr wrap="square" lIns="0" rIns="0" tIns="0" bIns="0">
            <a:spAutoFit/>
          </a:bodyPr>
          <a:lstStyle/>
          <a:p>
            <a:r>
              <a:rPr sz="1100" b="1">
                <a:solidFill>
                  <a:srgbClr val="16785C"/>
                </a:solidFill>
                <a:latin typeface="Apple SD Gothic Neo"/>
              </a:rPr>
              <a:t>부록 A-6  전체 처리 흐름</a:t>
            </a:r>
          </a:p>
        </p:txBody>
      </p:sp>
      <p:sp>
        <p:nvSpPr>
          <p:cNvPr id="3" name="TextBox 2"/>
          <p:cNvSpPr txBox="1"/>
          <p:nvPr/>
        </p:nvSpPr>
        <p:spPr>
          <a:xfrm>
            <a:off x="594360" y="868680"/>
            <a:ext cx="10972800" cy="914400"/>
          </a:xfrm>
          <a:prstGeom prst="rect">
            <a:avLst/>
          </a:prstGeom>
          <a:noFill/>
        </p:spPr>
        <p:txBody>
          <a:bodyPr wrap="square" lIns="0" rIns="0" tIns="0" bIns="0">
            <a:spAutoFit/>
          </a:bodyPr>
          <a:lstStyle/>
          <a:p>
            <a:r>
              <a:rPr sz="3200" b="1">
                <a:solidFill>
                  <a:srgbClr val="19382F"/>
                </a:solidFill>
                <a:latin typeface="Apple SD Gothic Neo"/>
              </a:rPr>
              <a:t>전체 처리 흐름 (노드 단위)</a:t>
            </a:r>
          </a:p>
        </p:txBody>
      </p:sp>
      <p:sp>
        <p:nvSpPr>
          <p:cNvPr id="4" name="TextBox 3"/>
          <p:cNvSpPr txBox="1"/>
          <p:nvPr/>
        </p:nvSpPr>
        <p:spPr>
          <a:xfrm>
            <a:off x="594360" y="6473952"/>
            <a:ext cx="7315200" cy="164592"/>
          </a:xfrm>
          <a:prstGeom prst="rect">
            <a:avLst/>
          </a:prstGeom>
          <a:noFill/>
        </p:spPr>
        <p:txBody>
          <a:bodyPr wrap="square" lIns="0" rIns="0" tIns="0" bIns="0">
            <a:spAutoFit/>
          </a:bodyPr>
          <a:lstStyle/>
          <a:p>
            <a:r>
              <a:rPr sz="900" b="0">
                <a:solidFill>
                  <a:srgbClr val="62746D"/>
                </a:solidFill>
                <a:latin typeface="Apple SD Gothic Neo"/>
              </a:rPr>
              <a:t>AI CAPSTONE  ·  김하연</a:t>
            </a:r>
          </a:p>
        </p:txBody>
      </p:sp>
      <p:sp>
        <p:nvSpPr>
          <p:cNvPr id="5" name="TextBox 4"/>
          <p:cNvSpPr txBox="1"/>
          <p:nvPr/>
        </p:nvSpPr>
        <p:spPr>
          <a:xfrm>
            <a:off x="10835640" y="6473952"/>
            <a:ext cx="777240" cy="164592"/>
          </a:xfrm>
          <a:prstGeom prst="rect">
            <a:avLst/>
          </a:prstGeom>
          <a:noFill/>
        </p:spPr>
        <p:txBody>
          <a:bodyPr wrap="square" lIns="0" rIns="0" tIns="0" bIns="0">
            <a:spAutoFit/>
          </a:bodyPr>
          <a:lstStyle/>
          <a:p>
            <a:r>
              <a:rPr sz="900" b="0">
                <a:solidFill>
                  <a:srgbClr val="62746D"/>
                </a:solidFill>
                <a:latin typeface="Apple SD Gothic Neo"/>
              </a:rPr>
              <a:t>A-6 / A-6</a:t>
            </a:r>
          </a:p>
        </p:txBody>
      </p:sp>
      <p:sp>
        <p:nvSpPr>
          <p:cNvPr id="6" name="Rounded Rectangle 5"/>
          <p:cNvSpPr/>
          <p:nvPr/>
        </p:nvSpPr>
        <p:spPr>
          <a:xfrm>
            <a:off x="640080" y="2377440"/>
            <a:ext cx="1600200" cy="731520"/>
          </a:xfrm>
          <a:prstGeom prst="roundRect">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300" b="1">
                <a:solidFill>
                  <a:srgbClr val="19382F"/>
                </a:solidFill>
                <a:latin typeface="Apple SD Gothic Neo"/>
              </a:rPr>
              <a:t>route</a:t>
            </a:r>
          </a:p>
          <a:p>
            <a:pPr algn="ctr"/>
            <a:r>
              <a:rPr sz="1100" b="0">
                <a:solidFill>
                  <a:srgbClr val="19382F"/>
                </a:solidFill>
                <a:latin typeface="Apple SD Gothic Neo"/>
              </a:rPr>
              <a:t>질의 분류</a:t>
            </a:r>
          </a:p>
        </p:txBody>
      </p:sp>
      <p:sp>
        <p:nvSpPr>
          <p:cNvPr id="7" name="Rounded Rectangle 6"/>
          <p:cNvSpPr/>
          <p:nvPr/>
        </p:nvSpPr>
        <p:spPr>
          <a:xfrm>
            <a:off x="2514600" y="2377440"/>
            <a:ext cx="1600200" cy="731520"/>
          </a:xfrm>
          <a:prstGeom prst="roundRect">
            <a:avLst/>
          </a:prstGeom>
          <a:solidFill>
            <a:srgbClr val="A4DA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300" b="1">
                <a:solidFill>
                  <a:srgbClr val="19382F"/>
                </a:solidFill>
                <a:latin typeface="Apple SD Gothic Neo"/>
              </a:rPr>
              <a:t>plan</a:t>
            </a:r>
          </a:p>
          <a:p>
            <a:pPr algn="ctr"/>
            <a:r>
              <a:rPr sz="1100" b="0">
                <a:solidFill>
                  <a:srgbClr val="19382F"/>
                </a:solidFill>
                <a:latin typeface="Apple SD Gothic Neo"/>
              </a:rPr>
              <a:t>계획 · 대상 해석</a:t>
            </a:r>
          </a:p>
        </p:txBody>
      </p:sp>
      <p:sp>
        <p:nvSpPr>
          <p:cNvPr id="8" name="Rounded Rectangle 7"/>
          <p:cNvSpPr/>
          <p:nvPr/>
        </p:nvSpPr>
        <p:spPr>
          <a:xfrm>
            <a:off x="4389120" y="2377440"/>
            <a:ext cx="1600200" cy="731520"/>
          </a:xfrm>
          <a:prstGeom prst="roundRect">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300" b="1">
                <a:solidFill>
                  <a:srgbClr val="19382F"/>
                </a:solidFill>
                <a:latin typeface="Apple SD Gothic Neo"/>
              </a:rPr>
              <a:t>gate</a:t>
            </a:r>
          </a:p>
          <a:p>
            <a:pPr algn="ctr"/>
            <a:r>
              <a:rPr sz="1100" b="0">
                <a:solidFill>
                  <a:srgbClr val="19382F"/>
                </a:solidFill>
                <a:latin typeface="Apple SD Gothic Neo"/>
              </a:rPr>
              <a:t>분석 설정 점검</a:t>
            </a:r>
          </a:p>
        </p:txBody>
      </p:sp>
      <p:sp>
        <p:nvSpPr>
          <p:cNvPr id="9" name="Rounded Rectangle 8"/>
          <p:cNvSpPr/>
          <p:nvPr/>
        </p:nvSpPr>
        <p:spPr>
          <a:xfrm>
            <a:off x="6263640" y="2377440"/>
            <a:ext cx="1600200" cy="731520"/>
          </a:xfrm>
          <a:prstGeom prst="roundRect">
            <a:avLst/>
          </a:prstGeom>
          <a:solidFill>
            <a:srgbClr val="A4DA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300" b="1">
                <a:solidFill>
                  <a:srgbClr val="19382F"/>
                </a:solidFill>
                <a:latin typeface="Apple SD Gothic Neo"/>
              </a:rPr>
              <a:t>research</a:t>
            </a:r>
          </a:p>
          <a:p>
            <a:pPr algn="ctr"/>
            <a:r>
              <a:rPr sz="1100" b="0">
                <a:solidFill>
                  <a:srgbClr val="19382F"/>
                </a:solidFill>
                <a:latin typeface="Apple SD Gothic Neo"/>
              </a:rPr>
              <a:t>서브에이전트 조사</a:t>
            </a:r>
          </a:p>
        </p:txBody>
      </p:sp>
      <p:sp>
        <p:nvSpPr>
          <p:cNvPr id="10" name="Rounded Rectangle 9"/>
          <p:cNvSpPr/>
          <p:nvPr/>
        </p:nvSpPr>
        <p:spPr>
          <a:xfrm>
            <a:off x="8138159" y="2377440"/>
            <a:ext cx="1600200" cy="731520"/>
          </a:xfrm>
          <a:prstGeom prst="roundRect">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300" b="1">
                <a:solidFill>
                  <a:srgbClr val="19382F"/>
                </a:solidFill>
                <a:latin typeface="Apple SD Gothic Neo"/>
              </a:rPr>
              <a:t>replan_check</a:t>
            </a:r>
          </a:p>
          <a:p>
            <a:pPr algn="ctr"/>
            <a:r>
              <a:rPr sz="1100" b="0">
                <a:solidFill>
                  <a:srgbClr val="19382F"/>
                </a:solidFill>
                <a:latin typeface="Apple SD Gothic Neo"/>
              </a:rPr>
              <a:t>충분성 점검</a:t>
            </a:r>
          </a:p>
        </p:txBody>
      </p:sp>
      <p:sp>
        <p:nvSpPr>
          <p:cNvPr id="11" name="Rounded Rectangle 10"/>
          <p:cNvSpPr/>
          <p:nvPr/>
        </p:nvSpPr>
        <p:spPr>
          <a:xfrm>
            <a:off x="10012680" y="2377440"/>
            <a:ext cx="1600200" cy="731520"/>
          </a:xfrm>
          <a:prstGeom prst="roundRect">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300" b="1">
                <a:solidFill>
                  <a:srgbClr val="19382F"/>
                </a:solidFill>
                <a:latin typeface="Apple SD Gothic Neo"/>
              </a:rPr>
              <a:t>analysis</a:t>
            </a:r>
          </a:p>
          <a:p>
            <a:pPr algn="ctr"/>
            <a:r>
              <a:rPr sz="1100" b="0">
                <a:solidFill>
                  <a:srgbClr val="19382F"/>
                </a:solidFill>
                <a:latin typeface="Apple SD Gothic Neo"/>
              </a:rPr>
              <a:t>데이터 분석</a:t>
            </a:r>
          </a:p>
        </p:txBody>
      </p:sp>
      <p:sp>
        <p:nvSpPr>
          <p:cNvPr id="12" name="Rounded Rectangle 11"/>
          <p:cNvSpPr/>
          <p:nvPr/>
        </p:nvSpPr>
        <p:spPr>
          <a:xfrm>
            <a:off x="640080" y="3703320"/>
            <a:ext cx="1600200" cy="731520"/>
          </a:xfrm>
          <a:prstGeom prst="roundRect">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300" b="1">
                <a:solidFill>
                  <a:srgbClr val="19382F"/>
                </a:solidFill>
                <a:latin typeface="Apple SD Gothic Neo"/>
              </a:rPr>
              <a:t>chat_answer</a:t>
            </a:r>
          </a:p>
          <a:p>
            <a:pPr algn="ctr"/>
            <a:r>
              <a:rPr sz="1100" b="0">
                <a:solidFill>
                  <a:srgbClr val="19382F"/>
                </a:solidFill>
                <a:latin typeface="Apple SD Gothic Neo"/>
              </a:rPr>
              <a:t>일반 답변 → 종료</a:t>
            </a:r>
          </a:p>
        </p:txBody>
      </p:sp>
      <p:sp>
        <p:nvSpPr>
          <p:cNvPr id="13" name="Rounded Rectangle 12"/>
          <p:cNvSpPr/>
          <p:nvPr/>
        </p:nvSpPr>
        <p:spPr>
          <a:xfrm>
            <a:off x="4389120" y="3703320"/>
            <a:ext cx="1600200" cy="731520"/>
          </a:xfrm>
          <a:prstGeom prst="roundRect">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300" b="1">
                <a:solidFill>
                  <a:srgbClr val="19382F"/>
                </a:solidFill>
                <a:latin typeface="Apple SD Gothic Neo"/>
              </a:rPr>
              <a:t>finalize</a:t>
            </a:r>
          </a:p>
          <a:p>
            <a:pPr algn="ctr"/>
            <a:r>
              <a:rPr sz="1100" b="0">
                <a:solidFill>
                  <a:srgbClr val="19382F"/>
                </a:solidFill>
                <a:latin typeface="Apple SD Gothic Neo"/>
              </a:rPr>
              <a:t>응답 확정 → 종료</a:t>
            </a:r>
          </a:p>
        </p:txBody>
      </p:sp>
      <p:sp>
        <p:nvSpPr>
          <p:cNvPr id="14" name="Rounded Rectangle 13"/>
          <p:cNvSpPr/>
          <p:nvPr/>
        </p:nvSpPr>
        <p:spPr>
          <a:xfrm>
            <a:off x="6263640" y="3703320"/>
            <a:ext cx="1600200" cy="731520"/>
          </a:xfrm>
          <a:prstGeom prst="roundRect">
            <a:avLst/>
          </a:prstGeom>
          <a:solidFill>
            <a:srgbClr val="A4DA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300" b="1">
                <a:solidFill>
                  <a:srgbClr val="19382F"/>
                </a:solidFill>
                <a:latin typeface="Apple SD Gothic Neo"/>
              </a:rPr>
              <a:t>validate</a:t>
            </a:r>
          </a:p>
          <a:p>
            <a:pPr algn="ctr"/>
            <a:r>
              <a:rPr sz="1100" b="0">
                <a:solidFill>
                  <a:srgbClr val="19382F"/>
                </a:solidFill>
                <a:latin typeface="Apple SD Gothic Neo"/>
              </a:rPr>
              <a:t>수치 대조</a:t>
            </a:r>
          </a:p>
        </p:txBody>
      </p:sp>
      <p:sp>
        <p:nvSpPr>
          <p:cNvPr id="15" name="Rounded Rectangle 14"/>
          <p:cNvSpPr/>
          <p:nvPr/>
        </p:nvSpPr>
        <p:spPr>
          <a:xfrm>
            <a:off x="8138159" y="3703320"/>
            <a:ext cx="1600200" cy="731520"/>
          </a:xfrm>
          <a:prstGeom prst="roundRect">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300" b="1">
                <a:solidFill>
                  <a:srgbClr val="19382F"/>
                </a:solidFill>
                <a:latin typeface="Apple SD Gothic Neo"/>
              </a:rPr>
              <a:t>write</a:t>
            </a:r>
          </a:p>
          <a:p>
            <a:pPr algn="ctr"/>
            <a:r>
              <a:rPr sz="1100" b="0">
                <a:solidFill>
                  <a:srgbClr val="19382F"/>
                </a:solidFill>
                <a:latin typeface="Apple SD Gothic Neo"/>
              </a:rPr>
              <a:t>답변 작성</a:t>
            </a:r>
          </a:p>
        </p:txBody>
      </p:sp>
      <p:sp>
        <p:nvSpPr>
          <p:cNvPr id="16" name="Rounded Rectangle 15"/>
          <p:cNvSpPr/>
          <p:nvPr/>
        </p:nvSpPr>
        <p:spPr>
          <a:xfrm>
            <a:off x="10012680" y="3703320"/>
            <a:ext cx="1600200" cy="731520"/>
          </a:xfrm>
          <a:prstGeom prst="roundRect">
            <a:avLst/>
          </a:prstGeom>
          <a:solidFill>
            <a:srgbClr val="A4DA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300" b="1">
                <a:solidFill>
                  <a:srgbClr val="19382F"/>
                </a:solidFill>
                <a:latin typeface="Apple SD Gothic Neo"/>
              </a:rPr>
              <a:t>evidence_gate</a:t>
            </a:r>
          </a:p>
          <a:p>
            <a:pPr algn="ctr"/>
            <a:r>
              <a:rPr sz="1100" b="0">
                <a:solidFill>
                  <a:srgbClr val="19382F"/>
                </a:solidFill>
                <a:latin typeface="Apple SD Gothic Neo"/>
              </a:rPr>
              <a:t>근거 0건 점검</a:t>
            </a:r>
          </a:p>
        </p:txBody>
      </p:sp>
      <p:sp>
        <p:nvSpPr>
          <p:cNvPr id="17" name="Rounded Rectangle 16"/>
          <p:cNvSpPr/>
          <p:nvPr/>
        </p:nvSpPr>
        <p:spPr>
          <a:xfrm>
            <a:off x="8138159" y="5212080"/>
            <a:ext cx="1600200" cy="731520"/>
          </a:xfrm>
          <a:prstGeom prst="roundRect">
            <a:avLst/>
          </a:prstGeom>
          <a:solidFill>
            <a:srgbClr val="A4DA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300" b="1">
                <a:solidFill>
                  <a:srgbClr val="19382F"/>
                </a:solidFill>
                <a:latin typeface="Apple SD Gothic Neo"/>
              </a:rPr>
              <a:t>finalize_failed</a:t>
            </a:r>
          </a:p>
          <a:p>
            <a:pPr algn="ctr"/>
            <a:r>
              <a:rPr sz="1100" b="0">
                <a:solidFill>
                  <a:srgbClr val="19382F"/>
                </a:solidFill>
                <a:latin typeface="Apple SD Gothic Neo"/>
              </a:rPr>
              <a:t>실패 안내 → 종료</a:t>
            </a:r>
          </a:p>
        </p:txBody>
      </p:sp>
      <p:cxnSp>
        <p:nvCxnSpPr>
          <p:cNvPr id="18" name="Connector 17"/>
          <p:cNvCxnSpPr/>
          <p:nvPr/>
        </p:nvCxnSpPr>
        <p:spPr>
          <a:xfrm>
            <a:off x="2240280" y="2743200"/>
            <a:ext cx="274320" cy="0"/>
          </a:xfrm>
          <a:prstGeom prst="line">
            <a:avLst/>
          </a:prstGeom>
          <a:ln w="19050">
            <a:solidFill>
              <a:srgbClr val="62746D"/>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114800" y="2743200"/>
            <a:ext cx="274320" cy="0"/>
          </a:xfrm>
          <a:prstGeom prst="line">
            <a:avLst/>
          </a:prstGeom>
          <a:ln w="19050">
            <a:solidFill>
              <a:srgbClr val="62746D"/>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989320" y="2743200"/>
            <a:ext cx="274320" cy="0"/>
          </a:xfrm>
          <a:prstGeom prst="line">
            <a:avLst/>
          </a:prstGeom>
          <a:ln w="19050">
            <a:solidFill>
              <a:srgbClr val="62746D"/>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863840" y="2743200"/>
            <a:ext cx="274319" cy="0"/>
          </a:xfrm>
          <a:prstGeom prst="line">
            <a:avLst/>
          </a:prstGeom>
          <a:ln w="19050">
            <a:solidFill>
              <a:srgbClr val="62746D"/>
            </a:solidFill>
            <a:tailEnd type="triangle"/>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9738359" y="2743200"/>
            <a:ext cx="274321" cy="0"/>
          </a:xfrm>
          <a:prstGeom prst="line">
            <a:avLst/>
          </a:prstGeom>
          <a:ln w="19050">
            <a:solidFill>
              <a:srgbClr val="62746D"/>
            </a:solidFill>
            <a:tailEnd type="triangle"/>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440180" y="3108960"/>
            <a:ext cx="0" cy="594360"/>
          </a:xfrm>
          <a:prstGeom prst="line">
            <a:avLst/>
          </a:prstGeom>
          <a:ln w="19050">
            <a:solidFill>
              <a:srgbClr val="62746D"/>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531620" y="3246120"/>
            <a:ext cx="914400" cy="274320"/>
          </a:xfrm>
          <a:prstGeom prst="rect">
            <a:avLst/>
          </a:prstGeom>
          <a:noFill/>
        </p:spPr>
        <p:txBody>
          <a:bodyPr wrap="square" lIns="0" rIns="0" tIns="0" bIns="0">
            <a:spAutoFit/>
          </a:bodyPr>
          <a:lstStyle/>
          <a:p>
            <a:r>
              <a:rPr sz="1100" b="0">
                <a:solidFill>
                  <a:srgbClr val="62746D"/>
                </a:solidFill>
                <a:latin typeface="Apple SD Gothic Neo"/>
              </a:rPr>
              <a:t>일반 대화</a:t>
            </a:r>
          </a:p>
        </p:txBody>
      </p:sp>
      <p:cxnSp>
        <p:nvCxnSpPr>
          <p:cNvPr id="25" name="Connector 24"/>
          <p:cNvCxnSpPr/>
          <p:nvPr/>
        </p:nvCxnSpPr>
        <p:spPr>
          <a:xfrm>
            <a:off x="10812780" y="3108960"/>
            <a:ext cx="0" cy="594360"/>
          </a:xfrm>
          <a:prstGeom prst="line">
            <a:avLst/>
          </a:prstGeom>
          <a:ln w="19050">
            <a:solidFill>
              <a:srgbClr val="62746D"/>
            </a:solidFill>
            <a:tailEnd type="triangle"/>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8938259" y="2057400"/>
            <a:ext cx="0" cy="320040"/>
          </a:xfrm>
          <a:prstGeom prst="line">
            <a:avLst/>
          </a:prstGeom>
          <a:ln w="19050">
            <a:solidFill>
              <a:srgbClr val="16785C"/>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a:off x="7063740" y="2057400"/>
            <a:ext cx="1874519" cy="0"/>
          </a:xfrm>
          <a:prstGeom prst="line">
            <a:avLst/>
          </a:prstGeom>
          <a:ln w="19050">
            <a:solidFill>
              <a:srgbClr val="16785C"/>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063740" y="2057400"/>
            <a:ext cx="0" cy="320040"/>
          </a:xfrm>
          <a:prstGeom prst="line">
            <a:avLst/>
          </a:prstGeom>
          <a:ln w="19050">
            <a:solidFill>
              <a:srgbClr val="16785C"/>
            </a:solidFill>
            <a:tailEnd type="triangle"/>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7063740" y="1691640"/>
            <a:ext cx="1874519" cy="274320"/>
          </a:xfrm>
          <a:prstGeom prst="rect">
            <a:avLst/>
          </a:prstGeom>
          <a:noFill/>
        </p:spPr>
        <p:txBody>
          <a:bodyPr wrap="square" lIns="0" rIns="0" tIns="0" bIns="0">
            <a:spAutoFit/>
          </a:bodyPr>
          <a:lstStyle/>
          <a:p>
            <a:pPr algn="ctr"/>
            <a:r>
              <a:rPr sz="1100" b="1">
                <a:solidFill>
                  <a:srgbClr val="16785C"/>
                </a:solidFill>
                <a:latin typeface="Apple SD Gothic Neo"/>
              </a:rPr>
              <a:t>부족 시 재조사 (최대 1회)</a:t>
            </a:r>
          </a:p>
        </p:txBody>
      </p:sp>
      <p:cxnSp>
        <p:nvCxnSpPr>
          <p:cNvPr id="30" name="Connector 29"/>
          <p:cNvCxnSpPr/>
          <p:nvPr/>
        </p:nvCxnSpPr>
        <p:spPr>
          <a:xfrm flipH="1">
            <a:off x="9738359" y="3931920"/>
            <a:ext cx="274321" cy="0"/>
          </a:xfrm>
          <a:prstGeom prst="line">
            <a:avLst/>
          </a:prstGeom>
          <a:ln w="19050">
            <a:solidFill>
              <a:srgbClr val="62746D"/>
            </a:solidFill>
            <a:tailEnd type="triangle"/>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a:off x="7863840" y="3931920"/>
            <a:ext cx="274319" cy="0"/>
          </a:xfrm>
          <a:prstGeom prst="line">
            <a:avLst/>
          </a:prstGeom>
          <a:ln w="19050">
            <a:solidFill>
              <a:srgbClr val="62746D"/>
            </a:solidFill>
            <a:tailEnd type="triangle"/>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863840" y="4251960"/>
            <a:ext cx="274319" cy="0"/>
          </a:xfrm>
          <a:prstGeom prst="line">
            <a:avLst/>
          </a:prstGeom>
          <a:ln w="19050">
            <a:solidFill>
              <a:srgbClr val="16785C"/>
            </a:solidFill>
            <a:tailEnd type="triangle"/>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5989320" y="4069080"/>
            <a:ext cx="274320" cy="0"/>
          </a:xfrm>
          <a:prstGeom prst="line">
            <a:avLst/>
          </a:prstGeom>
          <a:ln w="19050">
            <a:solidFill>
              <a:srgbClr val="16785C"/>
            </a:solidFill>
            <a:tailEnd type="triangle"/>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5852159" y="3410712"/>
            <a:ext cx="731520" cy="228600"/>
          </a:xfrm>
          <a:prstGeom prst="rect">
            <a:avLst/>
          </a:prstGeom>
          <a:noFill/>
        </p:spPr>
        <p:txBody>
          <a:bodyPr wrap="square" lIns="0" rIns="0" tIns="0" bIns="0">
            <a:spAutoFit/>
          </a:bodyPr>
          <a:lstStyle/>
          <a:p>
            <a:r>
              <a:rPr sz="1100" b="1">
                <a:solidFill>
                  <a:srgbClr val="16785C"/>
                </a:solidFill>
                <a:latin typeface="Apple SD Gothic Neo"/>
              </a:rPr>
              <a:t>통과</a:t>
            </a:r>
          </a:p>
        </p:txBody>
      </p:sp>
      <p:sp>
        <p:nvSpPr>
          <p:cNvPr id="35" name="TextBox 34"/>
          <p:cNvSpPr txBox="1"/>
          <p:nvPr/>
        </p:nvSpPr>
        <p:spPr>
          <a:xfrm>
            <a:off x="7543800" y="4498848"/>
            <a:ext cx="1463040" cy="228600"/>
          </a:xfrm>
          <a:prstGeom prst="rect">
            <a:avLst/>
          </a:prstGeom>
          <a:noFill/>
        </p:spPr>
        <p:txBody>
          <a:bodyPr wrap="square" lIns="0" rIns="0" tIns="0" bIns="0">
            <a:spAutoFit/>
          </a:bodyPr>
          <a:lstStyle/>
          <a:p>
            <a:pPr algn="ctr"/>
            <a:r>
              <a:rPr sz="1100" b="1">
                <a:solidFill>
                  <a:srgbClr val="16785C"/>
                </a:solidFill>
                <a:latin typeface="Apple SD Gothic Neo"/>
              </a:rPr>
              <a:t>반려 → 재작성</a:t>
            </a:r>
          </a:p>
        </p:txBody>
      </p:sp>
      <p:cxnSp>
        <p:nvCxnSpPr>
          <p:cNvPr id="36" name="Connector 35"/>
          <p:cNvCxnSpPr/>
          <p:nvPr/>
        </p:nvCxnSpPr>
        <p:spPr>
          <a:xfrm>
            <a:off x="7063740" y="4434840"/>
            <a:ext cx="0" cy="1143000"/>
          </a:xfrm>
          <a:prstGeom prst="line">
            <a:avLst/>
          </a:prstGeom>
          <a:ln w="19050">
            <a:solidFill>
              <a:srgbClr val="B6503E"/>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7063740" y="5577840"/>
            <a:ext cx="1074419" cy="0"/>
          </a:xfrm>
          <a:prstGeom prst="line">
            <a:avLst/>
          </a:prstGeom>
          <a:ln w="19050">
            <a:solidFill>
              <a:srgbClr val="B6503E"/>
            </a:solidFill>
            <a:tailEnd type="triangle"/>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812780" y="4434840"/>
            <a:ext cx="0" cy="1143000"/>
          </a:xfrm>
          <a:prstGeom prst="line">
            <a:avLst/>
          </a:prstGeom>
          <a:ln w="19050">
            <a:solidFill>
              <a:srgbClr val="B6503E"/>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9738359" y="5577840"/>
            <a:ext cx="1074421" cy="0"/>
          </a:xfrm>
          <a:prstGeom prst="line">
            <a:avLst/>
          </a:prstGeom>
          <a:ln w="19050">
            <a:solidFill>
              <a:srgbClr val="B6503E"/>
            </a:solidFill>
            <a:tailEnd type="triangle"/>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7155179" y="4846320"/>
            <a:ext cx="1280160" cy="228600"/>
          </a:xfrm>
          <a:prstGeom prst="rect">
            <a:avLst/>
          </a:prstGeom>
          <a:noFill/>
        </p:spPr>
        <p:txBody>
          <a:bodyPr wrap="square" lIns="0" rIns="0" tIns="0" bIns="0">
            <a:spAutoFit/>
          </a:bodyPr>
          <a:lstStyle/>
          <a:p>
            <a:r>
              <a:rPr sz="1100" b="1">
                <a:solidFill>
                  <a:srgbClr val="B6503E"/>
                </a:solidFill>
                <a:latin typeface="Apple SD Gothic Neo"/>
              </a:rPr>
              <a:t>3회 불일치</a:t>
            </a:r>
          </a:p>
        </p:txBody>
      </p:sp>
      <p:sp>
        <p:nvSpPr>
          <p:cNvPr id="41" name="TextBox 40"/>
          <p:cNvSpPr txBox="1"/>
          <p:nvPr/>
        </p:nvSpPr>
        <p:spPr>
          <a:xfrm>
            <a:off x="10904219" y="4846320"/>
            <a:ext cx="914400" cy="228600"/>
          </a:xfrm>
          <a:prstGeom prst="rect">
            <a:avLst/>
          </a:prstGeom>
          <a:noFill/>
        </p:spPr>
        <p:txBody>
          <a:bodyPr wrap="square" lIns="0" rIns="0" tIns="0" bIns="0">
            <a:spAutoFit/>
          </a:bodyPr>
          <a:lstStyle/>
          <a:p>
            <a:r>
              <a:rPr sz="1100" b="1">
                <a:solidFill>
                  <a:srgbClr val="B6503E"/>
                </a:solidFill>
                <a:latin typeface="Apple SD Gothic Neo"/>
              </a:rPr>
              <a:t>근거 0건</a:t>
            </a:r>
          </a:p>
        </p:txBody>
      </p:sp>
      <p:sp>
        <p:nvSpPr>
          <p:cNvPr id="42" name="Rounded Rectangle 41"/>
          <p:cNvSpPr/>
          <p:nvPr/>
        </p:nvSpPr>
        <p:spPr>
          <a:xfrm>
            <a:off x="640080" y="6053328"/>
            <a:ext cx="320040" cy="201168"/>
          </a:xfrm>
          <a:prstGeom prst="roundRect">
            <a:avLst/>
          </a:prstGeom>
          <a:solidFill>
            <a:srgbClr val="A4DAC2"/>
          </a:solidFill>
          <a:ln>
            <a:solidFill>
              <a:srgbClr val="B7C4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6035040"/>
            <a:ext cx="2194560" cy="237744"/>
          </a:xfrm>
          <a:prstGeom prst="rect">
            <a:avLst/>
          </a:prstGeom>
          <a:noFill/>
        </p:spPr>
        <p:txBody>
          <a:bodyPr wrap="square" lIns="0" rIns="0" tIns="0" bIns="0">
            <a:spAutoFit/>
          </a:bodyPr>
          <a:lstStyle/>
          <a:p>
            <a:r>
              <a:rPr sz="1200" b="0">
                <a:solidFill>
                  <a:srgbClr val="19382F"/>
                </a:solidFill>
                <a:latin typeface="Apple SD Gothic Neo"/>
              </a:rPr>
              <a:t>직접 추가 · 변경한 노드</a:t>
            </a:r>
          </a:p>
        </p:txBody>
      </p:sp>
      <p:sp>
        <p:nvSpPr>
          <p:cNvPr id="44" name="Rounded Rectangle 43"/>
          <p:cNvSpPr/>
          <p:nvPr/>
        </p:nvSpPr>
        <p:spPr>
          <a:xfrm>
            <a:off x="3291839" y="6053328"/>
            <a:ext cx="320040" cy="201168"/>
          </a:xfrm>
          <a:prstGeom prst="roundRect">
            <a:avLst/>
          </a:prstGeom>
          <a:solidFill>
            <a:srgbClr val="EEF5F1"/>
          </a:solidFill>
          <a:ln>
            <a:solidFill>
              <a:srgbClr val="B7C4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703320" y="6035040"/>
            <a:ext cx="2194560" cy="237744"/>
          </a:xfrm>
          <a:prstGeom prst="rect">
            <a:avLst/>
          </a:prstGeom>
          <a:noFill/>
        </p:spPr>
        <p:txBody>
          <a:bodyPr wrap="square" lIns="0" rIns="0" tIns="0" bIns="0">
            <a:spAutoFit/>
          </a:bodyPr>
          <a:lstStyle/>
          <a:p>
            <a:r>
              <a:rPr sz="1200" b="0">
                <a:solidFill>
                  <a:srgbClr val="19382F"/>
                </a:solidFill>
                <a:latin typeface="Apple SD Gothic Neo"/>
              </a:rPr>
              <a:t>제공받은 노드</a:t>
            </a:r>
          </a:p>
        </p:txBody>
      </p:sp>
      <p:sp>
        <p:nvSpPr>
          <p:cNvPr id="46" name="TextBox 45"/>
          <p:cNvSpPr txBox="1"/>
          <p:nvPr/>
        </p:nvSpPr>
        <p:spPr>
          <a:xfrm>
            <a:off x="6035040" y="6035040"/>
            <a:ext cx="5486400" cy="237744"/>
          </a:xfrm>
          <a:prstGeom prst="rect">
            <a:avLst/>
          </a:prstGeom>
          <a:noFill/>
        </p:spPr>
        <p:txBody>
          <a:bodyPr wrap="square" lIns="0" rIns="0" tIns="0" bIns="0">
            <a:spAutoFit/>
          </a:bodyPr>
          <a:lstStyle/>
          <a:p>
            <a:r>
              <a:rPr sz="1200" b="0">
                <a:solidFill>
                  <a:srgbClr val="62746D"/>
                </a:solidFill>
                <a:latin typeface="Apple SD Gothic Neo"/>
              </a:rPr>
              <a:t>research 내부: monitoring_agent · runbook_agent 서브그래프</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ple SD Gothic Ne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ple SD Gothic Ne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근거 기반 장애 진단 에이전트 개선</dc:title>
  <dc:subject>PptxGenJS Presentation</dc:subject>
  <dc:creator>김하연</dc:creator>
  <cp:lastModifiedBy>김하연</cp:lastModifiedBy>
  <cp:revision>1</cp:revision>
  <dcterms:created xsi:type="dcterms:W3CDTF">2026-10-22T01:11:59Z</dcterms:created>
  <dcterms:modified xsi:type="dcterms:W3CDTF">2026-10-22T01:11:59Z</dcterms:modified>
</cp:coreProperties>
</file>