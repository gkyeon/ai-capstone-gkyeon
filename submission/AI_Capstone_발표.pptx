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5" r:id="rId16"/>
    <p:sldId id="263" r:id="rId9"/>
    <p:sldId id="266" r:id="rId17"/>
    <p:sldId id="267" r:id="rId18"/>
    <p:sldId id="268" r:id="rId19"/>
    <p:sldId id="269" r:id="rId20"/>
    <p:sldId id="270" r:id="rId21"/>
    <p:sldId id="271" r:id="rId22"/>
    <p:sldId id="272" r:id="rId23"/>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청중에게 인사하며 시작, 목차 4개를 짚으며 말하기</a:t>
            </a:r>
          </a:p>
          <a:p/>
          <a:p>
            <a:r>
              <a:t>안녕하세요. 운영 장애 진단 에이전트의 근거 기반 개선을 발표할 김하연입니다. 발표는 문제 정의, 개선 사항, 실행 결과와 평가, 한계 순서로 진행하겠습니다.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40% → 99% → 통과 순서로 가리키기</a:t>
            </a:r>
          </a:p>
          <a:p/>
          <a:p>
            <a:r>
              <a:t>먼저 문제 정의입니다. 기존 검증은 답변이 30자 이상이고 '1)'을 포함하는지만 확인했습니다. 예를 들어 수집한 CPU가 40퍼센트인데 답변이 99퍼센트여도 통과할 수 있었고, 세 번 실패하면 강제로 통과시켰습니다. 형식이 맞아도 내용이 맞는다는 보장은 없다는 점이 출발점입니다. 이 수치는 설명을 위한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검증, 검색, 조사 세 줄을 위에서 아래로 짚기</a:t>
            </a:r>
          </a:p>
          <a:p/>
          <a:p>
            <a:r>
              <a:t>다음은 개선 사항입니다. 첫째, 답변의 시스템별 CPU와 메모리를 수집값과 대조하고, 불일치하면 사유를 알려 다시 작성하게 했습니다. 최초 작성을 포함해 세 번 실패하면 실패를 안내합니다. 둘째, 매뉴얼을 의미로 검색하고, 유사도가 낮거나 후보 차이가 작으면 선택하지 않습니다. 셋째, 조사 하나가 실패해도 성공한 자료는 유지하고, 근거가 없으면 작성 모델 호출을 생략합니다.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65초] 그림을 왼쪽에서 오른쪽으로 따라가기. 근거 확인(초록) → 아래 빨간 경로 → 수치 검증(초록) → 되돌아가는 화살표 순서로 가리키기, 마지막에 아래 세 항목을 훑기</a:t>
            </a:r>
          </a:p>
          <a:p/>
          <a:p>
            <a:r>
              <a:t>이어서 구조와 사용 기술입니다. 그림은 요약한 흐름이며 전체 노드는 부록에 있습니다. 질문을 받아 계획한 뒤, 모니터링과 매뉴얼 검색 두 조사를 서브에이전트로 나눠 동시에 진행합니다. 근거 확인 단계에서 모니터링 자료가 하나도 없으면 작성 모델을 호출하지 않고 자료 부족으로 끝냅니다. 근거가 있으면 답변을 작성하고, 수치 검증에서 조회값과 대조해 다르면 다시 쓰게 합니다. 최초 작성 포함 세 번 실패하면 실패를 안내합니다. 기술로는 MCP로 도구를 연결하고, 검색한 매뉴얼을 답변에 활용하는 RAG를 적용했습니다. 서브에이전트는 모델이 판단하는 구조가 아니라 도구를 호출하는 작업자이며, 의존성 주입으로 테스트에서 도구를 바꿔 끼울 수 있게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화면만 보여주고 바로 다음 장으로 넘어가기</a:t>
            </a:r>
          </a:p>
          <a:p/>
          <a:p>
            <a:r>
              <a:t>최종 실행 화면입니다. 모의 작성 모델에 실제 MCP 도구와 로컬 임베딩을 연결했습니다.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GIF를 보며 왼쪽에서 오른쪽 순서로 설명하기</a:t>
            </a:r>
          </a:p>
          <a:p/>
          <a:p>
            <a:r>
              <a:t>개선 전후 비교입니다. 같은 질문에서 모의 모델이 CPU를 15퍼센트포인트 높게 쓰도록 오류를 넣었습니다. 왼쪽 개선 전에는 틀린 수치가 그대로 통과하고, 오른쪽 개선 후에는 세 번 작성해도 일치하지 않아 사유와 실제 수집값을 안내합니다. 두 실행의 수치는 서로 다르므로, 같은 숫자의 비교가 아니라 처리 방식의 차이를 재현한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숫자 두 개(2/9→9/9, 6/14→12/14)를 또박또박 말하기</a:t>
            </a:r>
          </a:p>
          <a:p/>
          <a:p>
            <a:r>
              <a:t>평가 결과입니다. 같은 17개 입력에서 오류 답변 차단은 9개 중 2개에서 9개로 늘었고, 정상 답변 8개는 모두 통과했습니다. 매뉴얼 선택은 14개 사례 중 기대와 일치한 수가 6개에서 12개로 늘었습니다. 다만 직접 만든 소규모 평가셋이라 일반적인 정확도는 아닙니다. 실모델 비교에서는 작성 시도와 응답 시간이 비슷해 속도 향상은 주장하지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천천히 읽고, 마지막 문장 뒤에 인사하며 마무리하기</a:t>
            </a:r>
          </a:p>
          <a:p/>
          <a:p>
            <a:r>
              <a:t>마지막으로 한계입니다. 검증은 시스템명과 CPU, 메모리 수치의 일치만 확인하며 원인 설명은 판단하지 못합니다. 규칙 기반이라 새로운 표현을 놓칠 수 있고, 초안을 숨기는 대신 답변을 기다려야 하며, 임베딩 검색에는 자원과 지연이 듭니다. 향후 독립 평가셋과 구조화된 수치 출력으로 보완하겠습니다. 세부 근거는 부록에 정리했습니다.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30초] 화면 위 번호를 위에서 아래로 가리키기</a:t>
            </a:r>
          </a:p>
          <a:p/>
          <a:p>
            <a:r>
              <a:t>화면은 제공받은 Vue 화면을 근거 확인 중심으로 개선했습니다. 1번은 진행 단계, 2번은 수집값과 답변값의 비교표입니다. 3번은 매뉴얼 검색 후보와 유사도이며, 점수는 확률이 아닙니다. 4번은 정상, 검증 실패, 자료 부족을 구분해 안내하고, 5번은 반려될 초안을 먼저 보여주지 않는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45초] 왼쪽 숫자 세 개를 짚고, 오른쪽은 '이유와 한계' 한 줄씩만 읽기</a:t>
            </a:r>
          </a:p>
          <a:p/>
          <a:p>
            <a:r>
              <a:t>이어서 비용과 성능 측정, 그리고 기술 선택 이유입니다. 근거가 없을 때 작성 모델 호출을 생략해 응답 시간이 36.6초에서 1.2~2.7초로 줄었습니다. 조사를 병렬로 처리하면 직렬 1.07초가 0.36초가 되며, 제공받은 구조를 측정한 값입니다. 모델을 용도별로 나눈 비용은 글자 수 기반 추정으로 약 59퍼센트 절감됩니다. 오른쪽은 기술별 선택 이유와 한계입니다. 프롬프트 압축은 적용하지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발표는 10번에서 종료. 질문이 나오면 해당 부록 번호로 이동</a:t>
            </a:r>
          </a:p>
          <a:p/>
          <a:p>
            <a:r>
              <a:t>부록입니다. 질문이 있으면 해당 쪽을 열어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제공 기반과 직접 구현을 구분해 답변</a:t>
            </a:r>
          </a:p>
          <a:p/>
          <a:p>
            <a:r>
              <a:t>제공받은 구조와 직접 변경한 부분을 구분해 표시했습니다. 측정만 한 항목은 구현으로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'why'를 물으면 이 표의 한 줄로 답</a:t>
            </a:r>
          </a:p>
          <a:p/>
          <a:p>
            <a:r>
              <a:t>각 결정의 이유와 대안은 저장소의 설계 결정 기록에 있습니다. 실험하지 않은 대안은 하지 않았다고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평가의 신뢰도를 물으면 '자체 평가라 낙관적'을 먼저 인정</a:t>
            </a:r>
          </a:p>
          <a:p/>
          <a:p>
            <a:r>
              <a:t>평가는 소규모 자체 평가셋입니다. 같은 입력으로 개선 전후를 비교했고, 낙관적일 수 있다는 한계를 함께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에러 핸들링 질문에 사용</a:t>
            </a:r>
          </a:p>
          <a:p/>
          <a:p>
            <a:r>
              <a:t>검증 규칙과 실패 처리 방식을 정리했습니다. 한계로는 직전 시스템명 연결 방식 때문에 정상 서술이 반려될 수 있다는 점이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다이어그램과 구현 비교를 물으면 이 쪽</a:t>
            </a:r>
          </a:p>
          <a:p/>
          <a:p>
            <a:r>
              <a:t>전체 노드 흐름입니다. 초록색이 직접 추가하거나 변경한 노드이고, 근거 점검과 실패 종료는 새로 추가했습니다.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10</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 검증만으로는 수치 오류를 걸러내지 못함</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10</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수집부터 답변 출력까지 전 구간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10</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 및 실패 분기를 반영한 처리 흐름</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10</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
        <p:nvSpPr>
          <p:cNvPr id="46" name="TextBox 45"/>
          <p:cNvSpPr txBox="1"/>
          <p:nvPr/>
        </p:nvSpPr>
        <p:spPr>
          <a:xfrm>
            <a:off x="685800" y="6272784"/>
            <a:ext cx="10881360" cy="182880"/>
          </a:xfrm>
          <a:prstGeom prst="rect">
            <a:avLst/>
          </a:prstGeom>
          <a:noFill/>
        </p:spPr>
        <p:txBody>
          <a:bodyPr wrap="square" lIns="0" rIns="0" tIns="0" bIns="0">
            <a:spAutoFit/>
          </a:bodyPr>
          <a:lstStyle/>
          <a:p>
            <a:r>
              <a:rPr sz="1100" b="0">
                <a:solidFill>
                  <a:srgbClr val="62746D"/>
                </a:solidFill>
                <a:latin typeface="Apple SD Gothic Neo"/>
              </a:rPr>
              <a:t>요약도: route · gate · replan_check · analysis · finalize 생략 (전체 노드는 부록 A-6)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답변과 확인 근거를 함께 제공</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10</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 비공개, 검증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근거 확인 중심의 화면 개선</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처리 중인 작업을 단계별로 표시</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수집값과 답변값을 직접 비교</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유사도 점수 확인</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 상태를 구분하여 안내</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검증 전 초안 비공개</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10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동일 오류 조건에서 오답 통과 대신 실패 안내</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10</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 기준 오류 차단 및 매뉴얼 선택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10</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08  비용·성능 측정과 기술 선택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측정 결과 및 기술 선택 근거</a:t>
            </a:r>
          </a:p>
        </p:txBody>
      </p:sp>
      <p:sp>
        <p:nvSpPr>
          <p:cNvPr id="4" name="TextBox 3"/>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5" name="TextBox 4"/>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8" name="TextBox 7"/>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9" name="TextBox 8"/>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0" name="TextBox 9"/>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11" name="TextBox 10"/>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09 / 10</a:t>
            </a:r>
          </a:p>
        </p:txBody>
      </p:sp>
      <p:sp>
        <p:nvSpPr>
          <p:cNvPr id="12" name="TextBox 11"/>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13" name="TextBox 12"/>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4" name="TextBox 13"/>
          <p:cNvSpPr txBox="1"/>
          <p:nvPr/>
        </p:nvSpPr>
        <p:spPr>
          <a:xfrm>
            <a:off x="640080" y="1965960"/>
            <a:ext cx="3657600" cy="274320"/>
          </a:xfrm>
          <a:prstGeom prst="rect">
            <a:avLst/>
          </a:prstGeom>
          <a:noFill/>
        </p:spPr>
        <p:txBody>
          <a:bodyPr wrap="square" lIns="0" rIns="0" tIns="0" bIns="0">
            <a:spAutoFit/>
          </a:bodyPr>
          <a:lstStyle/>
          <a:p>
            <a:r>
              <a:rPr sz="1400" b="1">
                <a:solidFill>
                  <a:srgbClr val="16785C"/>
                </a:solidFill>
                <a:latin typeface="Apple SD Gothic Neo"/>
              </a:rPr>
              <a:t>작성 모델 호출 생략 (근거 0건)</a:t>
            </a:r>
          </a:p>
        </p:txBody>
      </p:sp>
      <p:sp>
        <p:nvSpPr>
          <p:cNvPr id="15" name="Rounded Rectangle 14"/>
          <p:cNvSpPr/>
          <p:nvPr/>
        </p:nvSpPr>
        <p:spPr>
          <a:xfrm>
            <a:off x="4343400" y="193852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13배 이상 단축</a:t>
            </a:r>
          </a:p>
        </p:txBody>
      </p:sp>
      <p:sp>
        <p:nvSpPr>
          <p:cNvPr id="16" name="TextBox 15"/>
          <p:cNvSpPr txBox="1"/>
          <p:nvPr/>
        </p:nvSpPr>
        <p:spPr>
          <a:xfrm>
            <a:off x="640080" y="2313432"/>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17" name="Rectangle 16"/>
          <p:cNvSpPr/>
          <p:nvPr/>
        </p:nvSpPr>
        <p:spPr>
          <a:xfrm>
            <a:off x="1005840" y="2313432"/>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58768" y="2313432"/>
            <a:ext cx="1737360" cy="274320"/>
          </a:xfrm>
          <a:prstGeom prst="rect">
            <a:avLst/>
          </a:prstGeom>
          <a:noFill/>
        </p:spPr>
        <p:txBody>
          <a:bodyPr wrap="square" lIns="0" rIns="0" tIns="0" bIns="0" anchor="ctr">
            <a:spAutoFit/>
          </a:bodyPr>
          <a:lstStyle/>
          <a:p>
            <a:r>
              <a:rPr sz="1500" b="1">
                <a:solidFill>
                  <a:srgbClr val="19382F"/>
                </a:solidFill>
                <a:latin typeface="Apple SD Gothic Neo"/>
              </a:rPr>
              <a:t>36.6초</a:t>
            </a:r>
          </a:p>
        </p:txBody>
      </p:sp>
      <p:sp>
        <p:nvSpPr>
          <p:cNvPr id="19" name="TextBox 18"/>
          <p:cNvSpPr txBox="1"/>
          <p:nvPr/>
        </p:nvSpPr>
        <p:spPr>
          <a:xfrm>
            <a:off x="640080" y="266090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0" name="Rectangle 19"/>
          <p:cNvSpPr/>
          <p:nvPr/>
        </p:nvSpPr>
        <p:spPr>
          <a:xfrm>
            <a:off x="1005840" y="2660903"/>
            <a:ext cx="202367"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17935" y="2660903"/>
            <a:ext cx="1737360" cy="274320"/>
          </a:xfrm>
          <a:prstGeom prst="rect">
            <a:avLst/>
          </a:prstGeom>
          <a:noFill/>
        </p:spPr>
        <p:txBody>
          <a:bodyPr wrap="square" lIns="0" rIns="0" tIns="0" bIns="0" anchor="ctr">
            <a:spAutoFit/>
          </a:bodyPr>
          <a:lstStyle/>
          <a:p>
            <a:r>
              <a:rPr sz="1500" b="1">
                <a:solidFill>
                  <a:srgbClr val="19382F"/>
                </a:solidFill>
                <a:latin typeface="Apple SD Gothic Neo"/>
              </a:rPr>
              <a:t>1.2~2.7초</a:t>
            </a:r>
          </a:p>
        </p:txBody>
      </p:sp>
      <p:sp>
        <p:nvSpPr>
          <p:cNvPr id="22" name="TextBox 21"/>
          <p:cNvSpPr txBox="1"/>
          <p:nvPr/>
        </p:nvSpPr>
        <p:spPr>
          <a:xfrm>
            <a:off x="640080" y="2990088"/>
            <a:ext cx="5212080" cy="182880"/>
          </a:xfrm>
          <a:prstGeom prst="rect">
            <a:avLst/>
          </a:prstGeom>
          <a:noFill/>
        </p:spPr>
        <p:txBody>
          <a:bodyPr wrap="square" lIns="0" rIns="0" tIns="0" bIns="0">
            <a:spAutoFit/>
          </a:bodyPr>
          <a:lstStyle/>
          <a:p>
            <a:r>
              <a:rPr sz="1100" b="0">
                <a:solidFill>
                  <a:srgbClr val="62746D"/>
                </a:solidFill>
                <a:latin typeface="Apple SD Gothic Neo"/>
              </a:rPr>
              <a:t>단일 질문 실측 · 작성 호출 1회 → 0회</a:t>
            </a:r>
          </a:p>
        </p:txBody>
      </p:sp>
      <p:sp>
        <p:nvSpPr>
          <p:cNvPr id="23" name="TextBox 22"/>
          <p:cNvSpPr txBox="1"/>
          <p:nvPr/>
        </p:nvSpPr>
        <p:spPr>
          <a:xfrm>
            <a:off x="640080" y="3246120"/>
            <a:ext cx="3657600" cy="274320"/>
          </a:xfrm>
          <a:prstGeom prst="rect">
            <a:avLst/>
          </a:prstGeom>
          <a:noFill/>
        </p:spPr>
        <p:txBody>
          <a:bodyPr wrap="square" lIns="0" rIns="0" tIns="0" bIns="0">
            <a:spAutoFit/>
          </a:bodyPr>
          <a:lstStyle/>
          <a:p>
            <a:r>
              <a:rPr sz="1400" b="1">
                <a:solidFill>
                  <a:srgbClr val="16785C"/>
                </a:solidFill>
                <a:latin typeface="Apple SD Gothic Neo"/>
              </a:rPr>
              <a:t>병렬 조사 (모니터링 3건)</a:t>
            </a:r>
          </a:p>
        </p:txBody>
      </p:sp>
      <p:sp>
        <p:nvSpPr>
          <p:cNvPr id="24" name="Rounded Rectangle 23"/>
          <p:cNvSpPr/>
          <p:nvPr/>
        </p:nvSpPr>
        <p:spPr>
          <a:xfrm>
            <a:off x="4343400" y="321868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2.9배 단축</a:t>
            </a:r>
          </a:p>
        </p:txBody>
      </p:sp>
      <p:sp>
        <p:nvSpPr>
          <p:cNvPr id="25" name="TextBox 24"/>
          <p:cNvSpPr txBox="1"/>
          <p:nvPr/>
        </p:nvSpPr>
        <p:spPr>
          <a:xfrm>
            <a:off x="640080" y="359359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26" name="Rectangle 25"/>
          <p:cNvSpPr/>
          <p:nvPr/>
        </p:nvSpPr>
        <p:spPr>
          <a:xfrm>
            <a:off x="1005840" y="359359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58768" y="3593591"/>
            <a:ext cx="1737360" cy="274320"/>
          </a:xfrm>
          <a:prstGeom prst="rect">
            <a:avLst/>
          </a:prstGeom>
          <a:noFill/>
        </p:spPr>
        <p:txBody>
          <a:bodyPr wrap="square" lIns="0" rIns="0" tIns="0" bIns="0" anchor="ctr">
            <a:spAutoFit/>
          </a:bodyPr>
          <a:lstStyle/>
          <a:p>
            <a:r>
              <a:rPr sz="1500" b="1">
                <a:solidFill>
                  <a:srgbClr val="19382F"/>
                </a:solidFill>
                <a:latin typeface="Apple SD Gothic Neo"/>
              </a:rPr>
              <a:t>1.07초</a:t>
            </a:r>
          </a:p>
        </p:txBody>
      </p:sp>
      <p:sp>
        <p:nvSpPr>
          <p:cNvPr id="28" name="TextBox 27"/>
          <p:cNvSpPr txBox="1"/>
          <p:nvPr/>
        </p:nvSpPr>
        <p:spPr>
          <a:xfrm>
            <a:off x="640080" y="394106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9" name="Rectangle 28"/>
          <p:cNvSpPr/>
          <p:nvPr/>
        </p:nvSpPr>
        <p:spPr>
          <a:xfrm>
            <a:off x="1005840" y="3941063"/>
            <a:ext cx="922945"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38513" y="3941063"/>
            <a:ext cx="1737360" cy="274320"/>
          </a:xfrm>
          <a:prstGeom prst="rect">
            <a:avLst/>
          </a:prstGeom>
          <a:noFill/>
        </p:spPr>
        <p:txBody>
          <a:bodyPr wrap="square" lIns="0" rIns="0" tIns="0" bIns="0" anchor="ctr">
            <a:spAutoFit/>
          </a:bodyPr>
          <a:lstStyle/>
          <a:p>
            <a:r>
              <a:rPr sz="1500" b="1">
                <a:solidFill>
                  <a:srgbClr val="19382F"/>
                </a:solidFill>
                <a:latin typeface="Apple SD Gothic Neo"/>
              </a:rPr>
              <a:t>0.36초</a:t>
            </a:r>
          </a:p>
        </p:txBody>
      </p:sp>
      <p:sp>
        <p:nvSpPr>
          <p:cNvPr id="31" name="TextBox 30"/>
          <p:cNvSpPr txBox="1"/>
          <p:nvPr/>
        </p:nvSpPr>
        <p:spPr>
          <a:xfrm>
            <a:off x="640080" y="4270248"/>
            <a:ext cx="5212080" cy="182880"/>
          </a:xfrm>
          <a:prstGeom prst="rect">
            <a:avLst/>
          </a:prstGeom>
          <a:noFill/>
        </p:spPr>
        <p:txBody>
          <a:bodyPr wrap="square" lIns="0" rIns="0" tIns="0" bIns="0">
            <a:spAutoFit/>
          </a:bodyPr>
          <a:lstStyle/>
          <a:p>
            <a:r>
              <a:rPr sz="1100" b="0">
                <a:solidFill>
                  <a:srgbClr val="62746D"/>
                </a:solidFill>
                <a:latin typeface="Apple SD Gothic Neo"/>
              </a:rPr>
              <a:t>제공 구조 측정 · 작업당 0.35초는 모의 지연</a:t>
            </a:r>
          </a:p>
        </p:txBody>
      </p:sp>
      <p:sp>
        <p:nvSpPr>
          <p:cNvPr id="32" name="TextBox 31"/>
          <p:cNvSpPr txBox="1"/>
          <p:nvPr/>
        </p:nvSpPr>
        <p:spPr>
          <a:xfrm>
            <a:off x="640080" y="4526279"/>
            <a:ext cx="3657600" cy="274320"/>
          </a:xfrm>
          <a:prstGeom prst="rect">
            <a:avLst/>
          </a:prstGeom>
          <a:noFill/>
        </p:spPr>
        <p:txBody>
          <a:bodyPr wrap="square" lIns="0" rIns="0" tIns="0" bIns="0">
            <a:spAutoFit/>
          </a:bodyPr>
          <a:lstStyle/>
          <a:p>
            <a:r>
              <a:rPr sz="1400" b="1">
                <a:solidFill>
                  <a:srgbClr val="16785C"/>
                </a:solidFill>
                <a:latin typeface="Apple SD Gothic Neo"/>
              </a:rPr>
              <a:t>모델 분리 비용 (fast/quality)</a:t>
            </a:r>
          </a:p>
        </p:txBody>
      </p:sp>
      <p:sp>
        <p:nvSpPr>
          <p:cNvPr id="33" name="Rounded Rectangle 32"/>
          <p:cNvSpPr/>
          <p:nvPr/>
        </p:nvSpPr>
        <p:spPr>
          <a:xfrm>
            <a:off x="4343400" y="4498847"/>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59% 절감</a:t>
            </a:r>
          </a:p>
        </p:txBody>
      </p:sp>
      <p:sp>
        <p:nvSpPr>
          <p:cNvPr id="34" name="TextBox 33"/>
          <p:cNvSpPr txBox="1"/>
          <p:nvPr/>
        </p:nvSpPr>
        <p:spPr>
          <a:xfrm>
            <a:off x="640080" y="487375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35" name="Rectangle 34"/>
          <p:cNvSpPr/>
          <p:nvPr/>
        </p:nvSpPr>
        <p:spPr>
          <a:xfrm>
            <a:off x="1005840" y="487375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58768" y="4873751"/>
            <a:ext cx="1737360" cy="274320"/>
          </a:xfrm>
          <a:prstGeom prst="rect">
            <a:avLst/>
          </a:prstGeom>
          <a:noFill/>
        </p:spPr>
        <p:txBody>
          <a:bodyPr wrap="square" lIns="0" rIns="0" tIns="0" bIns="0" anchor="ctr">
            <a:spAutoFit/>
          </a:bodyPr>
          <a:lstStyle/>
          <a:p>
            <a:r>
              <a:rPr sz="1500" b="1">
                <a:solidFill>
                  <a:srgbClr val="19382F"/>
                </a:solidFill>
                <a:latin typeface="Apple SD Gothic Neo"/>
              </a:rPr>
              <a:t>$0.0067</a:t>
            </a:r>
          </a:p>
        </p:txBody>
      </p:sp>
      <p:sp>
        <p:nvSpPr>
          <p:cNvPr id="37" name="TextBox 36"/>
          <p:cNvSpPr txBox="1"/>
          <p:nvPr/>
        </p:nvSpPr>
        <p:spPr>
          <a:xfrm>
            <a:off x="640080" y="522122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38" name="Rectangle 37"/>
          <p:cNvSpPr/>
          <p:nvPr/>
        </p:nvSpPr>
        <p:spPr>
          <a:xfrm>
            <a:off x="1005840" y="5221223"/>
            <a:ext cx="1131004"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46572" y="5221223"/>
            <a:ext cx="1737360" cy="274320"/>
          </a:xfrm>
          <a:prstGeom prst="rect">
            <a:avLst/>
          </a:prstGeom>
          <a:noFill/>
        </p:spPr>
        <p:txBody>
          <a:bodyPr wrap="square" lIns="0" rIns="0" tIns="0" bIns="0" anchor="ctr">
            <a:spAutoFit/>
          </a:bodyPr>
          <a:lstStyle/>
          <a:p>
            <a:r>
              <a:rPr sz="1500" b="1">
                <a:solidFill>
                  <a:srgbClr val="19382F"/>
                </a:solidFill>
                <a:latin typeface="Apple SD Gothic Neo"/>
              </a:rPr>
              <a:t>$0.0027</a:t>
            </a:r>
          </a:p>
        </p:txBody>
      </p:sp>
      <p:sp>
        <p:nvSpPr>
          <p:cNvPr id="40" name="TextBox 39"/>
          <p:cNvSpPr txBox="1"/>
          <p:nvPr/>
        </p:nvSpPr>
        <p:spPr>
          <a:xfrm>
            <a:off x="640080" y="5550407"/>
            <a:ext cx="5212080" cy="182880"/>
          </a:xfrm>
          <a:prstGeom prst="rect">
            <a:avLst/>
          </a:prstGeom>
          <a:noFill/>
        </p:spPr>
        <p:txBody>
          <a:bodyPr wrap="square" lIns="0" rIns="0" tIns="0" bIns="0">
            <a:spAutoFit/>
          </a:bodyPr>
          <a:lstStyle/>
          <a:p>
            <a:r>
              <a:rPr sz="1100" b="0">
                <a:solidFill>
                  <a:srgbClr val="62746D"/>
                </a:solidFill>
                <a:latin typeface="Apple SD Gothic Neo"/>
              </a:rPr>
              <a:t>글자 수 기반 추정 · 제공 구조 측정</a:t>
            </a:r>
          </a:p>
        </p:txBody>
      </p:sp>
      <p:sp>
        <p:nvSpPr>
          <p:cNvPr id="41" name="Rectangle 40"/>
          <p:cNvSpPr/>
          <p:nvPr/>
        </p:nvSpPr>
        <p:spPr>
          <a:xfrm>
            <a:off x="6309360" y="2011680"/>
            <a:ext cx="5212080" cy="329184"/>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9088" y="2011680"/>
            <a:ext cx="1261872" cy="329184"/>
          </a:xfrm>
          <a:prstGeom prst="rect">
            <a:avLst/>
          </a:prstGeom>
          <a:noFill/>
        </p:spPr>
        <p:txBody>
          <a:bodyPr wrap="square" lIns="0" rIns="0" tIns="0" bIns="0" anchor="ctr">
            <a:spAutoFit/>
          </a:bodyPr>
          <a:lstStyle/>
          <a:p>
            <a:r>
              <a:rPr sz="1200" b="1">
                <a:solidFill>
                  <a:srgbClr val="FFFFFF"/>
                </a:solidFill>
                <a:latin typeface="Apple SD Gothic Neo"/>
              </a:rPr>
              <a:t>기술</a:t>
            </a:r>
          </a:p>
        </p:txBody>
      </p:sp>
      <p:sp>
        <p:nvSpPr>
          <p:cNvPr id="43" name="TextBox 42"/>
          <p:cNvSpPr txBox="1"/>
          <p:nvPr/>
        </p:nvSpPr>
        <p:spPr>
          <a:xfrm>
            <a:off x="7836407"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선택 이유</a:t>
            </a:r>
          </a:p>
        </p:txBody>
      </p:sp>
      <p:sp>
        <p:nvSpPr>
          <p:cNvPr id="44" name="TextBox 43"/>
          <p:cNvSpPr txBox="1"/>
          <p:nvPr/>
        </p:nvSpPr>
        <p:spPr>
          <a:xfrm>
            <a:off x="9756648"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한계</a:t>
            </a:r>
          </a:p>
        </p:txBody>
      </p:sp>
      <p:sp>
        <p:nvSpPr>
          <p:cNvPr id="45" name="Rectangle 44"/>
          <p:cNvSpPr/>
          <p:nvPr/>
        </p:nvSpPr>
        <p:spPr>
          <a:xfrm>
            <a:off x="6309360" y="2340864"/>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19088" y="2340864"/>
            <a:ext cx="1188720" cy="822960"/>
          </a:xfrm>
          <a:prstGeom prst="rect">
            <a:avLst/>
          </a:prstGeom>
          <a:noFill/>
        </p:spPr>
        <p:txBody>
          <a:bodyPr wrap="square" lIns="0" rIns="0" tIns="0" bIns="0" anchor="ctr">
            <a:spAutoFit/>
          </a:bodyPr>
          <a:lstStyle/>
          <a:p>
            <a:r>
              <a:rPr sz="1500" b="1">
                <a:solidFill>
                  <a:srgbClr val="16785C"/>
                </a:solidFill>
                <a:latin typeface="Apple SD Gothic Neo"/>
              </a:rPr>
              <a:t>의미 기반 검색</a:t>
            </a:r>
          </a:p>
        </p:txBody>
      </p:sp>
      <p:sp>
        <p:nvSpPr>
          <p:cNvPr id="47" name="TextBox 46"/>
          <p:cNvSpPr txBox="1"/>
          <p:nvPr/>
        </p:nvSpPr>
        <p:spPr>
          <a:xfrm>
            <a:off x="7836407" y="2340864"/>
            <a:ext cx="1691639" cy="822960"/>
          </a:xfrm>
          <a:prstGeom prst="rect">
            <a:avLst/>
          </a:prstGeom>
          <a:noFill/>
        </p:spPr>
        <p:txBody>
          <a:bodyPr wrap="square" lIns="0" rIns="0" tIns="0" bIns="0" anchor="ctr">
            <a:spAutoFit/>
          </a:bodyPr>
          <a:lstStyle/>
          <a:p>
            <a:r>
              <a:rPr sz="1300" b="0">
                <a:solidFill>
                  <a:srgbClr val="19382F"/>
                </a:solidFill>
                <a:latin typeface="Apple SD Gothic Neo"/>
              </a:rPr>
              <a:t>키워드는 표현이 다르면 놓침</a:t>
            </a:r>
          </a:p>
        </p:txBody>
      </p:sp>
      <p:sp>
        <p:nvSpPr>
          <p:cNvPr id="48" name="TextBox 47"/>
          <p:cNvSpPr txBox="1"/>
          <p:nvPr/>
        </p:nvSpPr>
        <p:spPr>
          <a:xfrm>
            <a:off x="9756648" y="2340864"/>
            <a:ext cx="1691639" cy="822960"/>
          </a:xfrm>
          <a:prstGeom prst="rect">
            <a:avLst/>
          </a:prstGeom>
          <a:noFill/>
        </p:spPr>
        <p:txBody>
          <a:bodyPr wrap="square" lIns="0" rIns="0" tIns="0" bIns="0" anchor="ctr">
            <a:spAutoFit/>
          </a:bodyPr>
          <a:lstStyle/>
          <a:p>
            <a:r>
              <a:rPr sz="1300" b="0">
                <a:solidFill>
                  <a:srgbClr val="B6503E"/>
                </a:solidFill>
                <a:latin typeface="Apple SD Gothic Neo"/>
              </a:rPr>
              <a:t>임베딩 자원 · 지연</a:t>
            </a:r>
          </a:p>
        </p:txBody>
      </p:sp>
      <p:sp>
        <p:nvSpPr>
          <p:cNvPr id="49" name="Rectangle 48"/>
          <p:cNvSpPr/>
          <p:nvPr/>
        </p:nvSpPr>
        <p:spPr>
          <a:xfrm>
            <a:off x="6309360" y="3154680"/>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9088" y="3154680"/>
            <a:ext cx="1188720" cy="822960"/>
          </a:xfrm>
          <a:prstGeom prst="rect">
            <a:avLst/>
          </a:prstGeom>
          <a:noFill/>
        </p:spPr>
        <p:txBody>
          <a:bodyPr wrap="square" lIns="0" rIns="0" tIns="0" bIns="0" anchor="ctr">
            <a:spAutoFit/>
          </a:bodyPr>
          <a:lstStyle/>
          <a:p>
            <a:r>
              <a:rPr sz="1500" b="1">
                <a:solidFill>
                  <a:srgbClr val="16785C"/>
                </a:solidFill>
                <a:latin typeface="Apple SD Gothic Neo"/>
              </a:rPr>
              <a:t>규칙 기반 검증</a:t>
            </a:r>
          </a:p>
        </p:txBody>
      </p:sp>
      <p:sp>
        <p:nvSpPr>
          <p:cNvPr id="51" name="TextBox 50"/>
          <p:cNvSpPr txBox="1"/>
          <p:nvPr/>
        </p:nvSpPr>
        <p:spPr>
          <a:xfrm>
            <a:off x="7836407" y="3154680"/>
            <a:ext cx="1691639" cy="822960"/>
          </a:xfrm>
          <a:prstGeom prst="rect">
            <a:avLst/>
          </a:prstGeom>
          <a:noFill/>
        </p:spPr>
        <p:txBody>
          <a:bodyPr wrap="square" lIns="0" rIns="0" tIns="0" bIns="0" anchor="ctr">
            <a:spAutoFit/>
          </a:bodyPr>
          <a:lstStyle/>
          <a:p>
            <a:r>
              <a:rPr sz="1300" b="0">
                <a:solidFill>
                  <a:srgbClr val="19382F"/>
                </a:solidFill>
                <a:latin typeface="Apple SD Gothic Neo"/>
              </a:rPr>
              <a:t>판정이 명확 · 재현 가능</a:t>
            </a:r>
          </a:p>
        </p:txBody>
      </p:sp>
      <p:sp>
        <p:nvSpPr>
          <p:cNvPr id="52" name="TextBox 51"/>
          <p:cNvSpPr txBox="1"/>
          <p:nvPr/>
        </p:nvSpPr>
        <p:spPr>
          <a:xfrm>
            <a:off x="9756648" y="3154680"/>
            <a:ext cx="1691639" cy="822960"/>
          </a:xfrm>
          <a:prstGeom prst="rect">
            <a:avLst/>
          </a:prstGeom>
          <a:noFill/>
        </p:spPr>
        <p:txBody>
          <a:bodyPr wrap="square" lIns="0" rIns="0" tIns="0" bIns="0" anchor="ctr">
            <a:spAutoFit/>
          </a:bodyPr>
          <a:lstStyle/>
          <a:p>
            <a:r>
              <a:rPr sz="1300" b="0">
                <a:solidFill>
                  <a:srgbClr val="B6503E"/>
                </a:solidFill>
                <a:latin typeface="Apple SD Gothic Neo"/>
              </a:rPr>
              <a:t>새 표현 누락 가능</a:t>
            </a:r>
          </a:p>
        </p:txBody>
      </p:sp>
      <p:sp>
        <p:nvSpPr>
          <p:cNvPr id="53" name="Rectangle 52"/>
          <p:cNvSpPr/>
          <p:nvPr/>
        </p:nvSpPr>
        <p:spPr>
          <a:xfrm>
            <a:off x="6309360" y="3968496"/>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19088" y="3968496"/>
            <a:ext cx="1188720" cy="822960"/>
          </a:xfrm>
          <a:prstGeom prst="rect">
            <a:avLst/>
          </a:prstGeom>
          <a:noFill/>
        </p:spPr>
        <p:txBody>
          <a:bodyPr wrap="square" lIns="0" rIns="0" tIns="0" bIns="0" anchor="ctr">
            <a:spAutoFit/>
          </a:bodyPr>
          <a:lstStyle/>
          <a:p>
            <a:r>
              <a:rPr sz="1500" b="1">
                <a:solidFill>
                  <a:srgbClr val="16785C"/>
                </a:solidFill>
                <a:latin typeface="Apple SD Gothic Neo"/>
              </a:rPr>
              <a:t>초안 비공개</a:t>
            </a:r>
          </a:p>
        </p:txBody>
      </p:sp>
      <p:sp>
        <p:nvSpPr>
          <p:cNvPr id="55" name="TextBox 54"/>
          <p:cNvSpPr txBox="1"/>
          <p:nvPr/>
        </p:nvSpPr>
        <p:spPr>
          <a:xfrm>
            <a:off x="7836407" y="3968496"/>
            <a:ext cx="1691639" cy="822960"/>
          </a:xfrm>
          <a:prstGeom prst="rect">
            <a:avLst/>
          </a:prstGeom>
          <a:noFill/>
        </p:spPr>
        <p:txBody>
          <a:bodyPr wrap="square" lIns="0" rIns="0" tIns="0" bIns="0" anchor="ctr">
            <a:spAutoFit/>
          </a:bodyPr>
          <a:lstStyle/>
          <a:p>
            <a:r>
              <a:rPr sz="1300" b="0">
                <a:solidFill>
                  <a:srgbClr val="19382F"/>
                </a:solidFill>
                <a:latin typeface="Apple SD Gothic Neo"/>
              </a:rPr>
              <a:t>틀린 수치 노출 방지</a:t>
            </a:r>
          </a:p>
        </p:txBody>
      </p:sp>
      <p:sp>
        <p:nvSpPr>
          <p:cNvPr id="56" name="TextBox 55"/>
          <p:cNvSpPr txBox="1"/>
          <p:nvPr/>
        </p:nvSpPr>
        <p:spPr>
          <a:xfrm>
            <a:off x="9756648" y="3968496"/>
            <a:ext cx="1691639" cy="822960"/>
          </a:xfrm>
          <a:prstGeom prst="rect">
            <a:avLst/>
          </a:prstGeom>
          <a:noFill/>
        </p:spPr>
        <p:txBody>
          <a:bodyPr wrap="square" lIns="0" rIns="0" tIns="0" bIns="0" anchor="ctr">
            <a:spAutoFit/>
          </a:bodyPr>
          <a:lstStyle/>
          <a:p>
            <a:r>
              <a:rPr sz="1300" b="0">
                <a:solidFill>
                  <a:srgbClr val="B6503E"/>
                </a:solidFill>
                <a:latin typeface="Apple SD Gothic Neo"/>
              </a:rPr>
              <a:t>답변 대기 · 토큰 스트리밍 포기</a:t>
            </a:r>
          </a:p>
        </p:txBody>
      </p:sp>
      <p:sp>
        <p:nvSpPr>
          <p:cNvPr id="57" name="Rectangle 56"/>
          <p:cNvSpPr/>
          <p:nvPr/>
        </p:nvSpPr>
        <p:spPr>
          <a:xfrm>
            <a:off x="6309360" y="4782312"/>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4782312"/>
            <a:ext cx="1188720" cy="822960"/>
          </a:xfrm>
          <a:prstGeom prst="rect">
            <a:avLst/>
          </a:prstGeom>
          <a:noFill/>
        </p:spPr>
        <p:txBody>
          <a:bodyPr wrap="square" lIns="0" rIns="0" tIns="0" bIns="0" anchor="ctr">
            <a:spAutoFit/>
          </a:bodyPr>
          <a:lstStyle/>
          <a:p>
            <a:r>
              <a:rPr sz="1500" b="1">
                <a:solidFill>
                  <a:srgbClr val="16785C"/>
                </a:solidFill>
                <a:latin typeface="Apple SD Gothic Neo"/>
              </a:rPr>
              <a:t>서브그래프 · 모듈화</a:t>
            </a:r>
          </a:p>
        </p:txBody>
      </p:sp>
      <p:sp>
        <p:nvSpPr>
          <p:cNvPr id="59" name="TextBox 58"/>
          <p:cNvSpPr txBox="1"/>
          <p:nvPr/>
        </p:nvSpPr>
        <p:spPr>
          <a:xfrm>
            <a:off x="7836407" y="4782312"/>
            <a:ext cx="1691639" cy="822960"/>
          </a:xfrm>
          <a:prstGeom prst="rect">
            <a:avLst/>
          </a:prstGeom>
          <a:noFill/>
        </p:spPr>
        <p:txBody>
          <a:bodyPr wrap="square" lIns="0" rIns="0" tIns="0" bIns="0" anchor="ctr">
            <a:spAutoFit/>
          </a:bodyPr>
          <a:lstStyle/>
          <a:p>
            <a:r>
              <a:rPr sz="1300" b="0">
                <a:solidFill>
                  <a:srgbClr val="19382F"/>
                </a:solidFill>
                <a:latin typeface="Apple SD Gothic Neo"/>
              </a:rPr>
              <a:t>부분 실패 격리 · 테스트 용이</a:t>
            </a:r>
          </a:p>
        </p:txBody>
      </p:sp>
      <p:sp>
        <p:nvSpPr>
          <p:cNvPr id="60" name="TextBox 59"/>
          <p:cNvSpPr txBox="1"/>
          <p:nvPr/>
        </p:nvSpPr>
        <p:spPr>
          <a:xfrm>
            <a:off x="9756648" y="4782312"/>
            <a:ext cx="1691639" cy="822960"/>
          </a:xfrm>
          <a:prstGeom prst="rect">
            <a:avLst/>
          </a:prstGeom>
          <a:noFill/>
        </p:spPr>
        <p:txBody>
          <a:bodyPr wrap="square" lIns="0" rIns="0" tIns="0" bIns="0" anchor="ctr">
            <a:spAutoFit/>
          </a:bodyPr>
          <a:lstStyle/>
          <a:p>
            <a:r>
              <a:rPr sz="1300" b="0">
                <a:solidFill>
                  <a:srgbClr val="B6503E"/>
                </a:solidFill>
                <a:latin typeface="Apple SD Gothic Neo"/>
              </a:rPr>
              <a:t>속도 이득 없음</a:t>
            </a:r>
          </a:p>
        </p:txBody>
      </p:sp>
      <p:sp>
        <p:nvSpPr>
          <p:cNvPr id="61" name="Rectangle 6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852160"/>
            <a:ext cx="10881360" cy="41148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2960" y="5852160"/>
            <a:ext cx="10515600" cy="411480"/>
          </a:xfrm>
          <a:prstGeom prst="rect">
            <a:avLst/>
          </a:prstGeom>
          <a:noFill/>
        </p:spPr>
        <p:txBody>
          <a:bodyPr wrap="square" lIns="0" rIns="0" tIns="0" bIns="0" anchor="ctr">
            <a:spAutoFit/>
          </a:bodyPr>
          <a:lstStyle/>
          <a:p>
            <a:r>
              <a:rPr sz="1200" b="0">
                <a:solidFill>
                  <a:srgbClr val="62746D"/>
                </a:solidFill>
                <a:latin typeface="Apple SD Gothic Neo"/>
              </a:rPr>
              <a:t>비용은 글자 수 기반 추정  |  프롬프트 압축·요약은 미적용  |  fast/quality 모델 분리와 병렬 구조는 제공 기반을 측정한 것</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09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검증 통과가 답변 전체의 정확성을 보장하지 않음</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10 / 10</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 범위를 명시하고, 근거가 부족하면 응답을 중단하는 방향으로 개선</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F27"/>
        </a:solidFill>
        <a:effectLst/>
      </p:bgPr>
    </p:bg>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A4DAC2"/>
                </a:solidFill>
                <a:latin typeface="Apple SD Gothic Neo"/>
              </a:rPr>
              <a:t>부록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FFFFFF"/>
                </a:solidFill>
                <a:latin typeface="Apple SD Gothic Neo"/>
              </a:rPr>
              <a:t>부록</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A4DAC2"/>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A4DAC2"/>
                </a:solidFill>
                <a:latin typeface="Apple SD Gothic Neo"/>
              </a:rPr>
              <a:t/>
            </a:r>
          </a:p>
        </p:txBody>
      </p:sp>
      <p:sp>
        <p:nvSpPr>
          <p:cNvPr id="6" name="TextBox 5"/>
          <p:cNvSpPr txBox="1"/>
          <p:nvPr/>
        </p:nvSpPr>
        <p:spPr>
          <a:xfrm>
            <a:off x="685800" y="2148840"/>
            <a:ext cx="10058400" cy="457200"/>
          </a:xfrm>
          <a:prstGeom prst="rect">
            <a:avLst/>
          </a:prstGeom>
          <a:noFill/>
        </p:spPr>
        <p:txBody>
          <a:bodyPr wrap="square" lIns="0" rIns="0" tIns="0" bIns="0">
            <a:spAutoFit/>
          </a:bodyPr>
          <a:lstStyle/>
          <a:p>
            <a:r>
              <a:rPr sz="1700" b="0">
                <a:solidFill>
                  <a:srgbClr val="A4DAC2"/>
                </a:solidFill>
                <a:latin typeface="Apple SD Gothic Neo"/>
              </a:rPr>
              <a:t>발표는 앞 장(10/10)에서 마칩니다. 아래는 질의응답과 결과 확인용 근거 자료입니다.</a:t>
            </a:r>
          </a:p>
        </p:txBody>
      </p:sp>
      <p:sp>
        <p:nvSpPr>
          <p:cNvPr id="7" name="TextBox 6"/>
          <p:cNvSpPr txBox="1"/>
          <p:nvPr/>
        </p:nvSpPr>
        <p:spPr>
          <a:xfrm>
            <a:off x="685800" y="2880360"/>
            <a:ext cx="822960" cy="365760"/>
          </a:xfrm>
          <a:prstGeom prst="rect">
            <a:avLst/>
          </a:prstGeom>
          <a:noFill/>
        </p:spPr>
        <p:txBody>
          <a:bodyPr wrap="square" lIns="0" rIns="0" tIns="0" bIns="0">
            <a:spAutoFit/>
          </a:bodyPr>
          <a:lstStyle/>
          <a:p>
            <a:r>
              <a:rPr sz="2000" b="1">
                <a:solidFill>
                  <a:srgbClr val="A4DAC2"/>
                </a:solidFill>
                <a:latin typeface="Apple SD Gothic Neo"/>
              </a:rPr>
              <a:t>A-1</a:t>
            </a:r>
          </a:p>
        </p:txBody>
      </p:sp>
      <p:sp>
        <p:nvSpPr>
          <p:cNvPr id="8" name="TextBox 7"/>
          <p:cNvSpPr txBox="1"/>
          <p:nvPr/>
        </p:nvSpPr>
        <p:spPr>
          <a:xfrm>
            <a:off x="1600200" y="2880360"/>
            <a:ext cx="4754880" cy="365760"/>
          </a:xfrm>
          <a:prstGeom prst="rect">
            <a:avLst/>
          </a:prstGeom>
          <a:noFill/>
        </p:spPr>
        <p:txBody>
          <a:bodyPr wrap="square" lIns="0" rIns="0" tIns="0" bIns="0">
            <a:spAutoFit/>
          </a:bodyPr>
          <a:lstStyle/>
          <a:p>
            <a:r>
              <a:rPr sz="2000" b="1">
                <a:solidFill>
                  <a:srgbClr val="FFFFFF"/>
                </a:solidFill>
                <a:latin typeface="Apple SD Gothic Neo"/>
              </a:rPr>
              <a:t>기술 요소 15개와 구현 위치</a:t>
            </a:r>
          </a:p>
        </p:txBody>
      </p:sp>
      <p:sp>
        <p:nvSpPr>
          <p:cNvPr id="9" name="TextBox 8"/>
          <p:cNvSpPr txBox="1"/>
          <p:nvPr/>
        </p:nvSpPr>
        <p:spPr>
          <a:xfrm>
            <a:off x="6400800" y="2926079"/>
            <a:ext cx="5120640" cy="365760"/>
          </a:xfrm>
          <a:prstGeom prst="rect">
            <a:avLst/>
          </a:prstGeom>
          <a:noFill/>
        </p:spPr>
        <p:txBody>
          <a:bodyPr wrap="square" lIns="0" rIns="0" tIns="0" bIns="0">
            <a:spAutoFit/>
          </a:bodyPr>
          <a:lstStyle/>
          <a:p>
            <a:r>
              <a:rPr sz="1500" b="0">
                <a:solidFill>
                  <a:srgbClr val="A4DAC2"/>
                </a:solidFill>
                <a:latin typeface="Apple SD Gothic Neo"/>
              </a:rPr>
              <a:t>제공 기반 · 직접 구현 · 측정 구분</a:t>
            </a:r>
          </a:p>
        </p:txBody>
      </p:sp>
      <p:sp>
        <p:nvSpPr>
          <p:cNvPr id="10" name="TextBox 9"/>
          <p:cNvSpPr txBox="1"/>
          <p:nvPr/>
        </p:nvSpPr>
        <p:spPr>
          <a:xfrm>
            <a:off x="685800" y="3502152"/>
            <a:ext cx="822960" cy="365760"/>
          </a:xfrm>
          <a:prstGeom prst="rect">
            <a:avLst/>
          </a:prstGeom>
          <a:noFill/>
        </p:spPr>
        <p:txBody>
          <a:bodyPr wrap="square" lIns="0" rIns="0" tIns="0" bIns="0">
            <a:spAutoFit/>
          </a:bodyPr>
          <a:lstStyle/>
          <a:p>
            <a:r>
              <a:rPr sz="2000" b="1">
                <a:solidFill>
                  <a:srgbClr val="A4DAC2"/>
                </a:solidFill>
                <a:latin typeface="Apple SD Gothic Neo"/>
              </a:rPr>
              <a:t>A-2</a:t>
            </a:r>
          </a:p>
        </p:txBody>
      </p:sp>
      <p:sp>
        <p:nvSpPr>
          <p:cNvPr id="11" name="TextBox 10"/>
          <p:cNvSpPr txBox="1"/>
          <p:nvPr/>
        </p:nvSpPr>
        <p:spPr>
          <a:xfrm>
            <a:off x="1600200" y="3502152"/>
            <a:ext cx="4754880" cy="365760"/>
          </a:xfrm>
          <a:prstGeom prst="rect">
            <a:avLst/>
          </a:prstGeom>
          <a:noFill/>
        </p:spPr>
        <p:txBody>
          <a:bodyPr wrap="square" lIns="0" rIns="0" tIns="0" bIns="0">
            <a:spAutoFit/>
          </a:bodyPr>
          <a:lstStyle/>
          <a:p>
            <a:r>
              <a:rPr sz="2000" b="1">
                <a:solidFill>
                  <a:srgbClr val="FFFFFF"/>
                </a:solidFill>
                <a:latin typeface="Apple SD Gothic Neo"/>
              </a:rPr>
              <a:t>설계 결정 15개 (ADR)</a:t>
            </a:r>
          </a:p>
        </p:txBody>
      </p:sp>
      <p:sp>
        <p:nvSpPr>
          <p:cNvPr id="12" name="TextBox 11"/>
          <p:cNvSpPr txBox="1"/>
          <p:nvPr/>
        </p:nvSpPr>
        <p:spPr>
          <a:xfrm>
            <a:off x="6400800" y="3547872"/>
            <a:ext cx="5120640" cy="365760"/>
          </a:xfrm>
          <a:prstGeom prst="rect">
            <a:avLst/>
          </a:prstGeom>
          <a:noFill/>
        </p:spPr>
        <p:txBody>
          <a:bodyPr wrap="square" lIns="0" rIns="0" tIns="0" bIns="0">
            <a:spAutoFit/>
          </a:bodyPr>
          <a:lstStyle/>
          <a:p>
            <a:r>
              <a:rPr sz="1500" b="0">
                <a:solidFill>
                  <a:srgbClr val="A4DAC2"/>
                </a:solidFill>
                <a:latin typeface="Apple SD Gothic Neo"/>
              </a:rPr>
              <a:t>결정 구분과 비용·한계</a:t>
            </a:r>
          </a:p>
        </p:txBody>
      </p:sp>
      <p:sp>
        <p:nvSpPr>
          <p:cNvPr id="13" name="TextBox 12"/>
          <p:cNvSpPr txBox="1"/>
          <p:nvPr/>
        </p:nvSpPr>
        <p:spPr>
          <a:xfrm>
            <a:off x="685800" y="4123944"/>
            <a:ext cx="822960" cy="365760"/>
          </a:xfrm>
          <a:prstGeom prst="rect">
            <a:avLst/>
          </a:prstGeom>
          <a:noFill/>
        </p:spPr>
        <p:txBody>
          <a:bodyPr wrap="square" lIns="0" rIns="0" tIns="0" bIns="0">
            <a:spAutoFit/>
          </a:bodyPr>
          <a:lstStyle/>
          <a:p>
            <a:r>
              <a:rPr sz="2000" b="1">
                <a:solidFill>
                  <a:srgbClr val="A4DAC2"/>
                </a:solidFill>
                <a:latin typeface="Apple SD Gothic Neo"/>
              </a:rPr>
              <a:t>A-3</a:t>
            </a:r>
          </a:p>
        </p:txBody>
      </p:sp>
      <p:sp>
        <p:nvSpPr>
          <p:cNvPr id="14" name="TextBox 13"/>
          <p:cNvSpPr txBox="1"/>
          <p:nvPr/>
        </p:nvSpPr>
        <p:spPr>
          <a:xfrm>
            <a:off x="1600200" y="4123944"/>
            <a:ext cx="4754880" cy="365760"/>
          </a:xfrm>
          <a:prstGeom prst="rect">
            <a:avLst/>
          </a:prstGeom>
          <a:noFill/>
        </p:spPr>
        <p:txBody>
          <a:bodyPr wrap="square" lIns="0" rIns="0" tIns="0" bIns="0">
            <a:spAutoFit/>
          </a:bodyPr>
          <a:lstStyle/>
          <a:p>
            <a:r>
              <a:rPr sz="2000" b="1">
                <a:solidFill>
                  <a:srgbClr val="FFFFFF"/>
                </a:solidFill>
                <a:latin typeface="Apple SD Gothic Neo"/>
              </a:rPr>
              <a:t>평가 방법과 결과</a:t>
            </a:r>
          </a:p>
        </p:txBody>
      </p:sp>
      <p:sp>
        <p:nvSpPr>
          <p:cNvPr id="15" name="TextBox 14"/>
          <p:cNvSpPr txBox="1"/>
          <p:nvPr/>
        </p:nvSpPr>
        <p:spPr>
          <a:xfrm>
            <a:off x="6400800" y="4169663"/>
            <a:ext cx="5120640" cy="365760"/>
          </a:xfrm>
          <a:prstGeom prst="rect">
            <a:avLst/>
          </a:prstGeom>
          <a:noFill/>
        </p:spPr>
        <p:txBody>
          <a:bodyPr wrap="square" lIns="0" rIns="0" tIns="0" bIns="0">
            <a:spAutoFit/>
          </a:bodyPr>
          <a:lstStyle/>
          <a:p>
            <a:r>
              <a:rPr sz="1500" b="0">
                <a:solidFill>
                  <a:srgbClr val="A4DAC2"/>
                </a:solidFill>
                <a:latin typeface="Apple SD Gothic Neo"/>
              </a:rPr>
              <a:t>평가셋별 전후 수치와 해석상 주의</a:t>
            </a:r>
          </a:p>
        </p:txBody>
      </p:sp>
      <p:sp>
        <p:nvSpPr>
          <p:cNvPr id="16" name="TextBox 15"/>
          <p:cNvSpPr txBox="1"/>
          <p:nvPr/>
        </p:nvSpPr>
        <p:spPr>
          <a:xfrm>
            <a:off x="685800" y="4745736"/>
            <a:ext cx="822960" cy="365760"/>
          </a:xfrm>
          <a:prstGeom prst="rect">
            <a:avLst/>
          </a:prstGeom>
          <a:noFill/>
        </p:spPr>
        <p:txBody>
          <a:bodyPr wrap="square" lIns="0" rIns="0" tIns="0" bIns="0">
            <a:spAutoFit/>
          </a:bodyPr>
          <a:lstStyle/>
          <a:p>
            <a:r>
              <a:rPr sz="2000" b="1">
                <a:solidFill>
                  <a:srgbClr val="A4DAC2"/>
                </a:solidFill>
                <a:latin typeface="Apple SD Gothic Neo"/>
              </a:rPr>
              <a:t>A-4</a:t>
            </a:r>
          </a:p>
        </p:txBody>
      </p:sp>
      <p:sp>
        <p:nvSpPr>
          <p:cNvPr id="17" name="TextBox 16"/>
          <p:cNvSpPr txBox="1"/>
          <p:nvPr/>
        </p:nvSpPr>
        <p:spPr>
          <a:xfrm>
            <a:off x="1600200" y="4745736"/>
            <a:ext cx="4754880" cy="365760"/>
          </a:xfrm>
          <a:prstGeom prst="rect">
            <a:avLst/>
          </a:prstGeom>
          <a:noFill/>
        </p:spPr>
        <p:txBody>
          <a:bodyPr wrap="square" lIns="0" rIns="0" tIns="0" bIns="0">
            <a:spAutoFit/>
          </a:bodyPr>
          <a:lstStyle/>
          <a:p>
            <a:r>
              <a:rPr sz="2000" b="1">
                <a:solidFill>
                  <a:srgbClr val="FFFFFF"/>
                </a:solidFill>
                <a:latin typeface="Apple SD Gothic Neo"/>
              </a:rPr>
              <a:t>검증 규칙과 실패 처리</a:t>
            </a:r>
          </a:p>
        </p:txBody>
      </p:sp>
      <p:sp>
        <p:nvSpPr>
          <p:cNvPr id="18" name="TextBox 17"/>
          <p:cNvSpPr txBox="1"/>
          <p:nvPr/>
        </p:nvSpPr>
        <p:spPr>
          <a:xfrm>
            <a:off x="6400800" y="4791455"/>
            <a:ext cx="5120640" cy="365760"/>
          </a:xfrm>
          <a:prstGeom prst="rect">
            <a:avLst/>
          </a:prstGeom>
          <a:noFill/>
        </p:spPr>
        <p:txBody>
          <a:bodyPr wrap="square" lIns="0" rIns="0" tIns="0" bIns="0">
            <a:spAutoFit/>
          </a:bodyPr>
          <a:lstStyle/>
          <a:p>
            <a:r>
              <a:rPr sz="1500" b="0">
                <a:solidFill>
                  <a:srgbClr val="A4DAC2"/>
                </a:solidFill>
                <a:latin typeface="Apple SD Gothic Neo"/>
              </a:rPr>
              <a:t>읽는 표현 · 제외 규칙 · 종료 조건</a:t>
            </a:r>
          </a:p>
        </p:txBody>
      </p:sp>
      <p:sp>
        <p:nvSpPr>
          <p:cNvPr id="19" name="TextBox 18"/>
          <p:cNvSpPr txBox="1"/>
          <p:nvPr/>
        </p:nvSpPr>
        <p:spPr>
          <a:xfrm>
            <a:off x="685800" y="5367528"/>
            <a:ext cx="822960" cy="365760"/>
          </a:xfrm>
          <a:prstGeom prst="rect">
            <a:avLst/>
          </a:prstGeom>
          <a:noFill/>
        </p:spPr>
        <p:txBody>
          <a:bodyPr wrap="square" lIns="0" rIns="0" tIns="0" bIns="0">
            <a:spAutoFit/>
          </a:bodyPr>
          <a:lstStyle/>
          <a:p>
            <a:r>
              <a:rPr sz="2000" b="1">
                <a:solidFill>
                  <a:srgbClr val="A4DAC2"/>
                </a:solidFill>
                <a:latin typeface="Apple SD Gothic Neo"/>
              </a:rPr>
              <a:t>A-5</a:t>
            </a:r>
          </a:p>
        </p:txBody>
      </p:sp>
      <p:sp>
        <p:nvSpPr>
          <p:cNvPr id="20" name="TextBox 19"/>
          <p:cNvSpPr txBox="1"/>
          <p:nvPr/>
        </p:nvSpPr>
        <p:spPr>
          <a:xfrm>
            <a:off x="1600200" y="5367528"/>
            <a:ext cx="4754880" cy="365760"/>
          </a:xfrm>
          <a:prstGeom prst="rect">
            <a:avLst/>
          </a:prstGeom>
          <a:noFill/>
        </p:spPr>
        <p:txBody>
          <a:bodyPr wrap="square" lIns="0" rIns="0" tIns="0" bIns="0">
            <a:spAutoFit/>
          </a:bodyPr>
          <a:lstStyle/>
          <a:p>
            <a:r>
              <a:rPr sz="2000" b="1">
                <a:solidFill>
                  <a:srgbClr val="FFFFFF"/>
                </a:solidFill>
                <a:latin typeface="Apple SD Gothic Neo"/>
              </a:rPr>
              <a:t>재현 방법과 근거 자료</a:t>
            </a:r>
          </a:p>
        </p:txBody>
      </p:sp>
      <p:sp>
        <p:nvSpPr>
          <p:cNvPr id="21" name="TextBox 20"/>
          <p:cNvSpPr txBox="1"/>
          <p:nvPr/>
        </p:nvSpPr>
        <p:spPr>
          <a:xfrm>
            <a:off x="6400800" y="5413248"/>
            <a:ext cx="5120640" cy="365760"/>
          </a:xfrm>
          <a:prstGeom prst="rect">
            <a:avLst/>
          </a:prstGeom>
          <a:noFill/>
        </p:spPr>
        <p:txBody>
          <a:bodyPr wrap="square" lIns="0" rIns="0" tIns="0" bIns="0">
            <a:spAutoFit/>
          </a:bodyPr>
          <a:lstStyle/>
          <a:p>
            <a:r>
              <a:rPr sz="1500" b="0">
                <a:solidFill>
                  <a:srgbClr val="A4DAC2"/>
                </a:solidFill>
                <a:latin typeface="Apple SD Gothic Neo"/>
              </a:rPr>
              <a:t>저장소 · 실행 명령 · 근거 파일</a:t>
            </a:r>
          </a:p>
        </p:txBody>
      </p:sp>
      <p:sp>
        <p:nvSpPr>
          <p:cNvPr id="22" name="TextBox 21"/>
          <p:cNvSpPr txBox="1"/>
          <p:nvPr/>
        </p:nvSpPr>
        <p:spPr>
          <a:xfrm>
            <a:off x="685800" y="5989320"/>
            <a:ext cx="822960" cy="365760"/>
          </a:xfrm>
          <a:prstGeom prst="rect">
            <a:avLst/>
          </a:prstGeom>
          <a:noFill/>
        </p:spPr>
        <p:txBody>
          <a:bodyPr wrap="square" lIns="0" rIns="0" tIns="0" bIns="0">
            <a:spAutoFit/>
          </a:bodyPr>
          <a:lstStyle/>
          <a:p>
            <a:r>
              <a:rPr sz="2000" b="1">
                <a:solidFill>
                  <a:srgbClr val="A4DAC2"/>
                </a:solidFill>
                <a:latin typeface="Apple SD Gothic Neo"/>
              </a:rPr>
              <a:t>A-6</a:t>
            </a:r>
          </a:p>
        </p:txBody>
      </p:sp>
      <p:sp>
        <p:nvSpPr>
          <p:cNvPr id="23" name="TextBox 22"/>
          <p:cNvSpPr txBox="1"/>
          <p:nvPr/>
        </p:nvSpPr>
        <p:spPr>
          <a:xfrm>
            <a:off x="1600200" y="5989320"/>
            <a:ext cx="4754880" cy="365760"/>
          </a:xfrm>
          <a:prstGeom prst="rect">
            <a:avLst/>
          </a:prstGeom>
          <a:noFill/>
        </p:spPr>
        <p:txBody>
          <a:bodyPr wrap="square" lIns="0" rIns="0" tIns="0" bIns="0">
            <a:spAutoFit/>
          </a:bodyPr>
          <a:lstStyle/>
          <a:p>
            <a:r>
              <a:rPr sz="2000" b="1">
                <a:solidFill>
                  <a:srgbClr val="FFFFFF"/>
                </a:solidFill>
                <a:latin typeface="Apple SD Gothic Neo"/>
              </a:rPr>
              <a:t>전체 처리 흐름 (노드 단위)</a:t>
            </a:r>
          </a:p>
        </p:txBody>
      </p:sp>
      <p:sp>
        <p:nvSpPr>
          <p:cNvPr id="24" name="TextBox 23"/>
          <p:cNvSpPr txBox="1"/>
          <p:nvPr/>
        </p:nvSpPr>
        <p:spPr>
          <a:xfrm>
            <a:off x="6400800" y="6035040"/>
            <a:ext cx="5120640" cy="365760"/>
          </a:xfrm>
          <a:prstGeom prst="rect">
            <a:avLst/>
          </a:prstGeom>
          <a:noFill/>
        </p:spPr>
        <p:txBody>
          <a:bodyPr wrap="square" lIns="0" rIns="0" tIns="0" bIns="0">
            <a:spAutoFit/>
          </a:bodyPr>
          <a:lstStyle/>
          <a:p>
            <a:r>
              <a:rPr sz="1500" b="0">
                <a:solidFill>
                  <a:srgbClr val="A4DAC2"/>
                </a:solidFill>
                <a:latin typeface="Apple SD Gothic Neo"/>
              </a:rPr>
              <a:t>제공 · 직접 추가 노드와 종료 경로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A-1  기술 요소 대응</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기술 요소 15개와 구현 위치</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A-1 / A-6</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2697480" cy="292608"/>
          </a:xfrm>
          <a:prstGeom prst="rect">
            <a:avLst/>
          </a:prstGeom>
          <a:noFill/>
        </p:spPr>
        <p:txBody>
          <a:bodyPr wrap="square" lIns="0" rIns="0" tIns="0" bIns="0" anchor="ctr">
            <a:spAutoFit/>
          </a:bodyPr>
          <a:lstStyle/>
          <a:p>
            <a:r>
              <a:rPr sz="1150" b="1">
                <a:solidFill>
                  <a:srgbClr val="FFFFFF"/>
                </a:solidFill>
                <a:latin typeface="Apple SD Gothic Neo"/>
              </a:rPr>
              <a:t>요소</a:t>
            </a:r>
          </a:p>
        </p:txBody>
      </p:sp>
      <p:sp>
        <p:nvSpPr>
          <p:cNvPr id="8" name="TextBox 7"/>
          <p:cNvSpPr txBox="1"/>
          <p:nvPr/>
        </p:nvSpPr>
        <p:spPr>
          <a:xfrm>
            <a:off x="3566160" y="1645920"/>
            <a:ext cx="160020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9" name="TextBox 8"/>
          <p:cNvSpPr txBox="1"/>
          <p:nvPr/>
        </p:nvSpPr>
        <p:spPr>
          <a:xfrm>
            <a:off x="5303519" y="1645920"/>
            <a:ext cx="6172200" cy="292608"/>
          </a:xfrm>
          <a:prstGeom prst="rect">
            <a:avLst/>
          </a:prstGeom>
          <a:noFill/>
        </p:spPr>
        <p:txBody>
          <a:bodyPr wrap="square" lIns="0" rIns="0" tIns="0" bIns="0" anchor="ctr">
            <a:spAutoFit/>
          </a:bodyPr>
          <a:lstStyle/>
          <a:p>
            <a:r>
              <a:rPr sz="1150" b="1">
                <a:solidFill>
                  <a:srgbClr val="FFFFFF"/>
                </a:solidFill>
                <a:latin typeface="Apple SD Gothic Neo"/>
              </a:rPr>
              <a:t>구현 위치 · 근거</a:t>
            </a:r>
          </a:p>
        </p:txBody>
      </p:sp>
      <p:sp>
        <p:nvSpPr>
          <p:cNvPr id="10" name="Rectangle 9"/>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2697480" cy="288036"/>
          </a:xfrm>
          <a:prstGeom prst="rect">
            <a:avLst/>
          </a:prstGeom>
          <a:noFill/>
        </p:spPr>
        <p:txBody>
          <a:bodyPr wrap="square" lIns="0" rIns="0" tIns="0" bIns="0" anchor="ctr">
            <a:spAutoFit/>
          </a:bodyPr>
          <a:lstStyle/>
          <a:p>
            <a:r>
              <a:rPr sz="1150" b="1">
                <a:solidFill>
                  <a:srgbClr val="19382F"/>
                </a:solidFill>
                <a:latin typeface="Apple SD Gothic Neo"/>
              </a:rPr>
              <a:t>ADR</a:t>
            </a:r>
          </a:p>
        </p:txBody>
      </p:sp>
      <p:sp>
        <p:nvSpPr>
          <p:cNvPr id="12" name="TextBox 11"/>
          <p:cNvSpPr txBox="1"/>
          <p:nvPr/>
        </p:nvSpPr>
        <p:spPr>
          <a:xfrm>
            <a:off x="3566160" y="1938528"/>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3" name="TextBox 12"/>
          <p:cNvSpPr txBox="1"/>
          <p:nvPr/>
        </p:nvSpPr>
        <p:spPr>
          <a:xfrm>
            <a:off x="5303519" y="1938528"/>
            <a:ext cx="6172200" cy="288036"/>
          </a:xfrm>
          <a:prstGeom prst="rect">
            <a:avLst/>
          </a:prstGeom>
          <a:noFill/>
        </p:spPr>
        <p:txBody>
          <a:bodyPr wrap="square" lIns="0" rIns="0" tIns="0" bIns="0" anchor="ctr">
            <a:spAutoFit/>
          </a:bodyPr>
          <a:lstStyle/>
          <a:p>
            <a:r>
              <a:rPr sz="1150" b="0">
                <a:solidFill>
                  <a:srgbClr val="19382F"/>
                </a:solidFill>
                <a:latin typeface="Apple SD Gothic Neo"/>
              </a:rPr>
              <a:t>doc/ADR.md · 설계 결정 15개</a:t>
            </a:r>
          </a:p>
        </p:txBody>
      </p:sp>
      <p:sp>
        <p:nvSpPr>
          <p:cNvPr id="14" name="Rectangle 13"/>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226564"/>
            <a:ext cx="2697480" cy="288036"/>
          </a:xfrm>
          <a:prstGeom prst="rect">
            <a:avLst/>
          </a:prstGeom>
          <a:noFill/>
        </p:spPr>
        <p:txBody>
          <a:bodyPr wrap="square" lIns="0" rIns="0" tIns="0" bIns="0" anchor="ctr">
            <a:spAutoFit/>
          </a:bodyPr>
          <a:lstStyle/>
          <a:p>
            <a:r>
              <a:rPr sz="1150" b="1">
                <a:solidFill>
                  <a:srgbClr val="19382F"/>
                </a:solidFill>
                <a:latin typeface="Apple SD Gothic Neo"/>
              </a:rPr>
              <a:t>FastAPI · SSE 백엔드</a:t>
            </a:r>
          </a:p>
        </p:txBody>
      </p:sp>
      <p:sp>
        <p:nvSpPr>
          <p:cNvPr id="16" name="TextBox 15"/>
          <p:cNvSpPr txBox="1"/>
          <p:nvPr/>
        </p:nvSpPr>
        <p:spPr>
          <a:xfrm>
            <a:off x="3566160" y="2226564"/>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17" name="TextBox 16"/>
          <p:cNvSpPr txBox="1"/>
          <p:nvPr/>
        </p:nvSpPr>
        <p:spPr>
          <a:xfrm>
            <a:off x="5303519" y="2226564"/>
            <a:ext cx="6172200" cy="288036"/>
          </a:xfrm>
          <a:prstGeom prst="rect">
            <a:avLst/>
          </a:prstGeom>
          <a:noFill/>
        </p:spPr>
        <p:txBody>
          <a:bodyPr wrap="square" lIns="0" rIns="0" tIns="0" bIns="0" anchor="ctr">
            <a:spAutoFit/>
          </a:bodyPr>
          <a:lstStyle/>
          <a:p>
            <a:r>
              <a:rPr sz="1150" b="0">
                <a:solidFill>
                  <a:srgbClr val="19382F"/>
                </a:solidFill>
                <a:latin typeface="Apple SD Gothic Neo"/>
              </a:rPr>
              <a:t>server.py · /chat, /chat/stream, /health</a:t>
            </a:r>
          </a:p>
        </p:txBody>
      </p:sp>
      <p:sp>
        <p:nvSpPr>
          <p:cNvPr id="18" name="Rectangle 17"/>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600"/>
            <a:ext cx="2697480" cy="288036"/>
          </a:xfrm>
          <a:prstGeom prst="rect">
            <a:avLst/>
          </a:prstGeom>
          <a:noFill/>
        </p:spPr>
        <p:txBody>
          <a:bodyPr wrap="square" lIns="0" rIns="0" tIns="0" bIns="0" anchor="ctr">
            <a:spAutoFit/>
          </a:bodyPr>
          <a:lstStyle/>
          <a:p>
            <a:r>
              <a:rPr sz="1150" b="1">
                <a:solidFill>
                  <a:srgbClr val="19382F"/>
                </a:solidFill>
                <a:latin typeface="Apple SD Gothic Neo"/>
              </a:rPr>
              <a:t>MCP Server</a:t>
            </a:r>
          </a:p>
        </p:txBody>
      </p:sp>
      <p:sp>
        <p:nvSpPr>
          <p:cNvPr id="20" name="TextBox 19"/>
          <p:cNvSpPr txBox="1"/>
          <p:nvPr/>
        </p:nvSpPr>
        <p:spPr>
          <a:xfrm>
            <a:off x="3566160" y="251460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1" name="TextBox 20"/>
          <p:cNvSpPr txBox="1"/>
          <p:nvPr/>
        </p:nvSpPr>
        <p:spPr>
          <a:xfrm>
            <a:off x="5303519" y="2514600"/>
            <a:ext cx="6172200" cy="288036"/>
          </a:xfrm>
          <a:prstGeom prst="rect">
            <a:avLst/>
          </a:prstGeom>
          <a:noFill/>
        </p:spPr>
        <p:txBody>
          <a:bodyPr wrap="square" lIns="0" rIns="0" tIns="0" bIns="0" anchor="ctr">
            <a:spAutoFit/>
          </a:bodyPr>
          <a:lstStyle/>
          <a:p>
            <a:r>
              <a:rPr sz="1150" b="0">
                <a:solidFill>
                  <a:srgbClr val="19382F"/>
                </a:solidFill>
                <a:latin typeface="Apple SD Gothic Neo"/>
              </a:rPr>
              <a:t>모니터링·매뉴얼 제공 / 검색 도구 직접 추가</a:t>
            </a:r>
          </a:p>
        </p:txBody>
      </p:sp>
      <p:sp>
        <p:nvSpPr>
          <p:cNvPr id="22" name="Rectangle 21"/>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2802636"/>
            <a:ext cx="2697480" cy="288036"/>
          </a:xfrm>
          <a:prstGeom prst="rect">
            <a:avLst/>
          </a:prstGeom>
          <a:noFill/>
        </p:spPr>
        <p:txBody>
          <a:bodyPr wrap="square" lIns="0" rIns="0" tIns="0" bIns="0" anchor="ctr">
            <a:spAutoFit/>
          </a:bodyPr>
          <a:lstStyle/>
          <a:p>
            <a:r>
              <a:rPr sz="1150" b="1">
                <a:solidFill>
                  <a:srgbClr val="19382F"/>
                </a:solidFill>
                <a:latin typeface="Apple SD Gothic Neo"/>
              </a:rPr>
              <a:t>SSE 프론트엔드</a:t>
            </a:r>
          </a:p>
        </p:txBody>
      </p:sp>
      <p:sp>
        <p:nvSpPr>
          <p:cNvPr id="24" name="TextBox 23"/>
          <p:cNvSpPr txBox="1"/>
          <p:nvPr/>
        </p:nvSpPr>
        <p:spPr>
          <a:xfrm>
            <a:off x="3566160" y="280263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5" name="TextBox 24"/>
          <p:cNvSpPr txBox="1"/>
          <p:nvPr/>
        </p:nvSpPr>
        <p:spPr>
          <a:xfrm>
            <a:off x="5303519" y="2802636"/>
            <a:ext cx="6172200" cy="288036"/>
          </a:xfrm>
          <a:prstGeom prst="rect">
            <a:avLst/>
          </a:prstGeom>
          <a:noFill/>
        </p:spPr>
        <p:txBody>
          <a:bodyPr wrap="square" lIns="0" rIns="0" tIns="0" bIns="0" anchor="ctr">
            <a:spAutoFit/>
          </a:bodyPr>
          <a:lstStyle/>
          <a:p>
            <a:r>
              <a:rPr sz="1150" b="0">
                <a:solidFill>
                  <a:srgbClr val="19382F"/>
                </a:solidFill>
                <a:latin typeface="Apple SD Gothic Neo"/>
              </a:rPr>
              <a:t>Vue EventSource 제공 / 근거 표시 화면 직접 개선</a:t>
            </a:r>
          </a:p>
        </p:txBody>
      </p:sp>
      <p:sp>
        <p:nvSpPr>
          <p:cNvPr id="26" name="Rectangle 25"/>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090672"/>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Streaming</a:t>
            </a:r>
          </a:p>
        </p:txBody>
      </p:sp>
      <p:sp>
        <p:nvSpPr>
          <p:cNvPr id="28" name="TextBox 27"/>
          <p:cNvSpPr txBox="1"/>
          <p:nvPr/>
        </p:nvSpPr>
        <p:spPr>
          <a:xfrm>
            <a:off x="3566160" y="3090672"/>
            <a:ext cx="1600200" cy="288036"/>
          </a:xfrm>
          <a:prstGeom prst="rect">
            <a:avLst/>
          </a:prstGeom>
          <a:noFill/>
        </p:spPr>
        <p:txBody>
          <a:bodyPr wrap="square" lIns="0" rIns="0" tIns="0" bIns="0" anchor="ctr">
            <a:spAutoFit/>
          </a:bodyPr>
          <a:lstStyle/>
          <a:p>
            <a:r>
              <a:rPr sz="1150" b="1">
                <a:solidFill>
                  <a:srgbClr val="B6503E"/>
                </a:solidFill>
                <a:latin typeface="Apple SD Gothic Neo"/>
              </a:rPr>
              <a:t>트레이드오프</a:t>
            </a:r>
          </a:p>
        </p:txBody>
      </p:sp>
      <p:sp>
        <p:nvSpPr>
          <p:cNvPr id="29" name="TextBox 28"/>
          <p:cNvSpPr txBox="1"/>
          <p:nvPr/>
        </p:nvSpPr>
        <p:spPr>
          <a:xfrm>
            <a:off x="5303519" y="3090672"/>
            <a:ext cx="6172200" cy="288036"/>
          </a:xfrm>
          <a:prstGeom prst="rect">
            <a:avLst/>
          </a:prstGeom>
          <a:noFill/>
        </p:spPr>
        <p:txBody>
          <a:bodyPr wrap="square" lIns="0" rIns="0" tIns="0" bIns="0" anchor="ctr">
            <a:spAutoFit/>
          </a:bodyPr>
          <a:lstStyle/>
          <a:p>
            <a:r>
              <a:rPr sz="1150" b="0">
                <a:solidFill>
                  <a:srgbClr val="19382F"/>
                </a:solidFill>
                <a:latin typeface="Apple SD Gothic Neo"/>
              </a:rPr>
              <a:t>진행 이벤트만 전송, 초안 토큰은 차단 (ADR-04)</a:t>
            </a:r>
          </a:p>
        </p:txBody>
      </p:sp>
      <p:sp>
        <p:nvSpPr>
          <p:cNvPr id="30" name="Rectangle 29"/>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378708"/>
            <a:ext cx="2697480" cy="288036"/>
          </a:xfrm>
          <a:prstGeom prst="rect">
            <a:avLst/>
          </a:prstGeom>
          <a:noFill/>
        </p:spPr>
        <p:txBody>
          <a:bodyPr wrap="square" lIns="0" rIns="0" tIns="0" bIns="0" anchor="ctr">
            <a:spAutoFit/>
          </a:bodyPr>
          <a:lstStyle/>
          <a:p>
            <a:r>
              <a:rPr sz="1150" b="1">
                <a:solidFill>
                  <a:srgbClr val="19382F"/>
                </a:solidFill>
                <a:latin typeface="Apple SD Gothic Neo"/>
              </a:rPr>
              <a:t>Query Routing · Dynamic Planning</a:t>
            </a:r>
          </a:p>
        </p:txBody>
      </p:sp>
      <p:sp>
        <p:nvSpPr>
          <p:cNvPr id="32" name="TextBox 31"/>
          <p:cNvSpPr txBox="1"/>
          <p:nvPr/>
        </p:nvSpPr>
        <p:spPr>
          <a:xfrm>
            <a:off x="3566160" y="337870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3" name="TextBox 32"/>
          <p:cNvSpPr txBox="1"/>
          <p:nvPr/>
        </p:nvSpPr>
        <p:spPr>
          <a:xfrm>
            <a:off x="5303519" y="3378708"/>
            <a:ext cx="6172200" cy="288036"/>
          </a:xfrm>
          <a:prstGeom prst="rect">
            <a:avLst/>
          </a:prstGeom>
          <a:noFill/>
        </p:spPr>
        <p:txBody>
          <a:bodyPr wrap="square" lIns="0" rIns="0" tIns="0" bIns="0" anchor="ctr">
            <a:spAutoFit/>
          </a:bodyPr>
          <a:lstStyle/>
          <a:p>
            <a:r>
              <a:rPr sz="1150" b="0">
                <a:solidFill>
                  <a:srgbClr val="19382F"/>
                </a:solidFill>
                <a:latin typeface="Apple SD Gothic Neo"/>
              </a:rPr>
              <a:t>route · plan · replan_check 노드</a:t>
            </a:r>
          </a:p>
        </p:txBody>
      </p:sp>
      <p:sp>
        <p:nvSpPr>
          <p:cNvPr id="34" name="Rectangle 33"/>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3666744"/>
            <a:ext cx="2697480" cy="288036"/>
          </a:xfrm>
          <a:prstGeom prst="rect">
            <a:avLst/>
          </a:prstGeom>
          <a:noFill/>
        </p:spPr>
        <p:txBody>
          <a:bodyPr wrap="square" lIns="0" rIns="0" tIns="0" bIns="0" anchor="ctr">
            <a:spAutoFit/>
          </a:bodyPr>
          <a:lstStyle/>
          <a:p>
            <a:r>
              <a:rPr sz="1150" b="1">
                <a:solidFill>
                  <a:srgbClr val="19382F"/>
                </a:solidFill>
                <a:latin typeface="Apple SD Gothic Neo"/>
              </a:rPr>
              <a:t>Validator</a:t>
            </a:r>
          </a:p>
        </p:txBody>
      </p:sp>
      <p:sp>
        <p:nvSpPr>
          <p:cNvPr id="36" name="TextBox 35"/>
          <p:cNvSpPr txBox="1"/>
          <p:nvPr/>
        </p:nvSpPr>
        <p:spPr>
          <a:xfrm>
            <a:off x="3566160" y="366674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7" name="TextBox 36"/>
          <p:cNvSpPr txBox="1"/>
          <p:nvPr/>
        </p:nvSpPr>
        <p:spPr>
          <a:xfrm>
            <a:off x="5303519" y="3666744"/>
            <a:ext cx="6172200" cy="288036"/>
          </a:xfrm>
          <a:prstGeom prst="rect">
            <a:avLst/>
          </a:prstGeom>
          <a:noFill/>
        </p:spPr>
        <p:txBody>
          <a:bodyPr wrap="square" lIns="0" rIns="0" tIns="0" bIns="0" anchor="ctr">
            <a:spAutoFit/>
          </a:bodyPr>
          <a:lstStyle/>
          <a:p>
            <a:r>
              <a:rPr sz="1150" b="0">
                <a:solidFill>
                  <a:srgbClr val="19382F"/>
                </a:solidFill>
                <a:latin typeface="Apple SD Gothic Neo"/>
              </a:rPr>
              <a:t>agent/verifier.py · validate · finalize_failed</a:t>
            </a:r>
          </a:p>
        </p:txBody>
      </p:sp>
      <p:sp>
        <p:nvSpPr>
          <p:cNvPr id="38" name="Rectangle 37"/>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3954780"/>
            <a:ext cx="2697480" cy="288036"/>
          </a:xfrm>
          <a:prstGeom prst="rect">
            <a:avLst/>
          </a:prstGeom>
          <a:noFill/>
        </p:spPr>
        <p:txBody>
          <a:bodyPr wrap="square" lIns="0" rIns="0" tIns="0" bIns="0" anchor="ctr">
            <a:spAutoFit/>
          </a:bodyPr>
          <a:lstStyle/>
          <a:p>
            <a:r>
              <a:rPr sz="1150" b="1">
                <a:solidFill>
                  <a:srgbClr val="19382F"/>
                </a:solidFill>
                <a:latin typeface="Apple SD Gothic Neo"/>
              </a:rPr>
              <a:t>Error Handling</a:t>
            </a:r>
          </a:p>
        </p:txBody>
      </p:sp>
      <p:sp>
        <p:nvSpPr>
          <p:cNvPr id="40" name="TextBox 39"/>
          <p:cNvSpPr txBox="1"/>
          <p:nvPr/>
        </p:nvSpPr>
        <p:spPr>
          <a:xfrm>
            <a:off x="3566160" y="395478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1" name="TextBox 40"/>
          <p:cNvSpPr txBox="1"/>
          <p:nvPr/>
        </p:nvSpPr>
        <p:spPr>
          <a:xfrm>
            <a:off x="5303519" y="3954780"/>
            <a:ext cx="6172200" cy="288036"/>
          </a:xfrm>
          <a:prstGeom prst="rect">
            <a:avLst/>
          </a:prstGeom>
          <a:noFill/>
        </p:spPr>
        <p:txBody>
          <a:bodyPr wrap="square" lIns="0" rIns="0" tIns="0" bIns="0" anchor="ctr">
            <a:spAutoFit/>
          </a:bodyPr>
          <a:lstStyle/>
          <a:p>
            <a:r>
              <a:rPr sz="1150" b="0">
                <a:solidFill>
                  <a:srgbClr val="19382F"/>
                </a:solidFill>
                <a:latin typeface="Apple SD Gothic Neo"/>
              </a:rPr>
              <a:t>재시도·타임아웃 제공 / 실패 격리·검증 실패 종료 직접</a:t>
            </a:r>
          </a:p>
        </p:txBody>
      </p:sp>
      <p:sp>
        <p:nvSpPr>
          <p:cNvPr id="42" name="Rectangle 41"/>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19" y="4242816"/>
            <a:ext cx="2697480" cy="288036"/>
          </a:xfrm>
          <a:prstGeom prst="rect">
            <a:avLst/>
          </a:prstGeom>
          <a:noFill/>
        </p:spPr>
        <p:txBody>
          <a:bodyPr wrap="square" lIns="0" rIns="0" tIns="0" bIns="0" anchor="ctr">
            <a:spAutoFit/>
          </a:bodyPr>
          <a:lstStyle/>
          <a:p>
            <a:r>
              <a:rPr sz="1150" b="1">
                <a:solidFill>
                  <a:srgbClr val="19382F"/>
                </a:solidFill>
                <a:latin typeface="Apple SD Gothic Neo"/>
              </a:rPr>
              <a:t>Cost Optimization</a:t>
            </a:r>
          </a:p>
        </p:txBody>
      </p:sp>
      <p:sp>
        <p:nvSpPr>
          <p:cNvPr id="44" name="TextBox 43"/>
          <p:cNvSpPr txBox="1"/>
          <p:nvPr/>
        </p:nvSpPr>
        <p:spPr>
          <a:xfrm>
            <a:off x="3566160" y="424281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5" name="TextBox 44"/>
          <p:cNvSpPr txBox="1"/>
          <p:nvPr/>
        </p:nvSpPr>
        <p:spPr>
          <a:xfrm>
            <a:off x="5303519" y="4242816"/>
            <a:ext cx="6172200" cy="288036"/>
          </a:xfrm>
          <a:prstGeom prst="rect">
            <a:avLst/>
          </a:prstGeom>
          <a:noFill/>
        </p:spPr>
        <p:txBody>
          <a:bodyPr wrap="square" lIns="0" rIns="0" tIns="0" bIns="0" anchor="ctr">
            <a:spAutoFit/>
          </a:bodyPr>
          <a:lstStyle/>
          <a:p>
            <a:r>
              <a:rPr sz="1150" b="0">
                <a:solidFill>
                  <a:srgbClr val="19382F"/>
                </a:solidFill>
                <a:latin typeface="Apple SD Gothic Neo"/>
              </a:rPr>
              <a:t>fast/quality 분리 제공 / 근거 0건 시 작성 생략 직접</a:t>
            </a:r>
          </a:p>
        </p:txBody>
      </p:sp>
      <p:sp>
        <p:nvSpPr>
          <p:cNvPr id="46" name="Rectangle 4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4530852"/>
            <a:ext cx="2697480" cy="288036"/>
          </a:xfrm>
          <a:prstGeom prst="rect">
            <a:avLst/>
          </a:prstGeom>
          <a:noFill/>
        </p:spPr>
        <p:txBody>
          <a:bodyPr wrap="square" lIns="0" rIns="0" tIns="0" bIns="0" anchor="ctr">
            <a:spAutoFit/>
          </a:bodyPr>
          <a:lstStyle/>
          <a:p>
            <a:r>
              <a:rPr sz="1150" b="1">
                <a:solidFill>
                  <a:srgbClr val="19382F"/>
                </a:solidFill>
                <a:latin typeface="Apple SD Gothic Neo"/>
              </a:rPr>
              <a:t>동시 실행</a:t>
            </a:r>
          </a:p>
        </p:txBody>
      </p:sp>
      <p:sp>
        <p:nvSpPr>
          <p:cNvPr id="48" name="TextBox 47"/>
          <p:cNvSpPr txBox="1"/>
          <p:nvPr/>
        </p:nvSpPr>
        <p:spPr>
          <a:xfrm>
            <a:off x="3566160" y="4530852"/>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49" name="TextBox 48"/>
          <p:cNvSpPr txBox="1"/>
          <p:nvPr/>
        </p:nvSpPr>
        <p:spPr>
          <a:xfrm>
            <a:off x="5303519" y="4530852"/>
            <a:ext cx="6172200" cy="288036"/>
          </a:xfrm>
          <a:prstGeom prst="rect">
            <a:avLst/>
          </a:prstGeom>
          <a:noFill/>
        </p:spPr>
        <p:txBody>
          <a:bodyPr wrap="square" lIns="0" rIns="0" tIns="0" bIns="0" anchor="ctr">
            <a:spAutoFit/>
          </a:bodyPr>
          <a:lstStyle/>
          <a:p>
            <a:r>
              <a:rPr sz="1150" b="0">
                <a:solidFill>
                  <a:srgbClr val="19382F"/>
                </a:solidFill>
                <a:latin typeface="Apple SD Gothic Neo"/>
              </a:rPr>
              <a:t>asyncio.gather · 직렬 1.07초 → 병렬 0.36초</a:t>
            </a:r>
          </a:p>
        </p:txBody>
      </p:sp>
      <p:sp>
        <p:nvSpPr>
          <p:cNvPr id="50" name="Rectangle 49"/>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19" y="4818888"/>
            <a:ext cx="2697480" cy="288036"/>
          </a:xfrm>
          <a:prstGeom prst="rect">
            <a:avLst/>
          </a:prstGeom>
          <a:noFill/>
        </p:spPr>
        <p:txBody>
          <a:bodyPr wrap="square" lIns="0" rIns="0" tIns="0" bIns="0" anchor="ctr">
            <a:spAutoFit/>
          </a:bodyPr>
          <a:lstStyle/>
          <a:p>
            <a:r>
              <a:rPr sz="1150" b="1">
                <a:solidFill>
                  <a:srgbClr val="19382F"/>
                </a:solidFill>
                <a:latin typeface="Apple SD Gothic Neo"/>
              </a:rPr>
              <a:t>Stateless Session</a:t>
            </a:r>
          </a:p>
        </p:txBody>
      </p:sp>
      <p:sp>
        <p:nvSpPr>
          <p:cNvPr id="52" name="TextBox 51"/>
          <p:cNvSpPr txBox="1"/>
          <p:nvPr/>
        </p:nvSpPr>
        <p:spPr>
          <a:xfrm>
            <a:off x="3566160" y="481888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53" name="TextBox 52"/>
          <p:cNvSpPr txBox="1"/>
          <p:nvPr/>
        </p:nvSpPr>
        <p:spPr>
          <a:xfrm>
            <a:off x="5303519" y="4818888"/>
            <a:ext cx="6172200" cy="288036"/>
          </a:xfrm>
          <a:prstGeom prst="rect">
            <a:avLst/>
          </a:prstGeom>
          <a:noFill/>
        </p:spPr>
        <p:txBody>
          <a:bodyPr wrap="square" lIns="0" rIns="0" tIns="0" bIns="0" anchor="ctr">
            <a:spAutoFit/>
          </a:bodyPr>
          <a:lstStyle/>
          <a:p>
            <a:r>
              <a:rPr sz="1150" b="0">
                <a:solidFill>
                  <a:srgbClr val="19382F"/>
                </a:solidFill>
                <a:latin typeface="Apple SD Gothic Neo"/>
              </a:rPr>
              <a:t>SQLite thread_id 세션</a:t>
            </a:r>
          </a:p>
        </p:txBody>
      </p:sp>
      <p:sp>
        <p:nvSpPr>
          <p:cNvPr id="54" name="Rectangle 53"/>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19" y="5106924"/>
            <a:ext cx="2697480" cy="288036"/>
          </a:xfrm>
          <a:prstGeom prst="rect">
            <a:avLst/>
          </a:prstGeom>
          <a:noFill/>
        </p:spPr>
        <p:txBody>
          <a:bodyPr wrap="square" lIns="0" rIns="0" tIns="0" bIns="0" anchor="ctr">
            <a:spAutoFit/>
          </a:bodyPr>
          <a:lstStyle/>
          <a:p>
            <a:r>
              <a:rPr sz="1150" b="1">
                <a:solidFill>
                  <a:srgbClr val="19382F"/>
                </a:solidFill>
                <a:latin typeface="Apple SD Gothic Neo"/>
              </a:rPr>
              <a:t>모듈화</a:t>
            </a:r>
          </a:p>
        </p:txBody>
      </p:sp>
      <p:sp>
        <p:nvSpPr>
          <p:cNvPr id="56" name="TextBox 55"/>
          <p:cNvSpPr txBox="1"/>
          <p:nvPr/>
        </p:nvSpPr>
        <p:spPr>
          <a:xfrm>
            <a:off x="3566160" y="510692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57" name="TextBox 56"/>
          <p:cNvSpPr txBox="1"/>
          <p:nvPr/>
        </p:nvSpPr>
        <p:spPr>
          <a:xfrm>
            <a:off x="5303519" y="5106924"/>
            <a:ext cx="6172200" cy="288036"/>
          </a:xfrm>
          <a:prstGeom prst="rect">
            <a:avLst/>
          </a:prstGeom>
          <a:noFill/>
        </p:spPr>
        <p:txBody>
          <a:bodyPr wrap="square" lIns="0" rIns="0" tIns="0" bIns="0" anchor="ctr">
            <a:spAutoFit/>
          </a:bodyPr>
          <a:lstStyle/>
          <a:p>
            <a:r>
              <a:rPr sz="1150" b="0">
                <a:solidFill>
                  <a:srgbClr val="19382F"/>
                </a:solidFill>
                <a:latin typeface="Apple SD Gothic Neo"/>
              </a:rPr>
              <a:t>graph.py 425줄 → 58줄, nodes/ 6개 모듈</a:t>
            </a:r>
          </a:p>
        </p:txBody>
      </p:sp>
      <p:sp>
        <p:nvSpPr>
          <p:cNvPr id="58" name="Rectangle 57"/>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1519" y="5394960"/>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통합</a:t>
            </a:r>
          </a:p>
        </p:txBody>
      </p:sp>
      <p:sp>
        <p:nvSpPr>
          <p:cNvPr id="60" name="TextBox 59"/>
          <p:cNvSpPr txBox="1"/>
          <p:nvPr/>
        </p:nvSpPr>
        <p:spPr>
          <a:xfrm>
            <a:off x="3566160" y="5394960"/>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(얕은 형태)</a:t>
            </a:r>
          </a:p>
        </p:txBody>
      </p:sp>
      <p:sp>
        <p:nvSpPr>
          <p:cNvPr id="61" name="TextBox 60"/>
          <p:cNvSpPr txBox="1"/>
          <p:nvPr/>
        </p:nvSpPr>
        <p:spPr>
          <a:xfrm>
            <a:off x="5303519" y="5394960"/>
            <a:ext cx="6172200" cy="288036"/>
          </a:xfrm>
          <a:prstGeom prst="rect">
            <a:avLst/>
          </a:prstGeom>
          <a:noFill/>
        </p:spPr>
        <p:txBody>
          <a:bodyPr wrap="square" lIns="0" rIns="0" tIns="0" bIns="0" anchor="ctr">
            <a:spAutoFit/>
          </a:bodyPr>
          <a:lstStyle/>
          <a:p>
            <a:r>
              <a:rPr sz="1150" b="0">
                <a:solidFill>
                  <a:srgbClr val="19382F"/>
                </a:solidFill>
                <a:latin typeface="Apple SD Gothic Neo"/>
              </a:rPr>
              <a:t>서브그래프 2개 · LLM 판단·협상 없음</a:t>
            </a:r>
          </a:p>
        </p:txBody>
      </p:sp>
      <p:sp>
        <p:nvSpPr>
          <p:cNvPr id="62" name="Rectangle 61"/>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19" y="5682996"/>
            <a:ext cx="2697480" cy="288036"/>
          </a:xfrm>
          <a:prstGeom prst="rect">
            <a:avLst/>
          </a:prstGeom>
          <a:noFill/>
        </p:spPr>
        <p:txBody>
          <a:bodyPr wrap="square" lIns="0" rIns="0" tIns="0" bIns="0" anchor="ctr">
            <a:spAutoFit/>
          </a:bodyPr>
          <a:lstStyle/>
          <a:p>
            <a:r>
              <a:rPr sz="1150" b="1">
                <a:solidFill>
                  <a:srgbClr val="19382F"/>
                </a:solidFill>
                <a:latin typeface="Apple SD Gothic Neo"/>
              </a:rPr>
              <a:t>Observability (LangSmith)</a:t>
            </a:r>
          </a:p>
        </p:txBody>
      </p:sp>
      <p:sp>
        <p:nvSpPr>
          <p:cNvPr id="64" name="TextBox 63"/>
          <p:cNvSpPr txBox="1"/>
          <p:nvPr/>
        </p:nvSpPr>
        <p:spPr>
          <a:xfrm>
            <a:off x="3566160" y="5682996"/>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활용</a:t>
            </a:r>
          </a:p>
        </p:txBody>
      </p:sp>
      <p:sp>
        <p:nvSpPr>
          <p:cNvPr id="65" name="TextBox 64"/>
          <p:cNvSpPr txBox="1"/>
          <p:nvPr/>
        </p:nvSpPr>
        <p:spPr>
          <a:xfrm>
            <a:off x="5303519" y="5682996"/>
            <a:ext cx="6172200" cy="288036"/>
          </a:xfrm>
          <a:prstGeom prst="rect">
            <a:avLst/>
          </a:prstGeom>
          <a:noFill/>
        </p:spPr>
        <p:txBody>
          <a:bodyPr wrap="square" lIns="0" rIns="0" tIns="0" bIns="0" anchor="ctr">
            <a:spAutoFit/>
          </a:bodyPr>
          <a:lstStyle/>
          <a:p>
            <a:r>
              <a:rPr sz="1150" b="0">
                <a:solidFill>
                  <a:srgbClr val="19382F"/>
                </a:solidFill>
                <a:latin typeface="Apple SD Gothic Neo"/>
              </a:rPr>
              <a:t>추적 1회 실행, 59개 run 확인 · 비교 평가는 미수행</a:t>
            </a:r>
          </a:p>
        </p:txBody>
      </p:sp>
      <p:sp>
        <p:nvSpPr>
          <p:cNvPr id="66" name="Rectangle 65"/>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971032"/>
            <a:ext cx="2697480" cy="288036"/>
          </a:xfrm>
          <a:prstGeom prst="rect">
            <a:avLst/>
          </a:prstGeom>
          <a:noFill/>
        </p:spPr>
        <p:txBody>
          <a:bodyPr wrap="square" lIns="0" rIns="0" tIns="0" bIns="0" anchor="ctr">
            <a:spAutoFit/>
          </a:bodyPr>
          <a:lstStyle/>
          <a:p>
            <a:r>
              <a:rPr sz="1150" b="1">
                <a:solidFill>
                  <a:srgbClr val="19382F"/>
                </a:solidFill>
                <a:latin typeface="Apple SD Gothic Neo"/>
              </a:rPr>
              <a:t>의존성 주입 · 테스트</a:t>
            </a:r>
          </a:p>
        </p:txBody>
      </p:sp>
      <p:sp>
        <p:nvSpPr>
          <p:cNvPr id="68" name="TextBox 67"/>
          <p:cNvSpPr txBox="1"/>
          <p:nvPr/>
        </p:nvSpPr>
        <p:spPr>
          <a:xfrm>
            <a:off x="3566160" y="5971032"/>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9" name="TextBox 68"/>
          <p:cNvSpPr txBox="1"/>
          <p:nvPr/>
        </p:nvSpPr>
        <p:spPr>
          <a:xfrm>
            <a:off x="5303519" y="5971032"/>
            <a:ext cx="6172200" cy="288036"/>
          </a:xfrm>
          <a:prstGeom prst="rect">
            <a:avLst/>
          </a:prstGeom>
          <a:noFill/>
        </p:spPr>
        <p:txBody>
          <a:bodyPr wrap="square" lIns="0" rIns="0" tIns="0" bIns="0" anchor="ctr">
            <a:spAutoFit/>
          </a:bodyPr>
          <a:lstStyle/>
          <a:p>
            <a:r>
              <a:rPr sz="1150" b="0">
                <a:solidFill>
                  <a:srgbClr val="19382F"/>
                </a:solidFill>
                <a:latin typeface="Apple SD Gothic Neo"/>
              </a:rPr>
              <a:t>SupervisorDeps 주입 · 테스트 6종</a:t>
            </a:r>
          </a:p>
        </p:txBody>
      </p:sp>
      <p:sp>
        <p:nvSpPr>
          <p:cNvPr id="70" name="Rectangle 69"/>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A-2  설계 결정</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설계 결정 15개 (ADR)</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A-2 / A-6</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502919" cy="292608"/>
          </a:xfrm>
          <a:prstGeom prst="rect">
            <a:avLst/>
          </a:prstGeom>
          <a:noFill/>
        </p:spPr>
        <p:txBody>
          <a:bodyPr wrap="square" lIns="0" rIns="0" tIns="0" bIns="0" anchor="ctr">
            <a:spAutoFit/>
          </a:bodyPr>
          <a:lstStyle/>
          <a:p>
            <a:r>
              <a:rPr sz="1150" b="1">
                <a:solidFill>
                  <a:srgbClr val="FFFFFF"/>
                </a:solidFill>
                <a:latin typeface="Apple SD Gothic Neo"/>
              </a:rPr>
              <a:t>번호</a:t>
            </a:r>
          </a:p>
        </p:txBody>
      </p:sp>
      <p:sp>
        <p:nvSpPr>
          <p:cNvPr id="8" name="TextBox 7"/>
          <p:cNvSpPr txBox="1"/>
          <p:nvPr/>
        </p:nvSpPr>
        <p:spPr>
          <a:xfrm>
            <a:off x="1371600" y="1645920"/>
            <a:ext cx="3886200" cy="292608"/>
          </a:xfrm>
          <a:prstGeom prst="rect">
            <a:avLst/>
          </a:prstGeom>
          <a:noFill/>
        </p:spPr>
        <p:txBody>
          <a:bodyPr wrap="square" lIns="0" rIns="0" tIns="0" bIns="0" anchor="ctr">
            <a:spAutoFit/>
          </a:bodyPr>
          <a:lstStyle/>
          <a:p>
            <a:r>
              <a:rPr sz="1150" b="1">
                <a:solidFill>
                  <a:srgbClr val="FFFFFF"/>
                </a:solidFill>
                <a:latin typeface="Apple SD Gothic Neo"/>
              </a:rPr>
              <a:t>결정</a:t>
            </a:r>
          </a:p>
        </p:txBody>
      </p:sp>
      <p:sp>
        <p:nvSpPr>
          <p:cNvPr id="9" name="TextBox 8"/>
          <p:cNvSpPr txBox="1"/>
          <p:nvPr/>
        </p:nvSpPr>
        <p:spPr>
          <a:xfrm>
            <a:off x="5394960" y="1645920"/>
            <a:ext cx="123444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10" name="TextBox 9"/>
          <p:cNvSpPr txBox="1"/>
          <p:nvPr/>
        </p:nvSpPr>
        <p:spPr>
          <a:xfrm>
            <a:off x="6766560" y="1645920"/>
            <a:ext cx="4709159" cy="292608"/>
          </a:xfrm>
          <a:prstGeom prst="rect">
            <a:avLst/>
          </a:prstGeom>
          <a:noFill/>
        </p:spPr>
        <p:txBody>
          <a:bodyPr wrap="square" lIns="0" rIns="0" tIns="0" bIns="0" anchor="ctr">
            <a:spAutoFit/>
          </a:bodyPr>
          <a:lstStyle/>
          <a:p>
            <a:r>
              <a:rPr sz="1150" b="1">
                <a:solidFill>
                  <a:srgbClr val="FFFFFF"/>
                </a:solidFill>
                <a:latin typeface="Apple SD Gothic Neo"/>
              </a:rPr>
              <a:t>비용 · 한계</a:t>
            </a:r>
          </a:p>
        </p:txBody>
      </p:sp>
      <p:sp>
        <p:nvSpPr>
          <p:cNvPr id="11" name="Rectangle 10"/>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938528"/>
            <a:ext cx="502919" cy="288036"/>
          </a:xfrm>
          <a:prstGeom prst="rect">
            <a:avLst/>
          </a:prstGeom>
          <a:noFill/>
        </p:spPr>
        <p:txBody>
          <a:bodyPr wrap="square" lIns="0" rIns="0" tIns="0" bIns="0" anchor="ctr">
            <a:spAutoFit/>
          </a:bodyPr>
          <a:lstStyle/>
          <a:p>
            <a:r>
              <a:rPr sz="1150" b="1">
                <a:solidFill>
                  <a:srgbClr val="62746D"/>
                </a:solidFill>
                <a:latin typeface="Apple SD Gothic Neo"/>
              </a:rPr>
              <a:t>01</a:t>
            </a:r>
          </a:p>
        </p:txBody>
      </p:sp>
      <p:sp>
        <p:nvSpPr>
          <p:cNvPr id="13" name="TextBox 12"/>
          <p:cNvSpPr txBox="1"/>
          <p:nvPr/>
        </p:nvSpPr>
        <p:spPr>
          <a:xfrm>
            <a:off x="1371600" y="1938528"/>
            <a:ext cx="3886200" cy="288036"/>
          </a:xfrm>
          <a:prstGeom prst="rect">
            <a:avLst/>
          </a:prstGeom>
          <a:noFill/>
        </p:spPr>
        <p:txBody>
          <a:bodyPr wrap="square" lIns="0" rIns="0" tIns="0" bIns="0" anchor="ctr">
            <a:spAutoFit/>
          </a:bodyPr>
          <a:lstStyle/>
          <a:p>
            <a:r>
              <a:rPr sz="1150" b="0">
                <a:solidFill>
                  <a:srgbClr val="19382F"/>
                </a:solidFill>
                <a:latin typeface="Apple SD Gothic Neo"/>
              </a:rPr>
              <a:t>수치 검증을 규칙 기반으로 분리</a:t>
            </a:r>
          </a:p>
        </p:txBody>
      </p:sp>
      <p:sp>
        <p:nvSpPr>
          <p:cNvPr id="14" name="TextBox 13"/>
          <p:cNvSpPr txBox="1"/>
          <p:nvPr/>
        </p:nvSpPr>
        <p:spPr>
          <a:xfrm>
            <a:off x="5394960" y="193852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5" name="TextBox 14"/>
          <p:cNvSpPr txBox="1"/>
          <p:nvPr/>
        </p:nvSpPr>
        <p:spPr>
          <a:xfrm>
            <a:off x="6766560" y="1938528"/>
            <a:ext cx="4709159" cy="288036"/>
          </a:xfrm>
          <a:prstGeom prst="rect">
            <a:avLst/>
          </a:prstGeom>
          <a:noFill/>
        </p:spPr>
        <p:txBody>
          <a:bodyPr wrap="square" lIns="0" rIns="0" tIns="0" bIns="0" anchor="ctr">
            <a:spAutoFit/>
          </a:bodyPr>
          <a:lstStyle/>
          <a:p>
            <a:r>
              <a:rPr sz="1150" b="0">
                <a:solidFill>
                  <a:srgbClr val="B6503E"/>
                </a:solidFill>
                <a:latin typeface="Apple SD Gothic Neo"/>
              </a:rPr>
              <a:t>오탐·누락 가능, 원인 설명은 검증 안 함</a:t>
            </a:r>
          </a:p>
        </p:txBody>
      </p:sp>
      <p:sp>
        <p:nvSpPr>
          <p:cNvPr id="16" name="Rectangle 15"/>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226564"/>
            <a:ext cx="502919" cy="288036"/>
          </a:xfrm>
          <a:prstGeom prst="rect">
            <a:avLst/>
          </a:prstGeom>
          <a:noFill/>
        </p:spPr>
        <p:txBody>
          <a:bodyPr wrap="square" lIns="0" rIns="0" tIns="0" bIns="0" anchor="ctr">
            <a:spAutoFit/>
          </a:bodyPr>
          <a:lstStyle/>
          <a:p>
            <a:r>
              <a:rPr sz="1150" b="1">
                <a:solidFill>
                  <a:srgbClr val="62746D"/>
                </a:solidFill>
                <a:latin typeface="Apple SD Gothic Neo"/>
              </a:rPr>
              <a:t>02</a:t>
            </a:r>
          </a:p>
        </p:txBody>
      </p:sp>
      <p:sp>
        <p:nvSpPr>
          <p:cNvPr id="18" name="TextBox 17"/>
          <p:cNvSpPr txBox="1"/>
          <p:nvPr/>
        </p:nvSpPr>
        <p:spPr>
          <a:xfrm>
            <a:off x="1371600" y="2226564"/>
            <a:ext cx="3886200" cy="288036"/>
          </a:xfrm>
          <a:prstGeom prst="rect">
            <a:avLst/>
          </a:prstGeom>
          <a:noFill/>
        </p:spPr>
        <p:txBody>
          <a:bodyPr wrap="square" lIns="0" rIns="0" tIns="0" bIns="0" anchor="ctr">
            <a:spAutoFit/>
          </a:bodyPr>
          <a:lstStyle/>
          <a:p>
            <a:r>
              <a:rPr sz="1150" b="0">
                <a:solidFill>
                  <a:srgbClr val="19382F"/>
                </a:solidFill>
                <a:latin typeface="Apple SD Gothic Neo"/>
              </a:rPr>
              <a:t>로컬 임베딩 의미 검색</a:t>
            </a:r>
          </a:p>
        </p:txBody>
      </p:sp>
      <p:sp>
        <p:nvSpPr>
          <p:cNvPr id="19" name="TextBox 18"/>
          <p:cNvSpPr txBox="1"/>
          <p:nvPr/>
        </p:nvSpPr>
        <p:spPr>
          <a:xfrm>
            <a:off x="5394960" y="222656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0" name="TextBox 19"/>
          <p:cNvSpPr txBox="1"/>
          <p:nvPr/>
        </p:nvSpPr>
        <p:spPr>
          <a:xfrm>
            <a:off x="6766560" y="2226564"/>
            <a:ext cx="4709159" cy="288036"/>
          </a:xfrm>
          <a:prstGeom prst="rect">
            <a:avLst/>
          </a:prstGeom>
          <a:noFill/>
        </p:spPr>
        <p:txBody>
          <a:bodyPr wrap="square" lIns="0" rIns="0" tIns="0" bIns="0" anchor="ctr">
            <a:spAutoFit/>
          </a:bodyPr>
          <a:lstStyle/>
          <a:p>
            <a:r>
              <a:rPr sz="1150" b="0">
                <a:solidFill>
                  <a:srgbClr val="B6503E"/>
                </a:solidFill>
                <a:latin typeface="Apple SD Gothic Neo"/>
              </a:rPr>
              <a:t>모델 639MB · Ollama 의존, 오선택 1건</a:t>
            </a:r>
          </a:p>
        </p:txBody>
      </p:sp>
      <p:sp>
        <p:nvSpPr>
          <p:cNvPr id="21" name="Rectangle 20"/>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600"/>
            <a:ext cx="502919" cy="288036"/>
          </a:xfrm>
          <a:prstGeom prst="rect">
            <a:avLst/>
          </a:prstGeom>
          <a:noFill/>
        </p:spPr>
        <p:txBody>
          <a:bodyPr wrap="square" lIns="0" rIns="0" tIns="0" bIns="0" anchor="ctr">
            <a:spAutoFit/>
          </a:bodyPr>
          <a:lstStyle/>
          <a:p>
            <a:r>
              <a:rPr sz="1150" b="1">
                <a:solidFill>
                  <a:srgbClr val="62746D"/>
                </a:solidFill>
                <a:latin typeface="Apple SD Gothic Neo"/>
              </a:rPr>
              <a:t>03</a:t>
            </a:r>
          </a:p>
        </p:txBody>
      </p:sp>
      <p:sp>
        <p:nvSpPr>
          <p:cNvPr id="23" name="TextBox 22"/>
          <p:cNvSpPr txBox="1"/>
          <p:nvPr/>
        </p:nvSpPr>
        <p:spPr>
          <a:xfrm>
            <a:off x="1371600" y="2514600"/>
            <a:ext cx="3886200" cy="288036"/>
          </a:xfrm>
          <a:prstGeom prst="rect">
            <a:avLst/>
          </a:prstGeom>
          <a:noFill/>
        </p:spPr>
        <p:txBody>
          <a:bodyPr wrap="square" lIns="0" rIns="0" tIns="0" bIns="0" anchor="ctr">
            <a:spAutoFit/>
          </a:bodyPr>
          <a:lstStyle/>
          <a:p>
            <a:r>
              <a:rPr sz="1150" b="0">
                <a:solidFill>
                  <a:srgbClr val="19382F"/>
                </a:solidFill>
                <a:latin typeface="Apple SD Gothic Neo"/>
              </a:rPr>
              <a:t>병렬 조사 실패 격리</a:t>
            </a:r>
          </a:p>
        </p:txBody>
      </p:sp>
      <p:sp>
        <p:nvSpPr>
          <p:cNvPr id="24" name="TextBox 23"/>
          <p:cNvSpPr txBox="1"/>
          <p:nvPr/>
        </p:nvSpPr>
        <p:spPr>
          <a:xfrm>
            <a:off x="5394960" y="251460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5" name="TextBox 24"/>
          <p:cNvSpPr txBox="1"/>
          <p:nvPr/>
        </p:nvSpPr>
        <p:spPr>
          <a:xfrm>
            <a:off x="6766560" y="2514600"/>
            <a:ext cx="4709159" cy="288036"/>
          </a:xfrm>
          <a:prstGeom prst="rect">
            <a:avLst/>
          </a:prstGeom>
          <a:noFill/>
        </p:spPr>
        <p:txBody>
          <a:bodyPr wrap="square" lIns="0" rIns="0" tIns="0" bIns="0" anchor="ctr">
            <a:spAutoFit/>
          </a:bodyPr>
          <a:lstStyle/>
          <a:p>
            <a:r>
              <a:rPr sz="1150" b="0">
                <a:solidFill>
                  <a:srgbClr val="B6503E"/>
                </a:solidFill>
                <a:latin typeface="Apple SD Gothic Neo"/>
              </a:rPr>
              <a:t>부분 결과가 완전한 진단처럼 보일 위험</a:t>
            </a:r>
          </a:p>
        </p:txBody>
      </p:sp>
      <p:sp>
        <p:nvSpPr>
          <p:cNvPr id="26" name="Rectangle 25"/>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2802636"/>
            <a:ext cx="502919" cy="288036"/>
          </a:xfrm>
          <a:prstGeom prst="rect">
            <a:avLst/>
          </a:prstGeom>
          <a:noFill/>
        </p:spPr>
        <p:txBody>
          <a:bodyPr wrap="square" lIns="0" rIns="0" tIns="0" bIns="0" anchor="ctr">
            <a:spAutoFit/>
          </a:bodyPr>
          <a:lstStyle/>
          <a:p>
            <a:r>
              <a:rPr sz="1150" b="1">
                <a:solidFill>
                  <a:srgbClr val="62746D"/>
                </a:solidFill>
                <a:latin typeface="Apple SD Gothic Neo"/>
              </a:rPr>
              <a:t>04</a:t>
            </a:r>
          </a:p>
        </p:txBody>
      </p:sp>
      <p:sp>
        <p:nvSpPr>
          <p:cNvPr id="28" name="TextBox 27"/>
          <p:cNvSpPr txBox="1"/>
          <p:nvPr/>
        </p:nvSpPr>
        <p:spPr>
          <a:xfrm>
            <a:off x="1371600" y="2802636"/>
            <a:ext cx="3886200" cy="288036"/>
          </a:xfrm>
          <a:prstGeom prst="rect">
            <a:avLst/>
          </a:prstGeom>
          <a:noFill/>
        </p:spPr>
        <p:txBody>
          <a:bodyPr wrap="square" lIns="0" rIns="0" tIns="0" bIns="0" anchor="ctr">
            <a:spAutoFit/>
          </a:bodyPr>
          <a:lstStyle/>
          <a:p>
            <a:r>
              <a:rPr sz="1150" b="0">
                <a:solidFill>
                  <a:srgbClr val="19382F"/>
                </a:solidFill>
                <a:latin typeface="Apple SD Gothic Neo"/>
              </a:rPr>
              <a:t>초안 비공개 · 근거 표시 화면</a:t>
            </a:r>
          </a:p>
        </p:txBody>
      </p:sp>
      <p:sp>
        <p:nvSpPr>
          <p:cNvPr id="29" name="TextBox 28"/>
          <p:cNvSpPr txBox="1"/>
          <p:nvPr/>
        </p:nvSpPr>
        <p:spPr>
          <a:xfrm>
            <a:off x="5394960" y="280263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0" name="TextBox 29"/>
          <p:cNvSpPr txBox="1"/>
          <p:nvPr/>
        </p:nvSpPr>
        <p:spPr>
          <a:xfrm>
            <a:off x="6766560" y="2802636"/>
            <a:ext cx="4709159" cy="288036"/>
          </a:xfrm>
          <a:prstGeom prst="rect">
            <a:avLst/>
          </a:prstGeom>
          <a:noFill/>
        </p:spPr>
        <p:txBody>
          <a:bodyPr wrap="square" lIns="0" rIns="0" tIns="0" bIns="0" anchor="ctr">
            <a:spAutoFit/>
          </a:bodyPr>
          <a:lstStyle/>
          <a:p>
            <a:r>
              <a:rPr sz="1150" b="0">
                <a:solidFill>
                  <a:srgbClr val="B6503E"/>
                </a:solidFill>
                <a:latin typeface="Apple SD Gothic Neo"/>
              </a:rPr>
              <a:t>최종 답변까지 대기</a:t>
            </a:r>
          </a:p>
        </p:txBody>
      </p:sp>
      <p:sp>
        <p:nvSpPr>
          <p:cNvPr id="31" name="Rectangle 30"/>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19" y="3090672"/>
            <a:ext cx="502919" cy="288036"/>
          </a:xfrm>
          <a:prstGeom prst="rect">
            <a:avLst/>
          </a:prstGeom>
          <a:noFill/>
        </p:spPr>
        <p:txBody>
          <a:bodyPr wrap="square" lIns="0" rIns="0" tIns="0" bIns="0" anchor="ctr">
            <a:spAutoFit/>
          </a:bodyPr>
          <a:lstStyle/>
          <a:p>
            <a:r>
              <a:rPr sz="1150" b="1">
                <a:solidFill>
                  <a:srgbClr val="62746D"/>
                </a:solidFill>
                <a:latin typeface="Apple SD Gothic Neo"/>
              </a:rPr>
              <a:t>05</a:t>
            </a:r>
          </a:p>
        </p:txBody>
      </p:sp>
      <p:sp>
        <p:nvSpPr>
          <p:cNvPr id="33" name="TextBox 32"/>
          <p:cNvSpPr txBox="1"/>
          <p:nvPr/>
        </p:nvSpPr>
        <p:spPr>
          <a:xfrm>
            <a:off x="1371600" y="3090672"/>
            <a:ext cx="3886200" cy="288036"/>
          </a:xfrm>
          <a:prstGeom prst="rect">
            <a:avLst/>
          </a:prstGeom>
          <a:noFill/>
        </p:spPr>
        <p:txBody>
          <a:bodyPr wrap="square" lIns="0" rIns="0" tIns="0" bIns="0" anchor="ctr">
            <a:spAutoFit/>
          </a:bodyPr>
          <a:lstStyle/>
          <a:p>
            <a:r>
              <a:rPr sz="1150" b="0">
                <a:solidFill>
                  <a:srgbClr val="19382F"/>
                </a:solidFill>
                <a:latin typeface="Apple SD Gothic Neo"/>
              </a:rPr>
              <a:t>LangGraph 상태 그래프</a:t>
            </a:r>
          </a:p>
        </p:txBody>
      </p:sp>
      <p:sp>
        <p:nvSpPr>
          <p:cNvPr id="34" name="TextBox 33"/>
          <p:cNvSpPr txBox="1"/>
          <p:nvPr/>
        </p:nvSpPr>
        <p:spPr>
          <a:xfrm>
            <a:off x="5394960" y="3090672"/>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5" name="TextBox 34"/>
          <p:cNvSpPr txBox="1"/>
          <p:nvPr/>
        </p:nvSpPr>
        <p:spPr>
          <a:xfrm>
            <a:off x="6766560" y="3090672"/>
            <a:ext cx="4709159" cy="288036"/>
          </a:xfrm>
          <a:prstGeom prst="rect">
            <a:avLst/>
          </a:prstGeom>
          <a:noFill/>
        </p:spPr>
        <p:txBody>
          <a:bodyPr wrap="square" lIns="0" rIns="0" tIns="0" bIns="0" anchor="ctr">
            <a:spAutoFit/>
          </a:bodyPr>
          <a:lstStyle/>
          <a:p>
            <a:r>
              <a:rPr sz="1150" b="0">
                <a:solidFill>
                  <a:srgbClr val="B6503E"/>
                </a:solidFill>
                <a:latin typeface="Apple SD Gothic Neo"/>
              </a:rPr>
              <a:t>분기가 코드 곳곳에 분산</a:t>
            </a:r>
          </a:p>
        </p:txBody>
      </p:sp>
      <p:sp>
        <p:nvSpPr>
          <p:cNvPr id="36" name="Rectangle 35"/>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378708"/>
            <a:ext cx="502919" cy="288036"/>
          </a:xfrm>
          <a:prstGeom prst="rect">
            <a:avLst/>
          </a:prstGeom>
          <a:noFill/>
        </p:spPr>
        <p:txBody>
          <a:bodyPr wrap="square" lIns="0" rIns="0" tIns="0" bIns="0" anchor="ctr">
            <a:spAutoFit/>
          </a:bodyPr>
          <a:lstStyle/>
          <a:p>
            <a:r>
              <a:rPr sz="1150" b="1">
                <a:solidFill>
                  <a:srgbClr val="62746D"/>
                </a:solidFill>
                <a:latin typeface="Apple SD Gothic Neo"/>
              </a:rPr>
              <a:t>06</a:t>
            </a:r>
          </a:p>
        </p:txBody>
      </p:sp>
      <p:sp>
        <p:nvSpPr>
          <p:cNvPr id="38" name="TextBox 37"/>
          <p:cNvSpPr txBox="1"/>
          <p:nvPr/>
        </p:nvSpPr>
        <p:spPr>
          <a:xfrm>
            <a:off x="1371600" y="3378708"/>
            <a:ext cx="3886200" cy="288036"/>
          </a:xfrm>
          <a:prstGeom prst="rect">
            <a:avLst/>
          </a:prstGeom>
          <a:noFill/>
        </p:spPr>
        <p:txBody>
          <a:bodyPr wrap="square" lIns="0" rIns="0" tIns="0" bIns="0" anchor="ctr">
            <a:spAutoFit/>
          </a:bodyPr>
          <a:lstStyle/>
          <a:p>
            <a:r>
              <a:rPr sz="1150" b="0">
                <a:solidFill>
                  <a:srgbClr val="19382F"/>
                </a:solidFill>
                <a:latin typeface="Apple SD Gothic Neo"/>
              </a:rPr>
              <a:t>SSE 단방향 진행 스트리밍</a:t>
            </a:r>
          </a:p>
        </p:txBody>
      </p:sp>
      <p:sp>
        <p:nvSpPr>
          <p:cNvPr id="39" name="TextBox 38"/>
          <p:cNvSpPr txBox="1"/>
          <p:nvPr/>
        </p:nvSpPr>
        <p:spPr>
          <a:xfrm>
            <a:off x="5394960" y="3378708"/>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0" name="TextBox 39"/>
          <p:cNvSpPr txBox="1"/>
          <p:nvPr/>
        </p:nvSpPr>
        <p:spPr>
          <a:xfrm>
            <a:off x="6766560" y="3378708"/>
            <a:ext cx="4709159" cy="288036"/>
          </a:xfrm>
          <a:prstGeom prst="rect">
            <a:avLst/>
          </a:prstGeom>
          <a:noFill/>
        </p:spPr>
        <p:txBody>
          <a:bodyPr wrap="square" lIns="0" rIns="0" tIns="0" bIns="0" anchor="ctr">
            <a:spAutoFit/>
          </a:bodyPr>
          <a:lstStyle/>
          <a:p>
            <a:r>
              <a:rPr sz="1150" b="0">
                <a:solidFill>
                  <a:srgbClr val="B6503E"/>
                </a:solidFill>
                <a:latin typeface="Apple SD Gothic Neo"/>
              </a:rPr>
              <a:t>답변 본문은 완료 후 한 번에 출력</a:t>
            </a:r>
          </a:p>
        </p:txBody>
      </p:sp>
      <p:sp>
        <p:nvSpPr>
          <p:cNvPr id="41" name="Rectangle 40"/>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666744"/>
            <a:ext cx="502919" cy="288036"/>
          </a:xfrm>
          <a:prstGeom prst="rect">
            <a:avLst/>
          </a:prstGeom>
          <a:noFill/>
        </p:spPr>
        <p:txBody>
          <a:bodyPr wrap="square" lIns="0" rIns="0" tIns="0" bIns="0" anchor="ctr">
            <a:spAutoFit/>
          </a:bodyPr>
          <a:lstStyle/>
          <a:p>
            <a:r>
              <a:rPr sz="1150" b="1">
                <a:solidFill>
                  <a:srgbClr val="62746D"/>
                </a:solidFill>
                <a:latin typeface="Apple SD Gothic Neo"/>
              </a:rPr>
              <a:t>07</a:t>
            </a:r>
          </a:p>
        </p:txBody>
      </p:sp>
      <p:sp>
        <p:nvSpPr>
          <p:cNvPr id="43" name="TextBox 42"/>
          <p:cNvSpPr txBox="1"/>
          <p:nvPr/>
        </p:nvSpPr>
        <p:spPr>
          <a:xfrm>
            <a:off x="1371600" y="3666744"/>
            <a:ext cx="3886200" cy="288036"/>
          </a:xfrm>
          <a:prstGeom prst="rect">
            <a:avLst/>
          </a:prstGeom>
          <a:noFill/>
        </p:spPr>
        <p:txBody>
          <a:bodyPr wrap="square" lIns="0" rIns="0" tIns="0" bIns="0" anchor="ctr">
            <a:spAutoFit/>
          </a:bodyPr>
          <a:lstStyle/>
          <a:p>
            <a:r>
              <a:rPr sz="1150" b="0">
                <a:solidFill>
                  <a:srgbClr val="19382F"/>
                </a:solidFill>
                <a:latin typeface="Apple SD Gothic Neo"/>
              </a:rPr>
              <a:t>세션을 SQLite에 저장</a:t>
            </a:r>
          </a:p>
        </p:txBody>
      </p:sp>
      <p:sp>
        <p:nvSpPr>
          <p:cNvPr id="44" name="TextBox 43"/>
          <p:cNvSpPr txBox="1"/>
          <p:nvPr/>
        </p:nvSpPr>
        <p:spPr>
          <a:xfrm>
            <a:off x="5394960" y="3666744"/>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5" name="TextBox 44"/>
          <p:cNvSpPr txBox="1"/>
          <p:nvPr/>
        </p:nvSpPr>
        <p:spPr>
          <a:xfrm>
            <a:off x="6766560" y="3666744"/>
            <a:ext cx="4709159" cy="288036"/>
          </a:xfrm>
          <a:prstGeom prst="rect">
            <a:avLst/>
          </a:prstGeom>
          <a:noFill/>
        </p:spPr>
        <p:txBody>
          <a:bodyPr wrap="square" lIns="0" rIns="0" tIns="0" bIns="0" anchor="ctr">
            <a:spAutoFit/>
          </a:bodyPr>
          <a:lstStyle/>
          <a:p>
            <a:r>
              <a:rPr sz="1150" b="0">
                <a:solidFill>
                  <a:srgbClr val="B6503E"/>
                </a:solidFill>
                <a:latin typeface="Apple SD Gothic Neo"/>
              </a:rPr>
              <a:t>다중 서버 확장에는 부적합</a:t>
            </a:r>
          </a:p>
        </p:txBody>
      </p:sp>
      <p:sp>
        <p:nvSpPr>
          <p:cNvPr id="46" name="Rectangle 45"/>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3954780"/>
            <a:ext cx="502919" cy="288036"/>
          </a:xfrm>
          <a:prstGeom prst="rect">
            <a:avLst/>
          </a:prstGeom>
          <a:noFill/>
        </p:spPr>
        <p:txBody>
          <a:bodyPr wrap="square" lIns="0" rIns="0" tIns="0" bIns="0" anchor="ctr">
            <a:spAutoFit/>
          </a:bodyPr>
          <a:lstStyle/>
          <a:p>
            <a:r>
              <a:rPr sz="1150" b="1">
                <a:solidFill>
                  <a:srgbClr val="62746D"/>
                </a:solidFill>
                <a:latin typeface="Apple SD Gothic Neo"/>
              </a:rPr>
              <a:t>08</a:t>
            </a:r>
          </a:p>
        </p:txBody>
      </p:sp>
      <p:sp>
        <p:nvSpPr>
          <p:cNvPr id="48" name="TextBox 47"/>
          <p:cNvSpPr txBox="1"/>
          <p:nvPr/>
        </p:nvSpPr>
        <p:spPr>
          <a:xfrm>
            <a:off x="1371600" y="3954780"/>
            <a:ext cx="3886200" cy="288036"/>
          </a:xfrm>
          <a:prstGeom prst="rect">
            <a:avLst/>
          </a:prstGeom>
          <a:noFill/>
        </p:spPr>
        <p:txBody>
          <a:bodyPr wrap="square" lIns="0" rIns="0" tIns="0" bIns="0" anchor="ctr">
            <a:spAutoFit/>
          </a:bodyPr>
          <a:lstStyle/>
          <a:p>
            <a:r>
              <a:rPr sz="1150" b="0">
                <a:solidFill>
                  <a:srgbClr val="19382F"/>
                </a:solidFill>
                <a:latin typeface="Apple SD Gothic Neo"/>
              </a:rPr>
              <a:t>모델을 fast/quality로 분리</a:t>
            </a:r>
          </a:p>
        </p:txBody>
      </p:sp>
      <p:sp>
        <p:nvSpPr>
          <p:cNvPr id="49" name="TextBox 48"/>
          <p:cNvSpPr txBox="1"/>
          <p:nvPr/>
        </p:nvSpPr>
        <p:spPr>
          <a:xfrm>
            <a:off x="5394960" y="3954780"/>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0" name="TextBox 49"/>
          <p:cNvSpPr txBox="1"/>
          <p:nvPr/>
        </p:nvSpPr>
        <p:spPr>
          <a:xfrm>
            <a:off x="6766560" y="3954780"/>
            <a:ext cx="4709159" cy="288036"/>
          </a:xfrm>
          <a:prstGeom prst="rect">
            <a:avLst/>
          </a:prstGeom>
          <a:noFill/>
        </p:spPr>
        <p:txBody>
          <a:bodyPr wrap="square" lIns="0" rIns="0" tIns="0" bIns="0" anchor="ctr">
            <a:spAutoFit/>
          </a:bodyPr>
          <a:lstStyle/>
          <a:p>
            <a:r>
              <a:rPr sz="1150" b="0">
                <a:solidFill>
                  <a:srgbClr val="B6503E"/>
                </a:solidFill>
                <a:latin typeface="Apple SD Gothic Neo"/>
              </a:rPr>
              <a:t>글자 수 기반 추정, 단가는 가정값</a:t>
            </a:r>
          </a:p>
        </p:txBody>
      </p:sp>
      <p:sp>
        <p:nvSpPr>
          <p:cNvPr id="51" name="Rectangle 50"/>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19" y="4242816"/>
            <a:ext cx="502919" cy="288036"/>
          </a:xfrm>
          <a:prstGeom prst="rect">
            <a:avLst/>
          </a:prstGeom>
          <a:noFill/>
        </p:spPr>
        <p:txBody>
          <a:bodyPr wrap="square" lIns="0" rIns="0" tIns="0" bIns="0" anchor="ctr">
            <a:spAutoFit/>
          </a:bodyPr>
          <a:lstStyle/>
          <a:p>
            <a:r>
              <a:rPr sz="1150" b="1">
                <a:solidFill>
                  <a:srgbClr val="62746D"/>
                </a:solidFill>
                <a:latin typeface="Apple SD Gothic Neo"/>
              </a:rPr>
              <a:t>09</a:t>
            </a:r>
          </a:p>
        </p:txBody>
      </p:sp>
      <p:sp>
        <p:nvSpPr>
          <p:cNvPr id="53" name="TextBox 52"/>
          <p:cNvSpPr txBox="1"/>
          <p:nvPr/>
        </p:nvSpPr>
        <p:spPr>
          <a:xfrm>
            <a:off x="1371600" y="4242816"/>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조사를 동시 실행</a:t>
            </a:r>
          </a:p>
        </p:txBody>
      </p:sp>
      <p:sp>
        <p:nvSpPr>
          <p:cNvPr id="54" name="TextBox 53"/>
          <p:cNvSpPr txBox="1"/>
          <p:nvPr/>
        </p:nvSpPr>
        <p:spPr>
          <a:xfrm>
            <a:off x="5394960" y="4242816"/>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5" name="TextBox 54"/>
          <p:cNvSpPr txBox="1"/>
          <p:nvPr/>
        </p:nvSpPr>
        <p:spPr>
          <a:xfrm>
            <a:off x="6766560" y="4242816"/>
            <a:ext cx="4709159" cy="288036"/>
          </a:xfrm>
          <a:prstGeom prst="rect">
            <a:avLst/>
          </a:prstGeom>
          <a:noFill/>
        </p:spPr>
        <p:txBody>
          <a:bodyPr wrap="square" lIns="0" rIns="0" tIns="0" bIns="0" anchor="ctr">
            <a:spAutoFit/>
          </a:bodyPr>
          <a:lstStyle/>
          <a:p>
            <a:r>
              <a:rPr sz="1150" b="0">
                <a:solidFill>
                  <a:srgbClr val="B6503E"/>
                </a:solidFill>
                <a:latin typeface="Apple SD Gothic Neo"/>
              </a:rPr>
              <a:t>0.35초 고정 지연은 모의 값</a:t>
            </a:r>
          </a:p>
        </p:txBody>
      </p:sp>
      <p:sp>
        <p:nvSpPr>
          <p:cNvPr id="56" name="Rectangle 5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1519" y="4530852"/>
            <a:ext cx="502919" cy="288036"/>
          </a:xfrm>
          <a:prstGeom prst="rect">
            <a:avLst/>
          </a:prstGeom>
          <a:noFill/>
        </p:spPr>
        <p:txBody>
          <a:bodyPr wrap="square" lIns="0" rIns="0" tIns="0" bIns="0" anchor="ctr">
            <a:spAutoFit/>
          </a:bodyPr>
          <a:lstStyle/>
          <a:p>
            <a:r>
              <a:rPr sz="1150" b="1">
                <a:solidFill>
                  <a:srgbClr val="62746D"/>
                </a:solidFill>
                <a:latin typeface="Apple SD Gothic Neo"/>
              </a:rPr>
              <a:t>10</a:t>
            </a:r>
          </a:p>
        </p:txBody>
      </p:sp>
      <p:sp>
        <p:nvSpPr>
          <p:cNvPr id="58" name="TextBox 57"/>
          <p:cNvSpPr txBox="1"/>
          <p:nvPr/>
        </p:nvSpPr>
        <p:spPr>
          <a:xfrm>
            <a:off x="1371600" y="4530852"/>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 서브에이전트 분리</a:t>
            </a:r>
          </a:p>
        </p:txBody>
      </p:sp>
      <p:sp>
        <p:nvSpPr>
          <p:cNvPr id="59" name="TextBox 58"/>
          <p:cNvSpPr txBox="1"/>
          <p:nvPr/>
        </p:nvSpPr>
        <p:spPr>
          <a:xfrm>
            <a:off x="5394960" y="4530852"/>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0" name="TextBox 59"/>
          <p:cNvSpPr txBox="1"/>
          <p:nvPr/>
        </p:nvSpPr>
        <p:spPr>
          <a:xfrm>
            <a:off x="6766560" y="4530852"/>
            <a:ext cx="4709159" cy="288036"/>
          </a:xfrm>
          <a:prstGeom prst="rect">
            <a:avLst/>
          </a:prstGeom>
          <a:noFill/>
        </p:spPr>
        <p:txBody>
          <a:bodyPr wrap="square" lIns="0" rIns="0" tIns="0" bIns="0" anchor="ctr">
            <a:spAutoFit/>
          </a:bodyPr>
          <a:lstStyle/>
          <a:p>
            <a:r>
              <a:rPr sz="1150" b="0">
                <a:solidFill>
                  <a:srgbClr val="B6503E"/>
                </a:solidFill>
                <a:latin typeface="Apple SD Gothic Neo"/>
              </a:rPr>
              <a:t>속도 이득 없음 · LLM 판단 아님</a:t>
            </a:r>
          </a:p>
        </p:txBody>
      </p:sp>
      <p:sp>
        <p:nvSpPr>
          <p:cNvPr id="61" name="Rectangle 60"/>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1519" y="4818888"/>
            <a:ext cx="502919" cy="288036"/>
          </a:xfrm>
          <a:prstGeom prst="rect">
            <a:avLst/>
          </a:prstGeom>
          <a:noFill/>
        </p:spPr>
        <p:txBody>
          <a:bodyPr wrap="square" lIns="0" rIns="0" tIns="0" bIns="0" anchor="ctr">
            <a:spAutoFit/>
          </a:bodyPr>
          <a:lstStyle/>
          <a:p>
            <a:r>
              <a:rPr sz="1150" b="1">
                <a:solidFill>
                  <a:srgbClr val="62746D"/>
                </a:solidFill>
                <a:latin typeface="Apple SD Gothic Neo"/>
              </a:rPr>
              <a:t>11</a:t>
            </a:r>
          </a:p>
        </p:txBody>
      </p:sp>
      <p:sp>
        <p:nvSpPr>
          <p:cNvPr id="63" name="TextBox 62"/>
          <p:cNvSpPr txBox="1"/>
          <p:nvPr/>
        </p:nvSpPr>
        <p:spPr>
          <a:xfrm>
            <a:off x="1371600" y="4818888"/>
            <a:ext cx="3886200" cy="288036"/>
          </a:xfrm>
          <a:prstGeom prst="rect">
            <a:avLst/>
          </a:prstGeom>
          <a:noFill/>
        </p:spPr>
        <p:txBody>
          <a:bodyPr wrap="square" lIns="0" rIns="0" tIns="0" bIns="0" anchor="ctr">
            <a:spAutoFit/>
          </a:bodyPr>
          <a:lstStyle/>
          <a:p>
            <a:r>
              <a:rPr sz="1150" b="0">
                <a:solidFill>
                  <a:srgbClr val="19382F"/>
                </a:solidFill>
                <a:latin typeface="Apple SD Gothic Neo"/>
              </a:rPr>
              <a:t>대상 시스템을 코드가 해석</a:t>
            </a:r>
          </a:p>
        </p:txBody>
      </p:sp>
      <p:sp>
        <p:nvSpPr>
          <p:cNvPr id="64" name="TextBox 63"/>
          <p:cNvSpPr txBox="1"/>
          <p:nvPr/>
        </p:nvSpPr>
        <p:spPr>
          <a:xfrm>
            <a:off x="5394960" y="481888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5" name="TextBox 64"/>
          <p:cNvSpPr txBox="1"/>
          <p:nvPr/>
        </p:nvSpPr>
        <p:spPr>
          <a:xfrm>
            <a:off x="6766560" y="4818888"/>
            <a:ext cx="4709159" cy="288036"/>
          </a:xfrm>
          <a:prstGeom prst="rect">
            <a:avLst/>
          </a:prstGeom>
          <a:noFill/>
        </p:spPr>
        <p:txBody>
          <a:bodyPr wrap="square" lIns="0" rIns="0" tIns="0" bIns="0" anchor="ctr">
            <a:spAutoFit/>
          </a:bodyPr>
          <a:lstStyle/>
          <a:p>
            <a:r>
              <a:rPr sz="1150" b="0">
                <a:solidFill>
                  <a:srgbClr val="B6503E"/>
                </a:solidFill>
                <a:latin typeface="Apple SD Gothic Neo"/>
              </a:rPr>
              <a:t>정규식 의존 · 되묻기가 아니라 알림</a:t>
            </a:r>
          </a:p>
        </p:txBody>
      </p:sp>
      <p:sp>
        <p:nvSpPr>
          <p:cNvPr id="66" name="Rectangle 65"/>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106924"/>
            <a:ext cx="502919" cy="288036"/>
          </a:xfrm>
          <a:prstGeom prst="rect">
            <a:avLst/>
          </a:prstGeom>
          <a:noFill/>
        </p:spPr>
        <p:txBody>
          <a:bodyPr wrap="square" lIns="0" rIns="0" tIns="0" bIns="0" anchor="ctr">
            <a:spAutoFit/>
          </a:bodyPr>
          <a:lstStyle/>
          <a:p>
            <a:r>
              <a:rPr sz="1150" b="1">
                <a:solidFill>
                  <a:srgbClr val="62746D"/>
                </a:solidFill>
                <a:latin typeface="Apple SD Gothic Neo"/>
              </a:rPr>
              <a:t>12</a:t>
            </a:r>
          </a:p>
        </p:txBody>
      </p:sp>
      <p:sp>
        <p:nvSpPr>
          <p:cNvPr id="68" name="TextBox 67"/>
          <p:cNvSpPr txBox="1"/>
          <p:nvPr/>
        </p:nvSpPr>
        <p:spPr>
          <a:xfrm>
            <a:off x="1371600" y="5106924"/>
            <a:ext cx="3886200" cy="288036"/>
          </a:xfrm>
          <a:prstGeom prst="rect">
            <a:avLst/>
          </a:prstGeom>
          <a:noFill/>
        </p:spPr>
        <p:txBody>
          <a:bodyPr wrap="square" lIns="0" rIns="0" tIns="0" bIns="0" anchor="ctr">
            <a:spAutoFit/>
          </a:bodyPr>
          <a:lstStyle/>
          <a:p>
            <a:r>
              <a:rPr sz="1150" b="0">
                <a:solidFill>
                  <a:srgbClr val="19382F"/>
                </a:solidFill>
                <a:latin typeface="Apple SD Gothic Neo"/>
              </a:rPr>
              <a:t>검증기 2차 (표현 범위 확대)</a:t>
            </a:r>
          </a:p>
        </p:txBody>
      </p:sp>
      <p:sp>
        <p:nvSpPr>
          <p:cNvPr id="69" name="TextBox 68"/>
          <p:cNvSpPr txBox="1"/>
          <p:nvPr/>
        </p:nvSpPr>
        <p:spPr>
          <a:xfrm>
            <a:off x="5394960" y="510692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0" name="TextBox 69"/>
          <p:cNvSpPr txBox="1"/>
          <p:nvPr/>
        </p:nvSpPr>
        <p:spPr>
          <a:xfrm>
            <a:off x="6766560" y="5106924"/>
            <a:ext cx="4709159" cy="288036"/>
          </a:xfrm>
          <a:prstGeom prst="rect">
            <a:avLst/>
          </a:prstGeom>
          <a:noFill/>
        </p:spPr>
        <p:txBody>
          <a:bodyPr wrap="square" lIns="0" rIns="0" tIns="0" bIns="0" anchor="ctr">
            <a:spAutoFit/>
          </a:bodyPr>
          <a:lstStyle/>
          <a:p>
            <a:r>
              <a:rPr sz="1150" b="0">
                <a:solidFill>
                  <a:srgbClr val="B6503E"/>
                </a:solidFill>
                <a:latin typeface="Apple SD Gothic Neo"/>
              </a:rPr>
              <a:t>표적 사례 중심이라 수치가 낙관적</a:t>
            </a:r>
          </a:p>
        </p:txBody>
      </p:sp>
      <p:sp>
        <p:nvSpPr>
          <p:cNvPr id="71" name="Rectangle 70"/>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31519" y="5394960"/>
            <a:ext cx="502919" cy="288036"/>
          </a:xfrm>
          <a:prstGeom prst="rect">
            <a:avLst/>
          </a:prstGeom>
          <a:noFill/>
        </p:spPr>
        <p:txBody>
          <a:bodyPr wrap="square" lIns="0" rIns="0" tIns="0" bIns="0" anchor="ctr">
            <a:spAutoFit/>
          </a:bodyPr>
          <a:lstStyle/>
          <a:p>
            <a:r>
              <a:rPr sz="1150" b="1">
                <a:solidFill>
                  <a:srgbClr val="62746D"/>
                </a:solidFill>
                <a:latin typeface="Apple SD Gothic Neo"/>
              </a:rPr>
              <a:t>13</a:t>
            </a:r>
          </a:p>
        </p:txBody>
      </p:sp>
      <p:sp>
        <p:nvSpPr>
          <p:cNvPr id="73" name="TextBox 72"/>
          <p:cNvSpPr txBox="1"/>
          <p:nvPr/>
        </p:nvSpPr>
        <p:spPr>
          <a:xfrm>
            <a:off x="1371600" y="5394960"/>
            <a:ext cx="3886200" cy="288036"/>
          </a:xfrm>
          <a:prstGeom prst="rect">
            <a:avLst/>
          </a:prstGeom>
          <a:noFill/>
        </p:spPr>
        <p:txBody>
          <a:bodyPr wrap="square" lIns="0" rIns="0" tIns="0" bIns="0" anchor="ctr">
            <a:spAutoFit/>
          </a:bodyPr>
          <a:lstStyle/>
          <a:p>
            <a:r>
              <a:rPr sz="1150" b="0">
                <a:solidFill>
                  <a:srgbClr val="19382F"/>
                </a:solidFill>
                <a:latin typeface="Apple SD Gothic Neo"/>
              </a:rPr>
              <a:t>그래프 노드를 모듈로 분리</a:t>
            </a:r>
          </a:p>
        </p:txBody>
      </p:sp>
      <p:sp>
        <p:nvSpPr>
          <p:cNvPr id="74" name="TextBox 73"/>
          <p:cNvSpPr txBox="1"/>
          <p:nvPr/>
        </p:nvSpPr>
        <p:spPr>
          <a:xfrm>
            <a:off x="5394960" y="539496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5" name="TextBox 74"/>
          <p:cNvSpPr txBox="1"/>
          <p:nvPr/>
        </p:nvSpPr>
        <p:spPr>
          <a:xfrm>
            <a:off x="6766560" y="5394960"/>
            <a:ext cx="4709159" cy="288036"/>
          </a:xfrm>
          <a:prstGeom prst="rect">
            <a:avLst/>
          </a:prstGeom>
          <a:noFill/>
        </p:spPr>
        <p:txBody>
          <a:bodyPr wrap="square" lIns="0" rIns="0" tIns="0" bIns="0" anchor="ctr">
            <a:spAutoFit/>
          </a:bodyPr>
          <a:lstStyle/>
          <a:p>
            <a:r>
              <a:rPr sz="1150" b="0">
                <a:solidFill>
                  <a:srgbClr val="B6503E"/>
                </a:solidFill>
                <a:latin typeface="Apple SD Gothic Neo"/>
              </a:rPr>
              <a:t>파일 수 증가 · 수치로 증명하지 않음</a:t>
            </a:r>
          </a:p>
        </p:txBody>
      </p:sp>
      <p:sp>
        <p:nvSpPr>
          <p:cNvPr id="76" name="Rectangle 75"/>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19" y="5682996"/>
            <a:ext cx="502919" cy="288036"/>
          </a:xfrm>
          <a:prstGeom prst="rect">
            <a:avLst/>
          </a:prstGeom>
          <a:noFill/>
        </p:spPr>
        <p:txBody>
          <a:bodyPr wrap="square" lIns="0" rIns="0" tIns="0" bIns="0" anchor="ctr">
            <a:spAutoFit/>
          </a:bodyPr>
          <a:lstStyle/>
          <a:p>
            <a:r>
              <a:rPr sz="1150" b="1">
                <a:solidFill>
                  <a:srgbClr val="62746D"/>
                </a:solidFill>
                <a:latin typeface="Apple SD Gothic Neo"/>
              </a:rPr>
              <a:t>14</a:t>
            </a:r>
          </a:p>
        </p:txBody>
      </p:sp>
      <p:sp>
        <p:nvSpPr>
          <p:cNvPr id="78" name="TextBox 77"/>
          <p:cNvSpPr txBox="1"/>
          <p:nvPr/>
        </p:nvSpPr>
        <p:spPr>
          <a:xfrm>
            <a:off x="1371600" y="5682996"/>
            <a:ext cx="3886200" cy="288036"/>
          </a:xfrm>
          <a:prstGeom prst="rect">
            <a:avLst/>
          </a:prstGeom>
          <a:noFill/>
        </p:spPr>
        <p:txBody>
          <a:bodyPr wrap="square" lIns="0" rIns="0" tIns="0" bIns="0" anchor="ctr">
            <a:spAutoFit/>
          </a:bodyPr>
          <a:lstStyle/>
          <a:p>
            <a:r>
              <a:rPr sz="1150" b="0">
                <a:solidFill>
                  <a:srgbClr val="19382F"/>
                </a:solidFill>
                <a:latin typeface="Apple SD Gothic Neo"/>
              </a:rPr>
              <a:t>근거 0건이면 작성 모델 호출 생략</a:t>
            </a:r>
          </a:p>
        </p:txBody>
      </p:sp>
      <p:sp>
        <p:nvSpPr>
          <p:cNvPr id="79" name="TextBox 78"/>
          <p:cNvSpPr txBox="1"/>
          <p:nvPr/>
        </p:nvSpPr>
        <p:spPr>
          <a:xfrm>
            <a:off x="5394960" y="568299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80" name="TextBox 79"/>
          <p:cNvSpPr txBox="1"/>
          <p:nvPr/>
        </p:nvSpPr>
        <p:spPr>
          <a:xfrm>
            <a:off x="6766560" y="5682996"/>
            <a:ext cx="4709159" cy="288036"/>
          </a:xfrm>
          <a:prstGeom prst="rect">
            <a:avLst/>
          </a:prstGeom>
          <a:noFill/>
        </p:spPr>
        <p:txBody>
          <a:bodyPr wrap="square" lIns="0" rIns="0" tIns="0" bIns="0" anchor="ctr">
            <a:spAutoFit/>
          </a:bodyPr>
          <a:lstStyle/>
          <a:p>
            <a:r>
              <a:rPr sz="1150" b="0">
                <a:solidFill>
                  <a:srgbClr val="B6503E"/>
                </a:solidFill>
                <a:latin typeface="Apple SD Gothic Neo"/>
              </a:rPr>
              <a:t>0건일 때만 동작</a:t>
            </a:r>
          </a:p>
        </p:txBody>
      </p:sp>
      <p:sp>
        <p:nvSpPr>
          <p:cNvPr id="81" name="Rectangle 80"/>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19" y="5971032"/>
            <a:ext cx="502919" cy="288036"/>
          </a:xfrm>
          <a:prstGeom prst="rect">
            <a:avLst/>
          </a:prstGeom>
          <a:noFill/>
        </p:spPr>
        <p:txBody>
          <a:bodyPr wrap="square" lIns="0" rIns="0" tIns="0" bIns="0" anchor="ctr">
            <a:spAutoFit/>
          </a:bodyPr>
          <a:lstStyle/>
          <a:p>
            <a:r>
              <a:rPr sz="1150" b="1">
                <a:solidFill>
                  <a:srgbClr val="62746D"/>
                </a:solidFill>
                <a:latin typeface="Apple SD Gothic Neo"/>
              </a:rPr>
              <a:t>15</a:t>
            </a:r>
          </a:p>
        </p:txBody>
      </p:sp>
      <p:sp>
        <p:nvSpPr>
          <p:cNvPr id="83" name="TextBox 82"/>
          <p:cNvSpPr txBox="1"/>
          <p:nvPr/>
        </p:nvSpPr>
        <p:spPr>
          <a:xfrm>
            <a:off x="1371600" y="5971032"/>
            <a:ext cx="3886200" cy="288036"/>
          </a:xfrm>
          <a:prstGeom prst="rect">
            <a:avLst/>
          </a:prstGeom>
          <a:noFill/>
        </p:spPr>
        <p:txBody>
          <a:bodyPr wrap="square" lIns="0" rIns="0" tIns="0" bIns="0" anchor="ctr">
            <a:spAutoFit/>
          </a:bodyPr>
          <a:lstStyle/>
          <a:p>
            <a:r>
              <a:rPr sz="1150" b="0">
                <a:solidFill>
                  <a:srgbClr val="19382F"/>
                </a:solidFill>
                <a:latin typeface="Apple SD Gothic Neo"/>
              </a:rPr>
              <a:t>의미 검색의 비용·지연 측정</a:t>
            </a:r>
          </a:p>
        </p:txBody>
      </p:sp>
      <p:sp>
        <p:nvSpPr>
          <p:cNvPr id="84" name="TextBox 83"/>
          <p:cNvSpPr txBox="1"/>
          <p:nvPr/>
        </p:nvSpPr>
        <p:spPr>
          <a:xfrm>
            <a:off x="5394960" y="5971032"/>
            <a:ext cx="1234440" cy="288036"/>
          </a:xfrm>
          <a:prstGeom prst="rect">
            <a:avLst/>
          </a:prstGeom>
          <a:noFill/>
        </p:spPr>
        <p:txBody>
          <a:bodyPr wrap="square" lIns="0" rIns="0" tIns="0" bIns="0" anchor="ctr">
            <a:spAutoFit/>
          </a:bodyPr>
          <a:lstStyle/>
          <a:p>
            <a:r>
              <a:rPr sz="1150" b="1">
                <a:solidFill>
                  <a:srgbClr val="9A6B1F"/>
                </a:solidFill>
                <a:latin typeface="Apple SD Gothic Neo"/>
              </a:rPr>
              <a:t>측정</a:t>
            </a:r>
          </a:p>
        </p:txBody>
      </p:sp>
      <p:sp>
        <p:nvSpPr>
          <p:cNvPr id="85" name="TextBox 84"/>
          <p:cNvSpPr txBox="1"/>
          <p:nvPr/>
        </p:nvSpPr>
        <p:spPr>
          <a:xfrm>
            <a:off x="6766560" y="5971032"/>
            <a:ext cx="4709159" cy="288036"/>
          </a:xfrm>
          <a:prstGeom prst="rect">
            <a:avLst/>
          </a:prstGeom>
          <a:noFill/>
        </p:spPr>
        <p:txBody>
          <a:bodyPr wrap="square" lIns="0" rIns="0" tIns="0" bIns="0" anchor="ctr">
            <a:spAutoFit/>
          </a:bodyPr>
          <a:lstStyle/>
          <a:p>
            <a:r>
              <a:rPr sz="1150" b="0">
                <a:solidFill>
                  <a:srgbClr val="B6503E"/>
                </a:solidFill>
                <a:latin typeface="Apple SD Gothic Neo"/>
              </a:rPr>
              <a:t>콜드 첫 검색 약 1.1초, 웜 약 29ms</a:t>
            </a:r>
          </a:p>
        </p:txBody>
      </p:sp>
      <p:sp>
        <p:nvSpPr>
          <p:cNvPr id="86" name="Rectangle 85"/>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A-3  평가</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평가 방법과 결과</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A-3 / A-6</a:t>
            </a:r>
          </a:p>
        </p:txBody>
      </p:sp>
      <p:sp>
        <p:nvSpPr>
          <p:cNvPr id="6" name="Rectangle 5"/>
          <p:cNvSpPr/>
          <p:nvPr/>
        </p:nvSpPr>
        <p:spPr>
          <a:xfrm>
            <a:off x="640080" y="1645920"/>
            <a:ext cx="10881359"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3063240" cy="292608"/>
          </a:xfrm>
          <a:prstGeom prst="rect">
            <a:avLst/>
          </a:prstGeom>
          <a:noFill/>
        </p:spPr>
        <p:txBody>
          <a:bodyPr wrap="square" lIns="0" rIns="0" tIns="0" bIns="0" anchor="ctr">
            <a:spAutoFit/>
          </a:bodyPr>
          <a:lstStyle/>
          <a:p>
            <a:r>
              <a:rPr sz="1150" b="1">
                <a:solidFill>
                  <a:srgbClr val="FFFFFF"/>
                </a:solidFill>
                <a:latin typeface="Apple SD Gothic Neo"/>
              </a:rPr>
              <a:t>평가</a:t>
            </a:r>
          </a:p>
        </p:txBody>
      </p:sp>
      <p:sp>
        <p:nvSpPr>
          <p:cNvPr id="8" name="TextBox 7"/>
          <p:cNvSpPr txBox="1"/>
          <p:nvPr/>
        </p:nvSpPr>
        <p:spPr>
          <a:xfrm>
            <a:off x="3931920" y="1645920"/>
            <a:ext cx="4069079" cy="292608"/>
          </a:xfrm>
          <a:prstGeom prst="rect">
            <a:avLst/>
          </a:prstGeom>
          <a:noFill/>
        </p:spPr>
        <p:txBody>
          <a:bodyPr wrap="square" lIns="0" rIns="0" tIns="0" bIns="0" anchor="ctr">
            <a:spAutoFit/>
          </a:bodyPr>
          <a:lstStyle/>
          <a:p>
            <a:r>
              <a:rPr sz="1150" b="1">
                <a:solidFill>
                  <a:srgbClr val="FFFFFF"/>
                </a:solidFill>
                <a:latin typeface="Apple SD Gothic Neo"/>
              </a:rPr>
              <a:t>결과 (개선 전 → 후)</a:t>
            </a:r>
          </a:p>
        </p:txBody>
      </p:sp>
      <p:sp>
        <p:nvSpPr>
          <p:cNvPr id="9" name="TextBox 8"/>
          <p:cNvSpPr txBox="1"/>
          <p:nvPr/>
        </p:nvSpPr>
        <p:spPr>
          <a:xfrm>
            <a:off x="8138160" y="1645920"/>
            <a:ext cx="3337560" cy="292608"/>
          </a:xfrm>
          <a:prstGeom prst="rect">
            <a:avLst/>
          </a:prstGeom>
          <a:noFill/>
        </p:spPr>
        <p:txBody>
          <a:bodyPr wrap="square" lIns="0" rIns="0" tIns="0" bIns="0" anchor="ctr">
            <a:spAutoFit/>
          </a:bodyPr>
          <a:lstStyle/>
          <a:p>
            <a:r>
              <a:rPr sz="1150" b="1">
                <a:solidFill>
                  <a:srgbClr val="FFFFFF"/>
                </a:solidFill>
                <a:latin typeface="Apple SD Gothic Neo"/>
              </a:rPr>
              <a:t>해석상 주의</a:t>
            </a:r>
          </a:p>
        </p:txBody>
      </p:sp>
      <p:sp>
        <p:nvSpPr>
          <p:cNvPr id="10" name="Rectangle 9"/>
          <p:cNvSpPr/>
          <p:nvPr/>
        </p:nvSpPr>
        <p:spPr>
          <a:xfrm>
            <a:off x="640080" y="1938528"/>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3063240" cy="402336"/>
          </a:xfrm>
          <a:prstGeom prst="rect">
            <a:avLst/>
          </a:prstGeom>
          <a:noFill/>
        </p:spPr>
        <p:txBody>
          <a:bodyPr wrap="square" lIns="0" rIns="0" tIns="0" bIns="0" anchor="ctr">
            <a:spAutoFit/>
          </a:bodyPr>
          <a:lstStyle/>
          <a:p>
            <a:r>
              <a:rPr sz="1150" b="1">
                <a:solidFill>
                  <a:srgbClr val="19382F"/>
                </a:solidFill>
                <a:latin typeface="Apple SD Gothic Neo"/>
              </a:rPr>
              <a:t>동일 17개 입력 (정상 8·오류 9)</a:t>
            </a:r>
          </a:p>
        </p:txBody>
      </p:sp>
      <p:sp>
        <p:nvSpPr>
          <p:cNvPr id="12" name="TextBox 11"/>
          <p:cNvSpPr txBox="1"/>
          <p:nvPr/>
        </p:nvSpPr>
        <p:spPr>
          <a:xfrm>
            <a:off x="3931920" y="1938528"/>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2/9 → 9/9 · 정상 통과 8/8 유지</a:t>
            </a:r>
          </a:p>
        </p:txBody>
      </p:sp>
      <p:sp>
        <p:nvSpPr>
          <p:cNvPr id="13" name="TextBox 12"/>
          <p:cNvSpPr txBox="1"/>
          <p:nvPr/>
        </p:nvSpPr>
        <p:spPr>
          <a:xfrm>
            <a:off x="8138160" y="1938528"/>
            <a:ext cx="3337560" cy="402336"/>
          </a:xfrm>
          <a:prstGeom prst="rect">
            <a:avLst/>
          </a:prstGeom>
          <a:noFill/>
        </p:spPr>
        <p:txBody>
          <a:bodyPr wrap="square" lIns="0" rIns="0" tIns="0" bIns="0" anchor="ctr">
            <a:spAutoFit/>
          </a:bodyPr>
          <a:lstStyle/>
          <a:p>
            <a:r>
              <a:rPr sz="1150" b="0">
                <a:solidFill>
                  <a:srgbClr val="B6503E"/>
                </a:solidFill>
                <a:latin typeface="Apple SD Gothic Neo"/>
              </a:rPr>
              <a:t>입력은 같고 검증기만 교체</a:t>
            </a:r>
          </a:p>
        </p:txBody>
      </p:sp>
      <p:sp>
        <p:nvSpPr>
          <p:cNvPr id="14" name="Rectangle 13"/>
          <p:cNvSpPr/>
          <p:nvPr/>
        </p:nvSpPr>
        <p:spPr>
          <a:xfrm>
            <a:off x="640080" y="2340864"/>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340864"/>
            <a:ext cx="3063240" cy="402336"/>
          </a:xfrm>
          <a:prstGeom prst="rect">
            <a:avLst/>
          </a:prstGeom>
          <a:noFill/>
        </p:spPr>
        <p:txBody>
          <a:bodyPr wrap="square" lIns="0" rIns="0" tIns="0" bIns="0" anchor="ctr">
            <a:spAutoFit/>
          </a:bodyPr>
          <a:lstStyle/>
          <a:p>
            <a:r>
              <a:rPr sz="1150" b="1">
                <a:solidFill>
                  <a:srgbClr val="19382F"/>
                </a:solidFill>
                <a:latin typeface="Apple SD Gothic Neo"/>
              </a:rPr>
              <a:t>검증 규칙 표적 사례 28개</a:t>
            </a:r>
          </a:p>
        </p:txBody>
      </p:sp>
      <p:sp>
        <p:nvSpPr>
          <p:cNvPr id="16" name="TextBox 15"/>
          <p:cNvSpPr txBox="1"/>
          <p:nvPr/>
        </p:nvSpPr>
        <p:spPr>
          <a:xfrm>
            <a:off x="3931920" y="2340864"/>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6/14 → 14/14 · 정상 7/14 → 14/14</a:t>
            </a:r>
          </a:p>
        </p:txBody>
      </p:sp>
      <p:sp>
        <p:nvSpPr>
          <p:cNvPr id="17" name="TextBox 16"/>
          <p:cNvSpPr txBox="1"/>
          <p:nvPr/>
        </p:nvSpPr>
        <p:spPr>
          <a:xfrm>
            <a:off x="8138160" y="2340864"/>
            <a:ext cx="3337560" cy="402336"/>
          </a:xfrm>
          <a:prstGeom prst="rect">
            <a:avLst/>
          </a:prstGeom>
          <a:noFill/>
        </p:spPr>
        <p:txBody>
          <a:bodyPr wrap="square" lIns="0" rIns="0" tIns="0" bIns="0" anchor="ctr">
            <a:spAutoFit/>
          </a:bodyPr>
          <a:lstStyle/>
          <a:p>
            <a:r>
              <a:rPr sz="1150" b="0">
                <a:solidFill>
                  <a:srgbClr val="B6503E"/>
                </a:solidFill>
                <a:latin typeface="Apple SD Gothic Neo"/>
              </a:rPr>
              <a:t>약점을 겨냥해 만든 사례라 낙관적</a:t>
            </a:r>
          </a:p>
        </p:txBody>
      </p:sp>
      <p:sp>
        <p:nvSpPr>
          <p:cNvPr id="18" name="Rectangle 17"/>
          <p:cNvSpPr/>
          <p:nvPr/>
        </p:nvSpPr>
        <p:spPr>
          <a:xfrm>
            <a:off x="640080" y="2743200"/>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743200"/>
            <a:ext cx="3063240" cy="402336"/>
          </a:xfrm>
          <a:prstGeom prst="rect">
            <a:avLst/>
          </a:prstGeom>
          <a:noFill/>
        </p:spPr>
        <p:txBody>
          <a:bodyPr wrap="square" lIns="0" rIns="0" tIns="0" bIns="0" anchor="ctr">
            <a:spAutoFit/>
          </a:bodyPr>
          <a:lstStyle/>
          <a:p>
            <a:r>
              <a:rPr sz="1150" b="1">
                <a:solidFill>
                  <a:srgbClr val="19382F"/>
                </a:solidFill>
                <a:latin typeface="Apple SD Gothic Neo"/>
              </a:rPr>
              <a:t>설계 때 보지 못한 변형 6개</a:t>
            </a:r>
          </a:p>
        </p:txBody>
      </p:sp>
      <p:sp>
        <p:nvSpPr>
          <p:cNvPr id="20" name="TextBox 19"/>
          <p:cNvSpPr txBox="1"/>
          <p:nvPr/>
        </p:nvSpPr>
        <p:spPr>
          <a:xfrm>
            <a:off x="3931920" y="2743200"/>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4/5 → 5/5</a:t>
            </a:r>
          </a:p>
        </p:txBody>
      </p:sp>
      <p:sp>
        <p:nvSpPr>
          <p:cNvPr id="21" name="TextBox 20"/>
          <p:cNvSpPr txBox="1"/>
          <p:nvPr/>
        </p:nvSpPr>
        <p:spPr>
          <a:xfrm>
            <a:off x="8138160" y="2743200"/>
            <a:ext cx="3337560" cy="402336"/>
          </a:xfrm>
          <a:prstGeom prst="rect">
            <a:avLst/>
          </a:prstGeom>
          <a:noFill/>
        </p:spPr>
        <p:txBody>
          <a:bodyPr wrap="square" lIns="0" rIns="0" tIns="0" bIns="0" anchor="ctr">
            <a:spAutoFit/>
          </a:bodyPr>
          <a:lstStyle/>
          <a:p>
            <a:r>
              <a:rPr sz="1150" b="0">
                <a:solidFill>
                  <a:srgbClr val="B6503E"/>
                </a:solidFill>
                <a:latin typeface="Apple SD Gothic Neo"/>
              </a:rPr>
              <a:t>표본이 작아 일반화 근거로 약함</a:t>
            </a:r>
          </a:p>
        </p:txBody>
      </p:sp>
      <p:sp>
        <p:nvSpPr>
          <p:cNvPr id="22" name="Rectangle 21"/>
          <p:cNvSpPr/>
          <p:nvPr/>
        </p:nvSpPr>
        <p:spPr>
          <a:xfrm>
            <a:off x="640080" y="3145536"/>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3145536"/>
            <a:ext cx="3063240" cy="402336"/>
          </a:xfrm>
          <a:prstGeom prst="rect">
            <a:avLst/>
          </a:prstGeom>
          <a:noFill/>
        </p:spPr>
        <p:txBody>
          <a:bodyPr wrap="square" lIns="0" rIns="0" tIns="0" bIns="0" anchor="ctr">
            <a:spAutoFit/>
          </a:bodyPr>
          <a:lstStyle/>
          <a:p>
            <a:r>
              <a:rPr sz="1150" b="1">
                <a:solidFill>
                  <a:srgbClr val="19382F"/>
                </a:solidFill>
                <a:latin typeface="Apple SD Gothic Neo"/>
              </a:rPr>
              <a:t>부작용·회귀 탐침 8개</a:t>
            </a:r>
          </a:p>
        </p:txBody>
      </p:sp>
      <p:sp>
        <p:nvSpPr>
          <p:cNvPr id="24" name="TextBox 23"/>
          <p:cNvSpPr txBox="1"/>
          <p:nvPr/>
        </p:nvSpPr>
        <p:spPr>
          <a:xfrm>
            <a:off x="3931920" y="3145536"/>
            <a:ext cx="4069079" cy="402336"/>
          </a:xfrm>
          <a:prstGeom prst="rect">
            <a:avLst/>
          </a:prstGeom>
          <a:noFill/>
        </p:spPr>
        <p:txBody>
          <a:bodyPr wrap="square" lIns="0" rIns="0" tIns="0" bIns="0" anchor="ctr">
            <a:spAutoFit/>
          </a:bodyPr>
          <a:lstStyle/>
          <a:p>
            <a:r>
              <a:rPr sz="1150" b="0">
                <a:solidFill>
                  <a:srgbClr val="19382F"/>
                </a:solidFill>
                <a:latin typeface="Apple SD Gothic Neo"/>
              </a:rPr>
              <a:t>정상 1/4 → 4/4 · 오류 3/4 → 4/4</a:t>
            </a:r>
          </a:p>
        </p:txBody>
      </p:sp>
      <p:sp>
        <p:nvSpPr>
          <p:cNvPr id="25" name="TextBox 24"/>
          <p:cNvSpPr txBox="1"/>
          <p:nvPr/>
        </p:nvSpPr>
        <p:spPr>
          <a:xfrm>
            <a:off x="8138160" y="3145536"/>
            <a:ext cx="3337560" cy="402336"/>
          </a:xfrm>
          <a:prstGeom prst="rect">
            <a:avLst/>
          </a:prstGeom>
          <a:noFill/>
        </p:spPr>
        <p:txBody>
          <a:bodyPr wrap="square" lIns="0" rIns="0" tIns="0" bIns="0" anchor="ctr">
            <a:spAutoFit/>
          </a:bodyPr>
          <a:lstStyle/>
          <a:p>
            <a:r>
              <a:rPr sz="1150" b="0">
                <a:solidFill>
                  <a:srgbClr val="B6503E"/>
                </a:solidFill>
                <a:latin typeface="Apple SD Gothic Neo"/>
              </a:rPr>
              <a:t>수정 후 회귀 방지용</a:t>
            </a:r>
          </a:p>
        </p:txBody>
      </p:sp>
      <p:sp>
        <p:nvSpPr>
          <p:cNvPr id="26" name="Rectangle 25"/>
          <p:cNvSpPr/>
          <p:nvPr/>
        </p:nvSpPr>
        <p:spPr>
          <a:xfrm>
            <a:off x="640080" y="3547872"/>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547872"/>
            <a:ext cx="3063240" cy="402336"/>
          </a:xfrm>
          <a:prstGeom prst="rect">
            <a:avLst/>
          </a:prstGeom>
          <a:noFill/>
        </p:spPr>
        <p:txBody>
          <a:bodyPr wrap="square" lIns="0" rIns="0" tIns="0" bIns="0" anchor="ctr">
            <a:spAutoFit/>
          </a:bodyPr>
          <a:lstStyle/>
          <a:p>
            <a:r>
              <a:rPr sz="1150" b="1">
                <a:solidFill>
                  <a:srgbClr val="19382F"/>
                </a:solidFill>
                <a:latin typeface="Apple SD Gothic Neo"/>
              </a:rPr>
              <a:t>매뉴얼 검색 14개 (장애 12·무관 2)</a:t>
            </a:r>
          </a:p>
        </p:txBody>
      </p:sp>
      <p:sp>
        <p:nvSpPr>
          <p:cNvPr id="28" name="TextBox 27"/>
          <p:cNvSpPr txBox="1"/>
          <p:nvPr/>
        </p:nvSpPr>
        <p:spPr>
          <a:xfrm>
            <a:off x="3931920" y="3547872"/>
            <a:ext cx="4069079" cy="402336"/>
          </a:xfrm>
          <a:prstGeom prst="rect">
            <a:avLst/>
          </a:prstGeom>
          <a:noFill/>
        </p:spPr>
        <p:txBody>
          <a:bodyPr wrap="square" lIns="0" rIns="0" tIns="0" bIns="0" anchor="ctr">
            <a:spAutoFit/>
          </a:bodyPr>
          <a:lstStyle/>
          <a:p>
            <a:r>
              <a:rPr sz="1150" b="0">
                <a:solidFill>
                  <a:srgbClr val="19382F"/>
                </a:solidFill>
                <a:latin typeface="Apple SD Gothic Neo"/>
              </a:rPr>
              <a:t>기대 일치 6/14 → 12/14</a:t>
            </a:r>
          </a:p>
        </p:txBody>
      </p:sp>
      <p:sp>
        <p:nvSpPr>
          <p:cNvPr id="29" name="TextBox 28"/>
          <p:cNvSpPr txBox="1"/>
          <p:nvPr/>
        </p:nvSpPr>
        <p:spPr>
          <a:xfrm>
            <a:off x="8138160" y="3547872"/>
            <a:ext cx="3337560" cy="402336"/>
          </a:xfrm>
          <a:prstGeom prst="rect">
            <a:avLst/>
          </a:prstGeom>
          <a:noFill/>
        </p:spPr>
        <p:txBody>
          <a:bodyPr wrap="square" lIns="0" rIns="0" tIns="0" bIns="0" anchor="ctr">
            <a:spAutoFit/>
          </a:bodyPr>
          <a:lstStyle/>
          <a:p>
            <a:r>
              <a:rPr sz="1150" b="0">
                <a:solidFill>
                  <a:srgbClr val="B6503E"/>
                </a:solidFill>
                <a:latin typeface="Apple SD Gothic Neo"/>
              </a:rPr>
              <a:t>미확정 1건 · 오선택 1건 · 직접 작성</a:t>
            </a:r>
          </a:p>
        </p:txBody>
      </p:sp>
      <p:sp>
        <p:nvSpPr>
          <p:cNvPr id="30" name="Rectangle 29"/>
          <p:cNvSpPr/>
          <p:nvPr/>
        </p:nvSpPr>
        <p:spPr>
          <a:xfrm>
            <a:off x="640080" y="3950208"/>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950208"/>
            <a:ext cx="3063240" cy="402336"/>
          </a:xfrm>
          <a:prstGeom prst="rect">
            <a:avLst/>
          </a:prstGeom>
          <a:noFill/>
        </p:spPr>
        <p:txBody>
          <a:bodyPr wrap="square" lIns="0" rIns="0" tIns="0" bIns="0" anchor="ctr">
            <a:spAutoFit/>
          </a:bodyPr>
          <a:lstStyle/>
          <a:p>
            <a:r>
              <a:rPr sz="1150" b="1">
                <a:solidFill>
                  <a:srgbClr val="19382F"/>
                </a:solidFill>
                <a:latin typeface="Apple SD Gothic Neo"/>
              </a:rPr>
              <a:t>대상 시스템 해석 8개</a:t>
            </a:r>
          </a:p>
        </p:txBody>
      </p:sp>
      <p:sp>
        <p:nvSpPr>
          <p:cNvPr id="32" name="TextBox 31"/>
          <p:cNvSpPr txBox="1"/>
          <p:nvPr/>
        </p:nvSpPr>
        <p:spPr>
          <a:xfrm>
            <a:off x="3931920" y="3950208"/>
            <a:ext cx="4069079" cy="402336"/>
          </a:xfrm>
          <a:prstGeom prst="rect">
            <a:avLst/>
          </a:prstGeom>
          <a:noFill/>
        </p:spPr>
        <p:txBody>
          <a:bodyPr wrap="square" lIns="0" rIns="0" tIns="0" bIns="0" anchor="ctr">
            <a:spAutoFit/>
          </a:bodyPr>
          <a:lstStyle/>
          <a:p>
            <a:r>
              <a:rPr sz="1150" b="0">
                <a:solidFill>
                  <a:srgbClr val="19382F"/>
                </a:solidFill>
                <a:latin typeface="Apple SD Gothic Neo"/>
              </a:rPr>
              <a:t>목록에 없는 시스템이 auth-service로 바뀌던 사례 해소</a:t>
            </a:r>
          </a:p>
        </p:txBody>
      </p:sp>
      <p:sp>
        <p:nvSpPr>
          <p:cNvPr id="33" name="TextBox 32"/>
          <p:cNvSpPr txBox="1"/>
          <p:nvPr/>
        </p:nvSpPr>
        <p:spPr>
          <a:xfrm>
            <a:off x="8138160" y="3950208"/>
            <a:ext cx="3337560" cy="402336"/>
          </a:xfrm>
          <a:prstGeom prst="rect">
            <a:avLst/>
          </a:prstGeom>
          <a:noFill/>
        </p:spPr>
        <p:txBody>
          <a:bodyPr wrap="square" lIns="0" rIns="0" tIns="0" bIns="0" anchor="ctr">
            <a:spAutoFit/>
          </a:bodyPr>
          <a:lstStyle/>
          <a:p>
            <a:r>
              <a:rPr sz="1150" b="0">
                <a:solidFill>
                  <a:srgbClr val="B6503E"/>
                </a:solidFill>
                <a:latin typeface="Apple SD Gothic Neo"/>
              </a:rPr>
              <a:t>계획 정규화는 스텁 모델 출력 기준</a:t>
            </a:r>
          </a:p>
        </p:txBody>
      </p:sp>
      <p:sp>
        <p:nvSpPr>
          <p:cNvPr id="34" name="Rectangle 33"/>
          <p:cNvSpPr/>
          <p:nvPr/>
        </p:nvSpPr>
        <p:spPr>
          <a:xfrm>
            <a:off x="640080" y="4352544"/>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4352544"/>
            <a:ext cx="3063240" cy="402336"/>
          </a:xfrm>
          <a:prstGeom prst="rect">
            <a:avLst/>
          </a:prstGeom>
          <a:noFill/>
        </p:spPr>
        <p:txBody>
          <a:bodyPr wrap="square" lIns="0" rIns="0" tIns="0" bIns="0" anchor="ctr">
            <a:spAutoFit/>
          </a:bodyPr>
          <a:lstStyle/>
          <a:p>
            <a:r>
              <a:rPr sz="1150" b="1">
                <a:solidFill>
                  <a:srgbClr val="19382F"/>
                </a:solidFill>
                <a:latin typeface="Apple SD Gothic Neo"/>
              </a:rPr>
              <a:t>근거 없는 질문 (Ollama 3회)</a:t>
            </a:r>
          </a:p>
        </p:txBody>
      </p:sp>
      <p:sp>
        <p:nvSpPr>
          <p:cNvPr id="36" name="TextBox 35"/>
          <p:cNvSpPr txBox="1"/>
          <p:nvPr/>
        </p:nvSpPr>
        <p:spPr>
          <a:xfrm>
            <a:off x="3931920" y="4352544"/>
            <a:ext cx="4069079" cy="402336"/>
          </a:xfrm>
          <a:prstGeom prst="rect">
            <a:avLst/>
          </a:prstGeom>
          <a:noFill/>
        </p:spPr>
        <p:txBody>
          <a:bodyPr wrap="square" lIns="0" rIns="0" tIns="0" bIns="0" anchor="ctr">
            <a:spAutoFit/>
          </a:bodyPr>
          <a:lstStyle/>
          <a:p>
            <a:r>
              <a:rPr sz="1150" b="0">
                <a:solidFill>
                  <a:srgbClr val="19382F"/>
                </a:solidFill>
                <a:latin typeface="Apple SD Gothic Neo"/>
              </a:rPr>
              <a:t>응답 36.6초 → 1.2~2.7초 · 작성 호출 1 → 0회</a:t>
            </a:r>
          </a:p>
        </p:txBody>
      </p:sp>
      <p:sp>
        <p:nvSpPr>
          <p:cNvPr id="37" name="TextBox 36"/>
          <p:cNvSpPr txBox="1"/>
          <p:nvPr/>
        </p:nvSpPr>
        <p:spPr>
          <a:xfrm>
            <a:off x="8138160" y="4352544"/>
            <a:ext cx="3337560" cy="402336"/>
          </a:xfrm>
          <a:prstGeom prst="rect">
            <a:avLst/>
          </a:prstGeom>
          <a:noFill/>
        </p:spPr>
        <p:txBody>
          <a:bodyPr wrap="square" lIns="0" rIns="0" tIns="0" bIns="0" anchor="ctr">
            <a:spAutoFit/>
          </a:bodyPr>
          <a:lstStyle/>
          <a:p>
            <a:r>
              <a:rPr sz="1150" b="0">
                <a:solidFill>
                  <a:srgbClr val="B6503E"/>
                </a:solidFill>
                <a:latin typeface="Apple SD Gothic Neo"/>
              </a:rPr>
              <a:t>단일 질문 · 근거 0건일 때만</a:t>
            </a:r>
          </a:p>
        </p:txBody>
      </p:sp>
      <p:sp>
        <p:nvSpPr>
          <p:cNvPr id="38" name="Rectangle 37"/>
          <p:cNvSpPr/>
          <p:nvPr/>
        </p:nvSpPr>
        <p:spPr>
          <a:xfrm>
            <a:off x="640080" y="4754880"/>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4754880"/>
            <a:ext cx="3063240" cy="402336"/>
          </a:xfrm>
          <a:prstGeom prst="rect">
            <a:avLst/>
          </a:prstGeom>
          <a:noFill/>
        </p:spPr>
        <p:txBody>
          <a:bodyPr wrap="square" lIns="0" rIns="0" tIns="0" bIns="0" anchor="ctr">
            <a:spAutoFit/>
          </a:bodyPr>
          <a:lstStyle/>
          <a:p>
            <a:r>
              <a:rPr sz="1150" b="1">
                <a:solidFill>
                  <a:srgbClr val="19382F"/>
                </a:solidFill>
                <a:latin typeface="Apple SD Gothic Neo"/>
              </a:rPr>
              <a:t>실모델 Ollama (4문항 × 1회)</a:t>
            </a:r>
          </a:p>
        </p:txBody>
      </p:sp>
      <p:sp>
        <p:nvSpPr>
          <p:cNvPr id="40" name="TextBox 39"/>
          <p:cNvSpPr txBox="1"/>
          <p:nvPr/>
        </p:nvSpPr>
        <p:spPr>
          <a:xfrm>
            <a:off x="3931920" y="4754880"/>
            <a:ext cx="4069079" cy="402336"/>
          </a:xfrm>
          <a:prstGeom prst="rect">
            <a:avLst/>
          </a:prstGeom>
          <a:noFill/>
        </p:spPr>
        <p:txBody>
          <a:bodyPr wrap="square" lIns="0" rIns="0" tIns="0" bIns="0" anchor="ctr">
            <a:spAutoFit/>
          </a:bodyPr>
          <a:lstStyle/>
          <a:p>
            <a:r>
              <a:rPr sz="1150" b="0">
                <a:solidFill>
                  <a:srgbClr val="19382F"/>
                </a:solidFill>
                <a:latin typeface="Apple SD Gothic Neo"/>
              </a:rPr>
              <a:t>작성 시도 1.0 → 1.0회 · 42.6 → 43.3초</a:t>
            </a:r>
          </a:p>
        </p:txBody>
      </p:sp>
      <p:sp>
        <p:nvSpPr>
          <p:cNvPr id="41" name="TextBox 40"/>
          <p:cNvSpPr txBox="1"/>
          <p:nvPr/>
        </p:nvSpPr>
        <p:spPr>
          <a:xfrm>
            <a:off x="8138160" y="4754880"/>
            <a:ext cx="3337560" cy="402336"/>
          </a:xfrm>
          <a:prstGeom prst="rect">
            <a:avLst/>
          </a:prstGeom>
          <a:noFill/>
        </p:spPr>
        <p:txBody>
          <a:bodyPr wrap="square" lIns="0" rIns="0" tIns="0" bIns="0" anchor="ctr">
            <a:spAutoFit/>
          </a:bodyPr>
          <a:lstStyle/>
          <a:p>
            <a:r>
              <a:rPr sz="1150" b="0">
                <a:solidFill>
                  <a:srgbClr val="B6503E"/>
                </a:solidFill>
                <a:latin typeface="Apple SD Gothic Neo"/>
              </a:rPr>
              <a:t>실행 간 변동 커서 개선을 주장하지 않음</a:t>
            </a:r>
          </a:p>
        </p:txBody>
      </p:sp>
      <p:sp>
        <p:nvSpPr>
          <p:cNvPr id="42" name="Rectangle 41"/>
          <p:cNvSpPr/>
          <p:nvPr/>
        </p:nvSpPr>
        <p:spPr>
          <a:xfrm>
            <a:off x="640080" y="5157216"/>
            <a:ext cx="10881359"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440680"/>
            <a:ext cx="10881360" cy="82296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504688"/>
            <a:ext cx="10424160" cy="731520"/>
          </a:xfrm>
          <a:prstGeom prst="rect">
            <a:avLst/>
          </a:prstGeom>
          <a:noFill/>
        </p:spPr>
        <p:txBody>
          <a:bodyPr wrap="square" lIns="0" rIns="0" tIns="0" bIns="0">
            <a:spAutoFit/>
          </a:bodyPr>
          <a:lstStyle/>
          <a:p>
            <a:pPr>
              <a:spcAft>
                <a:spcPts val="700"/>
              </a:spcAft>
            </a:pPr>
            <a:r>
              <a:rPr sz="1200" b="0">
                <a:solidFill>
                  <a:srgbClr val="19382F"/>
                </a:solidFill>
                <a:latin typeface="Apple SD Gothic Neo"/>
              </a:rPr>
              <a:t>평가 원칙: 규칙을 고치기 전에 사례를 먼저 만들고, 개선 전 검증기를 스냅샷으로 보관해 같은 입력으로 비교했다.</a:t>
            </a:r>
          </a:p>
          <a:p>
            <a:pPr>
              <a:spcAft>
                <a:spcPts val="700"/>
              </a:spcAft>
            </a:pPr>
            <a:r>
              <a:rPr sz="1200" b="0">
                <a:solidFill>
                  <a:srgbClr val="19382F"/>
                </a:solidFill>
                <a:latin typeface="Apple SD Gothic Neo"/>
              </a:rPr>
              <a:t>한계: 사례를 만든 사람과 구현한 사람이 같아 낙관적일 수 있고, 독립 평가셋과 LangSmith 비교 평가는 하지 않았다.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A-4  검증과 실패 처리</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검증 규칙과 실패 처리</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A-4 / A-6</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600" b="1">
                <a:solidFill>
                  <a:srgbClr val="16785C"/>
                </a:solidFill>
                <a:latin typeface="Apple SD Gothic Neo"/>
              </a:rPr>
              <a:t>검증 규칙 (verifier.py)</a:t>
            </a:r>
          </a:p>
        </p:txBody>
      </p:sp>
      <p:sp>
        <p:nvSpPr>
          <p:cNvPr id="7" name="TextBox 6"/>
          <p:cNvSpPr txBox="1"/>
          <p:nvPr/>
        </p:nvSpPr>
        <p:spPr>
          <a:xfrm>
            <a:off x="6309360" y="1645920"/>
            <a:ext cx="5212080" cy="274320"/>
          </a:xfrm>
          <a:prstGeom prst="rect">
            <a:avLst/>
          </a:prstGeom>
          <a:noFill/>
        </p:spPr>
        <p:txBody>
          <a:bodyPr wrap="square" lIns="0" rIns="0" tIns="0" bIns="0">
            <a:spAutoFit/>
          </a:bodyPr>
          <a:lstStyle/>
          <a:p>
            <a:r>
              <a:rPr sz="1600" b="1">
                <a:solidFill>
                  <a:srgbClr val="16785C"/>
                </a:solidFill>
                <a:latin typeface="Apple SD Gothic Neo"/>
              </a:rPr>
              <a:t>실패 처리</a:t>
            </a:r>
          </a:p>
        </p:txBody>
      </p:sp>
      <p:sp>
        <p:nvSpPr>
          <p:cNvPr id="8" name="TextBox 7"/>
          <p:cNvSpPr txBox="1"/>
          <p:nvPr/>
        </p:nvSpPr>
        <p:spPr>
          <a:xfrm>
            <a:off x="64008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시스템명 · CPU · 메모리 수치를 수집값과 대조</a:t>
            </a:r>
          </a:p>
          <a:p>
            <a:pPr>
              <a:spcAft>
                <a:spcPts val="700"/>
              </a:spcAft>
            </a:pPr>
            <a:r>
              <a:rPr sz="1300" b="0">
                <a:solidFill>
                  <a:srgbClr val="19382F"/>
                </a:solidFill>
                <a:latin typeface="Apple SD Gothic Neo"/>
              </a:rPr>
              <a:t>·  반올림을 고려해 0.5%p 이하 차이는 허용</a:t>
            </a:r>
          </a:p>
          <a:p>
            <a:pPr>
              <a:spcAft>
                <a:spcPts val="700"/>
              </a:spcAft>
            </a:pPr>
            <a:r>
              <a:rPr sz="1300" b="0">
                <a:solidFill>
                  <a:srgbClr val="19382F"/>
                </a:solidFill>
                <a:latin typeface="Apple SD Gothic Neo"/>
              </a:rPr>
              <a:t>·  동의어 · 숫자가 먼저 오는 문장 · 표 · '각각' · 영어 서술을 읽음</a:t>
            </a:r>
          </a:p>
          <a:p>
            <a:pPr>
              <a:spcAft>
                <a:spcPts val="700"/>
              </a:spcAft>
            </a:pPr>
            <a:r>
              <a:rPr sz="1300" b="0">
                <a:solidFill>
                  <a:srgbClr val="19382F"/>
                </a:solidFill>
                <a:latin typeface="Apple SD Gothic Neo"/>
              </a:rPr>
              <a:t>·  임계치 · 조건문 · 부정된 수치는 측정 주장에서 제외 (부정 뒤 수치는 대조)</a:t>
            </a:r>
          </a:p>
          <a:p>
            <a:pPr>
              <a:spcAft>
                <a:spcPts val="700"/>
              </a:spcAft>
            </a:pPr>
            <a:r>
              <a:rPr sz="1300" b="0">
                <a:solidFill>
                  <a:srgbClr val="19382F"/>
                </a:solidFill>
                <a:latin typeface="Apple SD Gothic Neo"/>
              </a:rPr>
              <a:t>·  조회하지 못한 시스템의 수치를 주장하면 반려</a:t>
            </a:r>
          </a:p>
          <a:p>
            <a:pPr>
              <a:spcAft>
                <a:spcPts val="700"/>
              </a:spcAft>
            </a:pPr>
            <a:r>
              <a:rPr sz="1300" b="0">
                <a:solidFill>
                  <a:srgbClr val="19382F"/>
                </a:solidFill>
                <a:latin typeface="Apple SD Gothic Neo"/>
              </a:rPr>
              <a:t>·  시스템명은 수치를 인용할 때만 요구</a:t>
            </a:r>
          </a:p>
          <a:p>
            <a:pPr>
              <a:spcAft>
                <a:spcPts val="700"/>
              </a:spcAft>
            </a:pPr>
            <a:r>
              <a:rPr sz="1300" b="0">
                <a:solidFill>
                  <a:srgbClr val="19382F"/>
                </a:solidFill>
                <a:latin typeface="Apple SD Gothic Neo"/>
              </a:rPr>
              <a:t>·  최초 작성 포함 3회 불일치 시 종료</a:t>
            </a:r>
          </a:p>
        </p:txBody>
      </p:sp>
      <p:sp>
        <p:nvSpPr>
          <p:cNvPr id="9" name="TextBox 8"/>
          <p:cNvSpPr txBox="1"/>
          <p:nvPr/>
        </p:nvSpPr>
        <p:spPr>
          <a:xfrm>
            <a:off x="630936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모니터링 도구는 재시도하고 15초 제한, 의미 검색은 60초 제한</a:t>
            </a:r>
          </a:p>
          <a:p>
            <a:pPr>
              <a:spcAft>
                <a:spcPts val="700"/>
              </a:spcAft>
            </a:pPr>
            <a:r>
              <a:rPr sz="1300" b="0">
                <a:solidFill>
                  <a:srgbClr val="19382F"/>
                </a:solidFill>
                <a:latin typeface="Apple SD Gothic Neo"/>
              </a:rPr>
              <a:t>·  작업별 예외를 격리해 성공한 자료를 유지, 취소 신호는 전파</a:t>
            </a:r>
          </a:p>
          <a:p>
            <a:pPr>
              <a:spcAft>
                <a:spcPts val="700"/>
              </a:spcAft>
            </a:pPr>
            <a:r>
              <a:rPr sz="1300" b="0">
                <a:solidFill>
                  <a:srgbClr val="19382F"/>
                </a:solidFill>
                <a:latin typeface="Apple SD Gothic Neo"/>
              </a:rPr>
              <a:t>·  실패한 대상은 이벤트와 최종 답변에 한계로 표시</a:t>
            </a:r>
          </a:p>
          <a:p>
            <a:pPr>
              <a:spcAft>
                <a:spcPts val="700"/>
              </a:spcAft>
            </a:pPr>
            <a:r>
              <a:rPr sz="1300" b="0">
                <a:solidFill>
                  <a:srgbClr val="19382F"/>
                </a:solidFill>
                <a:latin typeface="Apple SD Gothic Neo"/>
              </a:rPr>
              <a:t>·  근거가 0건이면 작성을 생략하고 '자료 부족 · 검증 불가'로 종료</a:t>
            </a:r>
          </a:p>
          <a:p>
            <a:pPr>
              <a:spcAft>
                <a:spcPts val="700"/>
              </a:spcAft>
            </a:pPr>
            <a:r>
              <a:rPr sz="1300" b="0">
                <a:solidFill>
                  <a:srgbClr val="19382F"/>
                </a:solidFill>
                <a:latin typeface="Apple SD Gothic Neo"/>
              </a:rPr>
              <a:t>·  3회 불일치 시 강제 합격 대신 사유와 수집값을 안내</a:t>
            </a:r>
          </a:p>
          <a:p>
            <a:pPr>
              <a:spcAft>
                <a:spcPts val="700"/>
              </a:spcAft>
            </a:pPr>
            <a:r>
              <a:rPr sz="1300" b="0">
                <a:solidFill>
                  <a:srgbClr val="19382F"/>
                </a:solidFill>
                <a:latin typeface="Apple SD Gothic Neo"/>
              </a:rPr>
              <a:t>·  목록에 없는 시스템은 다른 시스템으로 바꾸지 않고 조사 실패로 안내</a:t>
            </a:r>
          </a:p>
        </p:txBody>
      </p:sp>
      <p:sp>
        <p:nvSpPr>
          <p:cNvPr id="10" name="Rectangle 9"/>
          <p:cNvSpPr/>
          <p:nvPr/>
        </p:nvSpPr>
        <p:spPr>
          <a:xfrm>
            <a:off x="640080" y="5532120"/>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69280"/>
            <a:ext cx="10881360" cy="640080"/>
          </a:xfrm>
          <a:prstGeom prst="rect">
            <a:avLst/>
          </a:prstGeom>
          <a:noFill/>
        </p:spPr>
        <p:txBody>
          <a:bodyPr wrap="square" lIns="0" rIns="0" tIns="0" bIns="0">
            <a:spAutoFit/>
          </a:bodyPr>
          <a:lstStyle/>
          <a:p>
            <a:r>
              <a:rPr sz="1200" b="0">
                <a:solidFill>
                  <a:srgbClr val="B6503E"/>
                </a:solidFill>
                <a:latin typeface="Apple SD Gothic Neo"/>
              </a:rPr>
              <a:t>알려진 한계: 수치를 직전에 나온 시스템명에 연결해서, 조회하지 못한 시스템 설명 뒤에 다른 시스템 수치가 오면 정상 서술도 반려될 수 있고 'customer-service', 'top-10' 같은 일반 표현을 시스템으로 오인한다.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A-5  재현과 자료</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재현 방법과 근거 자료</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A-5 / A-6</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공개 저장소</a:t>
            </a:r>
          </a:p>
        </p:txBody>
      </p:sp>
      <p:sp>
        <p:nvSpPr>
          <p:cNvPr id="7" name="TextBox 6"/>
          <p:cNvSpPr txBox="1"/>
          <p:nvPr/>
        </p:nvSpPr>
        <p:spPr>
          <a:xfrm>
            <a:off x="640080" y="1965960"/>
            <a:ext cx="5394960" cy="365760"/>
          </a:xfrm>
          <a:prstGeom prst="rect">
            <a:avLst/>
          </a:prstGeom>
          <a:noFill/>
        </p:spPr>
        <p:txBody>
          <a:bodyPr wrap="square" lIns="0" rIns="0" tIns="0" bIns="0">
            <a:spAutoFit/>
          </a:bodyPr>
          <a:lstStyle/>
          <a:p>
            <a:r>
              <a:rPr sz="2000" b="1">
                <a:solidFill>
                  <a:srgbClr val="16785C"/>
                </a:solidFill>
                <a:latin typeface="Apple SD Gothic Neo"/>
              </a:rPr>
              <a:t>github.com/gkyeon/ai-capstone-gkyeon</a:t>
            </a:r>
          </a:p>
        </p:txBody>
      </p:sp>
      <p:sp>
        <p:nvSpPr>
          <p:cNvPr id="8" name="TextBox 7"/>
          <p:cNvSpPr txBox="1"/>
          <p:nvPr/>
        </p:nvSpPr>
        <p:spPr>
          <a:xfrm>
            <a:off x="640080" y="2606040"/>
            <a:ext cx="5212080" cy="274320"/>
          </a:xfrm>
          <a:prstGeom prst="rect">
            <a:avLst/>
          </a:prstGeom>
          <a:noFill/>
        </p:spPr>
        <p:txBody>
          <a:bodyPr wrap="square" lIns="0" rIns="0" tIns="0" bIns="0">
            <a:spAutoFit/>
          </a:bodyPr>
          <a:lstStyle/>
          <a:p>
            <a:r>
              <a:rPr sz="1400" b="1">
                <a:solidFill>
                  <a:srgbClr val="62746D"/>
                </a:solidFill>
                <a:latin typeface="Apple SD Gothic Neo"/>
              </a:rPr>
              <a:t>이 저장소만으로 재현되는 것</a:t>
            </a:r>
          </a:p>
        </p:txBody>
      </p:sp>
      <p:sp>
        <p:nvSpPr>
          <p:cNvPr id="9" name="Rounded Rectangle 8"/>
          <p:cNvSpPr/>
          <p:nvPr/>
        </p:nvSpPr>
        <p:spPr>
          <a:xfrm>
            <a:off x="640080" y="2926080"/>
            <a:ext cx="5120640" cy="457200"/>
          </a:xfrm>
          <a:prstGeom prst="round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26080"/>
            <a:ext cx="4846320" cy="457200"/>
          </a:xfrm>
          <a:prstGeom prst="rect">
            <a:avLst/>
          </a:prstGeom>
          <a:noFill/>
        </p:spPr>
        <p:txBody>
          <a:bodyPr wrap="square" lIns="0" rIns="0" tIns="0" bIns="0" anchor="ctr">
            <a:spAutoFit/>
          </a:bodyPr>
          <a:lstStyle/>
          <a:p>
            <a:r>
              <a:rPr sz="1400" b="1">
                <a:solidFill>
                  <a:srgbClr val="FFFFFF"/>
                </a:solidFill>
                <a:latin typeface="Menlo"/>
              </a:rPr>
              <a:t>python3 eval/eval_verifier_v2.py</a:t>
            </a:r>
          </a:p>
        </p:txBody>
      </p:sp>
      <p:sp>
        <p:nvSpPr>
          <p:cNvPr id="11" name="TextBox 10"/>
          <p:cNvSpPr txBox="1"/>
          <p:nvPr/>
        </p:nvSpPr>
        <p:spPr>
          <a:xfrm>
            <a:off x="640080" y="3493008"/>
            <a:ext cx="5120640" cy="502920"/>
          </a:xfrm>
          <a:prstGeom prst="rect">
            <a:avLst/>
          </a:prstGeom>
          <a:noFill/>
        </p:spPr>
        <p:txBody>
          <a:bodyPr wrap="square" lIns="0" rIns="0" tIns="0" bIns="0">
            <a:spAutoFit/>
          </a:bodyPr>
          <a:lstStyle/>
          <a:p>
            <a:r>
              <a:rPr sz="1300" b="0">
                <a:solidFill>
                  <a:srgbClr val="19382F"/>
                </a:solidFill>
                <a:latin typeface="Apple SD Gothic Neo"/>
              </a:rPr>
              <a:t>검증기 개선 전후 42개 사례 비교</a:t>
            </a:r>
          </a:p>
        </p:txBody>
      </p:sp>
      <p:sp>
        <p:nvSpPr>
          <p:cNvPr id="12" name="TextBox 11"/>
          <p:cNvSpPr txBox="1"/>
          <p:nvPr/>
        </p:nvSpPr>
        <p:spPr>
          <a:xfrm>
            <a:off x="640080" y="4114800"/>
            <a:ext cx="5212080" cy="274320"/>
          </a:xfrm>
          <a:prstGeom prst="rect">
            <a:avLst/>
          </a:prstGeom>
          <a:noFill/>
        </p:spPr>
        <p:txBody>
          <a:bodyPr wrap="square" lIns="0" rIns="0" tIns="0" bIns="0">
            <a:spAutoFit/>
          </a:bodyPr>
          <a:lstStyle/>
          <a:p>
            <a:r>
              <a:rPr sz="1400" b="1">
                <a:solidFill>
                  <a:srgbClr val="62746D"/>
                </a:solidFill>
                <a:latin typeface="Apple SD Gothic Neo"/>
              </a:rPr>
              <a:t>수업 제공 프로젝트가 필요한 것</a:t>
            </a:r>
          </a:p>
        </p:txBody>
      </p:sp>
      <p:sp>
        <p:nvSpPr>
          <p:cNvPr id="13" name="TextBox 12"/>
          <p:cNvSpPr txBox="1"/>
          <p:nvPr/>
        </p:nvSpPr>
        <p:spPr>
          <a:xfrm>
            <a:off x="640080" y="4434840"/>
            <a:ext cx="5120640" cy="146304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나머지 평가와 화면 실행</a:t>
            </a:r>
          </a:p>
          <a:p>
            <a:pPr>
              <a:spcAft>
                <a:spcPts val="700"/>
              </a:spcAft>
            </a:pPr>
            <a:r>
              <a:rPr sz="1300" b="0">
                <a:solidFill>
                  <a:srgbClr val="19382F"/>
                </a:solidFill>
                <a:latin typeface="Apple SD Gothic Neo"/>
              </a:rPr>
              <a:t>저장소에는 제공 코드를 넣지 않았고, 저장된 결과 파일로 확인할 수 있음</a:t>
            </a:r>
          </a:p>
        </p:txBody>
      </p:sp>
      <p:sp>
        <p:nvSpPr>
          <p:cNvPr id="14" name="Rectangle 13"/>
          <p:cNvSpPr/>
          <p:nvPr/>
        </p:nvSpPr>
        <p:spPr>
          <a:xfrm>
            <a:off x="6309360" y="1645920"/>
            <a:ext cx="521208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45920"/>
            <a:ext cx="2011680" cy="292608"/>
          </a:xfrm>
          <a:prstGeom prst="rect">
            <a:avLst/>
          </a:prstGeom>
          <a:noFill/>
        </p:spPr>
        <p:txBody>
          <a:bodyPr wrap="square" lIns="0" rIns="0" tIns="0" bIns="0" anchor="ctr">
            <a:spAutoFit/>
          </a:bodyPr>
          <a:lstStyle/>
          <a:p>
            <a:r>
              <a:rPr sz="1150" b="1">
                <a:solidFill>
                  <a:srgbClr val="FFFFFF"/>
                </a:solidFill>
                <a:latin typeface="Apple SD Gothic Neo"/>
              </a:rPr>
              <a:t>근거</a:t>
            </a:r>
          </a:p>
        </p:txBody>
      </p:sp>
      <p:sp>
        <p:nvSpPr>
          <p:cNvPr id="16" name="TextBox 15"/>
          <p:cNvSpPr txBox="1"/>
          <p:nvPr/>
        </p:nvSpPr>
        <p:spPr>
          <a:xfrm>
            <a:off x="8549640" y="1645920"/>
            <a:ext cx="2926080" cy="292608"/>
          </a:xfrm>
          <a:prstGeom prst="rect">
            <a:avLst/>
          </a:prstGeom>
          <a:noFill/>
        </p:spPr>
        <p:txBody>
          <a:bodyPr wrap="square" lIns="0" rIns="0" tIns="0" bIns="0" anchor="ctr">
            <a:spAutoFit/>
          </a:bodyPr>
          <a:lstStyle/>
          <a:p>
            <a:r>
              <a:rPr sz="1150" b="1">
                <a:solidFill>
                  <a:srgbClr val="FFFFFF"/>
                </a:solidFill>
                <a:latin typeface="Apple SD Gothic Neo"/>
              </a:rPr>
              <a:t>파일</a:t>
            </a:r>
          </a:p>
        </p:txBody>
      </p:sp>
      <p:sp>
        <p:nvSpPr>
          <p:cNvPr id="17" name="Rectangle 16"/>
          <p:cNvSpPr/>
          <p:nvPr/>
        </p:nvSpPr>
        <p:spPr>
          <a:xfrm>
            <a:off x="6309360" y="19385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938528"/>
            <a:ext cx="2011680" cy="457200"/>
          </a:xfrm>
          <a:prstGeom prst="rect">
            <a:avLst/>
          </a:prstGeom>
          <a:noFill/>
        </p:spPr>
        <p:txBody>
          <a:bodyPr wrap="square" lIns="0" rIns="0" tIns="0" bIns="0" anchor="ctr">
            <a:spAutoFit/>
          </a:bodyPr>
          <a:lstStyle/>
          <a:p>
            <a:r>
              <a:rPr sz="1100" b="1">
                <a:solidFill>
                  <a:srgbClr val="19382F"/>
                </a:solidFill>
                <a:latin typeface="Apple SD Gothic Neo"/>
              </a:rPr>
              <a:t>17개 입력 · 그래프 전체 실행</a:t>
            </a:r>
          </a:p>
        </p:txBody>
      </p:sp>
      <p:sp>
        <p:nvSpPr>
          <p:cNvPr id="19" name="TextBox 18"/>
          <p:cNvSpPr txBox="1"/>
          <p:nvPr/>
        </p:nvSpPr>
        <p:spPr>
          <a:xfrm>
            <a:off x="8549640" y="1938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eval/results.md</a:t>
            </a:r>
          </a:p>
        </p:txBody>
      </p:sp>
      <p:sp>
        <p:nvSpPr>
          <p:cNvPr id="20" name="Rectangle 19"/>
          <p:cNvSpPr/>
          <p:nvPr/>
        </p:nvSpPr>
        <p:spPr>
          <a:xfrm>
            <a:off x="6309360" y="23957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395728"/>
            <a:ext cx="2011680" cy="457200"/>
          </a:xfrm>
          <a:prstGeom prst="rect">
            <a:avLst/>
          </a:prstGeom>
          <a:noFill/>
        </p:spPr>
        <p:txBody>
          <a:bodyPr wrap="square" lIns="0" rIns="0" tIns="0" bIns="0" anchor="ctr">
            <a:spAutoFit/>
          </a:bodyPr>
          <a:lstStyle/>
          <a:p>
            <a:r>
              <a:rPr sz="1100" b="1">
                <a:solidFill>
                  <a:srgbClr val="19382F"/>
                </a:solidFill>
                <a:latin typeface="Apple SD Gothic Neo"/>
              </a:rPr>
              <a:t>검증기 개선 전후 기준선</a:t>
            </a:r>
          </a:p>
        </p:txBody>
      </p:sp>
      <p:sp>
        <p:nvSpPr>
          <p:cNvPr id="22" name="TextBox 21"/>
          <p:cNvSpPr txBox="1"/>
          <p:nvPr/>
        </p:nvSpPr>
        <p:spPr>
          <a:xfrm>
            <a:off x="8549640" y="2395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eval/baseline/ · eval_verifier_v2.py</a:t>
            </a:r>
          </a:p>
        </p:txBody>
      </p:sp>
      <p:sp>
        <p:nvSpPr>
          <p:cNvPr id="23" name="Rectangle 22"/>
          <p:cNvSpPr/>
          <p:nvPr/>
        </p:nvSpPr>
        <p:spPr>
          <a:xfrm>
            <a:off x="6309360" y="28529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852928"/>
            <a:ext cx="2011680" cy="457200"/>
          </a:xfrm>
          <a:prstGeom prst="rect">
            <a:avLst/>
          </a:prstGeom>
          <a:noFill/>
        </p:spPr>
        <p:txBody>
          <a:bodyPr wrap="square" lIns="0" rIns="0" tIns="0" bIns="0" anchor="ctr">
            <a:spAutoFit/>
          </a:bodyPr>
          <a:lstStyle/>
          <a:p>
            <a:r>
              <a:rPr sz="1100" b="1">
                <a:solidFill>
                  <a:srgbClr val="19382F"/>
                </a:solidFill>
                <a:latin typeface="Apple SD Gothic Neo"/>
              </a:rPr>
              <a:t>매뉴얼 검색 14개</a:t>
            </a:r>
          </a:p>
        </p:txBody>
      </p:sp>
      <p:sp>
        <p:nvSpPr>
          <p:cNvPr id="25" name="TextBox 24"/>
          <p:cNvSpPr txBox="1"/>
          <p:nvPr/>
        </p:nvSpPr>
        <p:spPr>
          <a:xfrm>
            <a:off x="8549640" y="28529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eval/search-evaluation-20261021.json</a:t>
            </a:r>
          </a:p>
        </p:txBody>
      </p:sp>
      <p:sp>
        <p:nvSpPr>
          <p:cNvPr id="26" name="Rectangle 25"/>
          <p:cNvSpPr/>
          <p:nvPr/>
        </p:nvSpPr>
        <p:spPr>
          <a:xfrm>
            <a:off x="6309360" y="33101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310128"/>
            <a:ext cx="2011680" cy="457200"/>
          </a:xfrm>
          <a:prstGeom prst="rect">
            <a:avLst/>
          </a:prstGeom>
          <a:noFill/>
        </p:spPr>
        <p:txBody>
          <a:bodyPr wrap="square" lIns="0" rIns="0" tIns="0" bIns="0" anchor="ctr">
            <a:spAutoFit/>
          </a:bodyPr>
          <a:lstStyle/>
          <a:p>
            <a:r>
              <a:rPr sz="1100" b="1">
                <a:solidFill>
                  <a:srgbClr val="19382F"/>
                </a:solidFill>
                <a:latin typeface="Apple SD Gothic Neo"/>
              </a:rPr>
              <a:t>대상 시스템 해석 전후</a:t>
            </a:r>
          </a:p>
        </p:txBody>
      </p:sp>
      <p:sp>
        <p:nvSpPr>
          <p:cNvPr id="28" name="TextBox 27"/>
          <p:cNvSpPr txBox="1"/>
          <p:nvPr/>
        </p:nvSpPr>
        <p:spPr>
          <a:xfrm>
            <a:off x="8549640" y="33101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eval/targets-*-20261021.json</a:t>
            </a:r>
          </a:p>
        </p:txBody>
      </p:sp>
      <p:sp>
        <p:nvSpPr>
          <p:cNvPr id="29" name="Rectangle 28"/>
          <p:cNvSpPr/>
          <p:nvPr/>
        </p:nvSpPr>
        <p:spPr>
          <a:xfrm>
            <a:off x="6309360" y="37673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3767328"/>
            <a:ext cx="2011680" cy="457200"/>
          </a:xfrm>
          <a:prstGeom prst="rect">
            <a:avLst/>
          </a:prstGeom>
          <a:noFill/>
        </p:spPr>
        <p:txBody>
          <a:bodyPr wrap="square" lIns="0" rIns="0" tIns="0" bIns="0" anchor="ctr">
            <a:spAutoFit/>
          </a:bodyPr>
          <a:lstStyle/>
          <a:p>
            <a:r>
              <a:rPr sz="1100" b="1">
                <a:solidFill>
                  <a:srgbClr val="19382F"/>
                </a:solidFill>
                <a:latin typeface="Apple SD Gothic Neo"/>
              </a:rPr>
              <a:t>실모델(Ollama) 실행 원본</a:t>
            </a:r>
          </a:p>
        </p:txBody>
      </p:sp>
      <p:sp>
        <p:nvSpPr>
          <p:cNvPr id="31" name="TextBox 30"/>
          <p:cNvSpPr txBox="1"/>
          <p:nvPr/>
        </p:nvSpPr>
        <p:spPr>
          <a:xfrm>
            <a:off x="8549640" y="37673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eval/ollama-live-20261021*.json</a:t>
            </a:r>
          </a:p>
        </p:txBody>
      </p:sp>
      <p:sp>
        <p:nvSpPr>
          <p:cNvPr id="32" name="Rectangle 31"/>
          <p:cNvSpPr/>
          <p:nvPr/>
        </p:nvSpPr>
        <p:spPr>
          <a:xfrm>
            <a:off x="6309360" y="42245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4224528"/>
            <a:ext cx="2011680" cy="457200"/>
          </a:xfrm>
          <a:prstGeom prst="rect">
            <a:avLst/>
          </a:prstGeom>
          <a:noFill/>
        </p:spPr>
        <p:txBody>
          <a:bodyPr wrap="square" lIns="0" rIns="0" tIns="0" bIns="0" anchor="ctr">
            <a:spAutoFit/>
          </a:bodyPr>
          <a:lstStyle/>
          <a:p>
            <a:r>
              <a:rPr sz="1100" b="1">
                <a:solidFill>
                  <a:srgbClr val="19382F"/>
                </a:solidFill>
                <a:latin typeface="Apple SD Gothic Neo"/>
              </a:rPr>
              <a:t>근거 0건 조기 종료</a:t>
            </a:r>
          </a:p>
        </p:txBody>
      </p:sp>
      <p:sp>
        <p:nvSpPr>
          <p:cNvPr id="34" name="TextBox 33"/>
          <p:cNvSpPr txBox="1"/>
          <p:nvPr/>
        </p:nvSpPr>
        <p:spPr>
          <a:xfrm>
            <a:off x="8549640" y="4224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eval/ollama-live-evidence-gate-*.json</a:t>
            </a:r>
          </a:p>
        </p:txBody>
      </p:sp>
      <p:sp>
        <p:nvSpPr>
          <p:cNvPr id="35" name="Rectangle 34"/>
          <p:cNvSpPr/>
          <p:nvPr/>
        </p:nvSpPr>
        <p:spPr>
          <a:xfrm>
            <a:off x="6309360" y="46817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4681728"/>
            <a:ext cx="2011680" cy="457200"/>
          </a:xfrm>
          <a:prstGeom prst="rect">
            <a:avLst/>
          </a:prstGeom>
          <a:noFill/>
        </p:spPr>
        <p:txBody>
          <a:bodyPr wrap="square" lIns="0" rIns="0" tIns="0" bIns="0" anchor="ctr">
            <a:spAutoFit/>
          </a:bodyPr>
          <a:lstStyle/>
          <a:p>
            <a:r>
              <a:rPr sz="1100" b="1">
                <a:solidFill>
                  <a:srgbClr val="19382F"/>
                </a:solidFill>
                <a:latin typeface="Apple SD Gothic Neo"/>
              </a:rPr>
              <a:t>병렬 · 비용 · 임베딩 측정</a:t>
            </a:r>
          </a:p>
        </p:txBody>
      </p:sp>
      <p:sp>
        <p:nvSpPr>
          <p:cNvPr id="37" name="TextBox 36"/>
          <p:cNvSpPr txBox="1"/>
          <p:nvPr/>
        </p:nvSpPr>
        <p:spPr>
          <a:xfrm>
            <a:off x="8549640" y="4681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eval/bonus-measure-*.md, embedding-cost-*.md</a:t>
            </a:r>
          </a:p>
        </p:txBody>
      </p:sp>
      <p:sp>
        <p:nvSpPr>
          <p:cNvPr id="38" name="Rectangle 37"/>
          <p:cNvSpPr/>
          <p:nvPr/>
        </p:nvSpPr>
        <p:spPr>
          <a:xfrm>
            <a:off x="6309360" y="51389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5138928"/>
            <a:ext cx="2011680" cy="457200"/>
          </a:xfrm>
          <a:prstGeom prst="rect">
            <a:avLst/>
          </a:prstGeom>
          <a:noFill/>
        </p:spPr>
        <p:txBody>
          <a:bodyPr wrap="square" lIns="0" rIns="0" tIns="0" bIns="0" anchor="ctr">
            <a:spAutoFit/>
          </a:bodyPr>
          <a:lstStyle/>
          <a:p>
            <a:r>
              <a:rPr sz="1100" b="1">
                <a:solidFill>
                  <a:srgbClr val="19382F"/>
                </a:solidFill>
                <a:latin typeface="Apple SD Gothic Neo"/>
              </a:rPr>
              <a:t>설계 결정 · 결과보고서</a:t>
            </a:r>
          </a:p>
        </p:txBody>
      </p:sp>
      <p:sp>
        <p:nvSpPr>
          <p:cNvPr id="40" name="TextBox 39"/>
          <p:cNvSpPr txBox="1"/>
          <p:nvPr/>
        </p:nvSpPr>
        <p:spPr>
          <a:xfrm>
            <a:off x="8549640" y="5138928"/>
            <a:ext cx="2926080" cy="457200"/>
          </a:xfrm>
          <a:prstGeom prst="rect">
            <a:avLst/>
          </a:prstGeom>
          <a:noFill/>
        </p:spPr>
        <p:txBody>
          <a:bodyPr wrap="square" lIns="0" rIns="0" tIns="0" bIns="0" anchor="ctr">
            <a:spAutoFit/>
          </a:bodyPr>
          <a:lstStyle/>
          <a:p>
            <a:r>
              <a:rPr sz="1100" b="0">
                <a:solidFill>
                  <a:srgbClr val="62746D"/>
                </a:solidFill>
                <a:latin typeface="Apple SD Gothic Neo"/>
              </a:rPr>
              <a:t>doc/ADR.md · submission/결과보고서.md</a:t>
            </a:r>
          </a:p>
        </p:txBody>
      </p:sp>
      <p:sp>
        <p:nvSpPr>
          <p:cNvPr id="41" name="Rectangle 4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A-6  전체 처리 흐름</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전체 처리 흐름 (노드 단위)</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A-6 / A-6</a:t>
            </a:r>
          </a:p>
        </p:txBody>
      </p:sp>
      <p:sp>
        <p:nvSpPr>
          <p:cNvPr id="6" name="Rounded Rectangle 5"/>
          <p:cNvSpPr/>
          <p:nvPr/>
        </p:nvSpPr>
        <p:spPr>
          <a:xfrm>
            <a:off x="64008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route</a:t>
            </a:r>
          </a:p>
          <a:p>
            <a:pPr algn="ctr"/>
            <a:r>
              <a:rPr sz="1100" b="0">
                <a:solidFill>
                  <a:srgbClr val="19382F"/>
                </a:solidFill>
                <a:latin typeface="Apple SD Gothic Neo"/>
              </a:rPr>
              <a:t>질의 분류</a:t>
            </a:r>
          </a:p>
        </p:txBody>
      </p:sp>
      <p:sp>
        <p:nvSpPr>
          <p:cNvPr id="7" name="Rounded Rectangle 6"/>
          <p:cNvSpPr/>
          <p:nvPr/>
        </p:nvSpPr>
        <p:spPr>
          <a:xfrm>
            <a:off x="2514600" y="237744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plan</a:t>
            </a:r>
          </a:p>
          <a:p>
            <a:pPr algn="ctr"/>
            <a:r>
              <a:rPr sz="1100" b="0">
                <a:solidFill>
                  <a:srgbClr val="19382F"/>
                </a:solidFill>
                <a:latin typeface="Apple SD Gothic Neo"/>
              </a:rPr>
              <a:t>계획 · 대상 해석</a:t>
            </a:r>
          </a:p>
        </p:txBody>
      </p:sp>
      <p:sp>
        <p:nvSpPr>
          <p:cNvPr id="8" name="Rounded Rectangle 7"/>
          <p:cNvSpPr/>
          <p:nvPr/>
        </p:nvSpPr>
        <p:spPr>
          <a:xfrm>
            <a:off x="438912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gate</a:t>
            </a:r>
          </a:p>
          <a:p>
            <a:pPr algn="ctr"/>
            <a:r>
              <a:rPr sz="1100" b="0">
                <a:solidFill>
                  <a:srgbClr val="19382F"/>
                </a:solidFill>
                <a:latin typeface="Apple SD Gothic Neo"/>
              </a:rPr>
              <a:t>분석 설정 점검</a:t>
            </a:r>
          </a:p>
        </p:txBody>
      </p:sp>
      <p:sp>
        <p:nvSpPr>
          <p:cNvPr id="9" name="Rounded Rectangle 8"/>
          <p:cNvSpPr/>
          <p:nvPr/>
        </p:nvSpPr>
        <p:spPr>
          <a:xfrm>
            <a:off x="6263640" y="237744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research</a:t>
            </a:r>
          </a:p>
          <a:p>
            <a:pPr algn="ctr"/>
            <a:r>
              <a:rPr sz="1100" b="0">
                <a:solidFill>
                  <a:srgbClr val="19382F"/>
                </a:solidFill>
                <a:latin typeface="Apple SD Gothic Neo"/>
              </a:rPr>
              <a:t>서브에이전트 조사</a:t>
            </a:r>
          </a:p>
        </p:txBody>
      </p:sp>
      <p:sp>
        <p:nvSpPr>
          <p:cNvPr id="10" name="Rounded Rectangle 9"/>
          <p:cNvSpPr/>
          <p:nvPr/>
        </p:nvSpPr>
        <p:spPr>
          <a:xfrm>
            <a:off x="8138159"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replan_check</a:t>
            </a:r>
          </a:p>
          <a:p>
            <a:pPr algn="ctr"/>
            <a:r>
              <a:rPr sz="1100" b="0">
                <a:solidFill>
                  <a:srgbClr val="19382F"/>
                </a:solidFill>
                <a:latin typeface="Apple SD Gothic Neo"/>
              </a:rPr>
              <a:t>충분성 점검</a:t>
            </a:r>
          </a:p>
        </p:txBody>
      </p:sp>
      <p:sp>
        <p:nvSpPr>
          <p:cNvPr id="11" name="Rounded Rectangle 10"/>
          <p:cNvSpPr/>
          <p:nvPr/>
        </p:nvSpPr>
        <p:spPr>
          <a:xfrm>
            <a:off x="1001268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analysis</a:t>
            </a:r>
          </a:p>
          <a:p>
            <a:pPr algn="ctr"/>
            <a:r>
              <a:rPr sz="1100" b="0">
                <a:solidFill>
                  <a:srgbClr val="19382F"/>
                </a:solidFill>
                <a:latin typeface="Apple SD Gothic Neo"/>
              </a:rPr>
              <a:t>데이터 분석</a:t>
            </a:r>
          </a:p>
        </p:txBody>
      </p:sp>
      <p:sp>
        <p:nvSpPr>
          <p:cNvPr id="12" name="Rounded Rectangle 11"/>
          <p:cNvSpPr/>
          <p:nvPr/>
        </p:nvSpPr>
        <p:spPr>
          <a:xfrm>
            <a:off x="640080"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chat_answer</a:t>
            </a:r>
          </a:p>
          <a:p>
            <a:pPr algn="ctr"/>
            <a:r>
              <a:rPr sz="1100" b="0">
                <a:solidFill>
                  <a:srgbClr val="19382F"/>
                </a:solidFill>
                <a:latin typeface="Apple SD Gothic Neo"/>
              </a:rPr>
              <a:t>일반 답변 → 종료</a:t>
            </a:r>
          </a:p>
        </p:txBody>
      </p:sp>
      <p:sp>
        <p:nvSpPr>
          <p:cNvPr id="13" name="Rounded Rectangle 12"/>
          <p:cNvSpPr/>
          <p:nvPr/>
        </p:nvSpPr>
        <p:spPr>
          <a:xfrm>
            <a:off x="4389120"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finalize</a:t>
            </a:r>
          </a:p>
          <a:p>
            <a:pPr algn="ctr"/>
            <a:r>
              <a:rPr sz="1100" b="0">
                <a:solidFill>
                  <a:srgbClr val="19382F"/>
                </a:solidFill>
                <a:latin typeface="Apple SD Gothic Neo"/>
              </a:rPr>
              <a:t>응답 확정 → 종료</a:t>
            </a:r>
          </a:p>
        </p:txBody>
      </p:sp>
      <p:sp>
        <p:nvSpPr>
          <p:cNvPr id="14" name="Rounded Rectangle 13"/>
          <p:cNvSpPr/>
          <p:nvPr/>
        </p:nvSpPr>
        <p:spPr>
          <a:xfrm>
            <a:off x="6263640" y="370332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validate</a:t>
            </a:r>
          </a:p>
          <a:p>
            <a:pPr algn="ctr"/>
            <a:r>
              <a:rPr sz="1100" b="0">
                <a:solidFill>
                  <a:srgbClr val="19382F"/>
                </a:solidFill>
                <a:latin typeface="Apple SD Gothic Neo"/>
              </a:rPr>
              <a:t>수치 대조</a:t>
            </a:r>
          </a:p>
        </p:txBody>
      </p:sp>
      <p:sp>
        <p:nvSpPr>
          <p:cNvPr id="15" name="Rounded Rectangle 14"/>
          <p:cNvSpPr/>
          <p:nvPr/>
        </p:nvSpPr>
        <p:spPr>
          <a:xfrm>
            <a:off x="8138159"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write</a:t>
            </a:r>
          </a:p>
          <a:p>
            <a:pPr algn="ctr"/>
            <a:r>
              <a:rPr sz="1100" b="0">
                <a:solidFill>
                  <a:srgbClr val="19382F"/>
                </a:solidFill>
                <a:latin typeface="Apple SD Gothic Neo"/>
              </a:rPr>
              <a:t>답변 작성</a:t>
            </a:r>
          </a:p>
        </p:txBody>
      </p:sp>
      <p:sp>
        <p:nvSpPr>
          <p:cNvPr id="16" name="Rounded Rectangle 15"/>
          <p:cNvSpPr/>
          <p:nvPr/>
        </p:nvSpPr>
        <p:spPr>
          <a:xfrm>
            <a:off x="10012680" y="370332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evidence_gate</a:t>
            </a:r>
          </a:p>
          <a:p>
            <a:pPr algn="ctr"/>
            <a:r>
              <a:rPr sz="1100" b="0">
                <a:solidFill>
                  <a:srgbClr val="19382F"/>
                </a:solidFill>
                <a:latin typeface="Apple SD Gothic Neo"/>
              </a:rPr>
              <a:t>근거 0건 점검</a:t>
            </a:r>
          </a:p>
        </p:txBody>
      </p:sp>
      <p:sp>
        <p:nvSpPr>
          <p:cNvPr id="17" name="Rounded Rectangle 16"/>
          <p:cNvSpPr/>
          <p:nvPr/>
        </p:nvSpPr>
        <p:spPr>
          <a:xfrm>
            <a:off x="8138159" y="521208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finalize_failed</a:t>
            </a:r>
          </a:p>
          <a:p>
            <a:pPr algn="ctr"/>
            <a:r>
              <a:rPr sz="1100" b="0">
                <a:solidFill>
                  <a:srgbClr val="19382F"/>
                </a:solidFill>
                <a:latin typeface="Apple SD Gothic Neo"/>
              </a:rPr>
              <a:t>실패 안내 → 종료</a:t>
            </a:r>
          </a:p>
        </p:txBody>
      </p:sp>
      <p:cxnSp>
        <p:nvCxnSpPr>
          <p:cNvPr id="18" name="Connector 17"/>
          <p:cNvCxnSpPr/>
          <p:nvPr/>
        </p:nvCxnSpPr>
        <p:spPr>
          <a:xfrm>
            <a:off x="224028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1480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8932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863840" y="2743200"/>
            <a:ext cx="274319"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59" y="2743200"/>
            <a:ext cx="274321"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40180" y="3108960"/>
            <a:ext cx="0" cy="59436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531620" y="3246120"/>
            <a:ext cx="914400" cy="274320"/>
          </a:xfrm>
          <a:prstGeom prst="rect">
            <a:avLst/>
          </a:prstGeom>
          <a:noFill/>
        </p:spPr>
        <p:txBody>
          <a:bodyPr wrap="square" lIns="0" rIns="0" tIns="0" bIns="0">
            <a:spAutoFit/>
          </a:bodyPr>
          <a:lstStyle/>
          <a:p>
            <a:r>
              <a:rPr sz="1100" b="0">
                <a:solidFill>
                  <a:srgbClr val="62746D"/>
                </a:solidFill>
                <a:latin typeface="Apple SD Gothic Neo"/>
              </a:rPr>
              <a:t>일반 대화</a:t>
            </a:r>
          </a:p>
        </p:txBody>
      </p:sp>
      <p:cxnSp>
        <p:nvCxnSpPr>
          <p:cNvPr id="25" name="Connector 24"/>
          <p:cNvCxnSpPr/>
          <p:nvPr/>
        </p:nvCxnSpPr>
        <p:spPr>
          <a:xfrm>
            <a:off x="10812780" y="3108960"/>
            <a:ext cx="0" cy="59436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38259" y="2057400"/>
            <a:ext cx="0" cy="320040"/>
          </a:xfrm>
          <a:prstGeom prst="line">
            <a:avLst/>
          </a:prstGeom>
          <a:ln w="19050">
            <a:solidFill>
              <a:srgbClr val="16785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063740" y="2057400"/>
            <a:ext cx="1874519" cy="0"/>
          </a:xfrm>
          <a:prstGeom prst="line">
            <a:avLst/>
          </a:prstGeom>
          <a:ln w="19050">
            <a:solidFill>
              <a:srgbClr val="16785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063740" y="2057400"/>
            <a:ext cx="0" cy="32004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063740" y="1691640"/>
            <a:ext cx="1874519" cy="274320"/>
          </a:xfrm>
          <a:prstGeom prst="rect">
            <a:avLst/>
          </a:prstGeom>
          <a:noFill/>
        </p:spPr>
        <p:txBody>
          <a:bodyPr wrap="square" lIns="0" rIns="0" tIns="0" bIns="0">
            <a:spAutoFit/>
          </a:bodyPr>
          <a:lstStyle/>
          <a:p>
            <a:pPr algn="ctr"/>
            <a:r>
              <a:rPr sz="1100" b="1">
                <a:solidFill>
                  <a:srgbClr val="16785C"/>
                </a:solidFill>
                <a:latin typeface="Apple SD Gothic Neo"/>
              </a:rPr>
              <a:t>부족 시 재조사 (최대 1회)</a:t>
            </a:r>
          </a:p>
        </p:txBody>
      </p:sp>
      <p:cxnSp>
        <p:nvCxnSpPr>
          <p:cNvPr id="30" name="Connector 29"/>
          <p:cNvCxnSpPr/>
          <p:nvPr/>
        </p:nvCxnSpPr>
        <p:spPr>
          <a:xfrm flipH="1">
            <a:off x="9738359" y="3931920"/>
            <a:ext cx="274321"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7863840" y="3931920"/>
            <a:ext cx="274319"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863840" y="4251960"/>
            <a:ext cx="274319" cy="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5989320" y="4069080"/>
            <a:ext cx="274320" cy="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852159" y="3410712"/>
            <a:ext cx="731520" cy="228600"/>
          </a:xfrm>
          <a:prstGeom prst="rect">
            <a:avLst/>
          </a:prstGeom>
          <a:noFill/>
        </p:spPr>
        <p:txBody>
          <a:bodyPr wrap="square" lIns="0" rIns="0" tIns="0" bIns="0">
            <a:spAutoFit/>
          </a:bodyPr>
          <a:lstStyle/>
          <a:p>
            <a:r>
              <a:rPr sz="1100" b="1">
                <a:solidFill>
                  <a:srgbClr val="16785C"/>
                </a:solidFill>
                <a:latin typeface="Apple SD Gothic Neo"/>
              </a:rPr>
              <a:t>통과</a:t>
            </a:r>
          </a:p>
        </p:txBody>
      </p:sp>
      <p:sp>
        <p:nvSpPr>
          <p:cNvPr id="35" name="TextBox 34"/>
          <p:cNvSpPr txBox="1"/>
          <p:nvPr/>
        </p:nvSpPr>
        <p:spPr>
          <a:xfrm>
            <a:off x="7543800" y="4498848"/>
            <a:ext cx="1463040" cy="228600"/>
          </a:xfrm>
          <a:prstGeom prst="rect">
            <a:avLst/>
          </a:prstGeom>
          <a:noFill/>
        </p:spPr>
        <p:txBody>
          <a:bodyPr wrap="square" lIns="0" rIns="0" tIns="0" bIns="0">
            <a:spAutoFit/>
          </a:bodyPr>
          <a:lstStyle/>
          <a:p>
            <a:pPr algn="ctr"/>
            <a:r>
              <a:rPr sz="1100" b="1">
                <a:solidFill>
                  <a:srgbClr val="16785C"/>
                </a:solidFill>
                <a:latin typeface="Apple SD Gothic Neo"/>
              </a:rPr>
              <a:t>반려 → 재작성</a:t>
            </a:r>
          </a:p>
        </p:txBody>
      </p:sp>
      <p:cxnSp>
        <p:nvCxnSpPr>
          <p:cNvPr id="36" name="Connector 35"/>
          <p:cNvCxnSpPr/>
          <p:nvPr/>
        </p:nvCxnSpPr>
        <p:spPr>
          <a:xfrm>
            <a:off x="7063740" y="4434840"/>
            <a:ext cx="0" cy="1143000"/>
          </a:xfrm>
          <a:prstGeom prst="line">
            <a:avLst/>
          </a:prstGeom>
          <a:ln w="19050">
            <a:solidFill>
              <a:srgbClr val="B6503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063740" y="5577840"/>
            <a:ext cx="1074419" cy="0"/>
          </a:xfrm>
          <a:prstGeom prst="line">
            <a:avLst/>
          </a:prstGeom>
          <a:ln w="19050">
            <a:solidFill>
              <a:srgbClr val="B6503E"/>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812780" y="4434840"/>
            <a:ext cx="0" cy="1143000"/>
          </a:xfrm>
          <a:prstGeom prst="line">
            <a:avLst/>
          </a:prstGeom>
          <a:ln w="19050">
            <a:solidFill>
              <a:srgbClr val="B6503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9738359" y="5577840"/>
            <a:ext cx="1074421" cy="0"/>
          </a:xfrm>
          <a:prstGeom prst="line">
            <a:avLst/>
          </a:prstGeom>
          <a:ln w="19050">
            <a:solidFill>
              <a:srgbClr val="B6503E"/>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155179" y="4846320"/>
            <a:ext cx="1280160" cy="228600"/>
          </a:xfrm>
          <a:prstGeom prst="rect">
            <a:avLst/>
          </a:prstGeom>
          <a:noFill/>
        </p:spPr>
        <p:txBody>
          <a:bodyPr wrap="square" lIns="0" rIns="0" tIns="0" bIns="0">
            <a:spAutoFit/>
          </a:bodyPr>
          <a:lstStyle/>
          <a:p>
            <a:r>
              <a:rPr sz="1100" b="1">
                <a:solidFill>
                  <a:srgbClr val="B6503E"/>
                </a:solidFill>
                <a:latin typeface="Apple SD Gothic Neo"/>
              </a:rPr>
              <a:t>3회 불일치</a:t>
            </a:r>
          </a:p>
        </p:txBody>
      </p:sp>
      <p:sp>
        <p:nvSpPr>
          <p:cNvPr id="41" name="TextBox 40"/>
          <p:cNvSpPr txBox="1"/>
          <p:nvPr/>
        </p:nvSpPr>
        <p:spPr>
          <a:xfrm>
            <a:off x="10904219" y="4846320"/>
            <a:ext cx="914400" cy="228600"/>
          </a:xfrm>
          <a:prstGeom prst="rect">
            <a:avLst/>
          </a:prstGeom>
          <a:noFill/>
        </p:spPr>
        <p:txBody>
          <a:bodyPr wrap="square" lIns="0" rIns="0" tIns="0" bIns="0">
            <a:spAutoFit/>
          </a:bodyPr>
          <a:lstStyle/>
          <a:p>
            <a:r>
              <a:rPr sz="1100" b="1">
                <a:solidFill>
                  <a:srgbClr val="B6503E"/>
                </a:solidFill>
                <a:latin typeface="Apple SD Gothic Neo"/>
              </a:rPr>
              <a:t>근거 0건</a:t>
            </a:r>
          </a:p>
        </p:txBody>
      </p:sp>
      <p:sp>
        <p:nvSpPr>
          <p:cNvPr id="42" name="Rounded Rectangle 41"/>
          <p:cNvSpPr/>
          <p:nvPr/>
        </p:nvSpPr>
        <p:spPr>
          <a:xfrm>
            <a:off x="640080" y="6053328"/>
            <a:ext cx="320040" cy="201168"/>
          </a:xfrm>
          <a:prstGeom prst="roundRect">
            <a:avLst/>
          </a:prstGeom>
          <a:solidFill>
            <a:srgbClr val="A4DAC2"/>
          </a:solidFill>
          <a:ln>
            <a:solidFill>
              <a:srgbClr val="B7C4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6035040"/>
            <a:ext cx="2194560" cy="237744"/>
          </a:xfrm>
          <a:prstGeom prst="rect">
            <a:avLst/>
          </a:prstGeom>
          <a:noFill/>
        </p:spPr>
        <p:txBody>
          <a:bodyPr wrap="square" lIns="0" rIns="0" tIns="0" bIns="0">
            <a:spAutoFit/>
          </a:bodyPr>
          <a:lstStyle/>
          <a:p>
            <a:r>
              <a:rPr sz="1200" b="0">
                <a:solidFill>
                  <a:srgbClr val="19382F"/>
                </a:solidFill>
                <a:latin typeface="Apple SD Gothic Neo"/>
              </a:rPr>
              <a:t>직접 추가 · 변경한 노드</a:t>
            </a:r>
          </a:p>
        </p:txBody>
      </p:sp>
      <p:sp>
        <p:nvSpPr>
          <p:cNvPr id="44" name="Rounded Rectangle 43"/>
          <p:cNvSpPr/>
          <p:nvPr/>
        </p:nvSpPr>
        <p:spPr>
          <a:xfrm>
            <a:off x="3291839" y="6053328"/>
            <a:ext cx="320040" cy="201168"/>
          </a:xfrm>
          <a:prstGeom prst="roundRect">
            <a:avLst/>
          </a:prstGeom>
          <a:solidFill>
            <a:srgbClr val="EEF5F1"/>
          </a:solidFill>
          <a:ln>
            <a:solidFill>
              <a:srgbClr val="B7C4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03320" y="6035040"/>
            <a:ext cx="2194560" cy="237744"/>
          </a:xfrm>
          <a:prstGeom prst="rect">
            <a:avLst/>
          </a:prstGeom>
          <a:noFill/>
        </p:spPr>
        <p:txBody>
          <a:bodyPr wrap="square" lIns="0" rIns="0" tIns="0" bIns="0">
            <a:spAutoFit/>
          </a:bodyPr>
          <a:lstStyle/>
          <a:p>
            <a:r>
              <a:rPr sz="1200" b="0">
                <a:solidFill>
                  <a:srgbClr val="19382F"/>
                </a:solidFill>
                <a:latin typeface="Apple SD Gothic Neo"/>
              </a:rPr>
              <a:t>제공받은 노드</a:t>
            </a:r>
          </a:p>
        </p:txBody>
      </p:sp>
      <p:sp>
        <p:nvSpPr>
          <p:cNvPr id="46" name="TextBox 45"/>
          <p:cNvSpPr txBox="1"/>
          <p:nvPr/>
        </p:nvSpPr>
        <p:spPr>
          <a:xfrm>
            <a:off x="6035040" y="6035040"/>
            <a:ext cx="5486400" cy="237744"/>
          </a:xfrm>
          <a:prstGeom prst="rect">
            <a:avLst/>
          </a:prstGeom>
          <a:noFill/>
        </p:spPr>
        <p:txBody>
          <a:bodyPr wrap="square" lIns="0" rIns="0" tIns="0" bIns="0">
            <a:spAutoFit/>
          </a:bodyPr>
          <a:lstStyle/>
          <a:p>
            <a:r>
              <a:rPr sz="1200" b="0">
                <a:solidFill>
                  <a:srgbClr val="62746D"/>
                </a:solidFill>
                <a:latin typeface="Apple SD Gothic Neo"/>
              </a:rPr>
              <a:t>research 내부: monitoring_agent · runbook_agent 서브그래프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