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 id="266" r:id="rId17"/>
    <p:sldId id="267" r:id="rId18"/>
    <p:sldId id="268" r:id="rId19"/>
    <p:sldId id="269" r:id="rId20"/>
    <p:sldId id="270" r:id="rId21"/>
    <p:sldId id="271" r:id="rId22"/>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흐름도를 왼쪽에서 오른쪽으로 따라가기, 막히면 '근거 없으면 생략, 다르면 재작성'만 강조</a:t>
            </a:r>
          </a:p>
          <a:p/>
          <a:p>
            <a:r>
              <a:t>이어서 구조와 사용 기술입니다. 처리 흐름은 질문과 계획, 모니터링과 매뉴얼 조사, 근거 확인, 답변 작성, 수치 검증 순서입니다. 근거가 없으면 작성을 생략하고, 수치가 다르면 재작성하며, 세 번 실패하면 실패를 안내합니다. 조사는 서브그래프 두 개로 나눴고, 독립된 모델이 판단하는 구조는 아닙니다. MCP로 도구를 연결하고 검색한 매뉴얼을 답변 작성에 활용했습니다. 모듈 분리와 의존성 주입으로 테스트를 구성했고, LangSmith는 추적 확인까지만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세부 근거는 부록에 정리했습니다.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모델을 용도별로 나눈 비용은 글자 수 기반 추정으로 약 59퍼센트 절감됩니다. 오른쪽은 기술별 선택 이유와 한계입니다.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발표는 10번에서 종료. 질문이 나오면 해당 부록 번호로 이동</a:t>
            </a:r>
          </a:p>
          <a:p/>
          <a:p>
            <a:r>
              <a:t>부록입니다. 질문이 있으면 해당 쪽을 열어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제공 기반과 직접 구현을 구분해 답변</a:t>
            </a:r>
          </a:p>
          <a:p/>
          <a:p>
            <a:r>
              <a:t>제공받은 구조와 직접 변경한 부분을 구분해 표시했습니다. 측정만 한 항목은 구현으로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'why'를 물으면 이 표의 한 줄로 답</a:t>
            </a:r>
          </a:p>
          <a:p/>
          <a:p>
            <a:r>
              <a:t>각 결정의 이유와 대안은 저장소의 설계 결정 기록에 있습니다. 실험하지 않은 대안은 하지 않았다고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평가의 신뢰도를 물으면 '자체 평가라 낙관적'을 먼저 인정</a:t>
            </a:r>
          </a:p>
          <a:p/>
          <a:p>
            <a:r>
              <a:t>평가는 소규모 자체 평가셋입니다. 같은 입력으로 개선 전후를 비교했고, 낙관적일 수 있다는 한계를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에러 핸들링 질문에 사용</a:t>
            </a:r>
          </a:p>
          <a:p/>
          <a:p>
            <a:r>
              <a:t>검증 규칙과 실패 처리 방식을 정리했습니다. 한계로는 직전 시스템명 연결 방식 때문에 정상 서술이 반려될 수 있다는 점이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재현을 물으면 이 쪽</a:t>
            </a:r>
          </a:p>
          <a:p/>
          <a:p>
            <a:r>
              <a:t>저장소 주소와 재현 방법, 근거 파일 위치입니다. 제공받은 코드는 공개하지 않아 일부 평가는 저장된 결과로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10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5" name="TextBox 4"/>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8" name="TextBox 7"/>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9" name="TextBox 8"/>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0" name="TextBox 9"/>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11" name="TextBox 10"/>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12" name="TextBox 11"/>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13" name="TextBox 12"/>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4" name="TextBox 13"/>
          <p:cNvSpPr txBox="1"/>
          <p:nvPr/>
        </p:nvSpPr>
        <p:spPr>
          <a:xfrm>
            <a:off x="640080" y="1965960"/>
            <a:ext cx="365760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15" name="Rounded Rectangle 14"/>
          <p:cNvSpPr/>
          <p:nvPr/>
        </p:nvSpPr>
        <p:spPr>
          <a:xfrm>
            <a:off x="4343400" y="193852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13배 이상 단축</a:t>
            </a:r>
          </a:p>
        </p:txBody>
      </p:sp>
      <p:sp>
        <p:nvSpPr>
          <p:cNvPr id="16" name="TextBox 15"/>
          <p:cNvSpPr txBox="1"/>
          <p:nvPr/>
        </p:nvSpPr>
        <p:spPr>
          <a:xfrm>
            <a:off x="640080" y="2313432"/>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17" name="Rectangle 16"/>
          <p:cNvSpPr/>
          <p:nvPr/>
        </p:nvSpPr>
        <p:spPr>
          <a:xfrm>
            <a:off x="1005840" y="2313432"/>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58768" y="2313432"/>
            <a:ext cx="1737360" cy="274320"/>
          </a:xfrm>
          <a:prstGeom prst="rect">
            <a:avLst/>
          </a:prstGeom>
          <a:noFill/>
        </p:spPr>
        <p:txBody>
          <a:bodyPr wrap="square" lIns="0" rIns="0" tIns="0" bIns="0" anchor="ctr">
            <a:spAutoFit/>
          </a:bodyPr>
          <a:lstStyle/>
          <a:p>
            <a:r>
              <a:rPr sz="1500" b="1">
                <a:solidFill>
                  <a:srgbClr val="19382F"/>
                </a:solidFill>
                <a:latin typeface="Apple SD Gothic Neo"/>
              </a:rPr>
              <a:t>36.6초</a:t>
            </a:r>
          </a:p>
        </p:txBody>
      </p:sp>
      <p:sp>
        <p:nvSpPr>
          <p:cNvPr id="19" name="TextBox 18"/>
          <p:cNvSpPr txBox="1"/>
          <p:nvPr/>
        </p:nvSpPr>
        <p:spPr>
          <a:xfrm>
            <a:off x="640080" y="266090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0" name="Rectangle 19"/>
          <p:cNvSpPr/>
          <p:nvPr/>
        </p:nvSpPr>
        <p:spPr>
          <a:xfrm>
            <a:off x="1005840" y="2660903"/>
            <a:ext cx="202367"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17935" y="2660903"/>
            <a:ext cx="1737360" cy="274320"/>
          </a:xfrm>
          <a:prstGeom prst="rect">
            <a:avLst/>
          </a:prstGeom>
          <a:noFill/>
        </p:spPr>
        <p:txBody>
          <a:bodyPr wrap="square" lIns="0" rIns="0" tIns="0" bIns="0" anchor="ctr">
            <a:spAutoFit/>
          </a:bodyPr>
          <a:lstStyle/>
          <a:p>
            <a:r>
              <a:rPr sz="1500" b="1">
                <a:solidFill>
                  <a:srgbClr val="19382F"/>
                </a:solidFill>
                <a:latin typeface="Apple SD Gothic Neo"/>
              </a:rPr>
              <a:t>1.2~2.7초</a:t>
            </a:r>
          </a:p>
        </p:txBody>
      </p:sp>
      <p:sp>
        <p:nvSpPr>
          <p:cNvPr id="22" name="TextBox 21"/>
          <p:cNvSpPr txBox="1"/>
          <p:nvPr/>
        </p:nvSpPr>
        <p:spPr>
          <a:xfrm>
            <a:off x="640080" y="2990088"/>
            <a:ext cx="5212080" cy="182880"/>
          </a:xfrm>
          <a:prstGeom prst="rect">
            <a:avLst/>
          </a:prstGeom>
          <a:noFill/>
        </p:spPr>
        <p:txBody>
          <a:bodyPr wrap="square" lIns="0" rIns="0" tIns="0" bIns="0">
            <a:spAutoFit/>
          </a:bodyPr>
          <a:lstStyle/>
          <a:p>
            <a:r>
              <a:rPr sz="1100" b="0">
                <a:solidFill>
                  <a:srgbClr val="62746D"/>
                </a:solidFill>
                <a:latin typeface="Apple SD Gothic Neo"/>
              </a:rPr>
              <a:t>단일 질문 실측 · 작성 호출 1회 → 0회</a:t>
            </a:r>
          </a:p>
        </p:txBody>
      </p:sp>
      <p:sp>
        <p:nvSpPr>
          <p:cNvPr id="23" name="TextBox 22"/>
          <p:cNvSpPr txBox="1"/>
          <p:nvPr/>
        </p:nvSpPr>
        <p:spPr>
          <a:xfrm>
            <a:off x="640080" y="3246120"/>
            <a:ext cx="365760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24" name="Rounded Rectangle 23"/>
          <p:cNvSpPr/>
          <p:nvPr/>
        </p:nvSpPr>
        <p:spPr>
          <a:xfrm>
            <a:off x="4343400" y="321868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2.9배 단축</a:t>
            </a:r>
          </a:p>
        </p:txBody>
      </p:sp>
      <p:sp>
        <p:nvSpPr>
          <p:cNvPr id="25" name="TextBox 24"/>
          <p:cNvSpPr txBox="1"/>
          <p:nvPr/>
        </p:nvSpPr>
        <p:spPr>
          <a:xfrm>
            <a:off x="640080" y="359359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26" name="Rectangle 25"/>
          <p:cNvSpPr/>
          <p:nvPr/>
        </p:nvSpPr>
        <p:spPr>
          <a:xfrm>
            <a:off x="1005840" y="359359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3593591"/>
            <a:ext cx="1737360" cy="274320"/>
          </a:xfrm>
          <a:prstGeom prst="rect">
            <a:avLst/>
          </a:prstGeom>
          <a:noFill/>
        </p:spPr>
        <p:txBody>
          <a:bodyPr wrap="square" lIns="0" rIns="0" tIns="0" bIns="0" anchor="ctr">
            <a:spAutoFit/>
          </a:bodyPr>
          <a:lstStyle/>
          <a:p>
            <a:r>
              <a:rPr sz="1500" b="1">
                <a:solidFill>
                  <a:srgbClr val="19382F"/>
                </a:solidFill>
                <a:latin typeface="Apple SD Gothic Neo"/>
              </a:rPr>
              <a:t>1.07초</a:t>
            </a:r>
          </a:p>
        </p:txBody>
      </p:sp>
      <p:sp>
        <p:nvSpPr>
          <p:cNvPr id="28" name="TextBox 27"/>
          <p:cNvSpPr txBox="1"/>
          <p:nvPr/>
        </p:nvSpPr>
        <p:spPr>
          <a:xfrm>
            <a:off x="640080" y="394106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9" name="Rectangle 28"/>
          <p:cNvSpPr/>
          <p:nvPr/>
        </p:nvSpPr>
        <p:spPr>
          <a:xfrm>
            <a:off x="1005840" y="3941063"/>
            <a:ext cx="922945"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38513" y="3941063"/>
            <a:ext cx="1737360" cy="274320"/>
          </a:xfrm>
          <a:prstGeom prst="rect">
            <a:avLst/>
          </a:prstGeom>
          <a:noFill/>
        </p:spPr>
        <p:txBody>
          <a:bodyPr wrap="square" lIns="0" rIns="0" tIns="0" bIns="0" anchor="ctr">
            <a:spAutoFit/>
          </a:bodyPr>
          <a:lstStyle/>
          <a:p>
            <a:r>
              <a:rPr sz="1500" b="1">
                <a:solidFill>
                  <a:srgbClr val="19382F"/>
                </a:solidFill>
                <a:latin typeface="Apple SD Gothic Neo"/>
              </a:rPr>
              <a:t>0.36초</a:t>
            </a:r>
          </a:p>
        </p:txBody>
      </p:sp>
      <p:sp>
        <p:nvSpPr>
          <p:cNvPr id="31" name="TextBox 30"/>
          <p:cNvSpPr txBox="1"/>
          <p:nvPr/>
        </p:nvSpPr>
        <p:spPr>
          <a:xfrm>
            <a:off x="640080" y="4270248"/>
            <a:ext cx="5212080" cy="182880"/>
          </a:xfrm>
          <a:prstGeom prst="rect">
            <a:avLst/>
          </a:prstGeom>
          <a:noFill/>
        </p:spPr>
        <p:txBody>
          <a:bodyPr wrap="square" lIns="0" rIns="0" tIns="0" bIns="0">
            <a:spAutoFit/>
          </a:bodyPr>
          <a:lstStyle/>
          <a:p>
            <a:r>
              <a:rPr sz="1100" b="0">
                <a:solidFill>
                  <a:srgbClr val="62746D"/>
                </a:solidFill>
                <a:latin typeface="Apple SD Gothic Neo"/>
              </a:rPr>
              <a:t>제공 구조 측정 · 작업당 0.35초는 모의 지연</a:t>
            </a:r>
          </a:p>
        </p:txBody>
      </p:sp>
      <p:sp>
        <p:nvSpPr>
          <p:cNvPr id="32" name="TextBox 31"/>
          <p:cNvSpPr txBox="1"/>
          <p:nvPr/>
        </p:nvSpPr>
        <p:spPr>
          <a:xfrm>
            <a:off x="640080" y="4526279"/>
            <a:ext cx="3657600" cy="274320"/>
          </a:xfrm>
          <a:prstGeom prst="rect">
            <a:avLst/>
          </a:prstGeom>
          <a:noFill/>
        </p:spPr>
        <p:txBody>
          <a:bodyPr wrap="square" lIns="0" rIns="0" tIns="0" bIns="0">
            <a:spAutoFit/>
          </a:bodyPr>
          <a:lstStyle/>
          <a:p>
            <a:r>
              <a:rPr sz="1400" b="1">
                <a:solidFill>
                  <a:srgbClr val="16785C"/>
                </a:solidFill>
                <a:latin typeface="Apple SD Gothic Neo"/>
              </a:rPr>
              <a:t>모델 분리 비용 (fast/quality)</a:t>
            </a:r>
          </a:p>
        </p:txBody>
      </p:sp>
      <p:sp>
        <p:nvSpPr>
          <p:cNvPr id="33" name="Rounded Rectangle 32"/>
          <p:cNvSpPr/>
          <p:nvPr/>
        </p:nvSpPr>
        <p:spPr>
          <a:xfrm>
            <a:off x="4343400" y="4498847"/>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59% 절감</a:t>
            </a:r>
          </a:p>
        </p:txBody>
      </p:sp>
      <p:sp>
        <p:nvSpPr>
          <p:cNvPr id="34" name="TextBox 33"/>
          <p:cNvSpPr txBox="1"/>
          <p:nvPr/>
        </p:nvSpPr>
        <p:spPr>
          <a:xfrm>
            <a:off x="640080" y="487375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35" name="Rectangle 34"/>
          <p:cNvSpPr/>
          <p:nvPr/>
        </p:nvSpPr>
        <p:spPr>
          <a:xfrm>
            <a:off x="1005840" y="487375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58768" y="4873751"/>
            <a:ext cx="1737360" cy="274320"/>
          </a:xfrm>
          <a:prstGeom prst="rect">
            <a:avLst/>
          </a:prstGeom>
          <a:noFill/>
        </p:spPr>
        <p:txBody>
          <a:bodyPr wrap="square" lIns="0" rIns="0" tIns="0" bIns="0" anchor="ctr">
            <a:spAutoFit/>
          </a:bodyPr>
          <a:lstStyle/>
          <a:p>
            <a:r>
              <a:rPr sz="1500" b="1">
                <a:solidFill>
                  <a:srgbClr val="19382F"/>
                </a:solidFill>
                <a:latin typeface="Apple SD Gothic Neo"/>
              </a:rPr>
              <a:t>$0.0067</a:t>
            </a:r>
          </a:p>
        </p:txBody>
      </p:sp>
      <p:sp>
        <p:nvSpPr>
          <p:cNvPr id="37" name="TextBox 36"/>
          <p:cNvSpPr txBox="1"/>
          <p:nvPr/>
        </p:nvSpPr>
        <p:spPr>
          <a:xfrm>
            <a:off x="640080" y="522122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38" name="Rectangle 37"/>
          <p:cNvSpPr/>
          <p:nvPr/>
        </p:nvSpPr>
        <p:spPr>
          <a:xfrm>
            <a:off x="1005840" y="5221223"/>
            <a:ext cx="1131004"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6572" y="5221223"/>
            <a:ext cx="1737360" cy="274320"/>
          </a:xfrm>
          <a:prstGeom prst="rect">
            <a:avLst/>
          </a:prstGeom>
          <a:noFill/>
        </p:spPr>
        <p:txBody>
          <a:bodyPr wrap="square" lIns="0" rIns="0" tIns="0" bIns="0" anchor="ctr">
            <a:spAutoFit/>
          </a:bodyPr>
          <a:lstStyle/>
          <a:p>
            <a:r>
              <a:rPr sz="1500" b="1">
                <a:solidFill>
                  <a:srgbClr val="19382F"/>
                </a:solidFill>
                <a:latin typeface="Apple SD Gothic Neo"/>
              </a:rPr>
              <a:t>$0.0027</a:t>
            </a:r>
          </a:p>
        </p:txBody>
      </p:sp>
      <p:sp>
        <p:nvSpPr>
          <p:cNvPr id="40" name="TextBox 39"/>
          <p:cNvSpPr txBox="1"/>
          <p:nvPr/>
        </p:nvSpPr>
        <p:spPr>
          <a:xfrm>
            <a:off x="640080" y="5550407"/>
            <a:ext cx="5212080" cy="182880"/>
          </a:xfrm>
          <a:prstGeom prst="rect">
            <a:avLst/>
          </a:prstGeom>
          <a:noFill/>
        </p:spPr>
        <p:txBody>
          <a:bodyPr wrap="square" lIns="0" rIns="0" tIns="0" bIns="0">
            <a:spAutoFit/>
          </a:bodyPr>
          <a:lstStyle/>
          <a:p>
            <a:r>
              <a:rPr sz="1100" b="0">
                <a:solidFill>
                  <a:srgbClr val="62746D"/>
                </a:solidFill>
                <a:latin typeface="Apple SD Gothic Neo"/>
              </a:rPr>
              <a:t>글자 수 기반 추정 · 제공 구조 측정</a:t>
            </a:r>
          </a:p>
        </p:txBody>
      </p:sp>
      <p:sp>
        <p:nvSpPr>
          <p:cNvPr id="41" name="Rectangle 40"/>
          <p:cNvSpPr/>
          <p:nvPr/>
        </p:nvSpPr>
        <p:spPr>
          <a:xfrm>
            <a:off x="6309360" y="2011680"/>
            <a:ext cx="5212080" cy="329184"/>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2011680"/>
            <a:ext cx="1261872" cy="329184"/>
          </a:xfrm>
          <a:prstGeom prst="rect">
            <a:avLst/>
          </a:prstGeom>
          <a:noFill/>
        </p:spPr>
        <p:txBody>
          <a:bodyPr wrap="square" lIns="0" rIns="0" tIns="0" bIns="0" anchor="ctr">
            <a:spAutoFit/>
          </a:bodyPr>
          <a:lstStyle/>
          <a:p>
            <a:r>
              <a:rPr sz="1200" b="1">
                <a:solidFill>
                  <a:srgbClr val="FFFFFF"/>
                </a:solidFill>
                <a:latin typeface="Apple SD Gothic Neo"/>
              </a:rPr>
              <a:t>기술</a:t>
            </a:r>
          </a:p>
        </p:txBody>
      </p:sp>
      <p:sp>
        <p:nvSpPr>
          <p:cNvPr id="43" name="TextBox 42"/>
          <p:cNvSpPr txBox="1"/>
          <p:nvPr/>
        </p:nvSpPr>
        <p:spPr>
          <a:xfrm>
            <a:off x="7836407"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선택 이유</a:t>
            </a:r>
          </a:p>
        </p:txBody>
      </p:sp>
      <p:sp>
        <p:nvSpPr>
          <p:cNvPr id="44" name="TextBox 43"/>
          <p:cNvSpPr txBox="1"/>
          <p:nvPr/>
        </p:nvSpPr>
        <p:spPr>
          <a:xfrm>
            <a:off x="9756648"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한계</a:t>
            </a:r>
          </a:p>
        </p:txBody>
      </p:sp>
      <p:sp>
        <p:nvSpPr>
          <p:cNvPr id="45" name="Rectangle 44"/>
          <p:cNvSpPr/>
          <p:nvPr/>
        </p:nvSpPr>
        <p:spPr>
          <a:xfrm>
            <a:off x="6309360" y="2340864"/>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2340864"/>
            <a:ext cx="1188720" cy="822960"/>
          </a:xfrm>
          <a:prstGeom prst="rect">
            <a:avLst/>
          </a:prstGeom>
          <a:noFill/>
        </p:spPr>
        <p:txBody>
          <a:bodyPr wrap="square" lIns="0" rIns="0" tIns="0" bIns="0" anchor="ctr">
            <a:spAutoFit/>
          </a:bodyPr>
          <a:lstStyle/>
          <a:p>
            <a:r>
              <a:rPr sz="1500" b="1">
                <a:solidFill>
                  <a:srgbClr val="16785C"/>
                </a:solidFill>
                <a:latin typeface="Apple SD Gothic Neo"/>
              </a:rPr>
              <a:t>의미 기반 검색</a:t>
            </a:r>
          </a:p>
        </p:txBody>
      </p:sp>
      <p:sp>
        <p:nvSpPr>
          <p:cNvPr id="47" name="TextBox 46"/>
          <p:cNvSpPr txBox="1"/>
          <p:nvPr/>
        </p:nvSpPr>
        <p:spPr>
          <a:xfrm>
            <a:off x="7836407" y="2340864"/>
            <a:ext cx="1691639" cy="822960"/>
          </a:xfrm>
          <a:prstGeom prst="rect">
            <a:avLst/>
          </a:prstGeom>
          <a:noFill/>
        </p:spPr>
        <p:txBody>
          <a:bodyPr wrap="square" lIns="0" rIns="0" tIns="0" bIns="0" anchor="ctr">
            <a:spAutoFit/>
          </a:bodyPr>
          <a:lstStyle/>
          <a:p>
            <a:r>
              <a:rPr sz="1300" b="0">
                <a:solidFill>
                  <a:srgbClr val="19382F"/>
                </a:solidFill>
                <a:latin typeface="Apple SD Gothic Neo"/>
              </a:rPr>
              <a:t>키워드는 표현이 다르면 놓침</a:t>
            </a:r>
          </a:p>
        </p:txBody>
      </p:sp>
      <p:sp>
        <p:nvSpPr>
          <p:cNvPr id="48" name="TextBox 47"/>
          <p:cNvSpPr txBox="1"/>
          <p:nvPr/>
        </p:nvSpPr>
        <p:spPr>
          <a:xfrm>
            <a:off x="9756648" y="2340864"/>
            <a:ext cx="1691639" cy="822960"/>
          </a:xfrm>
          <a:prstGeom prst="rect">
            <a:avLst/>
          </a:prstGeom>
          <a:noFill/>
        </p:spPr>
        <p:txBody>
          <a:bodyPr wrap="square" lIns="0" rIns="0" tIns="0" bIns="0" anchor="ctr">
            <a:spAutoFit/>
          </a:bodyPr>
          <a:lstStyle/>
          <a:p>
            <a:r>
              <a:rPr sz="1300" b="0">
                <a:solidFill>
                  <a:srgbClr val="B6503E"/>
                </a:solidFill>
                <a:latin typeface="Apple SD Gothic Neo"/>
              </a:rPr>
              <a:t>임베딩 자원 · 지연</a:t>
            </a:r>
          </a:p>
        </p:txBody>
      </p:sp>
      <p:sp>
        <p:nvSpPr>
          <p:cNvPr id="49" name="Rectangle 48"/>
          <p:cNvSpPr/>
          <p:nvPr/>
        </p:nvSpPr>
        <p:spPr>
          <a:xfrm>
            <a:off x="6309360" y="3154680"/>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9088" y="3154680"/>
            <a:ext cx="1188720" cy="822960"/>
          </a:xfrm>
          <a:prstGeom prst="rect">
            <a:avLst/>
          </a:prstGeom>
          <a:noFill/>
        </p:spPr>
        <p:txBody>
          <a:bodyPr wrap="square" lIns="0" rIns="0" tIns="0" bIns="0" anchor="ctr">
            <a:spAutoFit/>
          </a:bodyPr>
          <a:lstStyle/>
          <a:p>
            <a:r>
              <a:rPr sz="1500" b="1">
                <a:solidFill>
                  <a:srgbClr val="16785C"/>
                </a:solidFill>
                <a:latin typeface="Apple SD Gothic Neo"/>
              </a:rPr>
              <a:t>규칙 기반 검증</a:t>
            </a:r>
          </a:p>
        </p:txBody>
      </p:sp>
      <p:sp>
        <p:nvSpPr>
          <p:cNvPr id="51" name="TextBox 50"/>
          <p:cNvSpPr txBox="1"/>
          <p:nvPr/>
        </p:nvSpPr>
        <p:spPr>
          <a:xfrm>
            <a:off x="7836407" y="3154680"/>
            <a:ext cx="1691639" cy="822960"/>
          </a:xfrm>
          <a:prstGeom prst="rect">
            <a:avLst/>
          </a:prstGeom>
          <a:noFill/>
        </p:spPr>
        <p:txBody>
          <a:bodyPr wrap="square" lIns="0" rIns="0" tIns="0" bIns="0" anchor="ctr">
            <a:spAutoFit/>
          </a:bodyPr>
          <a:lstStyle/>
          <a:p>
            <a:r>
              <a:rPr sz="1300" b="0">
                <a:solidFill>
                  <a:srgbClr val="19382F"/>
                </a:solidFill>
                <a:latin typeface="Apple SD Gothic Neo"/>
              </a:rPr>
              <a:t>판정이 명확 · 재현 가능</a:t>
            </a:r>
          </a:p>
        </p:txBody>
      </p:sp>
      <p:sp>
        <p:nvSpPr>
          <p:cNvPr id="52" name="TextBox 51"/>
          <p:cNvSpPr txBox="1"/>
          <p:nvPr/>
        </p:nvSpPr>
        <p:spPr>
          <a:xfrm>
            <a:off x="9756648" y="3154680"/>
            <a:ext cx="1691639" cy="822960"/>
          </a:xfrm>
          <a:prstGeom prst="rect">
            <a:avLst/>
          </a:prstGeom>
          <a:noFill/>
        </p:spPr>
        <p:txBody>
          <a:bodyPr wrap="square" lIns="0" rIns="0" tIns="0" bIns="0" anchor="ctr">
            <a:spAutoFit/>
          </a:bodyPr>
          <a:lstStyle/>
          <a:p>
            <a:r>
              <a:rPr sz="1300" b="0">
                <a:solidFill>
                  <a:srgbClr val="B6503E"/>
                </a:solidFill>
                <a:latin typeface="Apple SD Gothic Neo"/>
              </a:rPr>
              <a:t>새 표현 누락 가능</a:t>
            </a:r>
          </a:p>
        </p:txBody>
      </p:sp>
      <p:sp>
        <p:nvSpPr>
          <p:cNvPr id="53" name="Rectangle 52"/>
          <p:cNvSpPr/>
          <p:nvPr/>
        </p:nvSpPr>
        <p:spPr>
          <a:xfrm>
            <a:off x="6309360" y="3968496"/>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3968496"/>
            <a:ext cx="1188720" cy="822960"/>
          </a:xfrm>
          <a:prstGeom prst="rect">
            <a:avLst/>
          </a:prstGeom>
          <a:noFill/>
        </p:spPr>
        <p:txBody>
          <a:bodyPr wrap="square" lIns="0" rIns="0" tIns="0" bIns="0" anchor="ctr">
            <a:spAutoFit/>
          </a:bodyPr>
          <a:lstStyle/>
          <a:p>
            <a:r>
              <a:rPr sz="1500" b="1">
                <a:solidFill>
                  <a:srgbClr val="16785C"/>
                </a:solidFill>
                <a:latin typeface="Apple SD Gothic Neo"/>
              </a:rPr>
              <a:t>초안 비공개</a:t>
            </a:r>
          </a:p>
        </p:txBody>
      </p:sp>
      <p:sp>
        <p:nvSpPr>
          <p:cNvPr id="55" name="TextBox 54"/>
          <p:cNvSpPr txBox="1"/>
          <p:nvPr/>
        </p:nvSpPr>
        <p:spPr>
          <a:xfrm>
            <a:off x="7836407" y="3968496"/>
            <a:ext cx="1691639" cy="822960"/>
          </a:xfrm>
          <a:prstGeom prst="rect">
            <a:avLst/>
          </a:prstGeom>
          <a:noFill/>
        </p:spPr>
        <p:txBody>
          <a:bodyPr wrap="square" lIns="0" rIns="0" tIns="0" bIns="0" anchor="ctr">
            <a:spAutoFit/>
          </a:bodyPr>
          <a:lstStyle/>
          <a:p>
            <a:r>
              <a:rPr sz="1300" b="0">
                <a:solidFill>
                  <a:srgbClr val="19382F"/>
                </a:solidFill>
                <a:latin typeface="Apple SD Gothic Neo"/>
              </a:rPr>
              <a:t>틀린 수치 노출 방지</a:t>
            </a:r>
          </a:p>
        </p:txBody>
      </p:sp>
      <p:sp>
        <p:nvSpPr>
          <p:cNvPr id="56" name="TextBox 55"/>
          <p:cNvSpPr txBox="1"/>
          <p:nvPr/>
        </p:nvSpPr>
        <p:spPr>
          <a:xfrm>
            <a:off x="9756648" y="3968496"/>
            <a:ext cx="1691639" cy="822960"/>
          </a:xfrm>
          <a:prstGeom prst="rect">
            <a:avLst/>
          </a:prstGeom>
          <a:noFill/>
        </p:spPr>
        <p:txBody>
          <a:bodyPr wrap="square" lIns="0" rIns="0" tIns="0" bIns="0" anchor="ctr">
            <a:spAutoFit/>
          </a:bodyPr>
          <a:lstStyle/>
          <a:p>
            <a:r>
              <a:rPr sz="1300" b="0">
                <a:solidFill>
                  <a:srgbClr val="B6503E"/>
                </a:solidFill>
                <a:latin typeface="Apple SD Gothic Neo"/>
              </a:rPr>
              <a:t>답변 대기 · 토큰 스트리밍 포기</a:t>
            </a:r>
          </a:p>
        </p:txBody>
      </p:sp>
      <p:sp>
        <p:nvSpPr>
          <p:cNvPr id="57" name="Rectangle 56"/>
          <p:cNvSpPr/>
          <p:nvPr/>
        </p:nvSpPr>
        <p:spPr>
          <a:xfrm>
            <a:off x="6309360" y="4782312"/>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4782312"/>
            <a:ext cx="1188720" cy="822960"/>
          </a:xfrm>
          <a:prstGeom prst="rect">
            <a:avLst/>
          </a:prstGeom>
          <a:noFill/>
        </p:spPr>
        <p:txBody>
          <a:bodyPr wrap="square" lIns="0" rIns="0" tIns="0" bIns="0" anchor="ctr">
            <a:spAutoFit/>
          </a:bodyPr>
          <a:lstStyle/>
          <a:p>
            <a:r>
              <a:rPr sz="1500" b="1">
                <a:solidFill>
                  <a:srgbClr val="16785C"/>
                </a:solidFill>
                <a:latin typeface="Apple SD Gothic Neo"/>
              </a:rPr>
              <a:t>서브그래프 · 모듈화</a:t>
            </a:r>
          </a:p>
        </p:txBody>
      </p:sp>
      <p:sp>
        <p:nvSpPr>
          <p:cNvPr id="59" name="TextBox 58"/>
          <p:cNvSpPr txBox="1"/>
          <p:nvPr/>
        </p:nvSpPr>
        <p:spPr>
          <a:xfrm>
            <a:off x="7836407" y="4782312"/>
            <a:ext cx="1691639" cy="822960"/>
          </a:xfrm>
          <a:prstGeom prst="rect">
            <a:avLst/>
          </a:prstGeom>
          <a:noFill/>
        </p:spPr>
        <p:txBody>
          <a:bodyPr wrap="square" lIns="0" rIns="0" tIns="0" bIns="0" anchor="ctr">
            <a:spAutoFit/>
          </a:bodyPr>
          <a:lstStyle/>
          <a:p>
            <a:r>
              <a:rPr sz="1300" b="0">
                <a:solidFill>
                  <a:srgbClr val="19382F"/>
                </a:solidFill>
                <a:latin typeface="Apple SD Gothic Neo"/>
              </a:rPr>
              <a:t>부분 실패 격리 · 테스트 용이</a:t>
            </a:r>
          </a:p>
        </p:txBody>
      </p:sp>
      <p:sp>
        <p:nvSpPr>
          <p:cNvPr id="60" name="TextBox 59"/>
          <p:cNvSpPr txBox="1"/>
          <p:nvPr/>
        </p:nvSpPr>
        <p:spPr>
          <a:xfrm>
            <a:off x="9756648" y="4782312"/>
            <a:ext cx="1691639" cy="822960"/>
          </a:xfrm>
          <a:prstGeom prst="rect">
            <a:avLst/>
          </a:prstGeom>
          <a:noFill/>
        </p:spPr>
        <p:txBody>
          <a:bodyPr wrap="square" lIns="0" rIns="0" tIns="0" bIns="0" anchor="ctr">
            <a:spAutoFit/>
          </a:bodyPr>
          <a:lstStyle/>
          <a:p>
            <a:r>
              <a:rPr sz="1300" b="0">
                <a:solidFill>
                  <a:srgbClr val="B6503E"/>
                </a:solidFill>
                <a:latin typeface="Apple SD Gothic Neo"/>
              </a:rPr>
              <a:t>속도 이득 없음</a:t>
            </a:r>
          </a:p>
        </p:txBody>
      </p:sp>
      <p:sp>
        <p:nvSpPr>
          <p:cNvPr id="61" name="Rectangle 6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852160"/>
            <a:ext cx="10881360" cy="41148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2960" y="5852160"/>
            <a:ext cx="10515600" cy="411480"/>
          </a:xfrm>
          <a:prstGeom prst="rect">
            <a:avLst/>
          </a:prstGeom>
          <a:noFill/>
        </p:spPr>
        <p:txBody>
          <a:bodyPr wrap="square" lIns="0" rIns="0" tIns="0" bIns="0" anchor="ctr">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F27"/>
        </a:solidFill>
        <a:effectLst/>
      </p:bgPr>
    </p:bg>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A4DAC2"/>
                </a:solidFill>
                <a:latin typeface="Apple SD Gothic Neo"/>
              </a:rPr>
              <a:t>부록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FFFFFF"/>
                </a:solidFill>
                <a:latin typeface="Apple SD Gothic Neo"/>
              </a:rPr>
              <a:t>부록</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A4DAC2"/>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A4DAC2"/>
                </a:solidFill>
                <a:latin typeface="Apple SD Gothic Neo"/>
              </a:rPr>
              <a:t/>
            </a:r>
          </a:p>
        </p:txBody>
      </p:sp>
      <p:sp>
        <p:nvSpPr>
          <p:cNvPr id="6" name="TextBox 5"/>
          <p:cNvSpPr txBox="1"/>
          <p:nvPr/>
        </p:nvSpPr>
        <p:spPr>
          <a:xfrm>
            <a:off x="685800" y="2148840"/>
            <a:ext cx="10058400" cy="457200"/>
          </a:xfrm>
          <a:prstGeom prst="rect">
            <a:avLst/>
          </a:prstGeom>
          <a:noFill/>
        </p:spPr>
        <p:txBody>
          <a:bodyPr wrap="square" lIns="0" rIns="0" tIns="0" bIns="0">
            <a:spAutoFit/>
          </a:bodyPr>
          <a:lstStyle/>
          <a:p>
            <a:r>
              <a:rPr sz="1700" b="0">
                <a:solidFill>
                  <a:srgbClr val="A4DAC2"/>
                </a:solidFill>
                <a:latin typeface="Apple SD Gothic Neo"/>
              </a:rPr>
              <a:t>발표는 앞 장(10/10)에서 마칩니다. 아래는 질의응답과 결과 확인용 근거 자료입니다.</a:t>
            </a:r>
          </a:p>
        </p:txBody>
      </p:sp>
      <p:sp>
        <p:nvSpPr>
          <p:cNvPr id="7" name="TextBox 6"/>
          <p:cNvSpPr txBox="1"/>
          <p:nvPr/>
        </p:nvSpPr>
        <p:spPr>
          <a:xfrm>
            <a:off x="685800" y="2880360"/>
            <a:ext cx="822960" cy="365760"/>
          </a:xfrm>
          <a:prstGeom prst="rect">
            <a:avLst/>
          </a:prstGeom>
          <a:noFill/>
        </p:spPr>
        <p:txBody>
          <a:bodyPr wrap="square" lIns="0" rIns="0" tIns="0" bIns="0">
            <a:spAutoFit/>
          </a:bodyPr>
          <a:lstStyle/>
          <a:p>
            <a:r>
              <a:rPr sz="2000" b="1">
                <a:solidFill>
                  <a:srgbClr val="A4DAC2"/>
                </a:solidFill>
                <a:latin typeface="Apple SD Gothic Neo"/>
              </a:rPr>
              <a:t>A-1</a:t>
            </a:r>
          </a:p>
        </p:txBody>
      </p:sp>
      <p:sp>
        <p:nvSpPr>
          <p:cNvPr id="8" name="TextBox 7"/>
          <p:cNvSpPr txBox="1"/>
          <p:nvPr/>
        </p:nvSpPr>
        <p:spPr>
          <a:xfrm>
            <a:off x="1600200" y="2880360"/>
            <a:ext cx="4754880" cy="365760"/>
          </a:xfrm>
          <a:prstGeom prst="rect">
            <a:avLst/>
          </a:prstGeom>
          <a:noFill/>
        </p:spPr>
        <p:txBody>
          <a:bodyPr wrap="square" lIns="0" rIns="0" tIns="0" bIns="0">
            <a:spAutoFit/>
          </a:bodyPr>
          <a:lstStyle/>
          <a:p>
            <a:r>
              <a:rPr sz="2000" b="1">
                <a:solidFill>
                  <a:srgbClr val="FFFFFF"/>
                </a:solidFill>
                <a:latin typeface="Apple SD Gothic Neo"/>
              </a:rPr>
              <a:t>기술 요소 15개와 구현 위치</a:t>
            </a:r>
          </a:p>
        </p:txBody>
      </p:sp>
      <p:sp>
        <p:nvSpPr>
          <p:cNvPr id="9" name="TextBox 8"/>
          <p:cNvSpPr txBox="1"/>
          <p:nvPr/>
        </p:nvSpPr>
        <p:spPr>
          <a:xfrm>
            <a:off x="6400800" y="2926079"/>
            <a:ext cx="5120640" cy="365760"/>
          </a:xfrm>
          <a:prstGeom prst="rect">
            <a:avLst/>
          </a:prstGeom>
          <a:noFill/>
        </p:spPr>
        <p:txBody>
          <a:bodyPr wrap="square" lIns="0" rIns="0" tIns="0" bIns="0">
            <a:spAutoFit/>
          </a:bodyPr>
          <a:lstStyle/>
          <a:p>
            <a:r>
              <a:rPr sz="1500" b="0">
                <a:solidFill>
                  <a:srgbClr val="A4DAC2"/>
                </a:solidFill>
                <a:latin typeface="Apple SD Gothic Neo"/>
              </a:rPr>
              <a:t>제공 기반 · 직접 구현 · 측정 구분</a:t>
            </a:r>
          </a:p>
        </p:txBody>
      </p:sp>
      <p:sp>
        <p:nvSpPr>
          <p:cNvPr id="10" name="TextBox 9"/>
          <p:cNvSpPr txBox="1"/>
          <p:nvPr/>
        </p:nvSpPr>
        <p:spPr>
          <a:xfrm>
            <a:off x="685800" y="3502152"/>
            <a:ext cx="822960" cy="365760"/>
          </a:xfrm>
          <a:prstGeom prst="rect">
            <a:avLst/>
          </a:prstGeom>
          <a:noFill/>
        </p:spPr>
        <p:txBody>
          <a:bodyPr wrap="square" lIns="0" rIns="0" tIns="0" bIns="0">
            <a:spAutoFit/>
          </a:bodyPr>
          <a:lstStyle/>
          <a:p>
            <a:r>
              <a:rPr sz="2000" b="1">
                <a:solidFill>
                  <a:srgbClr val="A4DAC2"/>
                </a:solidFill>
                <a:latin typeface="Apple SD Gothic Neo"/>
              </a:rPr>
              <a:t>A-2</a:t>
            </a:r>
          </a:p>
        </p:txBody>
      </p:sp>
      <p:sp>
        <p:nvSpPr>
          <p:cNvPr id="11" name="TextBox 10"/>
          <p:cNvSpPr txBox="1"/>
          <p:nvPr/>
        </p:nvSpPr>
        <p:spPr>
          <a:xfrm>
            <a:off x="1600200" y="3502152"/>
            <a:ext cx="4754880" cy="365760"/>
          </a:xfrm>
          <a:prstGeom prst="rect">
            <a:avLst/>
          </a:prstGeom>
          <a:noFill/>
        </p:spPr>
        <p:txBody>
          <a:bodyPr wrap="square" lIns="0" rIns="0" tIns="0" bIns="0">
            <a:spAutoFit/>
          </a:bodyPr>
          <a:lstStyle/>
          <a:p>
            <a:r>
              <a:rPr sz="2000" b="1">
                <a:solidFill>
                  <a:srgbClr val="FFFFFF"/>
                </a:solidFill>
                <a:latin typeface="Apple SD Gothic Neo"/>
              </a:rPr>
              <a:t>설계 결정 15개 (ADR)</a:t>
            </a:r>
          </a:p>
        </p:txBody>
      </p:sp>
      <p:sp>
        <p:nvSpPr>
          <p:cNvPr id="12" name="TextBox 11"/>
          <p:cNvSpPr txBox="1"/>
          <p:nvPr/>
        </p:nvSpPr>
        <p:spPr>
          <a:xfrm>
            <a:off x="6400800" y="3547872"/>
            <a:ext cx="5120640" cy="365760"/>
          </a:xfrm>
          <a:prstGeom prst="rect">
            <a:avLst/>
          </a:prstGeom>
          <a:noFill/>
        </p:spPr>
        <p:txBody>
          <a:bodyPr wrap="square" lIns="0" rIns="0" tIns="0" bIns="0">
            <a:spAutoFit/>
          </a:bodyPr>
          <a:lstStyle/>
          <a:p>
            <a:r>
              <a:rPr sz="1500" b="0">
                <a:solidFill>
                  <a:srgbClr val="A4DAC2"/>
                </a:solidFill>
                <a:latin typeface="Apple SD Gothic Neo"/>
              </a:rPr>
              <a:t>결정 구분과 비용·한계</a:t>
            </a:r>
          </a:p>
        </p:txBody>
      </p:sp>
      <p:sp>
        <p:nvSpPr>
          <p:cNvPr id="13" name="TextBox 12"/>
          <p:cNvSpPr txBox="1"/>
          <p:nvPr/>
        </p:nvSpPr>
        <p:spPr>
          <a:xfrm>
            <a:off x="685800" y="4123944"/>
            <a:ext cx="822960" cy="365760"/>
          </a:xfrm>
          <a:prstGeom prst="rect">
            <a:avLst/>
          </a:prstGeom>
          <a:noFill/>
        </p:spPr>
        <p:txBody>
          <a:bodyPr wrap="square" lIns="0" rIns="0" tIns="0" bIns="0">
            <a:spAutoFit/>
          </a:bodyPr>
          <a:lstStyle/>
          <a:p>
            <a:r>
              <a:rPr sz="2000" b="1">
                <a:solidFill>
                  <a:srgbClr val="A4DAC2"/>
                </a:solidFill>
                <a:latin typeface="Apple SD Gothic Neo"/>
              </a:rPr>
              <a:t>A-3</a:t>
            </a:r>
          </a:p>
        </p:txBody>
      </p:sp>
      <p:sp>
        <p:nvSpPr>
          <p:cNvPr id="14" name="TextBox 13"/>
          <p:cNvSpPr txBox="1"/>
          <p:nvPr/>
        </p:nvSpPr>
        <p:spPr>
          <a:xfrm>
            <a:off x="1600200" y="4123944"/>
            <a:ext cx="4754880" cy="365760"/>
          </a:xfrm>
          <a:prstGeom prst="rect">
            <a:avLst/>
          </a:prstGeom>
          <a:noFill/>
        </p:spPr>
        <p:txBody>
          <a:bodyPr wrap="square" lIns="0" rIns="0" tIns="0" bIns="0">
            <a:spAutoFit/>
          </a:bodyPr>
          <a:lstStyle/>
          <a:p>
            <a:r>
              <a:rPr sz="2000" b="1">
                <a:solidFill>
                  <a:srgbClr val="FFFFFF"/>
                </a:solidFill>
                <a:latin typeface="Apple SD Gothic Neo"/>
              </a:rPr>
              <a:t>평가 방법과 결과</a:t>
            </a:r>
          </a:p>
        </p:txBody>
      </p:sp>
      <p:sp>
        <p:nvSpPr>
          <p:cNvPr id="15" name="TextBox 14"/>
          <p:cNvSpPr txBox="1"/>
          <p:nvPr/>
        </p:nvSpPr>
        <p:spPr>
          <a:xfrm>
            <a:off x="6400800" y="4169663"/>
            <a:ext cx="5120640" cy="365760"/>
          </a:xfrm>
          <a:prstGeom prst="rect">
            <a:avLst/>
          </a:prstGeom>
          <a:noFill/>
        </p:spPr>
        <p:txBody>
          <a:bodyPr wrap="square" lIns="0" rIns="0" tIns="0" bIns="0">
            <a:spAutoFit/>
          </a:bodyPr>
          <a:lstStyle/>
          <a:p>
            <a:r>
              <a:rPr sz="1500" b="0">
                <a:solidFill>
                  <a:srgbClr val="A4DAC2"/>
                </a:solidFill>
                <a:latin typeface="Apple SD Gothic Neo"/>
              </a:rPr>
              <a:t>평가셋별 전후 수치와 해석상 주의</a:t>
            </a:r>
          </a:p>
        </p:txBody>
      </p:sp>
      <p:sp>
        <p:nvSpPr>
          <p:cNvPr id="16" name="TextBox 15"/>
          <p:cNvSpPr txBox="1"/>
          <p:nvPr/>
        </p:nvSpPr>
        <p:spPr>
          <a:xfrm>
            <a:off x="685800" y="4745736"/>
            <a:ext cx="822960" cy="365760"/>
          </a:xfrm>
          <a:prstGeom prst="rect">
            <a:avLst/>
          </a:prstGeom>
          <a:noFill/>
        </p:spPr>
        <p:txBody>
          <a:bodyPr wrap="square" lIns="0" rIns="0" tIns="0" bIns="0">
            <a:spAutoFit/>
          </a:bodyPr>
          <a:lstStyle/>
          <a:p>
            <a:r>
              <a:rPr sz="2000" b="1">
                <a:solidFill>
                  <a:srgbClr val="A4DAC2"/>
                </a:solidFill>
                <a:latin typeface="Apple SD Gothic Neo"/>
              </a:rPr>
              <a:t>A-4</a:t>
            </a:r>
          </a:p>
        </p:txBody>
      </p:sp>
      <p:sp>
        <p:nvSpPr>
          <p:cNvPr id="17" name="TextBox 16"/>
          <p:cNvSpPr txBox="1"/>
          <p:nvPr/>
        </p:nvSpPr>
        <p:spPr>
          <a:xfrm>
            <a:off x="1600200" y="4745736"/>
            <a:ext cx="4754880" cy="365760"/>
          </a:xfrm>
          <a:prstGeom prst="rect">
            <a:avLst/>
          </a:prstGeom>
          <a:noFill/>
        </p:spPr>
        <p:txBody>
          <a:bodyPr wrap="square" lIns="0" rIns="0" tIns="0" bIns="0">
            <a:spAutoFit/>
          </a:bodyPr>
          <a:lstStyle/>
          <a:p>
            <a:r>
              <a:rPr sz="2000" b="1">
                <a:solidFill>
                  <a:srgbClr val="FFFFFF"/>
                </a:solidFill>
                <a:latin typeface="Apple SD Gothic Neo"/>
              </a:rPr>
              <a:t>검증 규칙과 실패 처리</a:t>
            </a:r>
          </a:p>
        </p:txBody>
      </p:sp>
      <p:sp>
        <p:nvSpPr>
          <p:cNvPr id="18" name="TextBox 17"/>
          <p:cNvSpPr txBox="1"/>
          <p:nvPr/>
        </p:nvSpPr>
        <p:spPr>
          <a:xfrm>
            <a:off x="6400800" y="4791455"/>
            <a:ext cx="5120640" cy="365760"/>
          </a:xfrm>
          <a:prstGeom prst="rect">
            <a:avLst/>
          </a:prstGeom>
          <a:noFill/>
        </p:spPr>
        <p:txBody>
          <a:bodyPr wrap="square" lIns="0" rIns="0" tIns="0" bIns="0">
            <a:spAutoFit/>
          </a:bodyPr>
          <a:lstStyle/>
          <a:p>
            <a:r>
              <a:rPr sz="1500" b="0">
                <a:solidFill>
                  <a:srgbClr val="A4DAC2"/>
                </a:solidFill>
                <a:latin typeface="Apple SD Gothic Neo"/>
              </a:rPr>
              <a:t>읽는 표현 · 제외 규칙 · 종료 조건</a:t>
            </a:r>
          </a:p>
        </p:txBody>
      </p:sp>
      <p:sp>
        <p:nvSpPr>
          <p:cNvPr id="19" name="TextBox 18"/>
          <p:cNvSpPr txBox="1"/>
          <p:nvPr/>
        </p:nvSpPr>
        <p:spPr>
          <a:xfrm>
            <a:off x="685800" y="5367528"/>
            <a:ext cx="822960" cy="365760"/>
          </a:xfrm>
          <a:prstGeom prst="rect">
            <a:avLst/>
          </a:prstGeom>
          <a:noFill/>
        </p:spPr>
        <p:txBody>
          <a:bodyPr wrap="square" lIns="0" rIns="0" tIns="0" bIns="0">
            <a:spAutoFit/>
          </a:bodyPr>
          <a:lstStyle/>
          <a:p>
            <a:r>
              <a:rPr sz="2000" b="1">
                <a:solidFill>
                  <a:srgbClr val="A4DAC2"/>
                </a:solidFill>
                <a:latin typeface="Apple SD Gothic Neo"/>
              </a:rPr>
              <a:t>A-5</a:t>
            </a:r>
          </a:p>
        </p:txBody>
      </p:sp>
      <p:sp>
        <p:nvSpPr>
          <p:cNvPr id="20" name="TextBox 19"/>
          <p:cNvSpPr txBox="1"/>
          <p:nvPr/>
        </p:nvSpPr>
        <p:spPr>
          <a:xfrm>
            <a:off x="1600200" y="5367528"/>
            <a:ext cx="4754880" cy="365760"/>
          </a:xfrm>
          <a:prstGeom prst="rect">
            <a:avLst/>
          </a:prstGeom>
          <a:noFill/>
        </p:spPr>
        <p:txBody>
          <a:bodyPr wrap="square" lIns="0" rIns="0" tIns="0" bIns="0">
            <a:spAutoFit/>
          </a:bodyPr>
          <a:lstStyle/>
          <a:p>
            <a:r>
              <a:rPr sz="2000" b="1">
                <a:solidFill>
                  <a:srgbClr val="FFFFFF"/>
                </a:solidFill>
                <a:latin typeface="Apple SD Gothic Neo"/>
              </a:rPr>
              <a:t>재현 방법과 근거 자료</a:t>
            </a:r>
          </a:p>
        </p:txBody>
      </p:sp>
      <p:sp>
        <p:nvSpPr>
          <p:cNvPr id="21" name="TextBox 20"/>
          <p:cNvSpPr txBox="1"/>
          <p:nvPr/>
        </p:nvSpPr>
        <p:spPr>
          <a:xfrm>
            <a:off x="6400800" y="5413248"/>
            <a:ext cx="5120640" cy="365760"/>
          </a:xfrm>
          <a:prstGeom prst="rect">
            <a:avLst/>
          </a:prstGeom>
          <a:noFill/>
        </p:spPr>
        <p:txBody>
          <a:bodyPr wrap="square" lIns="0" rIns="0" tIns="0" bIns="0">
            <a:spAutoFit/>
          </a:bodyPr>
          <a:lstStyle/>
          <a:p>
            <a:r>
              <a:rPr sz="1500" b="0">
                <a:solidFill>
                  <a:srgbClr val="A4DAC2"/>
                </a:solidFill>
                <a:latin typeface="Apple SD Gothic Neo"/>
              </a:rPr>
              <a:t>저장소 · 실행 명령 · 근거 파일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A-1  기술 요소 대응</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기술 요소 15개와 구현 위치</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A-1 / A-5</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2697480" cy="292608"/>
          </a:xfrm>
          <a:prstGeom prst="rect">
            <a:avLst/>
          </a:prstGeom>
          <a:noFill/>
        </p:spPr>
        <p:txBody>
          <a:bodyPr wrap="square" lIns="0" rIns="0" tIns="0" bIns="0" anchor="ctr">
            <a:spAutoFit/>
          </a:bodyPr>
          <a:lstStyle/>
          <a:p>
            <a:r>
              <a:rPr sz="1150" b="1">
                <a:solidFill>
                  <a:srgbClr val="FFFFFF"/>
                </a:solidFill>
                <a:latin typeface="Apple SD Gothic Neo"/>
              </a:rPr>
              <a:t>요소</a:t>
            </a:r>
          </a:p>
        </p:txBody>
      </p:sp>
      <p:sp>
        <p:nvSpPr>
          <p:cNvPr id="8" name="TextBox 7"/>
          <p:cNvSpPr txBox="1"/>
          <p:nvPr/>
        </p:nvSpPr>
        <p:spPr>
          <a:xfrm>
            <a:off x="3566160" y="1645920"/>
            <a:ext cx="160020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9" name="TextBox 8"/>
          <p:cNvSpPr txBox="1"/>
          <p:nvPr/>
        </p:nvSpPr>
        <p:spPr>
          <a:xfrm>
            <a:off x="5303519" y="1645920"/>
            <a:ext cx="6172200" cy="292608"/>
          </a:xfrm>
          <a:prstGeom prst="rect">
            <a:avLst/>
          </a:prstGeom>
          <a:noFill/>
        </p:spPr>
        <p:txBody>
          <a:bodyPr wrap="square" lIns="0" rIns="0" tIns="0" bIns="0" anchor="ctr">
            <a:spAutoFit/>
          </a:bodyPr>
          <a:lstStyle/>
          <a:p>
            <a:r>
              <a:rPr sz="1150" b="1">
                <a:solidFill>
                  <a:srgbClr val="FFFFFF"/>
                </a:solidFill>
                <a:latin typeface="Apple SD Gothic Neo"/>
              </a:rPr>
              <a:t>구현 위치 · 근거</a:t>
            </a:r>
          </a:p>
        </p:txBody>
      </p:sp>
      <p:sp>
        <p:nvSpPr>
          <p:cNvPr id="10" name="Rectangle 9"/>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2697480" cy="288036"/>
          </a:xfrm>
          <a:prstGeom prst="rect">
            <a:avLst/>
          </a:prstGeom>
          <a:noFill/>
        </p:spPr>
        <p:txBody>
          <a:bodyPr wrap="square" lIns="0" rIns="0" tIns="0" bIns="0" anchor="ctr">
            <a:spAutoFit/>
          </a:bodyPr>
          <a:lstStyle/>
          <a:p>
            <a:r>
              <a:rPr sz="1150" b="1">
                <a:solidFill>
                  <a:srgbClr val="19382F"/>
                </a:solidFill>
                <a:latin typeface="Apple SD Gothic Neo"/>
              </a:rPr>
              <a:t>ADR</a:t>
            </a:r>
          </a:p>
        </p:txBody>
      </p:sp>
      <p:sp>
        <p:nvSpPr>
          <p:cNvPr id="12" name="TextBox 11"/>
          <p:cNvSpPr txBox="1"/>
          <p:nvPr/>
        </p:nvSpPr>
        <p:spPr>
          <a:xfrm>
            <a:off x="3566160" y="1938528"/>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3" name="TextBox 12"/>
          <p:cNvSpPr txBox="1"/>
          <p:nvPr/>
        </p:nvSpPr>
        <p:spPr>
          <a:xfrm>
            <a:off x="5303519" y="1938528"/>
            <a:ext cx="6172200" cy="288036"/>
          </a:xfrm>
          <a:prstGeom prst="rect">
            <a:avLst/>
          </a:prstGeom>
          <a:noFill/>
        </p:spPr>
        <p:txBody>
          <a:bodyPr wrap="square" lIns="0" rIns="0" tIns="0" bIns="0" anchor="ctr">
            <a:spAutoFit/>
          </a:bodyPr>
          <a:lstStyle/>
          <a:p>
            <a:r>
              <a:rPr sz="1150" b="0">
                <a:solidFill>
                  <a:srgbClr val="19382F"/>
                </a:solidFill>
                <a:latin typeface="Apple SD Gothic Neo"/>
              </a:rPr>
              <a:t>doc/ADR.md · 설계 결정 15개</a:t>
            </a:r>
          </a:p>
        </p:txBody>
      </p:sp>
      <p:sp>
        <p:nvSpPr>
          <p:cNvPr id="14" name="Rectangle 13"/>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226564"/>
            <a:ext cx="2697480" cy="288036"/>
          </a:xfrm>
          <a:prstGeom prst="rect">
            <a:avLst/>
          </a:prstGeom>
          <a:noFill/>
        </p:spPr>
        <p:txBody>
          <a:bodyPr wrap="square" lIns="0" rIns="0" tIns="0" bIns="0" anchor="ctr">
            <a:spAutoFit/>
          </a:bodyPr>
          <a:lstStyle/>
          <a:p>
            <a:r>
              <a:rPr sz="1150" b="1">
                <a:solidFill>
                  <a:srgbClr val="19382F"/>
                </a:solidFill>
                <a:latin typeface="Apple SD Gothic Neo"/>
              </a:rPr>
              <a:t>FastAPI · SSE 백엔드</a:t>
            </a:r>
          </a:p>
        </p:txBody>
      </p:sp>
      <p:sp>
        <p:nvSpPr>
          <p:cNvPr id="16" name="TextBox 15"/>
          <p:cNvSpPr txBox="1"/>
          <p:nvPr/>
        </p:nvSpPr>
        <p:spPr>
          <a:xfrm>
            <a:off x="3566160" y="2226564"/>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17" name="TextBox 16"/>
          <p:cNvSpPr txBox="1"/>
          <p:nvPr/>
        </p:nvSpPr>
        <p:spPr>
          <a:xfrm>
            <a:off x="5303519" y="2226564"/>
            <a:ext cx="6172200" cy="288036"/>
          </a:xfrm>
          <a:prstGeom prst="rect">
            <a:avLst/>
          </a:prstGeom>
          <a:noFill/>
        </p:spPr>
        <p:txBody>
          <a:bodyPr wrap="square" lIns="0" rIns="0" tIns="0" bIns="0" anchor="ctr">
            <a:spAutoFit/>
          </a:bodyPr>
          <a:lstStyle/>
          <a:p>
            <a:r>
              <a:rPr sz="1150" b="0">
                <a:solidFill>
                  <a:srgbClr val="19382F"/>
                </a:solidFill>
                <a:latin typeface="Apple SD Gothic Neo"/>
              </a:rPr>
              <a:t>server.py · /chat, /chat/stream, /health</a:t>
            </a:r>
          </a:p>
        </p:txBody>
      </p:sp>
      <p:sp>
        <p:nvSpPr>
          <p:cNvPr id="18" name="Rectangle 17"/>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600"/>
            <a:ext cx="2697480" cy="288036"/>
          </a:xfrm>
          <a:prstGeom prst="rect">
            <a:avLst/>
          </a:prstGeom>
          <a:noFill/>
        </p:spPr>
        <p:txBody>
          <a:bodyPr wrap="square" lIns="0" rIns="0" tIns="0" bIns="0" anchor="ctr">
            <a:spAutoFit/>
          </a:bodyPr>
          <a:lstStyle/>
          <a:p>
            <a:r>
              <a:rPr sz="1150" b="1">
                <a:solidFill>
                  <a:srgbClr val="19382F"/>
                </a:solidFill>
                <a:latin typeface="Apple SD Gothic Neo"/>
              </a:rPr>
              <a:t>MCP Server</a:t>
            </a:r>
          </a:p>
        </p:txBody>
      </p:sp>
      <p:sp>
        <p:nvSpPr>
          <p:cNvPr id="20" name="TextBox 19"/>
          <p:cNvSpPr txBox="1"/>
          <p:nvPr/>
        </p:nvSpPr>
        <p:spPr>
          <a:xfrm>
            <a:off x="3566160" y="251460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1" name="TextBox 20"/>
          <p:cNvSpPr txBox="1"/>
          <p:nvPr/>
        </p:nvSpPr>
        <p:spPr>
          <a:xfrm>
            <a:off x="5303519" y="2514600"/>
            <a:ext cx="6172200" cy="288036"/>
          </a:xfrm>
          <a:prstGeom prst="rect">
            <a:avLst/>
          </a:prstGeom>
          <a:noFill/>
        </p:spPr>
        <p:txBody>
          <a:bodyPr wrap="square" lIns="0" rIns="0" tIns="0" bIns="0" anchor="ctr">
            <a:spAutoFit/>
          </a:bodyPr>
          <a:lstStyle/>
          <a:p>
            <a:r>
              <a:rPr sz="1150" b="0">
                <a:solidFill>
                  <a:srgbClr val="19382F"/>
                </a:solidFill>
                <a:latin typeface="Apple SD Gothic Neo"/>
              </a:rPr>
              <a:t>모니터링·매뉴얼 제공 / 검색 도구 직접 추가</a:t>
            </a:r>
          </a:p>
        </p:txBody>
      </p:sp>
      <p:sp>
        <p:nvSpPr>
          <p:cNvPr id="22" name="Rectangle 21"/>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2802636"/>
            <a:ext cx="2697480" cy="288036"/>
          </a:xfrm>
          <a:prstGeom prst="rect">
            <a:avLst/>
          </a:prstGeom>
          <a:noFill/>
        </p:spPr>
        <p:txBody>
          <a:bodyPr wrap="square" lIns="0" rIns="0" tIns="0" bIns="0" anchor="ctr">
            <a:spAutoFit/>
          </a:bodyPr>
          <a:lstStyle/>
          <a:p>
            <a:r>
              <a:rPr sz="1150" b="1">
                <a:solidFill>
                  <a:srgbClr val="19382F"/>
                </a:solidFill>
                <a:latin typeface="Apple SD Gothic Neo"/>
              </a:rPr>
              <a:t>SSE 프론트엔드</a:t>
            </a:r>
          </a:p>
        </p:txBody>
      </p:sp>
      <p:sp>
        <p:nvSpPr>
          <p:cNvPr id="24" name="TextBox 23"/>
          <p:cNvSpPr txBox="1"/>
          <p:nvPr/>
        </p:nvSpPr>
        <p:spPr>
          <a:xfrm>
            <a:off x="3566160" y="280263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5" name="TextBox 24"/>
          <p:cNvSpPr txBox="1"/>
          <p:nvPr/>
        </p:nvSpPr>
        <p:spPr>
          <a:xfrm>
            <a:off x="5303519" y="2802636"/>
            <a:ext cx="6172200" cy="288036"/>
          </a:xfrm>
          <a:prstGeom prst="rect">
            <a:avLst/>
          </a:prstGeom>
          <a:noFill/>
        </p:spPr>
        <p:txBody>
          <a:bodyPr wrap="square" lIns="0" rIns="0" tIns="0" bIns="0" anchor="ctr">
            <a:spAutoFit/>
          </a:bodyPr>
          <a:lstStyle/>
          <a:p>
            <a:r>
              <a:rPr sz="1150" b="0">
                <a:solidFill>
                  <a:srgbClr val="19382F"/>
                </a:solidFill>
                <a:latin typeface="Apple SD Gothic Neo"/>
              </a:rPr>
              <a:t>Vue EventSource 제공 / 근거 표시 화면 직접 개선</a:t>
            </a:r>
          </a:p>
        </p:txBody>
      </p:sp>
      <p:sp>
        <p:nvSpPr>
          <p:cNvPr id="26" name="Rectangle 25"/>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090672"/>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Streaming</a:t>
            </a:r>
          </a:p>
        </p:txBody>
      </p:sp>
      <p:sp>
        <p:nvSpPr>
          <p:cNvPr id="28" name="TextBox 27"/>
          <p:cNvSpPr txBox="1"/>
          <p:nvPr/>
        </p:nvSpPr>
        <p:spPr>
          <a:xfrm>
            <a:off x="3566160" y="3090672"/>
            <a:ext cx="1600200" cy="288036"/>
          </a:xfrm>
          <a:prstGeom prst="rect">
            <a:avLst/>
          </a:prstGeom>
          <a:noFill/>
        </p:spPr>
        <p:txBody>
          <a:bodyPr wrap="square" lIns="0" rIns="0" tIns="0" bIns="0" anchor="ctr">
            <a:spAutoFit/>
          </a:bodyPr>
          <a:lstStyle/>
          <a:p>
            <a:r>
              <a:rPr sz="1150" b="1">
                <a:solidFill>
                  <a:srgbClr val="B6503E"/>
                </a:solidFill>
                <a:latin typeface="Apple SD Gothic Neo"/>
              </a:rPr>
              <a:t>트레이드오프</a:t>
            </a:r>
          </a:p>
        </p:txBody>
      </p:sp>
      <p:sp>
        <p:nvSpPr>
          <p:cNvPr id="29" name="TextBox 28"/>
          <p:cNvSpPr txBox="1"/>
          <p:nvPr/>
        </p:nvSpPr>
        <p:spPr>
          <a:xfrm>
            <a:off x="5303519" y="3090672"/>
            <a:ext cx="6172200" cy="288036"/>
          </a:xfrm>
          <a:prstGeom prst="rect">
            <a:avLst/>
          </a:prstGeom>
          <a:noFill/>
        </p:spPr>
        <p:txBody>
          <a:bodyPr wrap="square" lIns="0" rIns="0" tIns="0" bIns="0" anchor="ctr">
            <a:spAutoFit/>
          </a:bodyPr>
          <a:lstStyle/>
          <a:p>
            <a:r>
              <a:rPr sz="1150" b="0">
                <a:solidFill>
                  <a:srgbClr val="19382F"/>
                </a:solidFill>
                <a:latin typeface="Apple SD Gothic Neo"/>
              </a:rPr>
              <a:t>진행 이벤트만 전송, 초안 토큰은 차단 (ADR-04)</a:t>
            </a:r>
          </a:p>
        </p:txBody>
      </p:sp>
      <p:sp>
        <p:nvSpPr>
          <p:cNvPr id="30" name="Rectangle 29"/>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378708"/>
            <a:ext cx="2697480" cy="288036"/>
          </a:xfrm>
          <a:prstGeom prst="rect">
            <a:avLst/>
          </a:prstGeom>
          <a:noFill/>
        </p:spPr>
        <p:txBody>
          <a:bodyPr wrap="square" lIns="0" rIns="0" tIns="0" bIns="0" anchor="ctr">
            <a:spAutoFit/>
          </a:bodyPr>
          <a:lstStyle/>
          <a:p>
            <a:r>
              <a:rPr sz="1150" b="1">
                <a:solidFill>
                  <a:srgbClr val="19382F"/>
                </a:solidFill>
                <a:latin typeface="Apple SD Gothic Neo"/>
              </a:rPr>
              <a:t>Query Routing · Dynamic Planning</a:t>
            </a:r>
          </a:p>
        </p:txBody>
      </p:sp>
      <p:sp>
        <p:nvSpPr>
          <p:cNvPr id="32" name="TextBox 31"/>
          <p:cNvSpPr txBox="1"/>
          <p:nvPr/>
        </p:nvSpPr>
        <p:spPr>
          <a:xfrm>
            <a:off x="3566160" y="337870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3" name="TextBox 32"/>
          <p:cNvSpPr txBox="1"/>
          <p:nvPr/>
        </p:nvSpPr>
        <p:spPr>
          <a:xfrm>
            <a:off x="5303519" y="3378708"/>
            <a:ext cx="6172200" cy="288036"/>
          </a:xfrm>
          <a:prstGeom prst="rect">
            <a:avLst/>
          </a:prstGeom>
          <a:noFill/>
        </p:spPr>
        <p:txBody>
          <a:bodyPr wrap="square" lIns="0" rIns="0" tIns="0" bIns="0" anchor="ctr">
            <a:spAutoFit/>
          </a:bodyPr>
          <a:lstStyle/>
          <a:p>
            <a:r>
              <a:rPr sz="1150" b="0">
                <a:solidFill>
                  <a:srgbClr val="19382F"/>
                </a:solidFill>
                <a:latin typeface="Apple SD Gothic Neo"/>
              </a:rPr>
              <a:t>route · plan · replan_check 노드</a:t>
            </a:r>
          </a:p>
        </p:txBody>
      </p:sp>
      <p:sp>
        <p:nvSpPr>
          <p:cNvPr id="34" name="Rectangle 33"/>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3666744"/>
            <a:ext cx="2697480" cy="288036"/>
          </a:xfrm>
          <a:prstGeom prst="rect">
            <a:avLst/>
          </a:prstGeom>
          <a:noFill/>
        </p:spPr>
        <p:txBody>
          <a:bodyPr wrap="square" lIns="0" rIns="0" tIns="0" bIns="0" anchor="ctr">
            <a:spAutoFit/>
          </a:bodyPr>
          <a:lstStyle/>
          <a:p>
            <a:r>
              <a:rPr sz="1150" b="1">
                <a:solidFill>
                  <a:srgbClr val="19382F"/>
                </a:solidFill>
                <a:latin typeface="Apple SD Gothic Neo"/>
              </a:rPr>
              <a:t>Validator</a:t>
            </a:r>
          </a:p>
        </p:txBody>
      </p:sp>
      <p:sp>
        <p:nvSpPr>
          <p:cNvPr id="36" name="TextBox 35"/>
          <p:cNvSpPr txBox="1"/>
          <p:nvPr/>
        </p:nvSpPr>
        <p:spPr>
          <a:xfrm>
            <a:off x="3566160" y="366674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7" name="TextBox 36"/>
          <p:cNvSpPr txBox="1"/>
          <p:nvPr/>
        </p:nvSpPr>
        <p:spPr>
          <a:xfrm>
            <a:off x="5303519" y="3666744"/>
            <a:ext cx="6172200" cy="288036"/>
          </a:xfrm>
          <a:prstGeom prst="rect">
            <a:avLst/>
          </a:prstGeom>
          <a:noFill/>
        </p:spPr>
        <p:txBody>
          <a:bodyPr wrap="square" lIns="0" rIns="0" tIns="0" bIns="0" anchor="ctr">
            <a:spAutoFit/>
          </a:bodyPr>
          <a:lstStyle/>
          <a:p>
            <a:r>
              <a:rPr sz="1150" b="0">
                <a:solidFill>
                  <a:srgbClr val="19382F"/>
                </a:solidFill>
                <a:latin typeface="Apple SD Gothic Neo"/>
              </a:rPr>
              <a:t>agent/verifier.py · validate · finalize_failed</a:t>
            </a:r>
          </a:p>
        </p:txBody>
      </p:sp>
      <p:sp>
        <p:nvSpPr>
          <p:cNvPr id="38" name="Rectangle 37"/>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3954780"/>
            <a:ext cx="2697480" cy="288036"/>
          </a:xfrm>
          <a:prstGeom prst="rect">
            <a:avLst/>
          </a:prstGeom>
          <a:noFill/>
        </p:spPr>
        <p:txBody>
          <a:bodyPr wrap="square" lIns="0" rIns="0" tIns="0" bIns="0" anchor="ctr">
            <a:spAutoFit/>
          </a:bodyPr>
          <a:lstStyle/>
          <a:p>
            <a:r>
              <a:rPr sz="1150" b="1">
                <a:solidFill>
                  <a:srgbClr val="19382F"/>
                </a:solidFill>
                <a:latin typeface="Apple SD Gothic Neo"/>
              </a:rPr>
              <a:t>Error Handling</a:t>
            </a:r>
          </a:p>
        </p:txBody>
      </p:sp>
      <p:sp>
        <p:nvSpPr>
          <p:cNvPr id="40" name="TextBox 39"/>
          <p:cNvSpPr txBox="1"/>
          <p:nvPr/>
        </p:nvSpPr>
        <p:spPr>
          <a:xfrm>
            <a:off x="3566160" y="395478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1" name="TextBox 40"/>
          <p:cNvSpPr txBox="1"/>
          <p:nvPr/>
        </p:nvSpPr>
        <p:spPr>
          <a:xfrm>
            <a:off x="5303519" y="3954780"/>
            <a:ext cx="6172200" cy="288036"/>
          </a:xfrm>
          <a:prstGeom prst="rect">
            <a:avLst/>
          </a:prstGeom>
          <a:noFill/>
        </p:spPr>
        <p:txBody>
          <a:bodyPr wrap="square" lIns="0" rIns="0" tIns="0" bIns="0" anchor="ctr">
            <a:spAutoFit/>
          </a:bodyPr>
          <a:lstStyle/>
          <a:p>
            <a:r>
              <a:rPr sz="1150" b="0">
                <a:solidFill>
                  <a:srgbClr val="19382F"/>
                </a:solidFill>
                <a:latin typeface="Apple SD Gothic Neo"/>
              </a:rPr>
              <a:t>재시도·타임아웃 제공 / 실패 격리·검증 실패 종료 직접</a:t>
            </a:r>
          </a:p>
        </p:txBody>
      </p:sp>
      <p:sp>
        <p:nvSpPr>
          <p:cNvPr id="42" name="Rectangle 41"/>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19" y="4242816"/>
            <a:ext cx="2697480" cy="288036"/>
          </a:xfrm>
          <a:prstGeom prst="rect">
            <a:avLst/>
          </a:prstGeom>
          <a:noFill/>
        </p:spPr>
        <p:txBody>
          <a:bodyPr wrap="square" lIns="0" rIns="0" tIns="0" bIns="0" anchor="ctr">
            <a:spAutoFit/>
          </a:bodyPr>
          <a:lstStyle/>
          <a:p>
            <a:r>
              <a:rPr sz="1150" b="1">
                <a:solidFill>
                  <a:srgbClr val="19382F"/>
                </a:solidFill>
                <a:latin typeface="Apple SD Gothic Neo"/>
              </a:rPr>
              <a:t>Cost Optimization</a:t>
            </a:r>
          </a:p>
        </p:txBody>
      </p:sp>
      <p:sp>
        <p:nvSpPr>
          <p:cNvPr id="44" name="TextBox 43"/>
          <p:cNvSpPr txBox="1"/>
          <p:nvPr/>
        </p:nvSpPr>
        <p:spPr>
          <a:xfrm>
            <a:off x="3566160" y="424281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5" name="TextBox 44"/>
          <p:cNvSpPr txBox="1"/>
          <p:nvPr/>
        </p:nvSpPr>
        <p:spPr>
          <a:xfrm>
            <a:off x="5303519" y="4242816"/>
            <a:ext cx="6172200" cy="288036"/>
          </a:xfrm>
          <a:prstGeom prst="rect">
            <a:avLst/>
          </a:prstGeom>
          <a:noFill/>
        </p:spPr>
        <p:txBody>
          <a:bodyPr wrap="square" lIns="0" rIns="0" tIns="0" bIns="0" anchor="ctr">
            <a:spAutoFit/>
          </a:bodyPr>
          <a:lstStyle/>
          <a:p>
            <a:r>
              <a:rPr sz="1150" b="0">
                <a:solidFill>
                  <a:srgbClr val="19382F"/>
                </a:solidFill>
                <a:latin typeface="Apple SD Gothic Neo"/>
              </a:rPr>
              <a:t>fast/quality 분리 제공 / 근거 0건 시 작성 생략 직접</a:t>
            </a:r>
          </a:p>
        </p:txBody>
      </p:sp>
      <p:sp>
        <p:nvSpPr>
          <p:cNvPr id="46" name="Rectangle 4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4530852"/>
            <a:ext cx="2697480" cy="288036"/>
          </a:xfrm>
          <a:prstGeom prst="rect">
            <a:avLst/>
          </a:prstGeom>
          <a:noFill/>
        </p:spPr>
        <p:txBody>
          <a:bodyPr wrap="square" lIns="0" rIns="0" tIns="0" bIns="0" anchor="ctr">
            <a:spAutoFit/>
          </a:bodyPr>
          <a:lstStyle/>
          <a:p>
            <a:r>
              <a:rPr sz="1150" b="1">
                <a:solidFill>
                  <a:srgbClr val="19382F"/>
                </a:solidFill>
                <a:latin typeface="Apple SD Gothic Neo"/>
              </a:rPr>
              <a:t>동시 실행</a:t>
            </a:r>
          </a:p>
        </p:txBody>
      </p:sp>
      <p:sp>
        <p:nvSpPr>
          <p:cNvPr id="48" name="TextBox 47"/>
          <p:cNvSpPr txBox="1"/>
          <p:nvPr/>
        </p:nvSpPr>
        <p:spPr>
          <a:xfrm>
            <a:off x="3566160" y="4530852"/>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49" name="TextBox 48"/>
          <p:cNvSpPr txBox="1"/>
          <p:nvPr/>
        </p:nvSpPr>
        <p:spPr>
          <a:xfrm>
            <a:off x="5303519" y="4530852"/>
            <a:ext cx="6172200" cy="288036"/>
          </a:xfrm>
          <a:prstGeom prst="rect">
            <a:avLst/>
          </a:prstGeom>
          <a:noFill/>
        </p:spPr>
        <p:txBody>
          <a:bodyPr wrap="square" lIns="0" rIns="0" tIns="0" bIns="0" anchor="ctr">
            <a:spAutoFit/>
          </a:bodyPr>
          <a:lstStyle/>
          <a:p>
            <a:r>
              <a:rPr sz="1150" b="0">
                <a:solidFill>
                  <a:srgbClr val="19382F"/>
                </a:solidFill>
                <a:latin typeface="Apple SD Gothic Neo"/>
              </a:rPr>
              <a:t>asyncio.gather · 직렬 1.07초 → 병렬 0.36초</a:t>
            </a:r>
          </a:p>
        </p:txBody>
      </p:sp>
      <p:sp>
        <p:nvSpPr>
          <p:cNvPr id="50" name="Rectangle 49"/>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19" y="4818888"/>
            <a:ext cx="2697480" cy="288036"/>
          </a:xfrm>
          <a:prstGeom prst="rect">
            <a:avLst/>
          </a:prstGeom>
          <a:noFill/>
        </p:spPr>
        <p:txBody>
          <a:bodyPr wrap="square" lIns="0" rIns="0" tIns="0" bIns="0" anchor="ctr">
            <a:spAutoFit/>
          </a:bodyPr>
          <a:lstStyle/>
          <a:p>
            <a:r>
              <a:rPr sz="1150" b="1">
                <a:solidFill>
                  <a:srgbClr val="19382F"/>
                </a:solidFill>
                <a:latin typeface="Apple SD Gothic Neo"/>
              </a:rPr>
              <a:t>Stateless Session</a:t>
            </a:r>
          </a:p>
        </p:txBody>
      </p:sp>
      <p:sp>
        <p:nvSpPr>
          <p:cNvPr id="52" name="TextBox 51"/>
          <p:cNvSpPr txBox="1"/>
          <p:nvPr/>
        </p:nvSpPr>
        <p:spPr>
          <a:xfrm>
            <a:off x="3566160" y="481888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53" name="TextBox 52"/>
          <p:cNvSpPr txBox="1"/>
          <p:nvPr/>
        </p:nvSpPr>
        <p:spPr>
          <a:xfrm>
            <a:off x="5303519" y="4818888"/>
            <a:ext cx="6172200" cy="288036"/>
          </a:xfrm>
          <a:prstGeom prst="rect">
            <a:avLst/>
          </a:prstGeom>
          <a:noFill/>
        </p:spPr>
        <p:txBody>
          <a:bodyPr wrap="square" lIns="0" rIns="0" tIns="0" bIns="0" anchor="ctr">
            <a:spAutoFit/>
          </a:bodyPr>
          <a:lstStyle/>
          <a:p>
            <a:r>
              <a:rPr sz="1150" b="0">
                <a:solidFill>
                  <a:srgbClr val="19382F"/>
                </a:solidFill>
                <a:latin typeface="Apple SD Gothic Neo"/>
              </a:rPr>
              <a:t>SQLite thread_id 세션</a:t>
            </a:r>
          </a:p>
        </p:txBody>
      </p:sp>
      <p:sp>
        <p:nvSpPr>
          <p:cNvPr id="54" name="Rectangle 53"/>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19" y="5106924"/>
            <a:ext cx="2697480" cy="288036"/>
          </a:xfrm>
          <a:prstGeom prst="rect">
            <a:avLst/>
          </a:prstGeom>
          <a:noFill/>
        </p:spPr>
        <p:txBody>
          <a:bodyPr wrap="square" lIns="0" rIns="0" tIns="0" bIns="0" anchor="ctr">
            <a:spAutoFit/>
          </a:bodyPr>
          <a:lstStyle/>
          <a:p>
            <a:r>
              <a:rPr sz="1150" b="1">
                <a:solidFill>
                  <a:srgbClr val="19382F"/>
                </a:solidFill>
                <a:latin typeface="Apple SD Gothic Neo"/>
              </a:rPr>
              <a:t>모듈화</a:t>
            </a:r>
          </a:p>
        </p:txBody>
      </p:sp>
      <p:sp>
        <p:nvSpPr>
          <p:cNvPr id="56" name="TextBox 55"/>
          <p:cNvSpPr txBox="1"/>
          <p:nvPr/>
        </p:nvSpPr>
        <p:spPr>
          <a:xfrm>
            <a:off x="3566160" y="510692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57" name="TextBox 56"/>
          <p:cNvSpPr txBox="1"/>
          <p:nvPr/>
        </p:nvSpPr>
        <p:spPr>
          <a:xfrm>
            <a:off x="5303519" y="5106924"/>
            <a:ext cx="6172200" cy="288036"/>
          </a:xfrm>
          <a:prstGeom prst="rect">
            <a:avLst/>
          </a:prstGeom>
          <a:noFill/>
        </p:spPr>
        <p:txBody>
          <a:bodyPr wrap="square" lIns="0" rIns="0" tIns="0" bIns="0" anchor="ctr">
            <a:spAutoFit/>
          </a:bodyPr>
          <a:lstStyle/>
          <a:p>
            <a:r>
              <a:rPr sz="1150" b="0">
                <a:solidFill>
                  <a:srgbClr val="19382F"/>
                </a:solidFill>
                <a:latin typeface="Apple SD Gothic Neo"/>
              </a:rPr>
              <a:t>graph.py 425줄 → 58줄, nodes/ 6개 모듈</a:t>
            </a:r>
          </a:p>
        </p:txBody>
      </p:sp>
      <p:sp>
        <p:nvSpPr>
          <p:cNvPr id="58" name="Rectangle 57"/>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19" y="5394960"/>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통합</a:t>
            </a:r>
          </a:p>
        </p:txBody>
      </p:sp>
      <p:sp>
        <p:nvSpPr>
          <p:cNvPr id="60" name="TextBox 59"/>
          <p:cNvSpPr txBox="1"/>
          <p:nvPr/>
        </p:nvSpPr>
        <p:spPr>
          <a:xfrm>
            <a:off x="3566160" y="5394960"/>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(얕은 형태)</a:t>
            </a:r>
          </a:p>
        </p:txBody>
      </p:sp>
      <p:sp>
        <p:nvSpPr>
          <p:cNvPr id="61" name="TextBox 60"/>
          <p:cNvSpPr txBox="1"/>
          <p:nvPr/>
        </p:nvSpPr>
        <p:spPr>
          <a:xfrm>
            <a:off x="5303519" y="5394960"/>
            <a:ext cx="6172200" cy="288036"/>
          </a:xfrm>
          <a:prstGeom prst="rect">
            <a:avLst/>
          </a:prstGeom>
          <a:noFill/>
        </p:spPr>
        <p:txBody>
          <a:bodyPr wrap="square" lIns="0" rIns="0" tIns="0" bIns="0" anchor="ctr">
            <a:spAutoFit/>
          </a:bodyPr>
          <a:lstStyle/>
          <a:p>
            <a:r>
              <a:rPr sz="1150" b="0">
                <a:solidFill>
                  <a:srgbClr val="19382F"/>
                </a:solidFill>
                <a:latin typeface="Apple SD Gothic Neo"/>
              </a:rPr>
              <a:t>서브그래프 2개 · LLM 판단·협상 없음</a:t>
            </a:r>
          </a:p>
        </p:txBody>
      </p:sp>
      <p:sp>
        <p:nvSpPr>
          <p:cNvPr id="62" name="Rectangle 61"/>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19" y="5682996"/>
            <a:ext cx="2697480" cy="288036"/>
          </a:xfrm>
          <a:prstGeom prst="rect">
            <a:avLst/>
          </a:prstGeom>
          <a:noFill/>
        </p:spPr>
        <p:txBody>
          <a:bodyPr wrap="square" lIns="0" rIns="0" tIns="0" bIns="0" anchor="ctr">
            <a:spAutoFit/>
          </a:bodyPr>
          <a:lstStyle/>
          <a:p>
            <a:r>
              <a:rPr sz="1150" b="1">
                <a:solidFill>
                  <a:srgbClr val="19382F"/>
                </a:solidFill>
                <a:latin typeface="Apple SD Gothic Neo"/>
              </a:rPr>
              <a:t>Observability (LangSmith)</a:t>
            </a:r>
          </a:p>
        </p:txBody>
      </p:sp>
      <p:sp>
        <p:nvSpPr>
          <p:cNvPr id="64" name="TextBox 63"/>
          <p:cNvSpPr txBox="1"/>
          <p:nvPr/>
        </p:nvSpPr>
        <p:spPr>
          <a:xfrm>
            <a:off x="3566160" y="5682996"/>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활용</a:t>
            </a:r>
          </a:p>
        </p:txBody>
      </p:sp>
      <p:sp>
        <p:nvSpPr>
          <p:cNvPr id="65" name="TextBox 64"/>
          <p:cNvSpPr txBox="1"/>
          <p:nvPr/>
        </p:nvSpPr>
        <p:spPr>
          <a:xfrm>
            <a:off x="5303519" y="5682996"/>
            <a:ext cx="6172200" cy="288036"/>
          </a:xfrm>
          <a:prstGeom prst="rect">
            <a:avLst/>
          </a:prstGeom>
          <a:noFill/>
        </p:spPr>
        <p:txBody>
          <a:bodyPr wrap="square" lIns="0" rIns="0" tIns="0" bIns="0" anchor="ctr">
            <a:spAutoFit/>
          </a:bodyPr>
          <a:lstStyle/>
          <a:p>
            <a:r>
              <a:rPr sz="1150" b="0">
                <a:solidFill>
                  <a:srgbClr val="19382F"/>
                </a:solidFill>
                <a:latin typeface="Apple SD Gothic Neo"/>
              </a:rPr>
              <a:t>추적 1회 실행, 59개 run 확인 · 비교 평가는 미수행</a:t>
            </a:r>
          </a:p>
        </p:txBody>
      </p:sp>
      <p:sp>
        <p:nvSpPr>
          <p:cNvPr id="66" name="Rectangle 65"/>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971032"/>
            <a:ext cx="2697480" cy="288036"/>
          </a:xfrm>
          <a:prstGeom prst="rect">
            <a:avLst/>
          </a:prstGeom>
          <a:noFill/>
        </p:spPr>
        <p:txBody>
          <a:bodyPr wrap="square" lIns="0" rIns="0" tIns="0" bIns="0" anchor="ctr">
            <a:spAutoFit/>
          </a:bodyPr>
          <a:lstStyle/>
          <a:p>
            <a:r>
              <a:rPr sz="1150" b="1">
                <a:solidFill>
                  <a:srgbClr val="19382F"/>
                </a:solidFill>
                <a:latin typeface="Apple SD Gothic Neo"/>
              </a:rPr>
              <a:t>의존성 주입 · 테스트</a:t>
            </a:r>
          </a:p>
        </p:txBody>
      </p:sp>
      <p:sp>
        <p:nvSpPr>
          <p:cNvPr id="68" name="TextBox 67"/>
          <p:cNvSpPr txBox="1"/>
          <p:nvPr/>
        </p:nvSpPr>
        <p:spPr>
          <a:xfrm>
            <a:off x="3566160" y="5971032"/>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9" name="TextBox 68"/>
          <p:cNvSpPr txBox="1"/>
          <p:nvPr/>
        </p:nvSpPr>
        <p:spPr>
          <a:xfrm>
            <a:off x="5303519" y="5971032"/>
            <a:ext cx="6172200" cy="288036"/>
          </a:xfrm>
          <a:prstGeom prst="rect">
            <a:avLst/>
          </a:prstGeom>
          <a:noFill/>
        </p:spPr>
        <p:txBody>
          <a:bodyPr wrap="square" lIns="0" rIns="0" tIns="0" bIns="0" anchor="ctr">
            <a:spAutoFit/>
          </a:bodyPr>
          <a:lstStyle/>
          <a:p>
            <a:r>
              <a:rPr sz="1150" b="0">
                <a:solidFill>
                  <a:srgbClr val="19382F"/>
                </a:solidFill>
                <a:latin typeface="Apple SD Gothic Neo"/>
              </a:rPr>
              <a:t>SupervisorDeps 주입 · 테스트 6종</a:t>
            </a:r>
          </a:p>
        </p:txBody>
      </p:sp>
      <p:sp>
        <p:nvSpPr>
          <p:cNvPr id="70" name="Rectangle 69"/>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A-2  설계 결정</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설계 결정 15개 (ADR)</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A-2 / A-5</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502919" cy="292608"/>
          </a:xfrm>
          <a:prstGeom prst="rect">
            <a:avLst/>
          </a:prstGeom>
          <a:noFill/>
        </p:spPr>
        <p:txBody>
          <a:bodyPr wrap="square" lIns="0" rIns="0" tIns="0" bIns="0" anchor="ctr">
            <a:spAutoFit/>
          </a:bodyPr>
          <a:lstStyle/>
          <a:p>
            <a:r>
              <a:rPr sz="1150" b="1">
                <a:solidFill>
                  <a:srgbClr val="FFFFFF"/>
                </a:solidFill>
                <a:latin typeface="Apple SD Gothic Neo"/>
              </a:rPr>
              <a:t>번호</a:t>
            </a:r>
          </a:p>
        </p:txBody>
      </p:sp>
      <p:sp>
        <p:nvSpPr>
          <p:cNvPr id="8" name="TextBox 7"/>
          <p:cNvSpPr txBox="1"/>
          <p:nvPr/>
        </p:nvSpPr>
        <p:spPr>
          <a:xfrm>
            <a:off x="1371600" y="1645920"/>
            <a:ext cx="3886200" cy="292608"/>
          </a:xfrm>
          <a:prstGeom prst="rect">
            <a:avLst/>
          </a:prstGeom>
          <a:noFill/>
        </p:spPr>
        <p:txBody>
          <a:bodyPr wrap="square" lIns="0" rIns="0" tIns="0" bIns="0" anchor="ctr">
            <a:spAutoFit/>
          </a:bodyPr>
          <a:lstStyle/>
          <a:p>
            <a:r>
              <a:rPr sz="1150" b="1">
                <a:solidFill>
                  <a:srgbClr val="FFFFFF"/>
                </a:solidFill>
                <a:latin typeface="Apple SD Gothic Neo"/>
              </a:rPr>
              <a:t>결정</a:t>
            </a:r>
          </a:p>
        </p:txBody>
      </p:sp>
      <p:sp>
        <p:nvSpPr>
          <p:cNvPr id="9" name="TextBox 8"/>
          <p:cNvSpPr txBox="1"/>
          <p:nvPr/>
        </p:nvSpPr>
        <p:spPr>
          <a:xfrm>
            <a:off x="5394960" y="1645920"/>
            <a:ext cx="123444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10" name="TextBox 9"/>
          <p:cNvSpPr txBox="1"/>
          <p:nvPr/>
        </p:nvSpPr>
        <p:spPr>
          <a:xfrm>
            <a:off x="6766560" y="1645920"/>
            <a:ext cx="4709159" cy="292608"/>
          </a:xfrm>
          <a:prstGeom prst="rect">
            <a:avLst/>
          </a:prstGeom>
          <a:noFill/>
        </p:spPr>
        <p:txBody>
          <a:bodyPr wrap="square" lIns="0" rIns="0" tIns="0" bIns="0" anchor="ctr">
            <a:spAutoFit/>
          </a:bodyPr>
          <a:lstStyle/>
          <a:p>
            <a:r>
              <a:rPr sz="1150" b="1">
                <a:solidFill>
                  <a:srgbClr val="FFFFFF"/>
                </a:solidFill>
                <a:latin typeface="Apple SD Gothic Neo"/>
              </a:rPr>
              <a:t>비용 · 한계</a:t>
            </a:r>
          </a:p>
        </p:txBody>
      </p:sp>
      <p:sp>
        <p:nvSpPr>
          <p:cNvPr id="11" name="Rectangle 10"/>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938528"/>
            <a:ext cx="502919" cy="288036"/>
          </a:xfrm>
          <a:prstGeom prst="rect">
            <a:avLst/>
          </a:prstGeom>
          <a:noFill/>
        </p:spPr>
        <p:txBody>
          <a:bodyPr wrap="square" lIns="0" rIns="0" tIns="0" bIns="0" anchor="ctr">
            <a:spAutoFit/>
          </a:bodyPr>
          <a:lstStyle/>
          <a:p>
            <a:r>
              <a:rPr sz="1150" b="1">
                <a:solidFill>
                  <a:srgbClr val="62746D"/>
                </a:solidFill>
                <a:latin typeface="Apple SD Gothic Neo"/>
              </a:rPr>
              <a:t>01</a:t>
            </a:r>
          </a:p>
        </p:txBody>
      </p:sp>
      <p:sp>
        <p:nvSpPr>
          <p:cNvPr id="13" name="TextBox 12"/>
          <p:cNvSpPr txBox="1"/>
          <p:nvPr/>
        </p:nvSpPr>
        <p:spPr>
          <a:xfrm>
            <a:off x="1371600" y="1938528"/>
            <a:ext cx="3886200" cy="288036"/>
          </a:xfrm>
          <a:prstGeom prst="rect">
            <a:avLst/>
          </a:prstGeom>
          <a:noFill/>
        </p:spPr>
        <p:txBody>
          <a:bodyPr wrap="square" lIns="0" rIns="0" tIns="0" bIns="0" anchor="ctr">
            <a:spAutoFit/>
          </a:bodyPr>
          <a:lstStyle/>
          <a:p>
            <a:r>
              <a:rPr sz="1150" b="0">
                <a:solidFill>
                  <a:srgbClr val="19382F"/>
                </a:solidFill>
                <a:latin typeface="Apple SD Gothic Neo"/>
              </a:rPr>
              <a:t>수치 검증을 규칙 기반으로 분리</a:t>
            </a:r>
          </a:p>
        </p:txBody>
      </p:sp>
      <p:sp>
        <p:nvSpPr>
          <p:cNvPr id="14" name="TextBox 13"/>
          <p:cNvSpPr txBox="1"/>
          <p:nvPr/>
        </p:nvSpPr>
        <p:spPr>
          <a:xfrm>
            <a:off x="5394960" y="193852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5" name="TextBox 14"/>
          <p:cNvSpPr txBox="1"/>
          <p:nvPr/>
        </p:nvSpPr>
        <p:spPr>
          <a:xfrm>
            <a:off x="6766560" y="1938528"/>
            <a:ext cx="4709159" cy="288036"/>
          </a:xfrm>
          <a:prstGeom prst="rect">
            <a:avLst/>
          </a:prstGeom>
          <a:noFill/>
        </p:spPr>
        <p:txBody>
          <a:bodyPr wrap="square" lIns="0" rIns="0" tIns="0" bIns="0" anchor="ctr">
            <a:spAutoFit/>
          </a:bodyPr>
          <a:lstStyle/>
          <a:p>
            <a:r>
              <a:rPr sz="1150" b="0">
                <a:solidFill>
                  <a:srgbClr val="B6503E"/>
                </a:solidFill>
                <a:latin typeface="Apple SD Gothic Neo"/>
              </a:rPr>
              <a:t>오탐·누락 가능, 원인 설명은 검증 안 함</a:t>
            </a:r>
          </a:p>
        </p:txBody>
      </p:sp>
      <p:sp>
        <p:nvSpPr>
          <p:cNvPr id="16" name="Rectangle 15"/>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226564"/>
            <a:ext cx="502919" cy="288036"/>
          </a:xfrm>
          <a:prstGeom prst="rect">
            <a:avLst/>
          </a:prstGeom>
          <a:noFill/>
        </p:spPr>
        <p:txBody>
          <a:bodyPr wrap="square" lIns="0" rIns="0" tIns="0" bIns="0" anchor="ctr">
            <a:spAutoFit/>
          </a:bodyPr>
          <a:lstStyle/>
          <a:p>
            <a:r>
              <a:rPr sz="1150" b="1">
                <a:solidFill>
                  <a:srgbClr val="62746D"/>
                </a:solidFill>
                <a:latin typeface="Apple SD Gothic Neo"/>
              </a:rPr>
              <a:t>02</a:t>
            </a:r>
          </a:p>
        </p:txBody>
      </p:sp>
      <p:sp>
        <p:nvSpPr>
          <p:cNvPr id="18" name="TextBox 17"/>
          <p:cNvSpPr txBox="1"/>
          <p:nvPr/>
        </p:nvSpPr>
        <p:spPr>
          <a:xfrm>
            <a:off x="1371600" y="2226564"/>
            <a:ext cx="3886200" cy="288036"/>
          </a:xfrm>
          <a:prstGeom prst="rect">
            <a:avLst/>
          </a:prstGeom>
          <a:noFill/>
        </p:spPr>
        <p:txBody>
          <a:bodyPr wrap="square" lIns="0" rIns="0" tIns="0" bIns="0" anchor="ctr">
            <a:spAutoFit/>
          </a:bodyPr>
          <a:lstStyle/>
          <a:p>
            <a:r>
              <a:rPr sz="1150" b="0">
                <a:solidFill>
                  <a:srgbClr val="19382F"/>
                </a:solidFill>
                <a:latin typeface="Apple SD Gothic Neo"/>
              </a:rPr>
              <a:t>로컬 임베딩 의미 검색</a:t>
            </a:r>
          </a:p>
        </p:txBody>
      </p:sp>
      <p:sp>
        <p:nvSpPr>
          <p:cNvPr id="19" name="TextBox 18"/>
          <p:cNvSpPr txBox="1"/>
          <p:nvPr/>
        </p:nvSpPr>
        <p:spPr>
          <a:xfrm>
            <a:off x="5394960" y="222656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0" name="TextBox 19"/>
          <p:cNvSpPr txBox="1"/>
          <p:nvPr/>
        </p:nvSpPr>
        <p:spPr>
          <a:xfrm>
            <a:off x="6766560" y="2226564"/>
            <a:ext cx="4709159" cy="288036"/>
          </a:xfrm>
          <a:prstGeom prst="rect">
            <a:avLst/>
          </a:prstGeom>
          <a:noFill/>
        </p:spPr>
        <p:txBody>
          <a:bodyPr wrap="square" lIns="0" rIns="0" tIns="0" bIns="0" anchor="ctr">
            <a:spAutoFit/>
          </a:bodyPr>
          <a:lstStyle/>
          <a:p>
            <a:r>
              <a:rPr sz="1150" b="0">
                <a:solidFill>
                  <a:srgbClr val="B6503E"/>
                </a:solidFill>
                <a:latin typeface="Apple SD Gothic Neo"/>
              </a:rPr>
              <a:t>모델 639MB · Ollama 의존, 오선택 1건</a:t>
            </a:r>
          </a:p>
        </p:txBody>
      </p:sp>
      <p:sp>
        <p:nvSpPr>
          <p:cNvPr id="21" name="Rectangle 20"/>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600"/>
            <a:ext cx="502919" cy="288036"/>
          </a:xfrm>
          <a:prstGeom prst="rect">
            <a:avLst/>
          </a:prstGeom>
          <a:noFill/>
        </p:spPr>
        <p:txBody>
          <a:bodyPr wrap="square" lIns="0" rIns="0" tIns="0" bIns="0" anchor="ctr">
            <a:spAutoFit/>
          </a:bodyPr>
          <a:lstStyle/>
          <a:p>
            <a:r>
              <a:rPr sz="1150" b="1">
                <a:solidFill>
                  <a:srgbClr val="62746D"/>
                </a:solidFill>
                <a:latin typeface="Apple SD Gothic Neo"/>
              </a:rPr>
              <a:t>03</a:t>
            </a:r>
          </a:p>
        </p:txBody>
      </p:sp>
      <p:sp>
        <p:nvSpPr>
          <p:cNvPr id="23" name="TextBox 22"/>
          <p:cNvSpPr txBox="1"/>
          <p:nvPr/>
        </p:nvSpPr>
        <p:spPr>
          <a:xfrm>
            <a:off x="1371600" y="2514600"/>
            <a:ext cx="3886200" cy="288036"/>
          </a:xfrm>
          <a:prstGeom prst="rect">
            <a:avLst/>
          </a:prstGeom>
          <a:noFill/>
        </p:spPr>
        <p:txBody>
          <a:bodyPr wrap="square" lIns="0" rIns="0" tIns="0" bIns="0" anchor="ctr">
            <a:spAutoFit/>
          </a:bodyPr>
          <a:lstStyle/>
          <a:p>
            <a:r>
              <a:rPr sz="1150" b="0">
                <a:solidFill>
                  <a:srgbClr val="19382F"/>
                </a:solidFill>
                <a:latin typeface="Apple SD Gothic Neo"/>
              </a:rPr>
              <a:t>병렬 조사 실패 격리</a:t>
            </a:r>
          </a:p>
        </p:txBody>
      </p:sp>
      <p:sp>
        <p:nvSpPr>
          <p:cNvPr id="24" name="TextBox 23"/>
          <p:cNvSpPr txBox="1"/>
          <p:nvPr/>
        </p:nvSpPr>
        <p:spPr>
          <a:xfrm>
            <a:off x="5394960" y="251460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5" name="TextBox 24"/>
          <p:cNvSpPr txBox="1"/>
          <p:nvPr/>
        </p:nvSpPr>
        <p:spPr>
          <a:xfrm>
            <a:off x="6766560" y="2514600"/>
            <a:ext cx="4709159" cy="288036"/>
          </a:xfrm>
          <a:prstGeom prst="rect">
            <a:avLst/>
          </a:prstGeom>
          <a:noFill/>
        </p:spPr>
        <p:txBody>
          <a:bodyPr wrap="square" lIns="0" rIns="0" tIns="0" bIns="0" anchor="ctr">
            <a:spAutoFit/>
          </a:bodyPr>
          <a:lstStyle/>
          <a:p>
            <a:r>
              <a:rPr sz="1150" b="0">
                <a:solidFill>
                  <a:srgbClr val="B6503E"/>
                </a:solidFill>
                <a:latin typeface="Apple SD Gothic Neo"/>
              </a:rPr>
              <a:t>부분 결과가 완전한 진단처럼 보일 위험</a:t>
            </a:r>
          </a:p>
        </p:txBody>
      </p:sp>
      <p:sp>
        <p:nvSpPr>
          <p:cNvPr id="26" name="Rectangle 25"/>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2802636"/>
            <a:ext cx="502919" cy="288036"/>
          </a:xfrm>
          <a:prstGeom prst="rect">
            <a:avLst/>
          </a:prstGeom>
          <a:noFill/>
        </p:spPr>
        <p:txBody>
          <a:bodyPr wrap="square" lIns="0" rIns="0" tIns="0" bIns="0" anchor="ctr">
            <a:spAutoFit/>
          </a:bodyPr>
          <a:lstStyle/>
          <a:p>
            <a:r>
              <a:rPr sz="1150" b="1">
                <a:solidFill>
                  <a:srgbClr val="62746D"/>
                </a:solidFill>
                <a:latin typeface="Apple SD Gothic Neo"/>
              </a:rPr>
              <a:t>04</a:t>
            </a:r>
          </a:p>
        </p:txBody>
      </p:sp>
      <p:sp>
        <p:nvSpPr>
          <p:cNvPr id="28" name="TextBox 27"/>
          <p:cNvSpPr txBox="1"/>
          <p:nvPr/>
        </p:nvSpPr>
        <p:spPr>
          <a:xfrm>
            <a:off x="1371600" y="2802636"/>
            <a:ext cx="3886200" cy="288036"/>
          </a:xfrm>
          <a:prstGeom prst="rect">
            <a:avLst/>
          </a:prstGeom>
          <a:noFill/>
        </p:spPr>
        <p:txBody>
          <a:bodyPr wrap="square" lIns="0" rIns="0" tIns="0" bIns="0" anchor="ctr">
            <a:spAutoFit/>
          </a:bodyPr>
          <a:lstStyle/>
          <a:p>
            <a:r>
              <a:rPr sz="1150" b="0">
                <a:solidFill>
                  <a:srgbClr val="19382F"/>
                </a:solidFill>
                <a:latin typeface="Apple SD Gothic Neo"/>
              </a:rPr>
              <a:t>초안 비공개 · 근거 표시 화면</a:t>
            </a:r>
          </a:p>
        </p:txBody>
      </p:sp>
      <p:sp>
        <p:nvSpPr>
          <p:cNvPr id="29" name="TextBox 28"/>
          <p:cNvSpPr txBox="1"/>
          <p:nvPr/>
        </p:nvSpPr>
        <p:spPr>
          <a:xfrm>
            <a:off x="5394960" y="280263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0" name="TextBox 29"/>
          <p:cNvSpPr txBox="1"/>
          <p:nvPr/>
        </p:nvSpPr>
        <p:spPr>
          <a:xfrm>
            <a:off x="6766560" y="2802636"/>
            <a:ext cx="4709159" cy="288036"/>
          </a:xfrm>
          <a:prstGeom prst="rect">
            <a:avLst/>
          </a:prstGeom>
          <a:noFill/>
        </p:spPr>
        <p:txBody>
          <a:bodyPr wrap="square" lIns="0" rIns="0" tIns="0" bIns="0" anchor="ctr">
            <a:spAutoFit/>
          </a:bodyPr>
          <a:lstStyle/>
          <a:p>
            <a:r>
              <a:rPr sz="1150" b="0">
                <a:solidFill>
                  <a:srgbClr val="B6503E"/>
                </a:solidFill>
                <a:latin typeface="Apple SD Gothic Neo"/>
              </a:rPr>
              <a:t>최종 답변까지 대기</a:t>
            </a:r>
          </a:p>
        </p:txBody>
      </p:sp>
      <p:sp>
        <p:nvSpPr>
          <p:cNvPr id="31" name="Rectangle 30"/>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3090672"/>
            <a:ext cx="502919" cy="288036"/>
          </a:xfrm>
          <a:prstGeom prst="rect">
            <a:avLst/>
          </a:prstGeom>
          <a:noFill/>
        </p:spPr>
        <p:txBody>
          <a:bodyPr wrap="square" lIns="0" rIns="0" tIns="0" bIns="0" anchor="ctr">
            <a:spAutoFit/>
          </a:bodyPr>
          <a:lstStyle/>
          <a:p>
            <a:r>
              <a:rPr sz="1150" b="1">
                <a:solidFill>
                  <a:srgbClr val="62746D"/>
                </a:solidFill>
                <a:latin typeface="Apple SD Gothic Neo"/>
              </a:rPr>
              <a:t>05</a:t>
            </a:r>
          </a:p>
        </p:txBody>
      </p:sp>
      <p:sp>
        <p:nvSpPr>
          <p:cNvPr id="33" name="TextBox 32"/>
          <p:cNvSpPr txBox="1"/>
          <p:nvPr/>
        </p:nvSpPr>
        <p:spPr>
          <a:xfrm>
            <a:off x="1371600" y="3090672"/>
            <a:ext cx="3886200" cy="288036"/>
          </a:xfrm>
          <a:prstGeom prst="rect">
            <a:avLst/>
          </a:prstGeom>
          <a:noFill/>
        </p:spPr>
        <p:txBody>
          <a:bodyPr wrap="square" lIns="0" rIns="0" tIns="0" bIns="0" anchor="ctr">
            <a:spAutoFit/>
          </a:bodyPr>
          <a:lstStyle/>
          <a:p>
            <a:r>
              <a:rPr sz="1150" b="0">
                <a:solidFill>
                  <a:srgbClr val="19382F"/>
                </a:solidFill>
                <a:latin typeface="Apple SD Gothic Neo"/>
              </a:rPr>
              <a:t>LangGraph 상태 그래프</a:t>
            </a:r>
          </a:p>
        </p:txBody>
      </p:sp>
      <p:sp>
        <p:nvSpPr>
          <p:cNvPr id="34" name="TextBox 33"/>
          <p:cNvSpPr txBox="1"/>
          <p:nvPr/>
        </p:nvSpPr>
        <p:spPr>
          <a:xfrm>
            <a:off x="5394960" y="3090672"/>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5" name="TextBox 34"/>
          <p:cNvSpPr txBox="1"/>
          <p:nvPr/>
        </p:nvSpPr>
        <p:spPr>
          <a:xfrm>
            <a:off x="6766560" y="3090672"/>
            <a:ext cx="4709159" cy="288036"/>
          </a:xfrm>
          <a:prstGeom prst="rect">
            <a:avLst/>
          </a:prstGeom>
          <a:noFill/>
        </p:spPr>
        <p:txBody>
          <a:bodyPr wrap="square" lIns="0" rIns="0" tIns="0" bIns="0" anchor="ctr">
            <a:spAutoFit/>
          </a:bodyPr>
          <a:lstStyle/>
          <a:p>
            <a:r>
              <a:rPr sz="1150" b="0">
                <a:solidFill>
                  <a:srgbClr val="B6503E"/>
                </a:solidFill>
                <a:latin typeface="Apple SD Gothic Neo"/>
              </a:rPr>
              <a:t>분기가 코드 곳곳에 분산</a:t>
            </a:r>
          </a:p>
        </p:txBody>
      </p:sp>
      <p:sp>
        <p:nvSpPr>
          <p:cNvPr id="36" name="Rectangle 35"/>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378708"/>
            <a:ext cx="502919" cy="288036"/>
          </a:xfrm>
          <a:prstGeom prst="rect">
            <a:avLst/>
          </a:prstGeom>
          <a:noFill/>
        </p:spPr>
        <p:txBody>
          <a:bodyPr wrap="square" lIns="0" rIns="0" tIns="0" bIns="0" anchor="ctr">
            <a:spAutoFit/>
          </a:bodyPr>
          <a:lstStyle/>
          <a:p>
            <a:r>
              <a:rPr sz="1150" b="1">
                <a:solidFill>
                  <a:srgbClr val="62746D"/>
                </a:solidFill>
                <a:latin typeface="Apple SD Gothic Neo"/>
              </a:rPr>
              <a:t>06</a:t>
            </a:r>
          </a:p>
        </p:txBody>
      </p:sp>
      <p:sp>
        <p:nvSpPr>
          <p:cNvPr id="38" name="TextBox 37"/>
          <p:cNvSpPr txBox="1"/>
          <p:nvPr/>
        </p:nvSpPr>
        <p:spPr>
          <a:xfrm>
            <a:off x="1371600" y="3378708"/>
            <a:ext cx="3886200" cy="288036"/>
          </a:xfrm>
          <a:prstGeom prst="rect">
            <a:avLst/>
          </a:prstGeom>
          <a:noFill/>
        </p:spPr>
        <p:txBody>
          <a:bodyPr wrap="square" lIns="0" rIns="0" tIns="0" bIns="0" anchor="ctr">
            <a:spAutoFit/>
          </a:bodyPr>
          <a:lstStyle/>
          <a:p>
            <a:r>
              <a:rPr sz="1150" b="0">
                <a:solidFill>
                  <a:srgbClr val="19382F"/>
                </a:solidFill>
                <a:latin typeface="Apple SD Gothic Neo"/>
              </a:rPr>
              <a:t>SSE 단방향 진행 스트리밍</a:t>
            </a:r>
          </a:p>
        </p:txBody>
      </p:sp>
      <p:sp>
        <p:nvSpPr>
          <p:cNvPr id="39" name="TextBox 38"/>
          <p:cNvSpPr txBox="1"/>
          <p:nvPr/>
        </p:nvSpPr>
        <p:spPr>
          <a:xfrm>
            <a:off x="5394960" y="3378708"/>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0" name="TextBox 39"/>
          <p:cNvSpPr txBox="1"/>
          <p:nvPr/>
        </p:nvSpPr>
        <p:spPr>
          <a:xfrm>
            <a:off x="6766560" y="3378708"/>
            <a:ext cx="4709159" cy="288036"/>
          </a:xfrm>
          <a:prstGeom prst="rect">
            <a:avLst/>
          </a:prstGeom>
          <a:noFill/>
        </p:spPr>
        <p:txBody>
          <a:bodyPr wrap="square" lIns="0" rIns="0" tIns="0" bIns="0" anchor="ctr">
            <a:spAutoFit/>
          </a:bodyPr>
          <a:lstStyle/>
          <a:p>
            <a:r>
              <a:rPr sz="1150" b="0">
                <a:solidFill>
                  <a:srgbClr val="B6503E"/>
                </a:solidFill>
                <a:latin typeface="Apple SD Gothic Neo"/>
              </a:rPr>
              <a:t>답변 본문은 완료 후 한 번에 출력</a:t>
            </a:r>
          </a:p>
        </p:txBody>
      </p:sp>
      <p:sp>
        <p:nvSpPr>
          <p:cNvPr id="41" name="Rectangle 40"/>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666744"/>
            <a:ext cx="502919" cy="288036"/>
          </a:xfrm>
          <a:prstGeom prst="rect">
            <a:avLst/>
          </a:prstGeom>
          <a:noFill/>
        </p:spPr>
        <p:txBody>
          <a:bodyPr wrap="square" lIns="0" rIns="0" tIns="0" bIns="0" anchor="ctr">
            <a:spAutoFit/>
          </a:bodyPr>
          <a:lstStyle/>
          <a:p>
            <a:r>
              <a:rPr sz="1150" b="1">
                <a:solidFill>
                  <a:srgbClr val="62746D"/>
                </a:solidFill>
                <a:latin typeface="Apple SD Gothic Neo"/>
              </a:rPr>
              <a:t>07</a:t>
            </a:r>
          </a:p>
        </p:txBody>
      </p:sp>
      <p:sp>
        <p:nvSpPr>
          <p:cNvPr id="43" name="TextBox 42"/>
          <p:cNvSpPr txBox="1"/>
          <p:nvPr/>
        </p:nvSpPr>
        <p:spPr>
          <a:xfrm>
            <a:off x="1371600" y="3666744"/>
            <a:ext cx="3886200" cy="288036"/>
          </a:xfrm>
          <a:prstGeom prst="rect">
            <a:avLst/>
          </a:prstGeom>
          <a:noFill/>
        </p:spPr>
        <p:txBody>
          <a:bodyPr wrap="square" lIns="0" rIns="0" tIns="0" bIns="0" anchor="ctr">
            <a:spAutoFit/>
          </a:bodyPr>
          <a:lstStyle/>
          <a:p>
            <a:r>
              <a:rPr sz="1150" b="0">
                <a:solidFill>
                  <a:srgbClr val="19382F"/>
                </a:solidFill>
                <a:latin typeface="Apple SD Gothic Neo"/>
              </a:rPr>
              <a:t>세션을 SQLite에 저장</a:t>
            </a:r>
          </a:p>
        </p:txBody>
      </p:sp>
      <p:sp>
        <p:nvSpPr>
          <p:cNvPr id="44" name="TextBox 43"/>
          <p:cNvSpPr txBox="1"/>
          <p:nvPr/>
        </p:nvSpPr>
        <p:spPr>
          <a:xfrm>
            <a:off x="5394960" y="3666744"/>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5" name="TextBox 44"/>
          <p:cNvSpPr txBox="1"/>
          <p:nvPr/>
        </p:nvSpPr>
        <p:spPr>
          <a:xfrm>
            <a:off x="6766560" y="3666744"/>
            <a:ext cx="4709159" cy="288036"/>
          </a:xfrm>
          <a:prstGeom prst="rect">
            <a:avLst/>
          </a:prstGeom>
          <a:noFill/>
        </p:spPr>
        <p:txBody>
          <a:bodyPr wrap="square" lIns="0" rIns="0" tIns="0" bIns="0" anchor="ctr">
            <a:spAutoFit/>
          </a:bodyPr>
          <a:lstStyle/>
          <a:p>
            <a:r>
              <a:rPr sz="1150" b="0">
                <a:solidFill>
                  <a:srgbClr val="B6503E"/>
                </a:solidFill>
                <a:latin typeface="Apple SD Gothic Neo"/>
              </a:rPr>
              <a:t>다중 서버 확장에는 부적합</a:t>
            </a:r>
          </a:p>
        </p:txBody>
      </p:sp>
      <p:sp>
        <p:nvSpPr>
          <p:cNvPr id="46" name="Rectangle 45"/>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3954780"/>
            <a:ext cx="502919" cy="288036"/>
          </a:xfrm>
          <a:prstGeom prst="rect">
            <a:avLst/>
          </a:prstGeom>
          <a:noFill/>
        </p:spPr>
        <p:txBody>
          <a:bodyPr wrap="square" lIns="0" rIns="0" tIns="0" bIns="0" anchor="ctr">
            <a:spAutoFit/>
          </a:bodyPr>
          <a:lstStyle/>
          <a:p>
            <a:r>
              <a:rPr sz="1150" b="1">
                <a:solidFill>
                  <a:srgbClr val="62746D"/>
                </a:solidFill>
                <a:latin typeface="Apple SD Gothic Neo"/>
              </a:rPr>
              <a:t>08</a:t>
            </a:r>
          </a:p>
        </p:txBody>
      </p:sp>
      <p:sp>
        <p:nvSpPr>
          <p:cNvPr id="48" name="TextBox 47"/>
          <p:cNvSpPr txBox="1"/>
          <p:nvPr/>
        </p:nvSpPr>
        <p:spPr>
          <a:xfrm>
            <a:off x="1371600" y="3954780"/>
            <a:ext cx="3886200" cy="288036"/>
          </a:xfrm>
          <a:prstGeom prst="rect">
            <a:avLst/>
          </a:prstGeom>
          <a:noFill/>
        </p:spPr>
        <p:txBody>
          <a:bodyPr wrap="square" lIns="0" rIns="0" tIns="0" bIns="0" anchor="ctr">
            <a:spAutoFit/>
          </a:bodyPr>
          <a:lstStyle/>
          <a:p>
            <a:r>
              <a:rPr sz="1150" b="0">
                <a:solidFill>
                  <a:srgbClr val="19382F"/>
                </a:solidFill>
                <a:latin typeface="Apple SD Gothic Neo"/>
              </a:rPr>
              <a:t>모델을 fast/quality로 분리</a:t>
            </a:r>
          </a:p>
        </p:txBody>
      </p:sp>
      <p:sp>
        <p:nvSpPr>
          <p:cNvPr id="49" name="TextBox 48"/>
          <p:cNvSpPr txBox="1"/>
          <p:nvPr/>
        </p:nvSpPr>
        <p:spPr>
          <a:xfrm>
            <a:off x="5394960" y="3954780"/>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0" name="TextBox 49"/>
          <p:cNvSpPr txBox="1"/>
          <p:nvPr/>
        </p:nvSpPr>
        <p:spPr>
          <a:xfrm>
            <a:off x="6766560" y="3954780"/>
            <a:ext cx="4709159" cy="288036"/>
          </a:xfrm>
          <a:prstGeom prst="rect">
            <a:avLst/>
          </a:prstGeom>
          <a:noFill/>
        </p:spPr>
        <p:txBody>
          <a:bodyPr wrap="square" lIns="0" rIns="0" tIns="0" bIns="0" anchor="ctr">
            <a:spAutoFit/>
          </a:bodyPr>
          <a:lstStyle/>
          <a:p>
            <a:r>
              <a:rPr sz="1150" b="0">
                <a:solidFill>
                  <a:srgbClr val="B6503E"/>
                </a:solidFill>
                <a:latin typeface="Apple SD Gothic Neo"/>
              </a:rPr>
              <a:t>글자 수 기반 추정, 단가는 가정값</a:t>
            </a:r>
          </a:p>
        </p:txBody>
      </p:sp>
      <p:sp>
        <p:nvSpPr>
          <p:cNvPr id="51" name="Rectangle 50"/>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19" y="4242816"/>
            <a:ext cx="502919" cy="288036"/>
          </a:xfrm>
          <a:prstGeom prst="rect">
            <a:avLst/>
          </a:prstGeom>
          <a:noFill/>
        </p:spPr>
        <p:txBody>
          <a:bodyPr wrap="square" lIns="0" rIns="0" tIns="0" bIns="0" anchor="ctr">
            <a:spAutoFit/>
          </a:bodyPr>
          <a:lstStyle/>
          <a:p>
            <a:r>
              <a:rPr sz="1150" b="1">
                <a:solidFill>
                  <a:srgbClr val="62746D"/>
                </a:solidFill>
                <a:latin typeface="Apple SD Gothic Neo"/>
              </a:rPr>
              <a:t>09</a:t>
            </a:r>
          </a:p>
        </p:txBody>
      </p:sp>
      <p:sp>
        <p:nvSpPr>
          <p:cNvPr id="53" name="TextBox 52"/>
          <p:cNvSpPr txBox="1"/>
          <p:nvPr/>
        </p:nvSpPr>
        <p:spPr>
          <a:xfrm>
            <a:off x="1371600" y="4242816"/>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조사를 동시 실행</a:t>
            </a:r>
          </a:p>
        </p:txBody>
      </p:sp>
      <p:sp>
        <p:nvSpPr>
          <p:cNvPr id="54" name="TextBox 53"/>
          <p:cNvSpPr txBox="1"/>
          <p:nvPr/>
        </p:nvSpPr>
        <p:spPr>
          <a:xfrm>
            <a:off x="5394960" y="4242816"/>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5" name="TextBox 54"/>
          <p:cNvSpPr txBox="1"/>
          <p:nvPr/>
        </p:nvSpPr>
        <p:spPr>
          <a:xfrm>
            <a:off x="6766560" y="4242816"/>
            <a:ext cx="4709159" cy="288036"/>
          </a:xfrm>
          <a:prstGeom prst="rect">
            <a:avLst/>
          </a:prstGeom>
          <a:noFill/>
        </p:spPr>
        <p:txBody>
          <a:bodyPr wrap="square" lIns="0" rIns="0" tIns="0" bIns="0" anchor="ctr">
            <a:spAutoFit/>
          </a:bodyPr>
          <a:lstStyle/>
          <a:p>
            <a:r>
              <a:rPr sz="1150" b="0">
                <a:solidFill>
                  <a:srgbClr val="B6503E"/>
                </a:solidFill>
                <a:latin typeface="Apple SD Gothic Neo"/>
              </a:rPr>
              <a:t>0.35초 고정 지연은 모의 값</a:t>
            </a:r>
          </a:p>
        </p:txBody>
      </p:sp>
      <p:sp>
        <p:nvSpPr>
          <p:cNvPr id="56" name="Rectangle 5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19" y="4530852"/>
            <a:ext cx="502919" cy="288036"/>
          </a:xfrm>
          <a:prstGeom prst="rect">
            <a:avLst/>
          </a:prstGeom>
          <a:noFill/>
        </p:spPr>
        <p:txBody>
          <a:bodyPr wrap="square" lIns="0" rIns="0" tIns="0" bIns="0" anchor="ctr">
            <a:spAutoFit/>
          </a:bodyPr>
          <a:lstStyle/>
          <a:p>
            <a:r>
              <a:rPr sz="1150" b="1">
                <a:solidFill>
                  <a:srgbClr val="62746D"/>
                </a:solidFill>
                <a:latin typeface="Apple SD Gothic Neo"/>
              </a:rPr>
              <a:t>10</a:t>
            </a:r>
          </a:p>
        </p:txBody>
      </p:sp>
      <p:sp>
        <p:nvSpPr>
          <p:cNvPr id="58" name="TextBox 57"/>
          <p:cNvSpPr txBox="1"/>
          <p:nvPr/>
        </p:nvSpPr>
        <p:spPr>
          <a:xfrm>
            <a:off x="1371600" y="4530852"/>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 서브에이전트 분리</a:t>
            </a:r>
          </a:p>
        </p:txBody>
      </p:sp>
      <p:sp>
        <p:nvSpPr>
          <p:cNvPr id="59" name="TextBox 58"/>
          <p:cNvSpPr txBox="1"/>
          <p:nvPr/>
        </p:nvSpPr>
        <p:spPr>
          <a:xfrm>
            <a:off x="5394960" y="4530852"/>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0" name="TextBox 59"/>
          <p:cNvSpPr txBox="1"/>
          <p:nvPr/>
        </p:nvSpPr>
        <p:spPr>
          <a:xfrm>
            <a:off x="6766560" y="4530852"/>
            <a:ext cx="4709159" cy="288036"/>
          </a:xfrm>
          <a:prstGeom prst="rect">
            <a:avLst/>
          </a:prstGeom>
          <a:noFill/>
        </p:spPr>
        <p:txBody>
          <a:bodyPr wrap="square" lIns="0" rIns="0" tIns="0" bIns="0" anchor="ctr">
            <a:spAutoFit/>
          </a:bodyPr>
          <a:lstStyle/>
          <a:p>
            <a:r>
              <a:rPr sz="1150" b="0">
                <a:solidFill>
                  <a:srgbClr val="B6503E"/>
                </a:solidFill>
                <a:latin typeface="Apple SD Gothic Neo"/>
              </a:rPr>
              <a:t>속도 이득 없음 · LLM 판단 아님</a:t>
            </a:r>
          </a:p>
        </p:txBody>
      </p:sp>
      <p:sp>
        <p:nvSpPr>
          <p:cNvPr id="61" name="Rectangle 60"/>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19" y="4818888"/>
            <a:ext cx="502919" cy="288036"/>
          </a:xfrm>
          <a:prstGeom prst="rect">
            <a:avLst/>
          </a:prstGeom>
          <a:noFill/>
        </p:spPr>
        <p:txBody>
          <a:bodyPr wrap="square" lIns="0" rIns="0" tIns="0" bIns="0" anchor="ctr">
            <a:spAutoFit/>
          </a:bodyPr>
          <a:lstStyle/>
          <a:p>
            <a:r>
              <a:rPr sz="1150" b="1">
                <a:solidFill>
                  <a:srgbClr val="62746D"/>
                </a:solidFill>
                <a:latin typeface="Apple SD Gothic Neo"/>
              </a:rPr>
              <a:t>11</a:t>
            </a:r>
          </a:p>
        </p:txBody>
      </p:sp>
      <p:sp>
        <p:nvSpPr>
          <p:cNvPr id="63" name="TextBox 62"/>
          <p:cNvSpPr txBox="1"/>
          <p:nvPr/>
        </p:nvSpPr>
        <p:spPr>
          <a:xfrm>
            <a:off x="1371600" y="4818888"/>
            <a:ext cx="3886200" cy="288036"/>
          </a:xfrm>
          <a:prstGeom prst="rect">
            <a:avLst/>
          </a:prstGeom>
          <a:noFill/>
        </p:spPr>
        <p:txBody>
          <a:bodyPr wrap="square" lIns="0" rIns="0" tIns="0" bIns="0" anchor="ctr">
            <a:spAutoFit/>
          </a:bodyPr>
          <a:lstStyle/>
          <a:p>
            <a:r>
              <a:rPr sz="1150" b="0">
                <a:solidFill>
                  <a:srgbClr val="19382F"/>
                </a:solidFill>
                <a:latin typeface="Apple SD Gothic Neo"/>
              </a:rPr>
              <a:t>대상 시스템을 코드가 해석</a:t>
            </a:r>
          </a:p>
        </p:txBody>
      </p:sp>
      <p:sp>
        <p:nvSpPr>
          <p:cNvPr id="64" name="TextBox 63"/>
          <p:cNvSpPr txBox="1"/>
          <p:nvPr/>
        </p:nvSpPr>
        <p:spPr>
          <a:xfrm>
            <a:off x="5394960" y="481888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5" name="TextBox 64"/>
          <p:cNvSpPr txBox="1"/>
          <p:nvPr/>
        </p:nvSpPr>
        <p:spPr>
          <a:xfrm>
            <a:off x="6766560" y="4818888"/>
            <a:ext cx="4709159" cy="288036"/>
          </a:xfrm>
          <a:prstGeom prst="rect">
            <a:avLst/>
          </a:prstGeom>
          <a:noFill/>
        </p:spPr>
        <p:txBody>
          <a:bodyPr wrap="square" lIns="0" rIns="0" tIns="0" bIns="0" anchor="ctr">
            <a:spAutoFit/>
          </a:bodyPr>
          <a:lstStyle/>
          <a:p>
            <a:r>
              <a:rPr sz="1150" b="0">
                <a:solidFill>
                  <a:srgbClr val="B6503E"/>
                </a:solidFill>
                <a:latin typeface="Apple SD Gothic Neo"/>
              </a:rPr>
              <a:t>정규식 의존 · 되묻기가 아니라 알림</a:t>
            </a:r>
          </a:p>
        </p:txBody>
      </p:sp>
      <p:sp>
        <p:nvSpPr>
          <p:cNvPr id="66" name="Rectangle 65"/>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106924"/>
            <a:ext cx="502919" cy="288036"/>
          </a:xfrm>
          <a:prstGeom prst="rect">
            <a:avLst/>
          </a:prstGeom>
          <a:noFill/>
        </p:spPr>
        <p:txBody>
          <a:bodyPr wrap="square" lIns="0" rIns="0" tIns="0" bIns="0" anchor="ctr">
            <a:spAutoFit/>
          </a:bodyPr>
          <a:lstStyle/>
          <a:p>
            <a:r>
              <a:rPr sz="1150" b="1">
                <a:solidFill>
                  <a:srgbClr val="62746D"/>
                </a:solidFill>
                <a:latin typeface="Apple SD Gothic Neo"/>
              </a:rPr>
              <a:t>12</a:t>
            </a:r>
          </a:p>
        </p:txBody>
      </p:sp>
      <p:sp>
        <p:nvSpPr>
          <p:cNvPr id="68" name="TextBox 67"/>
          <p:cNvSpPr txBox="1"/>
          <p:nvPr/>
        </p:nvSpPr>
        <p:spPr>
          <a:xfrm>
            <a:off x="1371600" y="5106924"/>
            <a:ext cx="3886200" cy="288036"/>
          </a:xfrm>
          <a:prstGeom prst="rect">
            <a:avLst/>
          </a:prstGeom>
          <a:noFill/>
        </p:spPr>
        <p:txBody>
          <a:bodyPr wrap="square" lIns="0" rIns="0" tIns="0" bIns="0" anchor="ctr">
            <a:spAutoFit/>
          </a:bodyPr>
          <a:lstStyle/>
          <a:p>
            <a:r>
              <a:rPr sz="1150" b="0">
                <a:solidFill>
                  <a:srgbClr val="19382F"/>
                </a:solidFill>
                <a:latin typeface="Apple SD Gothic Neo"/>
              </a:rPr>
              <a:t>검증기 2차 (표현 범위 확대)</a:t>
            </a:r>
          </a:p>
        </p:txBody>
      </p:sp>
      <p:sp>
        <p:nvSpPr>
          <p:cNvPr id="69" name="TextBox 68"/>
          <p:cNvSpPr txBox="1"/>
          <p:nvPr/>
        </p:nvSpPr>
        <p:spPr>
          <a:xfrm>
            <a:off x="5394960" y="510692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0" name="TextBox 69"/>
          <p:cNvSpPr txBox="1"/>
          <p:nvPr/>
        </p:nvSpPr>
        <p:spPr>
          <a:xfrm>
            <a:off x="6766560" y="5106924"/>
            <a:ext cx="4709159" cy="288036"/>
          </a:xfrm>
          <a:prstGeom prst="rect">
            <a:avLst/>
          </a:prstGeom>
          <a:noFill/>
        </p:spPr>
        <p:txBody>
          <a:bodyPr wrap="square" lIns="0" rIns="0" tIns="0" bIns="0" anchor="ctr">
            <a:spAutoFit/>
          </a:bodyPr>
          <a:lstStyle/>
          <a:p>
            <a:r>
              <a:rPr sz="1150" b="0">
                <a:solidFill>
                  <a:srgbClr val="B6503E"/>
                </a:solidFill>
                <a:latin typeface="Apple SD Gothic Neo"/>
              </a:rPr>
              <a:t>표적 사례 중심이라 수치가 낙관적</a:t>
            </a:r>
          </a:p>
        </p:txBody>
      </p:sp>
      <p:sp>
        <p:nvSpPr>
          <p:cNvPr id="71" name="Rectangle 70"/>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1519" y="5394960"/>
            <a:ext cx="502919" cy="288036"/>
          </a:xfrm>
          <a:prstGeom prst="rect">
            <a:avLst/>
          </a:prstGeom>
          <a:noFill/>
        </p:spPr>
        <p:txBody>
          <a:bodyPr wrap="square" lIns="0" rIns="0" tIns="0" bIns="0" anchor="ctr">
            <a:spAutoFit/>
          </a:bodyPr>
          <a:lstStyle/>
          <a:p>
            <a:r>
              <a:rPr sz="1150" b="1">
                <a:solidFill>
                  <a:srgbClr val="62746D"/>
                </a:solidFill>
                <a:latin typeface="Apple SD Gothic Neo"/>
              </a:rPr>
              <a:t>13</a:t>
            </a:r>
          </a:p>
        </p:txBody>
      </p:sp>
      <p:sp>
        <p:nvSpPr>
          <p:cNvPr id="73" name="TextBox 72"/>
          <p:cNvSpPr txBox="1"/>
          <p:nvPr/>
        </p:nvSpPr>
        <p:spPr>
          <a:xfrm>
            <a:off x="1371600" y="5394960"/>
            <a:ext cx="3886200" cy="288036"/>
          </a:xfrm>
          <a:prstGeom prst="rect">
            <a:avLst/>
          </a:prstGeom>
          <a:noFill/>
        </p:spPr>
        <p:txBody>
          <a:bodyPr wrap="square" lIns="0" rIns="0" tIns="0" bIns="0" anchor="ctr">
            <a:spAutoFit/>
          </a:bodyPr>
          <a:lstStyle/>
          <a:p>
            <a:r>
              <a:rPr sz="1150" b="0">
                <a:solidFill>
                  <a:srgbClr val="19382F"/>
                </a:solidFill>
                <a:latin typeface="Apple SD Gothic Neo"/>
              </a:rPr>
              <a:t>그래프 노드를 모듈로 분리</a:t>
            </a:r>
          </a:p>
        </p:txBody>
      </p:sp>
      <p:sp>
        <p:nvSpPr>
          <p:cNvPr id="74" name="TextBox 73"/>
          <p:cNvSpPr txBox="1"/>
          <p:nvPr/>
        </p:nvSpPr>
        <p:spPr>
          <a:xfrm>
            <a:off x="5394960" y="539496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5" name="TextBox 74"/>
          <p:cNvSpPr txBox="1"/>
          <p:nvPr/>
        </p:nvSpPr>
        <p:spPr>
          <a:xfrm>
            <a:off x="6766560" y="5394960"/>
            <a:ext cx="4709159" cy="288036"/>
          </a:xfrm>
          <a:prstGeom prst="rect">
            <a:avLst/>
          </a:prstGeom>
          <a:noFill/>
        </p:spPr>
        <p:txBody>
          <a:bodyPr wrap="square" lIns="0" rIns="0" tIns="0" bIns="0" anchor="ctr">
            <a:spAutoFit/>
          </a:bodyPr>
          <a:lstStyle/>
          <a:p>
            <a:r>
              <a:rPr sz="1150" b="0">
                <a:solidFill>
                  <a:srgbClr val="B6503E"/>
                </a:solidFill>
                <a:latin typeface="Apple SD Gothic Neo"/>
              </a:rPr>
              <a:t>파일 수 증가 · 수치로 증명하지 않음</a:t>
            </a:r>
          </a:p>
        </p:txBody>
      </p:sp>
      <p:sp>
        <p:nvSpPr>
          <p:cNvPr id="76" name="Rectangle 75"/>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19" y="5682996"/>
            <a:ext cx="502919" cy="288036"/>
          </a:xfrm>
          <a:prstGeom prst="rect">
            <a:avLst/>
          </a:prstGeom>
          <a:noFill/>
        </p:spPr>
        <p:txBody>
          <a:bodyPr wrap="square" lIns="0" rIns="0" tIns="0" bIns="0" anchor="ctr">
            <a:spAutoFit/>
          </a:bodyPr>
          <a:lstStyle/>
          <a:p>
            <a:r>
              <a:rPr sz="1150" b="1">
                <a:solidFill>
                  <a:srgbClr val="62746D"/>
                </a:solidFill>
                <a:latin typeface="Apple SD Gothic Neo"/>
              </a:rPr>
              <a:t>14</a:t>
            </a:r>
          </a:p>
        </p:txBody>
      </p:sp>
      <p:sp>
        <p:nvSpPr>
          <p:cNvPr id="78" name="TextBox 77"/>
          <p:cNvSpPr txBox="1"/>
          <p:nvPr/>
        </p:nvSpPr>
        <p:spPr>
          <a:xfrm>
            <a:off x="1371600" y="5682996"/>
            <a:ext cx="3886200" cy="288036"/>
          </a:xfrm>
          <a:prstGeom prst="rect">
            <a:avLst/>
          </a:prstGeom>
          <a:noFill/>
        </p:spPr>
        <p:txBody>
          <a:bodyPr wrap="square" lIns="0" rIns="0" tIns="0" bIns="0" anchor="ctr">
            <a:spAutoFit/>
          </a:bodyPr>
          <a:lstStyle/>
          <a:p>
            <a:r>
              <a:rPr sz="1150" b="0">
                <a:solidFill>
                  <a:srgbClr val="19382F"/>
                </a:solidFill>
                <a:latin typeface="Apple SD Gothic Neo"/>
              </a:rPr>
              <a:t>근거 0건이면 작성 모델 호출 생략</a:t>
            </a:r>
          </a:p>
        </p:txBody>
      </p:sp>
      <p:sp>
        <p:nvSpPr>
          <p:cNvPr id="79" name="TextBox 78"/>
          <p:cNvSpPr txBox="1"/>
          <p:nvPr/>
        </p:nvSpPr>
        <p:spPr>
          <a:xfrm>
            <a:off x="5394960" y="568299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80" name="TextBox 79"/>
          <p:cNvSpPr txBox="1"/>
          <p:nvPr/>
        </p:nvSpPr>
        <p:spPr>
          <a:xfrm>
            <a:off x="6766560" y="5682996"/>
            <a:ext cx="4709159" cy="288036"/>
          </a:xfrm>
          <a:prstGeom prst="rect">
            <a:avLst/>
          </a:prstGeom>
          <a:noFill/>
        </p:spPr>
        <p:txBody>
          <a:bodyPr wrap="square" lIns="0" rIns="0" tIns="0" bIns="0" anchor="ctr">
            <a:spAutoFit/>
          </a:bodyPr>
          <a:lstStyle/>
          <a:p>
            <a:r>
              <a:rPr sz="1150" b="0">
                <a:solidFill>
                  <a:srgbClr val="B6503E"/>
                </a:solidFill>
                <a:latin typeface="Apple SD Gothic Neo"/>
              </a:rPr>
              <a:t>0건일 때만 동작</a:t>
            </a:r>
          </a:p>
        </p:txBody>
      </p:sp>
      <p:sp>
        <p:nvSpPr>
          <p:cNvPr id="81" name="Rectangle 80"/>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19" y="5971032"/>
            <a:ext cx="502919" cy="288036"/>
          </a:xfrm>
          <a:prstGeom prst="rect">
            <a:avLst/>
          </a:prstGeom>
          <a:noFill/>
        </p:spPr>
        <p:txBody>
          <a:bodyPr wrap="square" lIns="0" rIns="0" tIns="0" bIns="0" anchor="ctr">
            <a:spAutoFit/>
          </a:bodyPr>
          <a:lstStyle/>
          <a:p>
            <a:r>
              <a:rPr sz="1150" b="1">
                <a:solidFill>
                  <a:srgbClr val="62746D"/>
                </a:solidFill>
                <a:latin typeface="Apple SD Gothic Neo"/>
              </a:rPr>
              <a:t>15</a:t>
            </a:r>
          </a:p>
        </p:txBody>
      </p:sp>
      <p:sp>
        <p:nvSpPr>
          <p:cNvPr id="83" name="TextBox 82"/>
          <p:cNvSpPr txBox="1"/>
          <p:nvPr/>
        </p:nvSpPr>
        <p:spPr>
          <a:xfrm>
            <a:off x="1371600" y="5971032"/>
            <a:ext cx="3886200" cy="288036"/>
          </a:xfrm>
          <a:prstGeom prst="rect">
            <a:avLst/>
          </a:prstGeom>
          <a:noFill/>
        </p:spPr>
        <p:txBody>
          <a:bodyPr wrap="square" lIns="0" rIns="0" tIns="0" bIns="0" anchor="ctr">
            <a:spAutoFit/>
          </a:bodyPr>
          <a:lstStyle/>
          <a:p>
            <a:r>
              <a:rPr sz="1150" b="0">
                <a:solidFill>
                  <a:srgbClr val="19382F"/>
                </a:solidFill>
                <a:latin typeface="Apple SD Gothic Neo"/>
              </a:rPr>
              <a:t>의미 검색의 비용·지연 측정</a:t>
            </a:r>
          </a:p>
        </p:txBody>
      </p:sp>
      <p:sp>
        <p:nvSpPr>
          <p:cNvPr id="84" name="TextBox 83"/>
          <p:cNvSpPr txBox="1"/>
          <p:nvPr/>
        </p:nvSpPr>
        <p:spPr>
          <a:xfrm>
            <a:off x="5394960" y="5971032"/>
            <a:ext cx="1234440" cy="288036"/>
          </a:xfrm>
          <a:prstGeom prst="rect">
            <a:avLst/>
          </a:prstGeom>
          <a:noFill/>
        </p:spPr>
        <p:txBody>
          <a:bodyPr wrap="square" lIns="0" rIns="0" tIns="0" bIns="0" anchor="ctr">
            <a:spAutoFit/>
          </a:bodyPr>
          <a:lstStyle/>
          <a:p>
            <a:r>
              <a:rPr sz="1150" b="1">
                <a:solidFill>
                  <a:srgbClr val="9A6B1F"/>
                </a:solidFill>
                <a:latin typeface="Apple SD Gothic Neo"/>
              </a:rPr>
              <a:t>측정</a:t>
            </a:r>
          </a:p>
        </p:txBody>
      </p:sp>
      <p:sp>
        <p:nvSpPr>
          <p:cNvPr id="85" name="TextBox 84"/>
          <p:cNvSpPr txBox="1"/>
          <p:nvPr/>
        </p:nvSpPr>
        <p:spPr>
          <a:xfrm>
            <a:off x="6766560" y="5971032"/>
            <a:ext cx="4709159" cy="288036"/>
          </a:xfrm>
          <a:prstGeom prst="rect">
            <a:avLst/>
          </a:prstGeom>
          <a:noFill/>
        </p:spPr>
        <p:txBody>
          <a:bodyPr wrap="square" lIns="0" rIns="0" tIns="0" bIns="0" anchor="ctr">
            <a:spAutoFit/>
          </a:bodyPr>
          <a:lstStyle/>
          <a:p>
            <a:r>
              <a:rPr sz="1150" b="0">
                <a:solidFill>
                  <a:srgbClr val="B6503E"/>
                </a:solidFill>
                <a:latin typeface="Apple SD Gothic Neo"/>
              </a:rPr>
              <a:t>콜드 첫 검색 약 1.1초, 웜 약 29ms</a:t>
            </a:r>
          </a:p>
        </p:txBody>
      </p:sp>
      <p:sp>
        <p:nvSpPr>
          <p:cNvPr id="86" name="Rectangle 85"/>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A-3  평가</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평가 방법과 결과</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A-3 / A-5</a:t>
            </a:r>
          </a:p>
        </p:txBody>
      </p:sp>
      <p:sp>
        <p:nvSpPr>
          <p:cNvPr id="6" name="Rectangle 5"/>
          <p:cNvSpPr/>
          <p:nvPr/>
        </p:nvSpPr>
        <p:spPr>
          <a:xfrm>
            <a:off x="640080" y="1645920"/>
            <a:ext cx="10881359"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3063240" cy="292608"/>
          </a:xfrm>
          <a:prstGeom prst="rect">
            <a:avLst/>
          </a:prstGeom>
          <a:noFill/>
        </p:spPr>
        <p:txBody>
          <a:bodyPr wrap="square" lIns="0" rIns="0" tIns="0" bIns="0" anchor="ctr">
            <a:spAutoFit/>
          </a:bodyPr>
          <a:lstStyle/>
          <a:p>
            <a:r>
              <a:rPr sz="1150" b="1">
                <a:solidFill>
                  <a:srgbClr val="FFFFFF"/>
                </a:solidFill>
                <a:latin typeface="Apple SD Gothic Neo"/>
              </a:rPr>
              <a:t>평가</a:t>
            </a:r>
          </a:p>
        </p:txBody>
      </p:sp>
      <p:sp>
        <p:nvSpPr>
          <p:cNvPr id="8" name="TextBox 7"/>
          <p:cNvSpPr txBox="1"/>
          <p:nvPr/>
        </p:nvSpPr>
        <p:spPr>
          <a:xfrm>
            <a:off x="3931920" y="1645920"/>
            <a:ext cx="4069079" cy="292608"/>
          </a:xfrm>
          <a:prstGeom prst="rect">
            <a:avLst/>
          </a:prstGeom>
          <a:noFill/>
        </p:spPr>
        <p:txBody>
          <a:bodyPr wrap="square" lIns="0" rIns="0" tIns="0" bIns="0" anchor="ctr">
            <a:spAutoFit/>
          </a:bodyPr>
          <a:lstStyle/>
          <a:p>
            <a:r>
              <a:rPr sz="1150" b="1">
                <a:solidFill>
                  <a:srgbClr val="FFFFFF"/>
                </a:solidFill>
                <a:latin typeface="Apple SD Gothic Neo"/>
              </a:rPr>
              <a:t>결과 (개선 전 → 후)</a:t>
            </a:r>
          </a:p>
        </p:txBody>
      </p:sp>
      <p:sp>
        <p:nvSpPr>
          <p:cNvPr id="9" name="TextBox 8"/>
          <p:cNvSpPr txBox="1"/>
          <p:nvPr/>
        </p:nvSpPr>
        <p:spPr>
          <a:xfrm>
            <a:off x="8138160" y="1645920"/>
            <a:ext cx="3337560" cy="292608"/>
          </a:xfrm>
          <a:prstGeom prst="rect">
            <a:avLst/>
          </a:prstGeom>
          <a:noFill/>
        </p:spPr>
        <p:txBody>
          <a:bodyPr wrap="square" lIns="0" rIns="0" tIns="0" bIns="0" anchor="ctr">
            <a:spAutoFit/>
          </a:bodyPr>
          <a:lstStyle/>
          <a:p>
            <a:r>
              <a:rPr sz="1150" b="1">
                <a:solidFill>
                  <a:srgbClr val="FFFFFF"/>
                </a:solidFill>
                <a:latin typeface="Apple SD Gothic Neo"/>
              </a:rPr>
              <a:t>해석상 주의</a:t>
            </a:r>
          </a:p>
        </p:txBody>
      </p:sp>
      <p:sp>
        <p:nvSpPr>
          <p:cNvPr id="10" name="Rectangle 9"/>
          <p:cNvSpPr/>
          <p:nvPr/>
        </p:nvSpPr>
        <p:spPr>
          <a:xfrm>
            <a:off x="640080" y="1938528"/>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3063240" cy="402336"/>
          </a:xfrm>
          <a:prstGeom prst="rect">
            <a:avLst/>
          </a:prstGeom>
          <a:noFill/>
        </p:spPr>
        <p:txBody>
          <a:bodyPr wrap="square" lIns="0" rIns="0" tIns="0" bIns="0" anchor="ctr">
            <a:spAutoFit/>
          </a:bodyPr>
          <a:lstStyle/>
          <a:p>
            <a:r>
              <a:rPr sz="1150" b="1">
                <a:solidFill>
                  <a:srgbClr val="19382F"/>
                </a:solidFill>
                <a:latin typeface="Apple SD Gothic Neo"/>
              </a:rPr>
              <a:t>동일 17개 입력 (정상 8·오류 9)</a:t>
            </a:r>
          </a:p>
        </p:txBody>
      </p:sp>
      <p:sp>
        <p:nvSpPr>
          <p:cNvPr id="12" name="TextBox 11"/>
          <p:cNvSpPr txBox="1"/>
          <p:nvPr/>
        </p:nvSpPr>
        <p:spPr>
          <a:xfrm>
            <a:off x="3931920" y="1938528"/>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2/9 → 9/9 · 정상 통과 8/8 유지</a:t>
            </a:r>
          </a:p>
        </p:txBody>
      </p:sp>
      <p:sp>
        <p:nvSpPr>
          <p:cNvPr id="13" name="TextBox 12"/>
          <p:cNvSpPr txBox="1"/>
          <p:nvPr/>
        </p:nvSpPr>
        <p:spPr>
          <a:xfrm>
            <a:off x="8138160" y="1938528"/>
            <a:ext cx="3337560" cy="402336"/>
          </a:xfrm>
          <a:prstGeom prst="rect">
            <a:avLst/>
          </a:prstGeom>
          <a:noFill/>
        </p:spPr>
        <p:txBody>
          <a:bodyPr wrap="square" lIns="0" rIns="0" tIns="0" bIns="0" anchor="ctr">
            <a:spAutoFit/>
          </a:bodyPr>
          <a:lstStyle/>
          <a:p>
            <a:r>
              <a:rPr sz="1150" b="0">
                <a:solidFill>
                  <a:srgbClr val="B6503E"/>
                </a:solidFill>
                <a:latin typeface="Apple SD Gothic Neo"/>
              </a:rPr>
              <a:t>입력은 같고 검증기만 교체</a:t>
            </a:r>
          </a:p>
        </p:txBody>
      </p:sp>
      <p:sp>
        <p:nvSpPr>
          <p:cNvPr id="14" name="Rectangle 13"/>
          <p:cNvSpPr/>
          <p:nvPr/>
        </p:nvSpPr>
        <p:spPr>
          <a:xfrm>
            <a:off x="640080" y="2340864"/>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340864"/>
            <a:ext cx="3063240" cy="402336"/>
          </a:xfrm>
          <a:prstGeom prst="rect">
            <a:avLst/>
          </a:prstGeom>
          <a:noFill/>
        </p:spPr>
        <p:txBody>
          <a:bodyPr wrap="square" lIns="0" rIns="0" tIns="0" bIns="0" anchor="ctr">
            <a:spAutoFit/>
          </a:bodyPr>
          <a:lstStyle/>
          <a:p>
            <a:r>
              <a:rPr sz="1150" b="1">
                <a:solidFill>
                  <a:srgbClr val="19382F"/>
                </a:solidFill>
                <a:latin typeface="Apple SD Gothic Neo"/>
              </a:rPr>
              <a:t>검증 규칙 표적 사례 28개</a:t>
            </a:r>
          </a:p>
        </p:txBody>
      </p:sp>
      <p:sp>
        <p:nvSpPr>
          <p:cNvPr id="16" name="TextBox 15"/>
          <p:cNvSpPr txBox="1"/>
          <p:nvPr/>
        </p:nvSpPr>
        <p:spPr>
          <a:xfrm>
            <a:off x="3931920" y="2340864"/>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6/14 → 14/14 · 정상 7/14 → 14/14</a:t>
            </a:r>
          </a:p>
        </p:txBody>
      </p:sp>
      <p:sp>
        <p:nvSpPr>
          <p:cNvPr id="17" name="TextBox 16"/>
          <p:cNvSpPr txBox="1"/>
          <p:nvPr/>
        </p:nvSpPr>
        <p:spPr>
          <a:xfrm>
            <a:off x="8138160" y="2340864"/>
            <a:ext cx="3337560" cy="402336"/>
          </a:xfrm>
          <a:prstGeom prst="rect">
            <a:avLst/>
          </a:prstGeom>
          <a:noFill/>
        </p:spPr>
        <p:txBody>
          <a:bodyPr wrap="square" lIns="0" rIns="0" tIns="0" bIns="0" anchor="ctr">
            <a:spAutoFit/>
          </a:bodyPr>
          <a:lstStyle/>
          <a:p>
            <a:r>
              <a:rPr sz="1150" b="0">
                <a:solidFill>
                  <a:srgbClr val="B6503E"/>
                </a:solidFill>
                <a:latin typeface="Apple SD Gothic Neo"/>
              </a:rPr>
              <a:t>약점을 겨냥해 만든 사례라 낙관적</a:t>
            </a:r>
          </a:p>
        </p:txBody>
      </p:sp>
      <p:sp>
        <p:nvSpPr>
          <p:cNvPr id="18" name="Rectangle 17"/>
          <p:cNvSpPr/>
          <p:nvPr/>
        </p:nvSpPr>
        <p:spPr>
          <a:xfrm>
            <a:off x="640080" y="2743200"/>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743200"/>
            <a:ext cx="3063240" cy="402336"/>
          </a:xfrm>
          <a:prstGeom prst="rect">
            <a:avLst/>
          </a:prstGeom>
          <a:noFill/>
        </p:spPr>
        <p:txBody>
          <a:bodyPr wrap="square" lIns="0" rIns="0" tIns="0" bIns="0" anchor="ctr">
            <a:spAutoFit/>
          </a:bodyPr>
          <a:lstStyle/>
          <a:p>
            <a:r>
              <a:rPr sz="1150" b="1">
                <a:solidFill>
                  <a:srgbClr val="19382F"/>
                </a:solidFill>
                <a:latin typeface="Apple SD Gothic Neo"/>
              </a:rPr>
              <a:t>설계 때 보지 못한 변형 6개</a:t>
            </a:r>
          </a:p>
        </p:txBody>
      </p:sp>
      <p:sp>
        <p:nvSpPr>
          <p:cNvPr id="20" name="TextBox 19"/>
          <p:cNvSpPr txBox="1"/>
          <p:nvPr/>
        </p:nvSpPr>
        <p:spPr>
          <a:xfrm>
            <a:off x="3931920" y="2743200"/>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4/5 → 5/5</a:t>
            </a:r>
          </a:p>
        </p:txBody>
      </p:sp>
      <p:sp>
        <p:nvSpPr>
          <p:cNvPr id="21" name="TextBox 20"/>
          <p:cNvSpPr txBox="1"/>
          <p:nvPr/>
        </p:nvSpPr>
        <p:spPr>
          <a:xfrm>
            <a:off x="8138160" y="2743200"/>
            <a:ext cx="3337560" cy="402336"/>
          </a:xfrm>
          <a:prstGeom prst="rect">
            <a:avLst/>
          </a:prstGeom>
          <a:noFill/>
        </p:spPr>
        <p:txBody>
          <a:bodyPr wrap="square" lIns="0" rIns="0" tIns="0" bIns="0" anchor="ctr">
            <a:spAutoFit/>
          </a:bodyPr>
          <a:lstStyle/>
          <a:p>
            <a:r>
              <a:rPr sz="1150" b="0">
                <a:solidFill>
                  <a:srgbClr val="B6503E"/>
                </a:solidFill>
                <a:latin typeface="Apple SD Gothic Neo"/>
              </a:rPr>
              <a:t>표본이 작아 일반화 근거로 약함</a:t>
            </a:r>
          </a:p>
        </p:txBody>
      </p:sp>
      <p:sp>
        <p:nvSpPr>
          <p:cNvPr id="22" name="Rectangle 21"/>
          <p:cNvSpPr/>
          <p:nvPr/>
        </p:nvSpPr>
        <p:spPr>
          <a:xfrm>
            <a:off x="640080" y="3145536"/>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3145536"/>
            <a:ext cx="3063240" cy="402336"/>
          </a:xfrm>
          <a:prstGeom prst="rect">
            <a:avLst/>
          </a:prstGeom>
          <a:noFill/>
        </p:spPr>
        <p:txBody>
          <a:bodyPr wrap="square" lIns="0" rIns="0" tIns="0" bIns="0" anchor="ctr">
            <a:spAutoFit/>
          </a:bodyPr>
          <a:lstStyle/>
          <a:p>
            <a:r>
              <a:rPr sz="1150" b="1">
                <a:solidFill>
                  <a:srgbClr val="19382F"/>
                </a:solidFill>
                <a:latin typeface="Apple SD Gothic Neo"/>
              </a:rPr>
              <a:t>부작용·회귀 탐침 8개</a:t>
            </a:r>
          </a:p>
        </p:txBody>
      </p:sp>
      <p:sp>
        <p:nvSpPr>
          <p:cNvPr id="24" name="TextBox 23"/>
          <p:cNvSpPr txBox="1"/>
          <p:nvPr/>
        </p:nvSpPr>
        <p:spPr>
          <a:xfrm>
            <a:off x="3931920" y="3145536"/>
            <a:ext cx="4069079" cy="402336"/>
          </a:xfrm>
          <a:prstGeom prst="rect">
            <a:avLst/>
          </a:prstGeom>
          <a:noFill/>
        </p:spPr>
        <p:txBody>
          <a:bodyPr wrap="square" lIns="0" rIns="0" tIns="0" bIns="0" anchor="ctr">
            <a:spAutoFit/>
          </a:bodyPr>
          <a:lstStyle/>
          <a:p>
            <a:r>
              <a:rPr sz="1150" b="0">
                <a:solidFill>
                  <a:srgbClr val="19382F"/>
                </a:solidFill>
                <a:latin typeface="Apple SD Gothic Neo"/>
              </a:rPr>
              <a:t>정상 1/4 → 4/4 · 오류 3/4 → 4/4</a:t>
            </a:r>
          </a:p>
        </p:txBody>
      </p:sp>
      <p:sp>
        <p:nvSpPr>
          <p:cNvPr id="25" name="TextBox 24"/>
          <p:cNvSpPr txBox="1"/>
          <p:nvPr/>
        </p:nvSpPr>
        <p:spPr>
          <a:xfrm>
            <a:off x="8138160" y="3145536"/>
            <a:ext cx="3337560" cy="402336"/>
          </a:xfrm>
          <a:prstGeom prst="rect">
            <a:avLst/>
          </a:prstGeom>
          <a:noFill/>
        </p:spPr>
        <p:txBody>
          <a:bodyPr wrap="square" lIns="0" rIns="0" tIns="0" bIns="0" anchor="ctr">
            <a:spAutoFit/>
          </a:bodyPr>
          <a:lstStyle/>
          <a:p>
            <a:r>
              <a:rPr sz="1150" b="0">
                <a:solidFill>
                  <a:srgbClr val="B6503E"/>
                </a:solidFill>
                <a:latin typeface="Apple SD Gothic Neo"/>
              </a:rPr>
              <a:t>수정 후 회귀 방지용</a:t>
            </a:r>
          </a:p>
        </p:txBody>
      </p:sp>
      <p:sp>
        <p:nvSpPr>
          <p:cNvPr id="26" name="Rectangle 25"/>
          <p:cNvSpPr/>
          <p:nvPr/>
        </p:nvSpPr>
        <p:spPr>
          <a:xfrm>
            <a:off x="640080" y="3547872"/>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547872"/>
            <a:ext cx="3063240" cy="402336"/>
          </a:xfrm>
          <a:prstGeom prst="rect">
            <a:avLst/>
          </a:prstGeom>
          <a:noFill/>
        </p:spPr>
        <p:txBody>
          <a:bodyPr wrap="square" lIns="0" rIns="0" tIns="0" bIns="0" anchor="ctr">
            <a:spAutoFit/>
          </a:bodyPr>
          <a:lstStyle/>
          <a:p>
            <a:r>
              <a:rPr sz="1150" b="1">
                <a:solidFill>
                  <a:srgbClr val="19382F"/>
                </a:solidFill>
                <a:latin typeface="Apple SD Gothic Neo"/>
              </a:rPr>
              <a:t>매뉴얼 검색 14개 (장애 12·무관 2)</a:t>
            </a:r>
          </a:p>
        </p:txBody>
      </p:sp>
      <p:sp>
        <p:nvSpPr>
          <p:cNvPr id="28" name="TextBox 27"/>
          <p:cNvSpPr txBox="1"/>
          <p:nvPr/>
        </p:nvSpPr>
        <p:spPr>
          <a:xfrm>
            <a:off x="3931920" y="3547872"/>
            <a:ext cx="4069079" cy="402336"/>
          </a:xfrm>
          <a:prstGeom prst="rect">
            <a:avLst/>
          </a:prstGeom>
          <a:noFill/>
        </p:spPr>
        <p:txBody>
          <a:bodyPr wrap="square" lIns="0" rIns="0" tIns="0" bIns="0" anchor="ctr">
            <a:spAutoFit/>
          </a:bodyPr>
          <a:lstStyle/>
          <a:p>
            <a:r>
              <a:rPr sz="1150" b="0">
                <a:solidFill>
                  <a:srgbClr val="19382F"/>
                </a:solidFill>
                <a:latin typeface="Apple SD Gothic Neo"/>
              </a:rPr>
              <a:t>기대 일치 6/14 → 12/14</a:t>
            </a:r>
          </a:p>
        </p:txBody>
      </p:sp>
      <p:sp>
        <p:nvSpPr>
          <p:cNvPr id="29" name="TextBox 28"/>
          <p:cNvSpPr txBox="1"/>
          <p:nvPr/>
        </p:nvSpPr>
        <p:spPr>
          <a:xfrm>
            <a:off x="8138160" y="3547872"/>
            <a:ext cx="3337560" cy="402336"/>
          </a:xfrm>
          <a:prstGeom prst="rect">
            <a:avLst/>
          </a:prstGeom>
          <a:noFill/>
        </p:spPr>
        <p:txBody>
          <a:bodyPr wrap="square" lIns="0" rIns="0" tIns="0" bIns="0" anchor="ctr">
            <a:spAutoFit/>
          </a:bodyPr>
          <a:lstStyle/>
          <a:p>
            <a:r>
              <a:rPr sz="1150" b="0">
                <a:solidFill>
                  <a:srgbClr val="B6503E"/>
                </a:solidFill>
                <a:latin typeface="Apple SD Gothic Neo"/>
              </a:rPr>
              <a:t>미확정 1건 · 오선택 1건 · 직접 작성</a:t>
            </a:r>
          </a:p>
        </p:txBody>
      </p:sp>
      <p:sp>
        <p:nvSpPr>
          <p:cNvPr id="30" name="Rectangle 29"/>
          <p:cNvSpPr/>
          <p:nvPr/>
        </p:nvSpPr>
        <p:spPr>
          <a:xfrm>
            <a:off x="640080" y="3950208"/>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950208"/>
            <a:ext cx="3063240" cy="402336"/>
          </a:xfrm>
          <a:prstGeom prst="rect">
            <a:avLst/>
          </a:prstGeom>
          <a:noFill/>
        </p:spPr>
        <p:txBody>
          <a:bodyPr wrap="square" lIns="0" rIns="0" tIns="0" bIns="0" anchor="ctr">
            <a:spAutoFit/>
          </a:bodyPr>
          <a:lstStyle/>
          <a:p>
            <a:r>
              <a:rPr sz="1150" b="1">
                <a:solidFill>
                  <a:srgbClr val="19382F"/>
                </a:solidFill>
                <a:latin typeface="Apple SD Gothic Neo"/>
              </a:rPr>
              <a:t>대상 시스템 해석 8개</a:t>
            </a:r>
          </a:p>
        </p:txBody>
      </p:sp>
      <p:sp>
        <p:nvSpPr>
          <p:cNvPr id="32" name="TextBox 31"/>
          <p:cNvSpPr txBox="1"/>
          <p:nvPr/>
        </p:nvSpPr>
        <p:spPr>
          <a:xfrm>
            <a:off x="3931920" y="3950208"/>
            <a:ext cx="4069079" cy="402336"/>
          </a:xfrm>
          <a:prstGeom prst="rect">
            <a:avLst/>
          </a:prstGeom>
          <a:noFill/>
        </p:spPr>
        <p:txBody>
          <a:bodyPr wrap="square" lIns="0" rIns="0" tIns="0" bIns="0" anchor="ctr">
            <a:spAutoFit/>
          </a:bodyPr>
          <a:lstStyle/>
          <a:p>
            <a:r>
              <a:rPr sz="1150" b="0">
                <a:solidFill>
                  <a:srgbClr val="19382F"/>
                </a:solidFill>
                <a:latin typeface="Apple SD Gothic Neo"/>
              </a:rPr>
              <a:t>목록에 없는 시스템이 auth-service로 바뀌던 사례 해소</a:t>
            </a:r>
          </a:p>
        </p:txBody>
      </p:sp>
      <p:sp>
        <p:nvSpPr>
          <p:cNvPr id="33" name="TextBox 32"/>
          <p:cNvSpPr txBox="1"/>
          <p:nvPr/>
        </p:nvSpPr>
        <p:spPr>
          <a:xfrm>
            <a:off x="8138160" y="3950208"/>
            <a:ext cx="3337560" cy="402336"/>
          </a:xfrm>
          <a:prstGeom prst="rect">
            <a:avLst/>
          </a:prstGeom>
          <a:noFill/>
        </p:spPr>
        <p:txBody>
          <a:bodyPr wrap="square" lIns="0" rIns="0" tIns="0" bIns="0" anchor="ctr">
            <a:spAutoFit/>
          </a:bodyPr>
          <a:lstStyle/>
          <a:p>
            <a:r>
              <a:rPr sz="1150" b="0">
                <a:solidFill>
                  <a:srgbClr val="B6503E"/>
                </a:solidFill>
                <a:latin typeface="Apple SD Gothic Neo"/>
              </a:rPr>
              <a:t>계획 정규화는 스텁 모델 출력 기준</a:t>
            </a:r>
          </a:p>
        </p:txBody>
      </p:sp>
      <p:sp>
        <p:nvSpPr>
          <p:cNvPr id="34" name="Rectangle 33"/>
          <p:cNvSpPr/>
          <p:nvPr/>
        </p:nvSpPr>
        <p:spPr>
          <a:xfrm>
            <a:off x="640080" y="4352544"/>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4352544"/>
            <a:ext cx="3063240" cy="402336"/>
          </a:xfrm>
          <a:prstGeom prst="rect">
            <a:avLst/>
          </a:prstGeom>
          <a:noFill/>
        </p:spPr>
        <p:txBody>
          <a:bodyPr wrap="square" lIns="0" rIns="0" tIns="0" bIns="0" anchor="ctr">
            <a:spAutoFit/>
          </a:bodyPr>
          <a:lstStyle/>
          <a:p>
            <a:r>
              <a:rPr sz="1150" b="1">
                <a:solidFill>
                  <a:srgbClr val="19382F"/>
                </a:solidFill>
                <a:latin typeface="Apple SD Gothic Neo"/>
              </a:rPr>
              <a:t>근거 없는 질문 (Ollama 3회)</a:t>
            </a:r>
          </a:p>
        </p:txBody>
      </p:sp>
      <p:sp>
        <p:nvSpPr>
          <p:cNvPr id="36" name="TextBox 35"/>
          <p:cNvSpPr txBox="1"/>
          <p:nvPr/>
        </p:nvSpPr>
        <p:spPr>
          <a:xfrm>
            <a:off x="3931920" y="4352544"/>
            <a:ext cx="4069079" cy="402336"/>
          </a:xfrm>
          <a:prstGeom prst="rect">
            <a:avLst/>
          </a:prstGeom>
          <a:noFill/>
        </p:spPr>
        <p:txBody>
          <a:bodyPr wrap="square" lIns="0" rIns="0" tIns="0" bIns="0" anchor="ctr">
            <a:spAutoFit/>
          </a:bodyPr>
          <a:lstStyle/>
          <a:p>
            <a:r>
              <a:rPr sz="1150" b="0">
                <a:solidFill>
                  <a:srgbClr val="19382F"/>
                </a:solidFill>
                <a:latin typeface="Apple SD Gothic Neo"/>
              </a:rPr>
              <a:t>응답 36.6초 → 1.2~2.7초 · 작성 호출 1 → 0회</a:t>
            </a:r>
          </a:p>
        </p:txBody>
      </p:sp>
      <p:sp>
        <p:nvSpPr>
          <p:cNvPr id="37" name="TextBox 36"/>
          <p:cNvSpPr txBox="1"/>
          <p:nvPr/>
        </p:nvSpPr>
        <p:spPr>
          <a:xfrm>
            <a:off x="8138160" y="4352544"/>
            <a:ext cx="3337560" cy="402336"/>
          </a:xfrm>
          <a:prstGeom prst="rect">
            <a:avLst/>
          </a:prstGeom>
          <a:noFill/>
        </p:spPr>
        <p:txBody>
          <a:bodyPr wrap="square" lIns="0" rIns="0" tIns="0" bIns="0" anchor="ctr">
            <a:spAutoFit/>
          </a:bodyPr>
          <a:lstStyle/>
          <a:p>
            <a:r>
              <a:rPr sz="1150" b="0">
                <a:solidFill>
                  <a:srgbClr val="B6503E"/>
                </a:solidFill>
                <a:latin typeface="Apple SD Gothic Neo"/>
              </a:rPr>
              <a:t>단일 질문 · 근거 0건일 때만</a:t>
            </a:r>
          </a:p>
        </p:txBody>
      </p:sp>
      <p:sp>
        <p:nvSpPr>
          <p:cNvPr id="38" name="Rectangle 37"/>
          <p:cNvSpPr/>
          <p:nvPr/>
        </p:nvSpPr>
        <p:spPr>
          <a:xfrm>
            <a:off x="640080" y="4754880"/>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754880"/>
            <a:ext cx="3063240" cy="402336"/>
          </a:xfrm>
          <a:prstGeom prst="rect">
            <a:avLst/>
          </a:prstGeom>
          <a:noFill/>
        </p:spPr>
        <p:txBody>
          <a:bodyPr wrap="square" lIns="0" rIns="0" tIns="0" bIns="0" anchor="ctr">
            <a:spAutoFit/>
          </a:bodyPr>
          <a:lstStyle/>
          <a:p>
            <a:r>
              <a:rPr sz="1150" b="1">
                <a:solidFill>
                  <a:srgbClr val="19382F"/>
                </a:solidFill>
                <a:latin typeface="Apple SD Gothic Neo"/>
              </a:rPr>
              <a:t>실모델 Ollama (4문항 × 1회)</a:t>
            </a:r>
          </a:p>
        </p:txBody>
      </p:sp>
      <p:sp>
        <p:nvSpPr>
          <p:cNvPr id="40" name="TextBox 39"/>
          <p:cNvSpPr txBox="1"/>
          <p:nvPr/>
        </p:nvSpPr>
        <p:spPr>
          <a:xfrm>
            <a:off x="3931920" y="4754880"/>
            <a:ext cx="4069079" cy="402336"/>
          </a:xfrm>
          <a:prstGeom prst="rect">
            <a:avLst/>
          </a:prstGeom>
          <a:noFill/>
        </p:spPr>
        <p:txBody>
          <a:bodyPr wrap="square" lIns="0" rIns="0" tIns="0" bIns="0" anchor="ctr">
            <a:spAutoFit/>
          </a:bodyPr>
          <a:lstStyle/>
          <a:p>
            <a:r>
              <a:rPr sz="1150" b="0">
                <a:solidFill>
                  <a:srgbClr val="19382F"/>
                </a:solidFill>
                <a:latin typeface="Apple SD Gothic Neo"/>
              </a:rPr>
              <a:t>작성 시도 1.0 → 1.0회 · 42.6 → 43.3초</a:t>
            </a:r>
          </a:p>
        </p:txBody>
      </p:sp>
      <p:sp>
        <p:nvSpPr>
          <p:cNvPr id="41" name="TextBox 40"/>
          <p:cNvSpPr txBox="1"/>
          <p:nvPr/>
        </p:nvSpPr>
        <p:spPr>
          <a:xfrm>
            <a:off x="8138160" y="4754880"/>
            <a:ext cx="3337560" cy="402336"/>
          </a:xfrm>
          <a:prstGeom prst="rect">
            <a:avLst/>
          </a:prstGeom>
          <a:noFill/>
        </p:spPr>
        <p:txBody>
          <a:bodyPr wrap="square" lIns="0" rIns="0" tIns="0" bIns="0" anchor="ctr">
            <a:spAutoFit/>
          </a:bodyPr>
          <a:lstStyle/>
          <a:p>
            <a:r>
              <a:rPr sz="1150" b="0">
                <a:solidFill>
                  <a:srgbClr val="B6503E"/>
                </a:solidFill>
                <a:latin typeface="Apple SD Gothic Neo"/>
              </a:rPr>
              <a:t>실행 간 변동 커서 개선을 주장하지 않음</a:t>
            </a:r>
          </a:p>
        </p:txBody>
      </p:sp>
      <p:sp>
        <p:nvSpPr>
          <p:cNvPr id="42" name="Rectangle 41"/>
          <p:cNvSpPr/>
          <p:nvPr/>
        </p:nvSpPr>
        <p:spPr>
          <a:xfrm>
            <a:off x="640080" y="5157216"/>
            <a:ext cx="10881359"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440680"/>
            <a:ext cx="10881360" cy="82296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504688"/>
            <a:ext cx="10424160" cy="731520"/>
          </a:xfrm>
          <a:prstGeom prst="rect">
            <a:avLst/>
          </a:prstGeom>
          <a:noFill/>
        </p:spPr>
        <p:txBody>
          <a:bodyPr wrap="square" lIns="0" rIns="0" tIns="0" bIns="0">
            <a:spAutoFit/>
          </a:bodyPr>
          <a:lstStyle/>
          <a:p>
            <a:pPr>
              <a:spcAft>
                <a:spcPts val="700"/>
              </a:spcAft>
            </a:pPr>
            <a:r>
              <a:rPr sz="1200" b="0">
                <a:solidFill>
                  <a:srgbClr val="19382F"/>
                </a:solidFill>
                <a:latin typeface="Apple SD Gothic Neo"/>
              </a:rPr>
              <a:t>평가 원칙: 규칙을 고치기 전에 사례를 먼저 만들고, 개선 전 검증기를 스냅샷으로 보관해 같은 입력으로 비교했다.</a:t>
            </a:r>
          </a:p>
          <a:p>
            <a:pPr>
              <a:spcAft>
                <a:spcPts val="700"/>
              </a:spcAft>
            </a:pPr>
            <a:r>
              <a:rPr sz="1200" b="0">
                <a:solidFill>
                  <a:srgbClr val="19382F"/>
                </a:solidFill>
                <a:latin typeface="Apple SD Gothic Neo"/>
              </a:rPr>
              <a:t>한계: 사례를 만든 사람과 구현한 사람이 같아 낙관적일 수 있고, 독립 평가셋과 LangSmith 비교 평가는 하지 않았다.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A-4  검증과 실패 처리</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검증 규칙과 실패 처리</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A-4 / A-5</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600" b="1">
                <a:solidFill>
                  <a:srgbClr val="16785C"/>
                </a:solidFill>
                <a:latin typeface="Apple SD Gothic Neo"/>
              </a:rPr>
              <a:t>검증 규칙 (verifier.py)</a:t>
            </a:r>
          </a:p>
        </p:txBody>
      </p:sp>
      <p:sp>
        <p:nvSpPr>
          <p:cNvPr id="7" name="TextBox 6"/>
          <p:cNvSpPr txBox="1"/>
          <p:nvPr/>
        </p:nvSpPr>
        <p:spPr>
          <a:xfrm>
            <a:off x="6309360" y="1645920"/>
            <a:ext cx="5212080" cy="274320"/>
          </a:xfrm>
          <a:prstGeom prst="rect">
            <a:avLst/>
          </a:prstGeom>
          <a:noFill/>
        </p:spPr>
        <p:txBody>
          <a:bodyPr wrap="square" lIns="0" rIns="0" tIns="0" bIns="0">
            <a:spAutoFit/>
          </a:bodyPr>
          <a:lstStyle/>
          <a:p>
            <a:r>
              <a:rPr sz="1600" b="1">
                <a:solidFill>
                  <a:srgbClr val="16785C"/>
                </a:solidFill>
                <a:latin typeface="Apple SD Gothic Neo"/>
              </a:rPr>
              <a:t>실패 처리</a:t>
            </a:r>
          </a:p>
        </p:txBody>
      </p:sp>
      <p:sp>
        <p:nvSpPr>
          <p:cNvPr id="8" name="TextBox 7"/>
          <p:cNvSpPr txBox="1"/>
          <p:nvPr/>
        </p:nvSpPr>
        <p:spPr>
          <a:xfrm>
            <a:off x="64008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시스템명 · CPU · 메모리 수치를 수집값과 대조</a:t>
            </a:r>
          </a:p>
          <a:p>
            <a:pPr>
              <a:spcAft>
                <a:spcPts val="700"/>
              </a:spcAft>
            </a:pPr>
            <a:r>
              <a:rPr sz="1300" b="0">
                <a:solidFill>
                  <a:srgbClr val="19382F"/>
                </a:solidFill>
                <a:latin typeface="Apple SD Gothic Neo"/>
              </a:rPr>
              <a:t>·  반올림을 고려해 0.5%p 이하 차이는 허용</a:t>
            </a:r>
          </a:p>
          <a:p>
            <a:pPr>
              <a:spcAft>
                <a:spcPts val="700"/>
              </a:spcAft>
            </a:pPr>
            <a:r>
              <a:rPr sz="1300" b="0">
                <a:solidFill>
                  <a:srgbClr val="19382F"/>
                </a:solidFill>
                <a:latin typeface="Apple SD Gothic Neo"/>
              </a:rPr>
              <a:t>·  동의어 · 숫자가 먼저 오는 문장 · 표 · '각각' · 영어 서술을 읽음</a:t>
            </a:r>
          </a:p>
          <a:p>
            <a:pPr>
              <a:spcAft>
                <a:spcPts val="700"/>
              </a:spcAft>
            </a:pPr>
            <a:r>
              <a:rPr sz="1300" b="0">
                <a:solidFill>
                  <a:srgbClr val="19382F"/>
                </a:solidFill>
                <a:latin typeface="Apple SD Gothic Neo"/>
              </a:rPr>
              <a:t>·  임계치 · 조건문 · 부정된 수치는 측정 주장에서 제외 (부정 뒤 수치는 대조)</a:t>
            </a:r>
          </a:p>
          <a:p>
            <a:pPr>
              <a:spcAft>
                <a:spcPts val="700"/>
              </a:spcAft>
            </a:pPr>
            <a:r>
              <a:rPr sz="1300" b="0">
                <a:solidFill>
                  <a:srgbClr val="19382F"/>
                </a:solidFill>
                <a:latin typeface="Apple SD Gothic Neo"/>
              </a:rPr>
              <a:t>·  조회하지 못한 시스템의 수치를 주장하면 반려</a:t>
            </a:r>
          </a:p>
          <a:p>
            <a:pPr>
              <a:spcAft>
                <a:spcPts val="700"/>
              </a:spcAft>
            </a:pPr>
            <a:r>
              <a:rPr sz="1300" b="0">
                <a:solidFill>
                  <a:srgbClr val="19382F"/>
                </a:solidFill>
                <a:latin typeface="Apple SD Gothic Neo"/>
              </a:rPr>
              <a:t>·  시스템명은 수치를 인용할 때만 요구</a:t>
            </a:r>
          </a:p>
          <a:p>
            <a:pPr>
              <a:spcAft>
                <a:spcPts val="700"/>
              </a:spcAft>
            </a:pPr>
            <a:r>
              <a:rPr sz="1300" b="0">
                <a:solidFill>
                  <a:srgbClr val="19382F"/>
                </a:solidFill>
                <a:latin typeface="Apple SD Gothic Neo"/>
              </a:rPr>
              <a:t>·  최초 작성 포함 3회 불일치 시 종료</a:t>
            </a:r>
          </a:p>
        </p:txBody>
      </p:sp>
      <p:sp>
        <p:nvSpPr>
          <p:cNvPr id="9" name="TextBox 8"/>
          <p:cNvSpPr txBox="1"/>
          <p:nvPr/>
        </p:nvSpPr>
        <p:spPr>
          <a:xfrm>
            <a:off x="630936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모니터링 도구는 재시도하고 15초 제한, 의미 검색은 60초 제한</a:t>
            </a:r>
          </a:p>
          <a:p>
            <a:pPr>
              <a:spcAft>
                <a:spcPts val="700"/>
              </a:spcAft>
            </a:pPr>
            <a:r>
              <a:rPr sz="1300" b="0">
                <a:solidFill>
                  <a:srgbClr val="19382F"/>
                </a:solidFill>
                <a:latin typeface="Apple SD Gothic Neo"/>
              </a:rPr>
              <a:t>·  작업별 예외를 격리해 성공한 자료를 유지, 취소 신호는 전파</a:t>
            </a:r>
          </a:p>
          <a:p>
            <a:pPr>
              <a:spcAft>
                <a:spcPts val="700"/>
              </a:spcAft>
            </a:pPr>
            <a:r>
              <a:rPr sz="1300" b="0">
                <a:solidFill>
                  <a:srgbClr val="19382F"/>
                </a:solidFill>
                <a:latin typeface="Apple SD Gothic Neo"/>
              </a:rPr>
              <a:t>·  실패한 대상은 이벤트와 최종 답변에 한계로 표시</a:t>
            </a:r>
          </a:p>
          <a:p>
            <a:pPr>
              <a:spcAft>
                <a:spcPts val="700"/>
              </a:spcAft>
            </a:pPr>
            <a:r>
              <a:rPr sz="1300" b="0">
                <a:solidFill>
                  <a:srgbClr val="19382F"/>
                </a:solidFill>
                <a:latin typeface="Apple SD Gothic Neo"/>
              </a:rPr>
              <a:t>·  근거가 0건이면 작성을 생략하고 '자료 부족 · 검증 불가'로 종료</a:t>
            </a:r>
          </a:p>
          <a:p>
            <a:pPr>
              <a:spcAft>
                <a:spcPts val="700"/>
              </a:spcAft>
            </a:pPr>
            <a:r>
              <a:rPr sz="1300" b="0">
                <a:solidFill>
                  <a:srgbClr val="19382F"/>
                </a:solidFill>
                <a:latin typeface="Apple SD Gothic Neo"/>
              </a:rPr>
              <a:t>·  3회 불일치 시 강제 합격 대신 사유와 수집값을 안내</a:t>
            </a:r>
          </a:p>
          <a:p>
            <a:pPr>
              <a:spcAft>
                <a:spcPts val="700"/>
              </a:spcAft>
            </a:pPr>
            <a:r>
              <a:rPr sz="1300" b="0">
                <a:solidFill>
                  <a:srgbClr val="19382F"/>
                </a:solidFill>
                <a:latin typeface="Apple SD Gothic Neo"/>
              </a:rPr>
              <a:t>·  목록에 없는 시스템은 다른 시스템으로 바꾸지 않고 조사 실패로 안내</a:t>
            </a:r>
          </a:p>
        </p:txBody>
      </p:sp>
      <p:sp>
        <p:nvSpPr>
          <p:cNvPr id="10" name="Rectangle 9"/>
          <p:cNvSpPr/>
          <p:nvPr/>
        </p:nvSpPr>
        <p:spPr>
          <a:xfrm>
            <a:off x="640080" y="5532120"/>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69280"/>
            <a:ext cx="10881360" cy="640080"/>
          </a:xfrm>
          <a:prstGeom prst="rect">
            <a:avLst/>
          </a:prstGeom>
          <a:noFill/>
        </p:spPr>
        <p:txBody>
          <a:bodyPr wrap="square" lIns="0" rIns="0" tIns="0" bIns="0">
            <a:spAutoFit/>
          </a:bodyPr>
          <a:lstStyle/>
          <a:p>
            <a:r>
              <a:rPr sz="1200" b="0">
                <a:solidFill>
                  <a:srgbClr val="B6503E"/>
                </a:solidFill>
                <a:latin typeface="Apple SD Gothic Neo"/>
              </a:rPr>
              <a:t>알려진 한계: 수치를 직전에 나온 시스템명에 연결해서, 조회하지 못한 시스템 설명 뒤에 다른 시스템 수치가 오면 정상 서술도 반려될 수 있고 'customer-service', 'top-10' 같은 일반 표현을 시스템으로 오인한다.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A-5  재현과 자료</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재현 방법과 근거 자료</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A-5 / A-5</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공개 저장소</a:t>
            </a:r>
          </a:p>
        </p:txBody>
      </p:sp>
      <p:sp>
        <p:nvSpPr>
          <p:cNvPr id="7" name="TextBox 6"/>
          <p:cNvSpPr txBox="1"/>
          <p:nvPr/>
        </p:nvSpPr>
        <p:spPr>
          <a:xfrm>
            <a:off x="640080" y="1965960"/>
            <a:ext cx="5394960" cy="365760"/>
          </a:xfrm>
          <a:prstGeom prst="rect">
            <a:avLst/>
          </a:prstGeom>
          <a:noFill/>
        </p:spPr>
        <p:txBody>
          <a:bodyPr wrap="square" lIns="0" rIns="0" tIns="0" bIns="0">
            <a:spAutoFit/>
          </a:bodyPr>
          <a:lstStyle/>
          <a:p>
            <a:r>
              <a:rPr sz="2000" b="1">
                <a:solidFill>
                  <a:srgbClr val="16785C"/>
                </a:solidFill>
                <a:latin typeface="Apple SD Gothic Neo"/>
              </a:rPr>
              <a:t>github.com/gkyeon/ai-capstone-gkyeon</a:t>
            </a:r>
          </a:p>
        </p:txBody>
      </p:sp>
      <p:sp>
        <p:nvSpPr>
          <p:cNvPr id="8" name="TextBox 7"/>
          <p:cNvSpPr txBox="1"/>
          <p:nvPr/>
        </p:nvSpPr>
        <p:spPr>
          <a:xfrm>
            <a:off x="640080" y="2606040"/>
            <a:ext cx="5212080" cy="274320"/>
          </a:xfrm>
          <a:prstGeom prst="rect">
            <a:avLst/>
          </a:prstGeom>
          <a:noFill/>
        </p:spPr>
        <p:txBody>
          <a:bodyPr wrap="square" lIns="0" rIns="0" tIns="0" bIns="0">
            <a:spAutoFit/>
          </a:bodyPr>
          <a:lstStyle/>
          <a:p>
            <a:r>
              <a:rPr sz="1400" b="1">
                <a:solidFill>
                  <a:srgbClr val="62746D"/>
                </a:solidFill>
                <a:latin typeface="Apple SD Gothic Neo"/>
              </a:rPr>
              <a:t>이 저장소만으로 재현되는 것</a:t>
            </a:r>
          </a:p>
        </p:txBody>
      </p:sp>
      <p:sp>
        <p:nvSpPr>
          <p:cNvPr id="9" name="Rounded Rectangle 8"/>
          <p:cNvSpPr/>
          <p:nvPr/>
        </p:nvSpPr>
        <p:spPr>
          <a:xfrm>
            <a:off x="640080" y="2926080"/>
            <a:ext cx="5120640" cy="457200"/>
          </a:xfrm>
          <a:prstGeom prst="round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26080"/>
            <a:ext cx="4846320" cy="457200"/>
          </a:xfrm>
          <a:prstGeom prst="rect">
            <a:avLst/>
          </a:prstGeom>
          <a:noFill/>
        </p:spPr>
        <p:txBody>
          <a:bodyPr wrap="square" lIns="0" rIns="0" tIns="0" bIns="0" anchor="ctr">
            <a:spAutoFit/>
          </a:bodyPr>
          <a:lstStyle/>
          <a:p>
            <a:r>
              <a:rPr sz="1400" b="1">
                <a:solidFill>
                  <a:srgbClr val="FFFFFF"/>
                </a:solidFill>
                <a:latin typeface="Menlo"/>
              </a:rPr>
              <a:t>python3 eval/eval_verifier_v2.py</a:t>
            </a:r>
          </a:p>
        </p:txBody>
      </p:sp>
      <p:sp>
        <p:nvSpPr>
          <p:cNvPr id="11" name="TextBox 10"/>
          <p:cNvSpPr txBox="1"/>
          <p:nvPr/>
        </p:nvSpPr>
        <p:spPr>
          <a:xfrm>
            <a:off x="640080" y="3493008"/>
            <a:ext cx="5120640" cy="502920"/>
          </a:xfrm>
          <a:prstGeom prst="rect">
            <a:avLst/>
          </a:prstGeom>
          <a:noFill/>
        </p:spPr>
        <p:txBody>
          <a:bodyPr wrap="square" lIns="0" rIns="0" tIns="0" bIns="0">
            <a:spAutoFit/>
          </a:bodyPr>
          <a:lstStyle/>
          <a:p>
            <a:r>
              <a:rPr sz="1300" b="0">
                <a:solidFill>
                  <a:srgbClr val="19382F"/>
                </a:solidFill>
                <a:latin typeface="Apple SD Gothic Neo"/>
              </a:rPr>
              <a:t>검증기 개선 전후 42개 사례 비교</a:t>
            </a:r>
          </a:p>
        </p:txBody>
      </p:sp>
      <p:sp>
        <p:nvSpPr>
          <p:cNvPr id="12" name="TextBox 11"/>
          <p:cNvSpPr txBox="1"/>
          <p:nvPr/>
        </p:nvSpPr>
        <p:spPr>
          <a:xfrm>
            <a:off x="640080" y="4114800"/>
            <a:ext cx="5212080" cy="274320"/>
          </a:xfrm>
          <a:prstGeom prst="rect">
            <a:avLst/>
          </a:prstGeom>
          <a:noFill/>
        </p:spPr>
        <p:txBody>
          <a:bodyPr wrap="square" lIns="0" rIns="0" tIns="0" bIns="0">
            <a:spAutoFit/>
          </a:bodyPr>
          <a:lstStyle/>
          <a:p>
            <a:r>
              <a:rPr sz="1400" b="1">
                <a:solidFill>
                  <a:srgbClr val="62746D"/>
                </a:solidFill>
                <a:latin typeface="Apple SD Gothic Neo"/>
              </a:rPr>
              <a:t>수업 제공 프로젝트가 필요한 것</a:t>
            </a:r>
          </a:p>
        </p:txBody>
      </p:sp>
      <p:sp>
        <p:nvSpPr>
          <p:cNvPr id="13" name="TextBox 12"/>
          <p:cNvSpPr txBox="1"/>
          <p:nvPr/>
        </p:nvSpPr>
        <p:spPr>
          <a:xfrm>
            <a:off x="640080" y="4434840"/>
            <a:ext cx="5120640" cy="146304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나머지 평가와 화면 실행</a:t>
            </a:r>
          </a:p>
          <a:p>
            <a:pPr>
              <a:spcAft>
                <a:spcPts val="700"/>
              </a:spcAft>
            </a:pPr>
            <a:r>
              <a:rPr sz="1300" b="0">
                <a:solidFill>
                  <a:srgbClr val="19382F"/>
                </a:solidFill>
                <a:latin typeface="Apple SD Gothic Neo"/>
              </a:rPr>
              <a:t>저장소에는 제공 코드를 넣지 않았고, 저장된 결과 파일로 확인할 수 있음</a:t>
            </a:r>
          </a:p>
        </p:txBody>
      </p:sp>
      <p:sp>
        <p:nvSpPr>
          <p:cNvPr id="14" name="Rectangle 13"/>
          <p:cNvSpPr/>
          <p:nvPr/>
        </p:nvSpPr>
        <p:spPr>
          <a:xfrm>
            <a:off x="6309360" y="1645920"/>
            <a:ext cx="521208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2011680" cy="292608"/>
          </a:xfrm>
          <a:prstGeom prst="rect">
            <a:avLst/>
          </a:prstGeom>
          <a:noFill/>
        </p:spPr>
        <p:txBody>
          <a:bodyPr wrap="square" lIns="0" rIns="0" tIns="0" bIns="0" anchor="ctr">
            <a:spAutoFit/>
          </a:bodyPr>
          <a:lstStyle/>
          <a:p>
            <a:r>
              <a:rPr sz="1150" b="1">
                <a:solidFill>
                  <a:srgbClr val="FFFFFF"/>
                </a:solidFill>
                <a:latin typeface="Apple SD Gothic Neo"/>
              </a:rPr>
              <a:t>근거</a:t>
            </a:r>
          </a:p>
        </p:txBody>
      </p:sp>
      <p:sp>
        <p:nvSpPr>
          <p:cNvPr id="16" name="TextBox 15"/>
          <p:cNvSpPr txBox="1"/>
          <p:nvPr/>
        </p:nvSpPr>
        <p:spPr>
          <a:xfrm>
            <a:off x="8549640" y="1645920"/>
            <a:ext cx="2926080" cy="292608"/>
          </a:xfrm>
          <a:prstGeom prst="rect">
            <a:avLst/>
          </a:prstGeom>
          <a:noFill/>
        </p:spPr>
        <p:txBody>
          <a:bodyPr wrap="square" lIns="0" rIns="0" tIns="0" bIns="0" anchor="ctr">
            <a:spAutoFit/>
          </a:bodyPr>
          <a:lstStyle/>
          <a:p>
            <a:r>
              <a:rPr sz="1150" b="1">
                <a:solidFill>
                  <a:srgbClr val="FFFFFF"/>
                </a:solidFill>
                <a:latin typeface="Apple SD Gothic Neo"/>
              </a:rPr>
              <a:t>파일</a:t>
            </a:r>
          </a:p>
        </p:txBody>
      </p:sp>
      <p:sp>
        <p:nvSpPr>
          <p:cNvPr id="17" name="Rectangle 16"/>
          <p:cNvSpPr/>
          <p:nvPr/>
        </p:nvSpPr>
        <p:spPr>
          <a:xfrm>
            <a:off x="6309360" y="19385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938528"/>
            <a:ext cx="2011680" cy="457200"/>
          </a:xfrm>
          <a:prstGeom prst="rect">
            <a:avLst/>
          </a:prstGeom>
          <a:noFill/>
        </p:spPr>
        <p:txBody>
          <a:bodyPr wrap="square" lIns="0" rIns="0" tIns="0" bIns="0" anchor="ctr">
            <a:spAutoFit/>
          </a:bodyPr>
          <a:lstStyle/>
          <a:p>
            <a:r>
              <a:rPr sz="1100" b="1">
                <a:solidFill>
                  <a:srgbClr val="19382F"/>
                </a:solidFill>
                <a:latin typeface="Apple SD Gothic Neo"/>
              </a:rPr>
              <a:t>17개 입력 · 그래프 전체 실행</a:t>
            </a:r>
          </a:p>
        </p:txBody>
      </p:sp>
      <p:sp>
        <p:nvSpPr>
          <p:cNvPr id="19" name="TextBox 18"/>
          <p:cNvSpPr txBox="1"/>
          <p:nvPr/>
        </p:nvSpPr>
        <p:spPr>
          <a:xfrm>
            <a:off x="8549640" y="1938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eval/results.md</a:t>
            </a:r>
          </a:p>
        </p:txBody>
      </p:sp>
      <p:sp>
        <p:nvSpPr>
          <p:cNvPr id="20" name="Rectangle 19"/>
          <p:cNvSpPr/>
          <p:nvPr/>
        </p:nvSpPr>
        <p:spPr>
          <a:xfrm>
            <a:off x="6309360" y="23957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395728"/>
            <a:ext cx="2011680" cy="457200"/>
          </a:xfrm>
          <a:prstGeom prst="rect">
            <a:avLst/>
          </a:prstGeom>
          <a:noFill/>
        </p:spPr>
        <p:txBody>
          <a:bodyPr wrap="square" lIns="0" rIns="0" tIns="0" bIns="0" anchor="ctr">
            <a:spAutoFit/>
          </a:bodyPr>
          <a:lstStyle/>
          <a:p>
            <a:r>
              <a:rPr sz="1100" b="1">
                <a:solidFill>
                  <a:srgbClr val="19382F"/>
                </a:solidFill>
                <a:latin typeface="Apple SD Gothic Neo"/>
              </a:rPr>
              <a:t>검증기 개선 전후 기준선</a:t>
            </a:r>
          </a:p>
        </p:txBody>
      </p:sp>
      <p:sp>
        <p:nvSpPr>
          <p:cNvPr id="22" name="TextBox 21"/>
          <p:cNvSpPr txBox="1"/>
          <p:nvPr/>
        </p:nvSpPr>
        <p:spPr>
          <a:xfrm>
            <a:off x="8549640" y="2395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eval/baseline/ · eval_verifier_v2.py</a:t>
            </a:r>
          </a:p>
        </p:txBody>
      </p:sp>
      <p:sp>
        <p:nvSpPr>
          <p:cNvPr id="23" name="Rectangle 22"/>
          <p:cNvSpPr/>
          <p:nvPr/>
        </p:nvSpPr>
        <p:spPr>
          <a:xfrm>
            <a:off x="6309360" y="28529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852928"/>
            <a:ext cx="2011680" cy="457200"/>
          </a:xfrm>
          <a:prstGeom prst="rect">
            <a:avLst/>
          </a:prstGeom>
          <a:noFill/>
        </p:spPr>
        <p:txBody>
          <a:bodyPr wrap="square" lIns="0" rIns="0" tIns="0" bIns="0" anchor="ctr">
            <a:spAutoFit/>
          </a:bodyPr>
          <a:lstStyle/>
          <a:p>
            <a:r>
              <a:rPr sz="1100" b="1">
                <a:solidFill>
                  <a:srgbClr val="19382F"/>
                </a:solidFill>
                <a:latin typeface="Apple SD Gothic Neo"/>
              </a:rPr>
              <a:t>매뉴얼 검색 14개</a:t>
            </a:r>
          </a:p>
        </p:txBody>
      </p:sp>
      <p:sp>
        <p:nvSpPr>
          <p:cNvPr id="25" name="TextBox 24"/>
          <p:cNvSpPr txBox="1"/>
          <p:nvPr/>
        </p:nvSpPr>
        <p:spPr>
          <a:xfrm>
            <a:off x="8549640" y="28529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eval/search-evaluation-20261021.json</a:t>
            </a:r>
          </a:p>
        </p:txBody>
      </p:sp>
      <p:sp>
        <p:nvSpPr>
          <p:cNvPr id="26" name="Rectangle 25"/>
          <p:cNvSpPr/>
          <p:nvPr/>
        </p:nvSpPr>
        <p:spPr>
          <a:xfrm>
            <a:off x="6309360" y="33101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310128"/>
            <a:ext cx="2011680" cy="457200"/>
          </a:xfrm>
          <a:prstGeom prst="rect">
            <a:avLst/>
          </a:prstGeom>
          <a:noFill/>
        </p:spPr>
        <p:txBody>
          <a:bodyPr wrap="square" lIns="0" rIns="0" tIns="0" bIns="0" anchor="ctr">
            <a:spAutoFit/>
          </a:bodyPr>
          <a:lstStyle/>
          <a:p>
            <a:r>
              <a:rPr sz="1100" b="1">
                <a:solidFill>
                  <a:srgbClr val="19382F"/>
                </a:solidFill>
                <a:latin typeface="Apple SD Gothic Neo"/>
              </a:rPr>
              <a:t>대상 시스템 해석 전후</a:t>
            </a:r>
          </a:p>
        </p:txBody>
      </p:sp>
      <p:sp>
        <p:nvSpPr>
          <p:cNvPr id="28" name="TextBox 27"/>
          <p:cNvSpPr txBox="1"/>
          <p:nvPr/>
        </p:nvSpPr>
        <p:spPr>
          <a:xfrm>
            <a:off x="8549640" y="33101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eval/targets-*-20261021.json</a:t>
            </a:r>
          </a:p>
        </p:txBody>
      </p:sp>
      <p:sp>
        <p:nvSpPr>
          <p:cNvPr id="29" name="Rectangle 28"/>
          <p:cNvSpPr/>
          <p:nvPr/>
        </p:nvSpPr>
        <p:spPr>
          <a:xfrm>
            <a:off x="6309360" y="37673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3767328"/>
            <a:ext cx="2011680" cy="457200"/>
          </a:xfrm>
          <a:prstGeom prst="rect">
            <a:avLst/>
          </a:prstGeom>
          <a:noFill/>
        </p:spPr>
        <p:txBody>
          <a:bodyPr wrap="square" lIns="0" rIns="0" tIns="0" bIns="0" anchor="ctr">
            <a:spAutoFit/>
          </a:bodyPr>
          <a:lstStyle/>
          <a:p>
            <a:r>
              <a:rPr sz="1100" b="1">
                <a:solidFill>
                  <a:srgbClr val="19382F"/>
                </a:solidFill>
                <a:latin typeface="Apple SD Gothic Neo"/>
              </a:rPr>
              <a:t>실모델(Ollama) 실행 원본</a:t>
            </a:r>
          </a:p>
        </p:txBody>
      </p:sp>
      <p:sp>
        <p:nvSpPr>
          <p:cNvPr id="31" name="TextBox 30"/>
          <p:cNvSpPr txBox="1"/>
          <p:nvPr/>
        </p:nvSpPr>
        <p:spPr>
          <a:xfrm>
            <a:off x="8549640" y="37673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eval/ollama-live-20261021*.json</a:t>
            </a:r>
          </a:p>
        </p:txBody>
      </p:sp>
      <p:sp>
        <p:nvSpPr>
          <p:cNvPr id="32" name="Rectangle 31"/>
          <p:cNvSpPr/>
          <p:nvPr/>
        </p:nvSpPr>
        <p:spPr>
          <a:xfrm>
            <a:off x="6309360" y="42245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4224528"/>
            <a:ext cx="2011680" cy="457200"/>
          </a:xfrm>
          <a:prstGeom prst="rect">
            <a:avLst/>
          </a:prstGeom>
          <a:noFill/>
        </p:spPr>
        <p:txBody>
          <a:bodyPr wrap="square" lIns="0" rIns="0" tIns="0" bIns="0" anchor="ctr">
            <a:spAutoFit/>
          </a:bodyPr>
          <a:lstStyle/>
          <a:p>
            <a:r>
              <a:rPr sz="1100" b="1">
                <a:solidFill>
                  <a:srgbClr val="19382F"/>
                </a:solidFill>
                <a:latin typeface="Apple SD Gothic Neo"/>
              </a:rPr>
              <a:t>근거 0건 조기 종료</a:t>
            </a:r>
          </a:p>
        </p:txBody>
      </p:sp>
      <p:sp>
        <p:nvSpPr>
          <p:cNvPr id="34" name="TextBox 33"/>
          <p:cNvSpPr txBox="1"/>
          <p:nvPr/>
        </p:nvSpPr>
        <p:spPr>
          <a:xfrm>
            <a:off x="8549640" y="4224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eval/ollama-live-evidence-gate-*.json</a:t>
            </a:r>
          </a:p>
        </p:txBody>
      </p:sp>
      <p:sp>
        <p:nvSpPr>
          <p:cNvPr id="35" name="Rectangle 34"/>
          <p:cNvSpPr/>
          <p:nvPr/>
        </p:nvSpPr>
        <p:spPr>
          <a:xfrm>
            <a:off x="6309360" y="46817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681728"/>
            <a:ext cx="2011680" cy="457200"/>
          </a:xfrm>
          <a:prstGeom prst="rect">
            <a:avLst/>
          </a:prstGeom>
          <a:noFill/>
        </p:spPr>
        <p:txBody>
          <a:bodyPr wrap="square" lIns="0" rIns="0" tIns="0" bIns="0" anchor="ctr">
            <a:spAutoFit/>
          </a:bodyPr>
          <a:lstStyle/>
          <a:p>
            <a:r>
              <a:rPr sz="1100" b="1">
                <a:solidFill>
                  <a:srgbClr val="19382F"/>
                </a:solidFill>
                <a:latin typeface="Apple SD Gothic Neo"/>
              </a:rPr>
              <a:t>병렬 · 비용 · 임베딩 측정</a:t>
            </a:r>
          </a:p>
        </p:txBody>
      </p:sp>
      <p:sp>
        <p:nvSpPr>
          <p:cNvPr id="37" name="TextBox 36"/>
          <p:cNvSpPr txBox="1"/>
          <p:nvPr/>
        </p:nvSpPr>
        <p:spPr>
          <a:xfrm>
            <a:off x="8549640" y="4681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eval/bonus-measure-*.md, embedding-cost-*.md</a:t>
            </a:r>
          </a:p>
        </p:txBody>
      </p:sp>
      <p:sp>
        <p:nvSpPr>
          <p:cNvPr id="38" name="Rectangle 37"/>
          <p:cNvSpPr/>
          <p:nvPr/>
        </p:nvSpPr>
        <p:spPr>
          <a:xfrm>
            <a:off x="6309360" y="51389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5138928"/>
            <a:ext cx="2011680" cy="457200"/>
          </a:xfrm>
          <a:prstGeom prst="rect">
            <a:avLst/>
          </a:prstGeom>
          <a:noFill/>
        </p:spPr>
        <p:txBody>
          <a:bodyPr wrap="square" lIns="0" rIns="0" tIns="0" bIns="0" anchor="ctr">
            <a:spAutoFit/>
          </a:bodyPr>
          <a:lstStyle/>
          <a:p>
            <a:r>
              <a:rPr sz="1100" b="1">
                <a:solidFill>
                  <a:srgbClr val="19382F"/>
                </a:solidFill>
                <a:latin typeface="Apple SD Gothic Neo"/>
              </a:rPr>
              <a:t>설계 결정 · 결과보고서</a:t>
            </a:r>
          </a:p>
        </p:txBody>
      </p:sp>
      <p:sp>
        <p:nvSpPr>
          <p:cNvPr id="40" name="TextBox 39"/>
          <p:cNvSpPr txBox="1"/>
          <p:nvPr/>
        </p:nvSpPr>
        <p:spPr>
          <a:xfrm>
            <a:off x="8549640" y="5138928"/>
            <a:ext cx="2926080" cy="457200"/>
          </a:xfrm>
          <a:prstGeom prst="rect">
            <a:avLst/>
          </a:prstGeom>
          <a:noFill/>
        </p:spPr>
        <p:txBody>
          <a:bodyPr wrap="square" lIns="0" rIns="0" tIns="0" bIns="0" anchor="ctr">
            <a:spAutoFit/>
          </a:bodyPr>
          <a:lstStyle/>
          <a:p>
            <a:r>
              <a:rPr sz="1100" b="0">
                <a:solidFill>
                  <a:srgbClr val="62746D"/>
                </a:solidFill>
                <a:latin typeface="Apple SD Gothic Neo"/>
              </a:rPr>
              <a:t>doc/ADR.md · submission/결과보고서.md</a:t>
            </a:r>
          </a:p>
        </p:txBody>
      </p:sp>
      <p:sp>
        <p:nvSpPr>
          <p:cNvPr id="41" name="Rectangle 4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